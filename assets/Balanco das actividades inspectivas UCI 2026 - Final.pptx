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8" r:id="rId2"/>
    <p:sldId id="392" r:id="rId3"/>
    <p:sldId id="394" r:id="rId4"/>
    <p:sldId id="403" r:id="rId5"/>
    <p:sldId id="404" r:id="rId6"/>
    <p:sldId id="405" r:id="rId7"/>
    <p:sldId id="402" r:id="rId8"/>
    <p:sldId id="395" r:id="rId9"/>
    <p:sldId id="396" r:id="rId10"/>
    <p:sldId id="397" r:id="rId11"/>
    <p:sldId id="406" r:id="rId12"/>
    <p:sldId id="398" r:id="rId13"/>
    <p:sldId id="411" r:id="rId14"/>
    <p:sldId id="399" r:id="rId15"/>
    <p:sldId id="400" r:id="rId16"/>
    <p:sldId id="401" r:id="rId17"/>
    <p:sldId id="408" r:id="rId18"/>
    <p:sldId id="407" r:id="rId19"/>
    <p:sldId id="412" r:id="rId20"/>
    <p:sldId id="414" r:id="rId21"/>
    <p:sldId id="415" r:id="rId22"/>
    <p:sldId id="417" r:id="rId23"/>
    <p:sldId id="416" r:id="rId24"/>
    <p:sldId id="409" r:id="rId25"/>
    <p:sldId id="261" r:id="rId26"/>
  </p:sldIdLst>
  <p:sldSz cx="12192000" cy="6858000"/>
  <p:notesSz cx="6858000" cy="9144000"/>
  <p:custDataLst>
    <p:tags r:id="rId2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  <p:ext uri="{2D200454-40CA-4A62-9FC3-DE9A4176ACB9}">
      <p15:notesGuideLst xmlns=""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ngano" initials="M" lastIdx="0" clrIdx="0"/>
  <p:cmAuthor id="2" name="Maria da Luz Velho VAZ" initials="MdLV" lastIdx="0" clrIdx="1"/>
  <p:cmAuthor id="3" name="Nelita Nassone" initials="NN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F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3CA2D7-CF57-4914-8B33-C1BC6076B29A}" v="603" dt="2025-10-08T12:56:50.8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87" autoAdjust="0"/>
    <p:restoredTop sz="94660"/>
  </p:normalViewPr>
  <p:slideViewPr>
    <p:cSldViewPr snapToGrid="0">
      <p:cViewPr varScale="1">
        <p:scale>
          <a:sx n="68" d="100"/>
          <a:sy n="68" d="100"/>
        </p:scale>
        <p:origin x="-792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2371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commentAuthors" Target="commentAuthors.xml"/><Relationship Id="rId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ovao Timbana" userId="7ed9e01f-347d-41e7-8ac4-53e49369b88d" providerId="ADAL" clId="{C333D178-E2ED-4FA8-9CC0-19F94F3C9C94}"/>
    <pc:docChg chg="undo redo custSel addSld delSld modSld sldOrd modMainMaster">
      <pc:chgData name="Cristovao Timbana" userId="7ed9e01f-347d-41e7-8ac4-53e49369b88d" providerId="ADAL" clId="{C333D178-E2ED-4FA8-9CC0-19F94F3C9C94}" dt="2025-10-08T13:04:44.628" v="2057" actId="6549"/>
      <pc:docMkLst>
        <pc:docMk/>
      </pc:docMkLst>
      <pc:sldChg chg="modSp mod ord">
        <pc:chgData name="Cristovao Timbana" userId="7ed9e01f-347d-41e7-8ac4-53e49369b88d" providerId="ADAL" clId="{C333D178-E2ED-4FA8-9CC0-19F94F3C9C94}" dt="2025-10-08T12:58:22.536" v="2000" actId="14861"/>
        <pc:sldMkLst>
          <pc:docMk/>
          <pc:sldMk cId="0" sldId="256"/>
        </pc:sldMkLst>
        <pc:spChg chg="mod">
          <ac:chgData name="Cristovao Timbana" userId="7ed9e01f-347d-41e7-8ac4-53e49369b88d" providerId="ADAL" clId="{C333D178-E2ED-4FA8-9CC0-19F94F3C9C94}" dt="2025-10-08T12:58:22.536" v="2000" actId="14861"/>
          <ac:spMkLst>
            <pc:docMk/>
            <pc:sldMk cId="0" sldId="256"/>
            <ac:spMk id="3" creationId="{00000000-0000-0000-0000-000000000000}"/>
          </ac:spMkLst>
        </pc:spChg>
      </pc:sldChg>
      <pc:sldChg chg="modSp del">
        <pc:chgData name="Cristovao Timbana" userId="7ed9e01f-347d-41e7-8ac4-53e49369b88d" providerId="ADAL" clId="{C333D178-E2ED-4FA8-9CC0-19F94F3C9C94}" dt="2025-10-08T09:03:26.154" v="676" actId="47"/>
        <pc:sldMkLst>
          <pc:docMk/>
          <pc:sldMk cId="0" sldId="257"/>
        </pc:sldMkLst>
      </pc:sldChg>
      <pc:sldChg chg="modSp add mod">
        <pc:chgData name="Cristovao Timbana" userId="7ed9e01f-347d-41e7-8ac4-53e49369b88d" providerId="ADAL" clId="{C333D178-E2ED-4FA8-9CC0-19F94F3C9C94}" dt="2025-10-08T13:04:44.628" v="2057" actId="6549"/>
        <pc:sldMkLst>
          <pc:docMk/>
          <pc:sldMk cId="1593549140" sldId="258"/>
        </pc:sldMkLst>
        <pc:spChg chg="mod">
          <ac:chgData name="Cristovao Timbana" userId="7ed9e01f-347d-41e7-8ac4-53e49369b88d" providerId="ADAL" clId="{C333D178-E2ED-4FA8-9CC0-19F94F3C9C94}" dt="2025-10-08T09:26:59.339" v="1496" actId="113"/>
          <ac:spMkLst>
            <pc:docMk/>
            <pc:sldMk cId="1593549140" sldId="258"/>
            <ac:spMk id="8" creationId="{00000000-0000-0000-0000-000000000000}"/>
          </ac:spMkLst>
        </pc:spChg>
        <pc:spChg chg="mod">
          <ac:chgData name="Cristovao Timbana" userId="7ed9e01f-347d-41e7-8ac4-53e49369b88d" providerId="ADAL" clId="{C333D178-E2ED-4FA8-9CC0-19F94F3C9C94}" dt="2025-10-08T13:04:44.628" v="2057" actId="6549"/>
          <ac:spMkLst>
            <pc:docMk/>
            <pc:sldMk cId="1593549140" sldId="258"/>
            <ac:spMk id="10" creationId="{00000000-0000-0000-0000-000000000000}"/>
          </ac:spMkLst>
        </pc:spChg>
        <pc:spChg chg="mod">
          <ac:chgData name="Cristovao Timbana" userId="7ed9e01f-347d-41e7-8ac4-53e49369b88d" providerId="ADAL" clId="{C333D178-E2ED-4FA8-9CC0-19F94F3C9C94}" dt="2025-10-08T09:31:37.283" v="1628" actId="2711"/>
          <ac:spMkLst>
            <pc:docMk/>
            <pc:sldMk cId="1593549140" sldId="258"/>
            <ac:spMk id="13" creationId="{00000000-0000-0000-0000-000000000000}"/>
          </ac:spMkLst>
        </pc:spChg>
        <pc:picChg chg="mod">
          <ac:chgData name="Cristovao Timbana" userId="7ed9e01f-347d-41e7-8ac4-53e49369b88d" providerId="ADAL" clId="{C333D178-E2ED-4FA8-9CC0-19F94F3C9C94}" dt="2025-10-08T09:31:59.228" v="1642" actId="1076"/>
          <ac:picMkLst>
            <pc:docMk/>
            <pc:sldMk cId="1593549140" sldId="258"/>
            <ac:picMk id="11" creationId="{00000000-0000-0000-0000-000000000000}"/>
          </ac:picMkLst>
        </pc:picChg>
      </pc:sldChg>
      <pc:sldChg chg="modSp mod">
        <pc:chgData name="Cristovao Timbana" userId="7ed9e01f-347d-41e7-8ac4-53e49369b88d" providerId="ADAL" clId="{C333D178-E2ED-4FA8-9CC0-19F94F3C9C94}" dt="2025-10-08T09:40:19.688" v="1657" actId="1076"/>
        <pc:sldMkLst>
          <pc:docMk/>
          <pc:sldMk cId="0" sldId="261"/>
        </pc:sldMkLst>
        <pc:spChg chg="mod">
          <ac:chgData name="Cristovao Timbana" userId="7ed9e01f-347d-41e7-8ac4-53e49369b88d" providerId="ADAL" clId="{C333D178-E2ED-4FA8-9CC0-19F94F3C9C94}" dt="2025-10-08T09:40:19.688" v="1657" actId="1076"/>
          <ac:spMkLst>
            <pc:docMk/>
            <pc:sldMk cId="0" sldId="261"/>
            <ac:spMk id="2" creationId="{00000000-0000-0000-0000-000000000000}"/>
          </ac:spMkLst>
        </pc:spChg>
      </pc:sldChg>
      <pc:sldChg chg="modSp del mod">
        <pc:chgData name="Cristovao Timbana" userId="7ed9e01f-347d-41e7-8ac4-53e49369b88d" providerId="ADAL" clId="{C333D178-E2ED-4FA8-9CC0-19F94F3C9C94}" dt="2025-10-08T09:03:36.743" v="681" actId="47"/>
        <pc:sldMkLst>
          <pc:docMk/>
          <pc:sldMk cId="2620752323" sldId="363"/>
        </pc:sldMkLst>
      </pc:sldChg>
      <pc:sldChg chg="del">
        <pc:chgData name="Cristovao Timbana" userId="7ed9e01f-347d-41e7-8ac4-53e49369b88d" providerId="ADAL" clId="{C333D178-E2ED-4FA8-9CC0-19F94F3C9C94}" dt="2025-10-08T09:03:14.600" v="674" actId="47"/>
        <pc:sldMkLst>
          <pc:docMk/>
          <pc:sldMk cId="2477043857" sldId="365"/>
        </pc:sldMkLst>
      </pc:sldChg>
      <pc:sldChg chg="modSp del mod">
        <pc:chgData name="Cristovao Timbana" userId="7ed9e01f-347d-41e7-8ac4-53e49369b88d" providerId="ADAL" clId="{C333D178-E2ED-4FA8-9CC0-19F94F3C9C94}" dt="2025-10-08T09:03:14.600" v="674" actId="47"/>
        <pc:sldMkLst>
          <pc:docMk/>
          <pc:sldMk cId="1392202533" sldId="366"/>
        </pc:sldMkLst>
      </pc:sldChg>
      <pc:sldChg chg="del">
        <pc:chgData name="Cristovao Timbana" userId="7ed9e01f-347d-41e7-8ac4-53e49369b88d" providerId="ADAL" clId="{C333D178-E2ED-4FA8-9CC0-19F94F3C9C94}" dt="2025-10-08T09:03:14.600" v="674" actId="47"/>
        <pc:sldMkLst>
          <pc:docMk/>
          <pc:sldMk cId="2255059461" sldId="373"/>
        </pc:sldMkLst>
      </pc:sldChg>
      <pc:sldChg chg="addSp delSp modSp del mod">
        <pc:chgData name="Cristovao Timbana" userId="7ed9e01f-347d-41e7-8ac4-53e49369b88d" providerId="ADAL" clId="{C333D178-E2ED-4FA8-9CC0-19F94F3C9C94}" dt="2025-10-08T09:03:14.600" v="674" actId="47"/>
        <pc:sldMkLst>
          <pc:docMk/>
          <pc:sldMk cId="3643977954" sldId="375"/>
        </pc:sldMkLst>
      </pc:sldChg>
      <pc:sldChg chg="del">
        <pc:chgData name="Cristovao Timbana" userId="7ed9e01f-347d-41e7-8ac4-53e49369b88d" providerId="ADAL" clId="{C333D178-E2ED-4FA8-9CC0-19F94F3C9C94}" dt="2025-10-04T19:30:38.994" v="568" actId="47"/>
        <pc:sldMkLst>
          <pc:docMk/>
          <pc:sldMk cId="1328917149" sldId="377"/>
        </pc:sldMkLst>
      </pc:sldChg>
      <pc:sldChg chg="modSp del mod">
        <pc:chgData name="Cristovao Timbana" userId="7ed9e01f-347d-41e7-8ac4-53e49369b88d" providerId="ADAL" clId="{C333D178-E2ED-4FA8-9CC0-19F94F3C9C94}" dt="2025-10-08T09:03:14.600" v="674" actId="47"/>
        <pc:sldMkLst>
          <pc:docMk/>
          <pc:sldMk cId="2393699514" sldId="381"/>
        </pc:sldMkLst>
      </pc:sldChg>
      <pc:sldChg chg="del">
        <pc:chgData name="Cristovao Timbana" userId="7ed9e01f-347d-41e7-8ac4-53e49369b88d" providerId="ADAL" clId="{C333D178-E2ED-4FA8-9CC0-19F94F3C9C94}" dt="2025-10-04T19:30:42.248" v="569" actId="47"/>
        <pc:sldMkLst>
          <pc:docMk/>
          <pc:sldMk cId="2338172703" sldId="382"/>
        </pc:sldMkLst>
      </pc:sldChg>
      <pc:sldChg chg="delSp modSp mod setBg">
        <pc:chgData name="Cristovao Timbana" userId="7ed9e01f-347d-41e7-8ac4-53e49369b88d" providerId="ADAL" clId="{C333D178-E2ED-4FA8-9CC0-19F94F3C9C94}" dt="2025-10-08T09:22:16.866" v="1340"/>
        <pc:sldMkLst>
          <pc:docMk/>
          <pc:sldMk cId="3803320788" sldId="392"/>
        </pc:sldMkLst>
        <pc:spChg chg="del">
          <ac:chgData name="Cristovao Timbana" userId="7ed9e01f-347d-41e7-8ac4-53e49369b88d" providerId="ADAL" clId="{C333D178-E2ED-4FA8-9CC0-19F94F3C9C94}" dt="2025-10-08T09:18:40.491" v="815" actId="478"/>
          <ac:spMkLst>
            <pc:docMk/>
            <pc:sldMk cId="3803320788" sldId="392"/>
            <ac:spMk id="4" creationId="{00000000-0000-0000-0000-000000000000}"/>
          </ac:spMkLst>
        </pc:spChg>
        <pc:spChg chg="mod">
          <ac:chgData name="Cristovao Timbana" userId="7ed9e01f-347d-41e7-8ac4-53e49369b88d" providerId="ADAL" clId="{C333D178-E2ED-4FA8-9CC0-19F94F3C9C94}" dt="2025-10-08T09:04:17.419" v="693" actId="20577"/>
          <ac:spMkLst>
            <pc:docMk/>
            <pc:sldMk cId="3803320788" sldId="392"/>
            <ac:spMk id="6" creationId="{00000000-0000-0000-0000-000000000000}"/>
          </ac:spMkLst>
        </pc:spChg>
        <pc:spChg chg="mod">
          <ac:chgData name="Cristovao Timbana" userId="7ed9e01f-347d-41e7-8ac4-53e49369b88d" providerId="ADAL" clId="{C333D178-E2ED-4FA8-9CC0-19F94F3C9C94}" dt="2025-10-08T09:04:10.801" v="685" actId="20577"/>
          <ac:spMkLst>
            <pc:docMk/>
            <pc:sldMk cId="3803320788" sldId="392"/>
            <ac:spMk id="7" creationId="{00000000-0000-0000-0000-000000000000}"/>
          </ac:spMkLst>
        </pc:spChg>
      </pc:sldChg>
      <pc:sldChg chg="modSp del mod">
        <pc:chgData name="Cristovao Timbana" userId="7ed9e01f-347d-41e7-8ac4-53e49369b88d" providerId="ADAL" clId="{C333D178-E2ED-4FA8-9CC0-19F94F3C9C94}" dt="2025-10-08T09:03:03.793" v="673" actId="47"/>
        <pc:sldMkLst>
          <pc:docMk/>
          <pc:sldMk cId="60236549" sldId="393"/>
        </pc:sldMkLst>
      </pc:sldChg>
      <pc:sldChg chg="delSp new del mod">
        <pc:chgData name="Cristovao Timbana" userId="7ed9e01f-347d-41e7-8ac4-53e49369b88d" providerId="ADAL" clId="{C333D178-E2ED-4FA8-9CC0-19F94F3C9C94}" dt="2025-10-08T09:22:35.184" v="1344" actId="47"/>
        <pc:sldMkLst>
          <pc:docMk/>
          <pc:sldMk cId="984286347" sldId="393"/>
        </pc:sldMkLst>
        <pc:spChg chg="del">
          <ac:chgData name="Cristovao Timbana" userId="7ed9e01f-347d-41e7-8ac4-53e49369b88d" providerId="ADAL" clId="{C333D178-E2ED-4FA8-9CC0-19F94F3C9C94}" dt="2025-10-08T09:22:30.848" v="1343" actId="478"/>
          <ac:spMkLst>
            <pc:docMk/>
            <pc:sldMk cId="984286347" sldId="393"/>
            <ac:spMk id="2" creationId="{9FAE064E-37D1-2DD6-8090-E3DEB7EC5B75}"/>
          </ac:spMkLst>
        </pc:spChg>
        <pc:spChg chg="del">
          <ac:chgData name="Cristovao Timbana" userId="7ed9e01f-347d-41e7-8ac4-53e49369b88d" providerId="ADAL" clId="{C333D178-E2ED-4FA8-9CC0-19F94F3C9C94}" dt="2025-10-08T09:22:26.658" v="1342" actId="478"/>
          <ac:spMkLst>
            <pc:docMk/>
            <pc:sldMk cId="984286347" sldId="393"/>
            <ac:spMk id="3" creationId="{4561BB1A-42DB-21AC-AA08-E39EC18C34CB}"/>
          </ac:spMkLst>
        </pc:spChg>
      </pc:sldChg>
      <pc:sldChg chg="new del">
        <pc:chgData name="Cristovao Timbana" userId="7ed9e01f-347d-41e7-8ac4-53e49369b88d" providerId="ADAL" clId="{C333D178-E2ED-4FA8-9CC0-19F94F3C9C94}" dt="2025-10-08T10:27:46.496" v="1724" actId="680"/>
        <pc:sldMkLst>
          <pc:docMk/>
          <pc:sldMk cId="2605058557" sldId="393"/>
        </pc:sldMkLst>
      </pc:sldChg>
      <pc:sldChg chg="delSp new del mod">
        <pc:chgData name="Cristovao Timbana" userId="7ed9e01f-347d-41e7-8ac4-53e49369b88d" providerId="ADAL" clId="{C333D178-E2ED-4FA8-9CC0-19F94F3C9C94}" dt="2025-10-08T09:18:54.333" v="816" actId="47"/>
        <pc:sldMkLst>
          <pc:docMk/>
          <pc:sldMk cId="3367808364" sldId="393"/>
        </pc:sldMkLst>
        <pc:spChg chg="del">
          <ac:chgData name="Cristovao Timbana" userId="7ed9e01f-347d-41e7-8ac4-53e49369b88d" providerId="ADAL" clId="{C333D178-E2ED-4FA8-9CC0-19F94F3C9C94}" dt="2025-10-08T09:18:01.165" v="772" actId="478"/>
          <ac:spMkLst>
            <pc:docMk/>
            <pc:sldMk cId="3367808364" sldId="393"/>
            <ac:spMk id="2" creationId="{29C624D2-BEFE-3619-ECEB-A4270C38C31F}"/>
          </ac:spMkLst>
        </pc:spChg>
        <pc:spChg chg="del">
          <ac:chgData name="Cristovao Timbana" userId="7ed9e01f-347d-41e7-8ac4-53e49369b88d" providerId="ADAL" clId="{C333D178-E2ED-4FA8-9CC0-19F94F3C9C94}" dt="2025-10-08T09:17:58.672" v="771" actId="478"/>
          <ac:spMkLst>
            <pc:docMk/>
            <pc:sldMk cId="3367808364" sldId="393"/>
            <ac:spMk id="3" creationId="{2CA1144B-B1D4-1895-B814-A4C7E4B0FB09}"/>
          </ac:spMkLst>
        </pc:spChg>
      </pc:sldChg>
      <pc:sldChg chg="new del">
        <pc:chgData name="Cristovao Timbana" userId="7ed9e01f-347d-41e7-8ac4-53e49369b88d" providerId="ADAL" clId="{C333D178-E2ED-4FA8-9CC0-19F94F3C9C94}" dt="2025-10-08T09:19:06.807" v="818" actId="47"/>
        <pc:sldMkLst>
          <pc:docMk/>
          <pc:sldMk cId="4130883299" sldId="393"/>
        </pc:sldMkLst>
      </pc:sldChg>
      <pc:sldChg chg="modSp del mod">
        <pc:chgData name="Cristovao Timbana" userId="7ed9e01f-347d-41e7-8ac4-53e49369b88d" providerId="ADAL" clId="{C333D178-E2ED-4FA8-9CC0-19F94F3C9C94}" dt="2025-10-08T09:03:14.600" v="674" actId="47"/>
        <pc:sldMkLst>
          <pc:docMk/>
          <pc:sldMk cId="741578419" sldId="396"/>
        </pc:sldMkLst>
      </pc:sldChg>
      <pc:sldChg chg="del">
        <pc:chgData name="Cristovao Timbana" userId="7ed9e01f-347d-41e7-8ac4-53e49369b88d" providerId="ADAL" clId="{C333D178-E2ED-4FA8-9CC0-19F94F3C9C94}" dt="2025-10-08T09:03:33.214" v="678" actId="47"/>
        <pc:sldMkLst>
          <pc:docMk/>
          <pc:sldMk cId="3944973782" sldId="398"/>
        </pc:sldMkLst>
      </pc:sldChg>
      <pc:sldChg chg="modSp del mod">
        <pc:chgData name="Cristovao Timbana" userId="7ed9e01f-347d-41e7-8ac4-53e49369b88d" providerId="ADAL" clId="{C333D178-E2ED-4FA8-9CC0-19F94F3C9C94}" dt="2025-10-08T09:03:34.381" v="679" actId="47"/>
        <pc:sldMkLst>
          <pc:docMk/>
          <pc:sldMk cId="2015368158" sldId="399"/>
        </pc:sldMkLst>
      </pc:sldChg>
      <pc:sldChg chg="modSp del mod">
        <pc:chgData name="Cristovao Timbana" userId="7ed9e01f-347d-41e7-8ac4-53e49369b88d" providerId="ADAL" clId="{C333D178-E2ED-4FA8-9CC0-19F94F3C9C94}" dt="2025-10-08T09:03:35.553" v="680" actId="47"/>
        <pc:sldMkLst>
          <pc:docMk/>
          <pc:sldMk cId="2218495037" sldId="400"/>
        </pc:sldMkLst>
      </pc:sldChg>
      <pc:sldChg chg="modSp del">
        <pc:chgData name="Cristovao Timbana" userId="7ed9e01f-347d-41e7-8ac4-53e49369b88d" providerId="ADAL" clId="{C333D178-E2ED-4FA8-9CC0-19F94F3C9C94}" dt="2025-10-08T09:03:14.600" v="674" actId="47"/>
        <pc:sldMkLst>
          <pc:docMk/>
          <pc:sldMk cId="474312588" sldId="401"/>
        </pc:sldMkLst>
      </pc:sldChg>
      <pc:sldChg chg="new del">
        <pc:chgData name="Cristovao Timbana" userId="7ed9e01f-347d-41e7-8ac4-53e49369b88d" providerId="ADAL" clId="{C333D178-E2ED-4FA8-9CC0-19F94F3C9C94}" dt="2025-10-08T09:03:30.085" v="677" actId="47"/>
        <pc:sldMkLst>
          <pc:docMk/>
          <pc:sldMk cId="3755233962" sldId="401"/>
        </pc:sldMkLst>
      </pc:sldChg>
      <pc:sldChg chg="modSp del mod">
        <pc:chgData name="Cristovao Timbana" userId="7ed9e01f-347d-41e7-8ac4-53e49369b88d" providerId="ADAL" clId="{C333D178-E2ED-4FA8-9CC0-19F94F3C9C94}" dt="2025-10-08T09:03:14.600" v="674" actId="47"/>
        <pc:sldMkLst>
          <pc:docMk/>
          <pc:sldMk cId="3036159297" sldId="402"/>
        </pc:sldMkLst>
      </pc:sldChg>
      <pc:sldChg chg="modSp del mod">
        <pc:chgData name="Cristovao Timbana" userId="7ed9e01f-347d-41e7-8ac4-53e49369b88d" providerId="ADAL" clId="{C333D178-E2ED-4FA8-9CC0-19F94F3C9C94}" dt="2025-10-08T09:03:14.600" v="674" actId="47"/>
        <pc:sldMkLst>
          <pc:docMk/>
          <pc:sldMk cId="4282597217" sldId="403"/>
        </pc:sldMkLst>
      </pc:sldChg>
      <pc:sldChg chg="del">
        <pc:chgData name="Cristovao Timbana" userId="7ed9e01f-347d-41e7-8ac4-53e49369b88d" providerId="ADAL" clId="{C333D178-E2ED-4FA8-9CC0-19F94F3C9C94}" dt="2025-10-04T19:13:40.313" v="347" actId="47"/>
        <pc:sldMkLst>
          <pc:docMk/>
          <pc:sldMk cId="3579543859" sldId="404"/>
        </pc:sldMkLst>
      </pc:sldChg>
      <pc:sldChg chg="addSp delSp modSp del mod">
        <pc:chgData name="Cristovao Timbana" userId="7ed9e01f-347d-41e7-8ac4-53e49369b88d" providerId="ADAL" clId="{C333D178-E2ED-4FA8-9CC0-19F94F3C9C94}" dt="2025-10-08T09:03:14.600" v="674" actId="47"/>
        <pc:sldMkLst>
          <pc:docMk/>
          <pc:sldMk cId="2808966819" sldId="405"/>
        </pc:sldMkLst>
      </pc:sldChg>
      <pc:sldChg chg="addSp delSp modSp add del mod">
        <pc:chgData name="Cristovao Timbana" userId="7ed9e01f-347d-41e7-8ac4-53e49369b88d" providerId="ADAL" clId="{C333D178-E2ED-4FA8-9CC0-19F94F3C9C94}" dt="2025-10-08T09:03:14.600" v="674" actId="47"/>
        <pc:sldMkLst>
          <pc:docMk/>
          <pc:sldMk cId="1217699289" sldId="406"/>
        </pc:sldMkLst>
      </pc:sldChg>
      <pc:sldChg chg="addSp delSp modSp add del mod">
        <pc:chgData name="Cristovao Timbana" userId="7ed9e01f-347d-41e7-8ac4-53e49369b88d" providerId="ADAL" clId="{C333D178-E2ED-4FA8-9CC0-19F94F3C9C94}" dt="2025-10-08T09:03:14.600" v="674" actId="47"/>
        <pc:sldMkLst>
          <pc:docMk/>
          <pc:sldMk cId="2038512453" sldId="407"/>
        </pc:sldMkLst>
      </pc:sldChg>
      <pc:sldMasterChg chg="modSp mod setBg delSldLayout modSldLayout">
        <pc:chgData name="Cristovao Timbana" userId="7ed9e01f-347d-41e7-8ac4-53e49369b88d" providerId="ADAL" clId="{C333D178-E2ED-4FA8-9CC0-19F94F3C9C94}" dt="2025-10-08T13:00:46.304" v="2040" actId="20577"/>
        <pc:sldMasterMkLst>
          <pc:docMk/>
          <pc:sldMasterMk cId="0" sldId="2147483648"/>
        </pc:sldMasterMkLst>
        <pc:grpChg chg="mod">
          <ac:chgData name="Cristovao Timbana" userId="7ed9e01f-347d-41e7-8ac4-53e49369b88d" providerId="ADAL" clId="{C333D178-E2ED-4FA8-9CC0-19F94F3C9C94}" dt="2025-10-08T09:08:23.240" v="744" actId="1076"/>
          <ac:grpSpMkLst>
            <pc:docMk/>
            <pc:sldMasterMk cId="0" sldId="2147483648"/>
            <ac:grpSpMk id="13" creationId="{00000000-0000-0000-0000-000000000000}"/>
          </ac:grpSpMkLst>
        </pc:grpChg>
        <pc:sldLayoutChg chg="setBg">
          <pc:chgData name="Cristovao Timbana" userId="7ed9e01f-347d-41e7-8ac4-53e49369b88d" providerId="ADAL" clId="{C333D178-E2ED-4FA8-9CC0-19F94F3C9C94}" dt="2025-10-08T09:22:16.866" v="1340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Cristovao Timbana" userId="7ed9e01f-347d-41e7-8ac4-53e49369b88d" providerId="ADAL" clId="{C333D178-E2ED-4FA8-9CC0-19F94F3C9C94}" dt="2025-10-08T09:22:16.866" v="1340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Cristovao Timbana" userId="7ed9e01f-347d-41e7-8ac4-53e49369b88d" providerId="ADAL" clId="{C333D178-E2ED-4FA8-9CC0-19F94F3C9C94}" dt="2025-10-08T09:22:16.866" v="1340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Cristovao Timbana" userId="7ed9e01f-347d-41e7-8ac4-53e49369b88d" providerId="ADAL" clId="{C333D178-E2ED-4FA8-9CC0-19F94F3C9C94}" dt="2025-10-08T09:22:16.866" v="1340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Cristovao Timbana" userId="7ed9e01f-347d-41e7-8ac4-53e49369b88d" providerId="ADAL" clId="{C333D178-E2ED-4FA8-9CC0-19F94F3C9C94}" dt="2025-10-08T09:22:16.866" v="1340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Cristovao Timbana" userId="7ed9e01f-347d-41e7-8ac4-53e49369b88d" providerId="ADAL" clId="{C333D178-E2ED-4FA8-9CC0-19F94F3C9C94}" dt="2025-10-08T09:22:16.866" v="1340"/>
          <pc:sldLayoutMkLst>
            <pc:docMk/>
            <pc:sldMasterMk cId="0" sldId="2147483648"/>
            <pc:sldLayoutMk cId="0" sldId="2147483654"/>
          </pc:sldLayoutMkLst>
        </pc:sldLayoutChg>
        <pc:sldLayoutChg chg="delSp modSp mod setBg">
          <pc:chgData name="Cristovao Timbana" userId="7ed9e01f-347d-41e7-8ac4-53e49369b88d" providerId="ADAL" clId="{C333D178-E2ED-4FA8-9CC0-19F94F3C9C94}" dt="2025-10-08T13:00:46.304" v="2040" actId="20577"/>
          <pc:sldLayoutMkLst>
            <pc:docMk/>
            <pc:sldMasterMk cId="0" sldId="2147483648"/>
            <pc:sldLayoutMk cId="0" sldId="2147483655"/>
          </pc:sldLayoutMkLst>
          <pc:spChg chg="del">
            <ac:chgData name="Cristovao Timbana" userId="7ed9e01f-347d-41e7-8ac4-53e49369b88d" providerId="ADAL" clId="{C333D178-E2ED-4FA8-9CC0-19F94F3C9C94}" dt="2025-10-08T09:07:41.031" v="740" actId="478"/>
            <ac:spMkLst>
              <pc:docMk/>
              <pc:sldMasterMk cId="0" sldId="2147483648"/>
              <pc:sldLayoutMk cId="0" sldId="2147483655"/>
              <ac:spMk id="5" creationId="{00000000-0000-0000-0000-000000000000}"/>
            </ac:spMkLst>
          </pc:spChg>
          <pc:spChg chg="mod">
            <ac:chgData name="Cristovao Timbana" userId="7ed9e01f-347d-41e7-8ac4-53e49369b88d" providerId="ADAL" clId="{C333D178-E2ED-4FA8-9CC0-19F94F3C9C94}" dt="2025-10-08T09:23:22.080" v="1468" actId="207"/>
            <ac:spMkLst>
              <pc:docMk/>
              <pc:sldMasterMk cId="0" sldId="2147483648"/>
              <pc:sldLayoutMk cId="0" sldId="2147483655"/>
              <ac:spMk id="6" creationId="{00000000-0000-0000-0000-000000000000}"/>
            </ac:spMkLst>
          </pc:spChg>
          <pc:spChg chg="mod">
            <ac:chgData name="Cristovao Timbana" userId="7ed9e01f-347d-41e7-8ac4-53e49369b88d" providerId="ADAL" clId="{C333D178-E2ED-4FA8-9CC0-19F94F3C9C94}" dt="2025-10-08T13:00:46.304" v="2040" actId="20577"/>
            <ac:spMkLst>
              <pc:docMk/>
              <pc:sldMasterMk cId="0" sldId="2147483648"/>
              <pc:sldLayoutMk cId="0" sldId="2147483655"/>
              <ac:spMk id="13" creationId="{00000000-0000-0000-0000-000000000000}"/>
            </ac:spMkLst>
          </pc:spChg>
          <pc:spChg chg="del mod">
            <ac:chgData name="Cristovao Timbana" userId="7ed9e01f-347d-41e7-8ac4-53e49369b88d" providerId="ADAL" clId="{C333D178-E2ED-4FA8-9CC0-19F94F3C9C94}" dt="2025-10-08T09:29:15.744" v="1624" actId="478"/>
            <ac:spMkLst>
              <pc:docMk/>
              <pc:sldMasterMk cId="0" sldId="2147483648"/>
              <pc:sldLayoutMk cId="0" sldId="2147483655"/>
              <ac:spMk id="14" creationId="{00000000-0000-0000-0000-000000000000}"/>
            </ac:spMkLst>
          </pc:spChg>
          <pc:picChg chg="mod">
            <ac:chgData name="Cristovao Timbana" userId="7ed9e01f-347d-41e7-8ac4-53e49369b88d" providerId="ADAL" clId="{C333D178-E2ED-4FA8-9CC0-19F94F3C9C94}" dt="2025-10-08T09:29:27.113" v="1626" actId="14100"/>
            <ac:picMkLst>
              <pc:docMk/>
              <pc:sldMasterMk cId="0" sldId="2147483648"/>
              <pc:sldLayoutMk cId="0" sldId="2147483655"/>
              <ac:picMk id="8" creationId="{00000000-0000-0000-0000-000000000000}"/>
            </ac:picMkLst>
          </pc:picChg>
        </pc:sldLayoutChg>
        <pc:sldLayoutChg chg="setBg">
          <pc:chgData name="Cristovao Timbana" userId="7ed9e01f-347d-41e7-8ac4-53e49369b88d" providerId="ADAL" clId="{C333D178-E2ED-4FA8-9CC0-19F94F3C9C94}" dt="2025-10-08T09:22:16.866" v="1340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Cristovao Timbana" userId="7ed9e01f-347d-41e7-8ac4-53e49369b88d" providerId="ADAL" clId="{C333D178-E2ED-4FA8-9CC0-19F94F3C9C94}" dt="2025-10-08T09:22:16.866" v="1340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Cristovao Timbana" userId="7ed9e01f-347d-41e7-8ac4-53e49369b88d" providerId="ADAL" clId="{C333D178-E2ED-4FA8-9CC0-19F94F3C9C94}" dt="2025-10-08T09:22:16.866" v="1340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Cristovao Timbana" userId="7ed9e01f-347d-41e7-8ac4-53e49369b88d" providerId="ADAL" clId="{C333D178-E2ED-4FA8-9CC0-19F94F3C9C94}" dt="2025-10-08T09:22:16.866" v="1340"/>
          <pc:sldLayoutMkLst>
            <pc:docMk/>
            <pc:sldMasterMk cId="0" sldId="2147483648"/>
            <pc:sldLayoutMk cId="0" sldId="2147483659"/>
          </pc:sldLayoutMkLst>
        </pc:sldLayoutChg>
        <pc:sldLayoutChg chg="setBg">
          <pc:chgData name="Cristovao Timbana" userId="7ed9e01f-347d-41e7-8ac4-53e49369b88d" providerId="ADAL" clId="{C333D178-E2ED-4FA8-9CC0-19F94F3C9C94}" dt="2025-10-08T09:22:16.866" v="1340"/>
          <pc:sldLayoutMkLst>
            <pc:docMk/>
            <pc:sldMasterMk cId="0" sldId="2147483648"/>
            <pc:sldLayoutMk cId="0" sldId="2147483660"/>
          </pc:sldLayoutMkLst>
        </pc:sldLayoutChg>
        <pc:sldLayoutChg chg="setBg">
          <pc:chgData name="Cristovao Timbana" userId="7ed9e01f-347d-41e7-8ac4-53e49369b88d" providerId="ADAL" clId="{C333D178-E2ED-4FA8-9CC0-19F94F3C9C94}" dt="2025-10-08T09:22:16.866" v="1340"/>
          <pc:sldLayoutMkLst>
            <pc:docMk/>
            <pc:sldMasterMk cId="0" sldId="2147483648"/>
            <pc:sldLayoutMk cId="0" sldId="2147483661"/>
          </pc:sldLayoutMkLst>
        </pc:sldLayoutChg>
        <pc:sldLayoutChg chg="setBg">
          <pc:chgData name="Cristovao Timbana" userId="7ed9e01f-347d-41e7-8ac4-53e49369b88d" providerId="ADAL" clId="{C333D178-E2ED-4FA8-9CC0-19F94F3C9C94}" dt="2025-10-08T09:22:16.866" v="1340"/>
          <pc:sldLayoutMkLst>
            <pc:docMk/>
            <pc:sldMasterMk cId="0" sldId="2147483648"/>
            <pc:sldLayoutMk cId="0" sldId="2147483662"/>
          </pc:sldLayoutMkLst>
        </pc:sldLayoutChg>
        <pc:sldLayoutChg chg="setBg">
          <pc:chgData name="Cristovao Timbana" userId="7ed9e01f-347d-41e7-8ac4-53e49369b88d" providerId="ADAL" clId="{C333D178-E2ED-4FA8-9CC0-19F94F3C9C94}" dt="2025-10-08T09:22:16.866" v="1340"/>
          <pc:sldLayoutMkLst>
            <pc:docMk/>
            <pc:sldMasterMk cId="0" sldId="2147483648"/>
            <pc:sldLayoutMk cId="0" sldId="2147483663"/>
          </pc:sldLayoutMkLst>
        </pc:sldLayoutChg>
        <pc:sldLayoutChg chg="setBg">
          <pc:chgData name="Cristovao Timbana" userId="7ed9e01f-347d-41e7-8ac4-53e49369b88d" providerId="ADAL" clId="{C333D178-E2ED-4FA8-9CC0-19F94F3C9C94}" dt="2025-10-08T09:22:16.866" v="1340"/>
          <pc:sldLayoutMkLst>
            <pc:docMk/>
            <pc:sldMasterMk cId="0" sldId="2147483648"/>
            <pc:sldLayoutMk cId="0" sldId="2147483664"/>
          </pc:sldLayoutMkLst>
        </pc:sldLayoutChg>
        <pc:sldLayoutChg chg="setBg">
          <pc:chgData name="Cristovao Timbana" userId="7ed9e01f-347d-41e7-8ac4-53e49369b88d" providerId="ADAL" clId="{C333D178-E2ED-4FA8-9CC0-19F94F3C9C94}" dt="2025-10-08T09:22:16.866" v="1340"/>
          <pc:sldLayoutMkLst>
            <pc:docMk/>
            <pc:sldMasterMk cId="0" sldId="2147483648"/>
            <pc:sldLayoutMk cId="0" sldId="2147483665"/>
          </pc:sldLayoutMkLst>
        </pc:sldLayoutChg>
        <pc:sldLayoutChg chg="setBg">
          <pc:chgData name="Cristovao Timbana" userId="7ed9e01f-347d-41e7-8ac4-53e49369b88d" providerId="ADAL" clId="{C333D178-E2ED-4FA8-9CC0-19F94F3C9C94}" dt="2025-10-08T09:22:16.866" v="1340"/>
          <pc:sldLayoutMkLst>
            <pc:docMk/>
            <pc:sldMasterMk cId="0" sldId="2147483648"/>
            <pc:sldLayoutMk cId="0" sldId="2147483666"/>
          </pc:sldLayoutMkLst>
        </pc:sldLayoutChg>
        <pc:sldLayoutChg chg="del">
          <pc:chgData name="Cristovao Timbana" userId="7ed9e01f-347d-41e7-8ac4-53e49369b88d" providerId="ADAL" clId="{C333D178-E2ED-4FA8-9CC0-19F94F3C9C94}" dt="2025-10-08T09:03:33.214" v="678" actId="47"/>
          <pc:sldLayoutMkLst>
            <pc:docMk/>
            <pc:sldMasterMk cId="0" sldId="2147483648"/>
            <pc:sldLayoutMk cId="2963165046" sldId="2147483667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D207DB-BE02-4709-8EFD-924FD65357E7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BBEE9-CA43-474A-A7EB-3C589B4B8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277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28CA9D-DD5A-43AB-8151-0F1378B49596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FCB122-D5E8-4AC5-A36E-8A3F504BF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143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39A425B-5968-4CD5-AE1D-D41E8EAAB025}" type="slidenum">
              <a:rPr lang="en-US" altLang="en-US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390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‹#›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 userDrawn="1"/>
        </p:nvSpPr>
        <p:spPr>
          <a:xfrm>
            <a:off x="697578" y="962058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697578" y="962058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659871" y="896070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659872" y="896070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Rectangle 10"/>
          <p:cNvSpPr/>
          <p:nvPr userDrawn="1"/>
        </p:nvSpPr>
        <p:spPr>
          <a:xfrm>
            <a:off x="697578" y="962058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5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9/28/2026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6" name="TextBox 12"/>
          <p:cNvSpPr txBox="1"/>
          <p:nvPr userDrawn="1"/>
        </p:nvSpPr>
        <p:spPr>
          <a:xfrm>
            <a:off x="1564849" y="4375804"/>
            <a:ext cx="8738648" cy="717550"/>
          </a:xfrm>
          <a:prstGeom prst="rect">
            <a:avLst/>
          </a:prstGeom>
          <a:solidFill>
            <a:schemeClr val="accent3">
              <a:lumMod val="40000"/>
              <a:lumOff val="60000"/>
              <a:alpha val="19000"/>
            </a:schemeClr>
          </a:solidFill>
          <a:ln>
            <a:solidFill>
              <a:schemeClr val="tx1"/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4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Lema</a:t>
            </a:r>
            <a:r>
              <a:rPr lang="en-US" sz="24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: </a:t>
            </a:r>
            <a:r>
              <a:rPr lang="en-US" sz="24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Por</a:t>
            </a:r>
            <a:r>
              <a:rPr lang="en-US" sz="24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um </a:t>
            </a:r>
            <a:r>
              <a:rPr lang="en-US" sz="24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Serviço</a:t>
            </a:r>
            <a:r>
              <a:rPr lang="en-US" sz="24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Nacional de </a:t>
            </a:r>
            <a:r>
              <a:rPr lang="en-US" sz="24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Saúde</a:t>
            </a:r>
            <a:r>
              <a:rPr lang="en-US" sz="24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de </a:t>
            </a:r>
            <a:r>
              <a:rPr lang="en-US" sz="24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Qualidade</a:t>
            </a:r>
            <a:r>
              <a:rPr lang="en-US" sz="24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e </a:t>
            </a:r>
            <a:r>
              <a:rPr lang="en-US" sz="24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Humanizado</a:t>
            </a:r>
            <a:r>
              <a:rPr lang="en-US" sz="24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para </a:t>
            </a:r>
            <a:r>
              <a:rPr lang="en-US" sz="24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Todos</a:t>
            </a:r>
          </a:p>
        </p:txBody>
      </p:sp>
      <p:sp>
        <p:nvSpPr>
          <p:cNvPr id="7" name="TextBox 11"/>
          <p:cNvSpPr txBox="1"/>
          <p:nvPr userDrawn="1"/>
        </p:nvSpPr>
        <p:spPr>
          <a:xfrm>
            <a:off x="4203144" y="6416554"/>
            <a:ext cx="3453504" cy="287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Maputo, </a:t>
            </a:r>
            <a:r>
              <a:rPr lang="pt-PT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Outubro</a:t>
            </a:r>
            <a:r>
              <a:rPr 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 de 2025</a:t>
            </a:r>
          </a:p>
        </p:txBody>
      </p:sp>
      <p:pic>
        <p:nvPicPr>
          <p:cNvPr id="8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211" y="328719"/>
            <a:ext cx="1140625" cy="995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4351868" y="1473198"/>
            <a:ext cx="31841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4411744" y="1794928"/>
            <a:ext cx="26489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>
                <a:latin typeface="Arial" panose="020B0604020202020204" pitchFamily="34" charset="0"/>
                <a:cs typeface="Arial" panose="020B0604020202020204" pitchFamily="34" charset="0"/>
              </a:rPr>
              <a:t>Ministério da Saúde</a:t>
            </a:r>
          </a:p>
        </p:txBody>
      </p:sp>
      <p:pic>
        <p:nvPicPr>
          <p:cNvPr id="12" name="Picture 11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512" y="35361"/>
            <a:ext cx="1266825" cy="790575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2286000" y="1473198"/>
            <a:ext cx="69913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MOÇAMBIQUE</a:t>
            </a:r>
          </a:p>
          <a:p>
            <a:pPr algn="ctr">
              <a:defRPr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PT" altLang="en-US" sz="1800" dirty="0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Conselho dos Serviços de </a:t>
            </a:r>
            <a:r>
              <a:rPr lang="en-US" altLang="en-US" sz="1800" dirty="0" err="1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Representação</a:t>
            </a:r>
            <a:r>
              <a:rPr lang="en-US" altLang="en-US" sz="1800" dirty="0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 do Estado</a:t>
            </a:r>
            <a:endParaRPr lang="pt-PT" altLang="en-US" sz="1800" dirty="0">
              <a:solidFill>
                <a:schemeClr val="bg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 de Saúde</a:t>
            </a:r>
            <a:endParaRPr lang="pt-PT" alt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7" y="5539444"/>
            <a:ext cx="1249638" cy="128001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‹#›</a:t>
            </a:fld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FC161-514C-445C-AF37-0AE5BFF5457E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FDB2-2B93-4B91-AA5A-B3FBDB76353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659872" y="896070"/>
            <a:ext cx="933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PT" altLang="en-US" dirty="0"/>
              <a:t>MISAU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58" y="91545"/>
            <a:ext cx="933255" cy="8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6962BC6-A733-39D4-0B7D-1F1A97803A13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593" y="32278"/>
            <a:ext cx="1266825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96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2">
                <a:lumMod val="20000"/>
                <a:lumOff val="80000"/>
                <a:alpha val="16000"/>
              </a:schemeClr>
            </a:gs>
            <a:gs pos="9700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2DFC161-514C-445C-AF37-0AE5BFF5457E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2C2FDB2-2B93-4B91-AA5A-B3FBDB76353D}" type="slidenum">
              <a:rPr lang="en-GB" smtClean="0"/>
              <a:t>‹#›</a:t>
            </a:fld>
            <a:endParaRPr lang="en-GB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10740269" y="4067175"/>
            <a:ext cx="1296987" cy="2790825"/>
            <a:chOff x="9206969" y="2963333"/>
            <a:chExt cx="2981858" cy="3208867"/>
          </a:xfrm>
        </p:grpSpPr>
        <p:cxnSp>
          <p:nvCxnSpPr>
            <p:cNvPr id="14" name="Straight Connector 13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3"/>
          <p:cNvSpPr txBox="1">
            <a:spLocks noChangeArrowheads="1"/>
          </p:cNvSpPr>
          <p:nvPr/>
        </p:nvSpPr>
        <p:spPr bwMode="auto">
          <a:xfrm>
            <a:off x="872232" y="5972170"/>
            <a:ext cx="97837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0D0D0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0D0D0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0D0D0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en-US" sz="2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Maputo, Outubro de </a:t>
            </a:r>
            <a:r>
              <a:rPr lang="pt-BR" altLang="en-US" sz="2400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  <a:r>
              <a:rPr lang="pt-BR" altLang="en-US" sz="2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US" altLang="en-US" sz="2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1249263" y="1107375"/>
            <a:ext cx="90297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0D0D0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0D0D0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0D0D0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Conselho dos </a:t>
            </a:r>
            <a:r>
              <a:rPr lang="pt-PT" altLang="en-US" sz="2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Serivos</a:t>
            </a:r>
            <a:r>
              <a:rPr lang="pt-PT" alt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Representação do Estado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</a:t>
            </a:r>
            <a:r>
              <a:rPr lang="pt-PT" altLang="en-US" sz="2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n-US" sz="20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Saúde</a:t>
            </a:r>
            <a:endParaRPr lang="pt-PT" altLang="en-US" sz="2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7" descr="C:\Users\DACUNHA\Pictures\image_previe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955" y="174661"/>
            <a:ext cx="1374316" cy="932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/>
          <p:cNvSpPr txBox="1"/>
          <p:nvPr/>
        </p:nvSpPr>
        <p:spPr>
          <a:xfrm>
            <a:off x="1356118" y="3575878"/>
            <a:ext cx="9845039" cy="104749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D0D0D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eaLnBrk="1" hangingPunct="1">
              <a:defRPr/>
            </a:pPr>
            <a:r>
              <a:rPr lang="pt-B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Garet Bold"/>
              </a:rPr>
              <a:t>Balanço de Actividade Inspectiva 2025/2026</a:t>
            </a:r>
            <a:endParaRPr lang="pt-BR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238525" y="2782253"/>
            <a:ext cx="11639550" cy="793625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</a:t>
            </a:r>
            <a:r>
              <a:rPr lang="pt-BR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Saúde</a:t>
            </a:r>
            <a:endParaRPr lang="pt-BR" sz="3600" b="1" dirty="0">
              <a:solidFill>
                <a:srgbClr val="00B050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935491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1403985" y="1153867"/>
            <a:ext cx="8672226" cy="513439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342900" lvl="1" indent="-342900" algn="just">
              <a:buFont typeface="Arial" pitchFamily="34" charset="0"/>
              <a:buChar char="•"/>
            </a:pPr>
            <a:endParaRPr lang="en-US" altLang="pt-BR" sz="2400" dirty="0">
              <a:solidFill>
                <a:schemeClr val="bg1"/>
              </a:solidFill>
            </a:endParaRPr>
          </a:p>
          <a:p>
            <a:pPr marL="800100" lvl="2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pt-BR" sz="2000" dirty="0" err="1">
                <a:solidFill>
                  <a:schemeClr val="bg1"/>
                </a:solidFill>
              </a:rPr>
              <a:t>Enquadramento</a:t>
            </a:r>
            <a:r>
              <a:rPr lang="en-US" altLang="pt-BR" sz="2000" dirty="0">
                <a:solidFill>
                  <a:schemeClr val="bg1"/>
                </a:solidFill>
              </a:rPr>
              <a:t> e base </a:t>
            </a:r>
            <a:r>
              <a:rPr lang="en-US" altLang="pt-BR" sz="2000" dirty="0" smtClean="0">
                <a:solidFill>
                  <a:schemeClr val="bg1"/>
                </a:solidFill>
              </a:rPr>
              <a:t>legal</a:t>
            </a:r>
            <a:endParaRPr lang="en-US" altLang="pt-BR" sz="2000" dirty="0">
              <a:solidFill>
                <a:schemeClr val="accent5"/>
              </a:solidFill>
            </a:endParaRPr>
          </a:p>
          <a:p>
            <a:pPr marL="800100" lvl="2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pt-BR" sz="2000" dirty="0" err="1">
                <a:solidFill>
                  <a:schemeClr val="bg1"/>
                </a:solidFill>
              </a:rPr>
              <a:t>Recursos</a:t>
            </a:r>
            <a:r>
              <a:rPr lang="en-US" altLang="pt-BR" sz="2000" dirty="0">
                <a:solidFill>
                  <a:schemeClr val="bg1"/>
                </a:solidFill>
              </a:rPr>
              <a:t> </a:t>
            </a:r>
            <a:r>
              <a:rPr lang="en-US" altLang="pt-BR" sz="2000" dirty="0" err="1">
                <a:solidFill>
                  <a:schemeClr val="bg1"/>
                </a:solidFill>
              </a:rPr>
              <a:t>Humanos</a:t>
            </a:r>
            <a:endParaRPr lang="en-US" altLang="pt-BR" sz="2000" dirty="0">
              <a:solidFill>
                <a:schemeClr val="bg1"/>
              </a:solidFill>
            </a:endParaRPr>
          </a:p>
          <a:p>
            <a:pPr marL="800100" lvl="2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pt-BR" sz="2000" dirty="0">
                <a:solidFill>
                  <a:schemeClr val="bg1"/>
                </a:solidFill>
              </a:rPr>
              <a:t>Objectivo</a:t>
            </a:r>
          </a:p>
          <a:p>
            <a:pPr marL="800100" lvl="2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pt-BR" sz="2000" dirty="0" err="1">
                <a:solidFill>
                  <a:schemeClr val="bg1"/>
                </a:solidFill>
              </a:rPr>
              <a:t>Grau</a:t>
            </a:r>
            <a:r>
              <a:rPr lang="en-US" altLang="pt-BR" sz="2000" dirty="0">
                <a:solidFill>
                  <a:schemeClr val="bg1"/>
                </a:solidFill>
              </a:rPr>
              <a:t> de </a:t>
            </a:r>
            <a:r>
              <a:rPr lang="en-US" altLang="pt-BR" sz="2000" dirty="0" err="1">
                <a:solidFill>
                  <a:schemeClr val="bg1"/>
                </a:solidFill>
              </a:rPr>
              <a:t>cumprimento</a:t>
            </a:r>
            <a:r>
              <a:rPr lang="en-US" altLang="pt-BR" sz="2000" dirty="0">
                <a:solidFill>
                  <a:schemeClr val="bg1"/>
                </a:solidFill>
              </a:rPr>
              <a:t> do PESOE 2025</a:t>
            </a:r>
          </a:p>
          <a:p>
            <a:pPr marL="800100" lvl="2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pt-BR" sz="2000" dirty="0" err="1" smtClean="0">
                <a:solidFill>
                  <a:schemeClr val="bg1"/>
                </a:solidFill>
              </a:rPr>
              <a:t>Inspecção</a:t>
            </a:r>
            <a:r>
              <a:rPr lang="en-US" altLang="pt-BR" sz="2000" dirty="0" smtClean="0">
                <a:solidFill>
                  <a:schemeClr val="bg1"/>
                </a:solidFill>
              </a:rPr>
              <a:t> </a:t>
            </a:r>
            <a:r>
              <a:rPr lang="en-US" altLang="pt-BR" sz="2000" dirty="0" err="1" smtClean="0">
                <a:solidFill>
                  <a:schemeClr val="bg1"/>
                </a:solidFill>
              </a:rPr>
              <a:t>Administrativa</a:t>
            </a:r>
            <a:r>
              <a:rPr lang="en-US" altLang="pt-BR" sz="2000" dirty="0" smtClean="0">
                <a:solidFill>
                  <a:schemeClr val="bg1"/>
                </a:solidFill>
              </a:rPr>
              <a:t> </a:t>
            </a:r>
            <a:endParaRPr lang="en-US" altLang="pt-BR" sz="2000" dirty="0">
              <a:solidFill>
                <a:schemeClr val="bg1"/>
              </a:solidFill>
            </a:endParaRPr>
          </a:p>
          <a:p>
            <a:pPr marL="800100" lvl="2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pt-BR" sz="2000" dirty="0" err="1">
                <a:solidFill>
                  <a:schemeClr val="bg1"/>
                </a:solidFill>
              </a:rPr>
              <a:t>Inspecção</a:t>
            </a:r>
            <a:r>
              <a:rPr lang="en-US" altLang="pt-BR" sz="2000" dirty="0">
                <a:solidFill>
                  <a:schemeClr val="bg1"/>
                </a:solidFill>
              </a:rPr>
              <a:t> </a:t>
            </a:r>
            <a:r>
              <a:rPr lang="en-US" altLang="pt-BR" sz="2000" dirty="0" smtClean="0">
                <a:solidFill>
                  <a:schemeClr val="bg1"/>
                </a:solidFill>
              </a:rPr>
              <a:t>dos </a:t>
            </a:r>
            <a:r>
              <a:rPr lang="en-US" altLang="pt-BR" sz="2000" dirty="0" err="1">
                <a:solidFill>
                  <a:schemeClr val="bg1"/>
                </a:solidFill>
              </a:rPr>
              <a:t>C</a:t>
            </a:r>
            <a:r>
              <a:rPr lang="en-US" altLang="pt-BR" sz="2000" dirty="0" err="1" smtClean="0">
                <a:solidFill>
                  <a:schemeClr val="bg1"/>
                </a:solidFill>
              </a:rPr>
              <a:t>uidados</a:t>
            </a:r>
            <a:r>
              <a:rPr lang="en-US" altLang="pt-BR" sz="2000" dirty="0" smtClean="0">
                <a:solidFill>
                  <a:schemeClr val="bg1"/>
                </a:solidFill>
              </a:rPr>
              <a:t> </a:t>
            </a:r>
            <a:r>
              <a:rPr lang="en-US" altLang="pt-BR" sz="2000" dirty="0" smtClean="0">
                <a:solidFill>
                  <a:schemeClr val="bg1"/>
                </a:solidFill>
              </a:rPr>
              <a:t>e </a:t>
            </a:r>
            <a:r>
              <a:rPr lang="en-US" altLang="pt-BR" sz="2000" dirty="0">
                <a:solidFill>
                  <a:schemeClr val="bg1"/>
                </a:solidFill>
              </a:rPr>
              <a:t>P</a:t>
            </a:r>
            <a:r>
              <a:rPr lang="en-US" altLang="pt-BR" sz="2000" dirty="0" smtClean="0">
                <a:solidFill>
                  <a:schemeClr val="bg1"/>
                </a:solidFill>
              </a:rPr>
              <a:t>rodutos </a:t>
            </a:r>
            <a:r>
              <a:rPr lang="en-US" altLang="pt-BR" sz="2000" dirty="0" smtClean="0">
                <a:solidFill>
                  <a:schemeClr val="bg1"/>
                </a:solidFill>
              </a:rPr>
              <a:t>de Saúde</a:t>
            </a:r>
          </a:p>
          <a:p>
            <a:pPr marL="800100" lvl="2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pt-BR" sz="2000" dirty="0" err="1" smtClean="0">
                <a:solidFill>
                  <a:schemeClr val="bg1"/>
                </a:solidFill>
              </a:rPr>
              <a:t>Inspecção</a:t>
            </a:r>
            <a:r>
              <a:rPr lang="en-US" altLang="pt-BR" sz="2000" dirty="0" smtClean="0">
                <a:solidFill>
                  <a:schemeClr val="bg1"/>
                </a:solidFill>
              </a:rPr>
              <a:t> </a:t>
            </a:r>
            <a:r>
              <a:rPr lang="en-US" altLang="pt-BR" sz="2000" dirty="0" smtClean="0">
                <a:solidFill>
                  <a:schemeClr val="bg1"/>
                </a:solidFill>
              </a:rPr>
              <a:t>de </a:t>
            </a:r>
            <a:r>
              <a:rPr lang="en-US" altLang="pt-BR" sz="2000" dirty="0" err="1" smtClean="0">
                <a:solidFill>
                  <a:schemeClr val="bg1"/>
                </a:solidFill>
              </a:rPr>
              <a:t>Formação</a:t>
            </a:r>
            <a:r>
              <a:rPr lang="en-US" altLang="pt-BR" sz="2000" dirty="0" smtClean="0">
                <a:solidFill>
                  <a:schemeClr val="bg1"/>
                </a:solidFill>
              </a:rPr>
              <a:t> </a:t>
            </a:r>
            <a:r>
              <a:rPr lang="en-US" altLang="pt-BR" sz="2000" dirty="0" err="1" smtClean="0">
                <a:solidFill>
                  <a:schemeClr val="bg1"/>
                </a:solidFill>
              </a:rPr>
              <a:t>em</a:t>
            </a:r>
            <a:r>
              <a:rPr lang="en-US" altLang="pt-BR" sz="2000" dirty="0" smtClean="0">
                <a:solidFill>
                  <a:schemeClr val="bg1"/>
                </a:solidFill>
              </a:rPr>
              <a:t> </a:t>
            </a:r>
            <a:r>
              <a:rPr lang="en-US" altLang="pt-BR" sz="2000" dirty="0" err="1" smtClean="0">
                <a:solidFill>
                  <a:schemeClr val="bg1"/>
                </a:solidFill>
              </a:rPr>
              <a:t>saúde</a:t>
            </a:r>
            <a:r>
              <a:rPr lang="en-US" altLang="pt-BR" sz="2000" dirty="0" smtClean="0">
                <a:solidFill>
                  <a:schemeClr val="bg1"/>
                </a:solidFill>
              </a:rPr>
              <a:t>  </a:t>
            </a:r>
            <a:endParaRPr lang="en-US" altLang="pt-BR" sz="2000" dirty="0">
              <a:solidFill>
                <a:schemeClr val="bg1"/>
              </a:solidFill>
            </a:endParaRPr>
          </a:p>
          <a:p>
            <a:pPr marL="800100" lvl="2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pt-BR" sz="2000" dirty="0" err="1" smtClean="0">
                <a:solidFill>
                  <a:schemeClr val="bg1"/>
                </a:solidFill>
              </a:rPr>
              <a:t>Execução</a:t>
            </a:r>
            <a:r>
              <a:rPr lang="en-US" altLang="pt-BR" sz="2000" dirty="0" smtClean="0">
                <a:solidFill>
                  <a:schemeClr val="bg1"/>
                </a:solidFill>
              </a:rPr>
              <a:t> de PESOE 2026;</a:t>
            </a:r>
          </a:p>
          <a:p>
            <a:pPr marL="800100" lvl="2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pt-BR" sz="2000" dirty="0" err="1">
                <a:solidFill>
                  <a:schemeClr val="bg1"/>
                </a:solidFill>
              </a:rPr>
              <a:t>Principais</a:t>
            </a:r>
            <a:r>
              <a:rPr lang="en-US" altLang="pt-BR" sz="2000" dirty="0">
                <a:solidFill>
                  <a:schemeClr val="bg1"/>
                </a:solidFill>
              </a:rPr>
              <a:t> </a:t>
            </a:r>
            <a:r>
              <a:rPr lang="en-US" altLang="pt-BR" sz="2000" dirty="0" err="1">
                <a:solidFill>
                  <a:schemeClr val="bg1"/>
                </a:solidFill>
              </a:rPr>
              <a:t>Observações</a:t>
            </a:r>
            <a:r>
              <a:rPr lang="en-US" altLang="pt-BR" sz="2000" dirty="0">
                <a:solidFill>
                  <a:schemeClr val="bg1"/>
                </a:solidFill>
              </a:rPr>
              <a:t> e </a:t>
            </a:r>
            <a:r>
              <a:rPr lang="en-US" altLang="pt-BR" sz="2000" dirty="0" err="1" smtClean="0">
                <a:solidFill>
                  <a:schemeClr val="bg1"/>
                </a:solidFill>
              </a:rPr>
              <a:t>métricas</a:t>
            </a:r>
            <a:endParaRPr lang="en-US" altLang="pt-BR" sz="2000" dirty="0" smtClean="0">
              <a:solidFill>
                <a:schemeClr val="bg1"/>
              </a:solidFill>
            </a:endParaRPr>
          </a:p>
          <a:p>
            <a:pPr marL="800100" lvl="2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pt-BR" sz="2000" dirty="0" err="1" smtClean="0">
                <a:solidFill>
                  <a:schemeClr val="bg1"/>
                </a:solidFill>
              </a:rPr>
              <a:t>Constrangimentos</a:t>
            </a:r>
            <a:r>
              <a:rPr lang="en-US" altLang="pt-BR" sz="2000" dirty="0" smtClean="0">
                <a:solidFill>
                  <a:schemeClr val="bg1"/>
                </a:solidFill>
              </a:rPr>
              <a:t>;</a:t>
            </a:r>
            <a:endParaRPr lang="en-US" altLang="pt-BR" sz="2000" dirty="0">
              <a:solidFill>
                <a:schemeClr val="bg1"/>
              </a:solidFill>
            </a:endParaRPr>
          </a:p>
          <a:p>
            <a:pPr marL="800100" lvl="2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pt-PT" altLang="pt-BR" sz="2000" dirty="0" smtClean="0">
                <a:solidFill>
                  <a:schemeClr val="bg1"/>
                </a:solidFill>
              </a:rPr>
              <a:t>Desafios </a:t>
            </a:r>
            <a:r>
              <a:rPr lang="pt-PT" altLang="pt-BR" sz="2000" dirty="0">
                <a:solidFill>
                  <a:schemeClr val="bg1"/>
                </a:solidFill>
              </a:rPr>
              <a:t>e perspectivas</a:t>
            </a:r>
            <a:r>
              <a:rPr lang="pt-PT" altLang="pt-BR" sz="2000" dirty="0" smtClean="0">
                <a:solidFill>
                  <a:schemeClr val="bg1"/>
                </a:solidFill>
              </a:rPr>
              <a:t>;</a:t>
            </a:r>
            <a:endParaRPr lang="pt-PT" altLang="pt-BR" sz="2000" dirty="0">
              <a:solidFill>
                <a:schemeClr val="bg1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chemeClr val="dk1"/>
              </a:buClr>
              <a:buSzPts val="1800"/>
            </a:pPr>
            <a:r>
              <a:rPr lang="pt-PT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Proposta de Conteúdos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03320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4665" y="1531347"/>
            <a:ext cx="10087624" cy="4598522"/>
          </a:xfrm>
        </p:spPr>
        <p:txBody>
          <a:bodyPr>
            <a:normAutofit/>
          </a:bodyPr>
          <a:lstStyle/>
          <a:p>
            <a:pPr marL="457200" lvl="1" indent="0" algn="just">
              <a:lnSpc>
                <a:spcPct val="150000"/>
              </a:lnSpc>
              <a:buNone/>
            </a:pPr>
            <a:r>
              <a:rPr lang="pt-PT" sz="2400" dirty="0">
                <a:solidFill>
                  <a:schemeClr val="bg1"/>
                </a:solidFill>
              </a:rPr>
              <a:t>No âmbito do PESOE 2025, a UCI realizou actividades de inspecção nos sectores público e privado, abrangendo as seguintes áreas</a:t>
            </a:r>
            <a:r>
              <a:rPr lang="pt-PT" sz="2400" dirty="0" smtClean="0">
                <a:solidFill>
                  <a:schemeClr val="bg1"/>
                </a:solidFill>
              </a:rPr>
              <a:t>:</a:t>
            </a:r>
          </a:p>
          <a:p>
            <a:pPr lvl="1" algn="just">
              <a:lnSpc>
                <a:spcPct val="150000"/>
              </a:lnSpc>
            </a:pPr>
            <a:r>
              <a:rPr lang="pt-PT" sz="2400" dirty="0" smtClean="0">
                <a:solidFill>
                  <a:schemeClr val="bg2">
                    <a:lumMod val="50000"/>
                  </a:schemeClr>
                </a:solidFill>
              </a:rPr>
              <a:t>1</a:t>
            </a:r>
            <a:r>
              <a:rPr lang="pt-PT" sz="2400" dirty="0">
                <a:solidFill>
                  <a:schemeClr val="bg2">
                    <a:lumMod val="50000"/>
                  </a:schemeClr>
                </a:solidFill>
              </a:rPr>
              <a:t>. </a:t>
            </a:r>
            <a:r>
              <a:rPr lang="pt-PT" sz="2400" dirty="0" smtClean="0">
                <a:solidFill>
                  <a:schemeClr val="bg1"/>
                </a:solidFill>
              </a:rPr>
              <a:t>Administração e Auditoria Interna;</a:t>
            </a:r>
          </a:p>
          <a:p>
            <a:pPr lvl="1" algn="just">
              <a:lnSpc>
                <a:spcPct val="150000"/>
              </a:lnSpc>
            </a:pPr>
            <a:r>
              <a:rPr lang="pt-PT" sz="2400" dirty="0" smtClean="0">
                <a:solidFill>
                  <a:schemeClr val="bg1"/>
                </a:solidFill>
              </a:rPr>
              <a:t>2. Cuidados </a:t>
            </a:r>
            <a:r>
              <a:rPr lang="pt-PT" sz="2400" dirty="0">
                <a:solidFill>
                  <a:schemeClr val="bg1"/>
                </a:solidFill>
              </a:rPr>
              <a:t>e Produtos </a:t>
            </a:r>
            <a:r>
              <a:rPr lang="pt-PT" sz="2400" dirty="0" smtClean="0">
                <a:solidFill>
                  <a:schemeClr val="bg1"/>
                </a:solidFill>
              </a:rPr>
              <a:t>de Saúde;</a:t>
            </a:r>
          </a:p>
          <a:p>
            <a:pPr lvl="1" algn="just">
              <a:lnSpc>
                <a:spcPct val="150000"/>
              </a:lnSpc>
            </a:pPr>
            <a:r>
              <a:rPr lang="pt-PT" sz="2400" dirty="0" smtClean="0">
                <a:solidFill>
                  <a:schemeClr val="bg1"/>
                </a:solidFill>
              </a:rPr>
              <a:t>3. Formação </a:t>
            </a:r>
            <a:r>
              <a:rPr lang="pt-PT" sz="2400" dirty="0">
                <a:solidFill>
                  <a:schemeClr val="bg1"/>
                </a:solidFill>
              </a:rPr>
              <a:t>em Saúde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lvl="1" algn="ctr"/>
            <a:r>
              <a:rPr lang="en-US" altLang="pt-BR" sz="2400" dirty="0" err="1">
                <a:solidFill>
                  <a:schemeClr val="bg1"/>
                </a:solidFill>
              </a:rPr>
              <a:t>Enquadramento</a:t>
            </a:r>
            <a:r>
              <a:rPr lang="en-US" altLang="pt-BR" sz="2400" dirty="0">
                <a:solidFill>
                  <a:schemeClr val="bg1"/>
                </a:solidFill>
              </a:rPr>
              <a:t> e base </a:t>
            </a:r>
            <a:r>
              <a:rPr lang="en-US" altLang="pt-BR" sz="2400" dirty="0" smtClean="0">
                <a:solidFill>
                  <a:schemeClr val="bg1"/>
                </a:solidFill>
              </a:rPr>
              <a:t>legal (1/4)</a:t>
            </a:r>
            <a:endParaRPr lang="en-US" altLang="pt-B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5258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807" y="858130"/>
            <a:ext cx="10550768" cy="942535"/>
          </a:xfrm>
        </p:spPr>
        <p:txBody>
          <a:bodyPr>
            <a:noAutofit/>
          </a:bodyPr>
          <a:lstStyle/>
          <a:p>
            <a:pPr lvl="1" algn="ctr" defTabSz="457200" rtl="0">
              <a:spcBef>
                <a:spcPct val="0"/>
              </a:spcBef>
            </a:pPr>
            <a:r>
              <a:rPr lang="pt-PT" sz="2000" b="1" dirty="0">
                <a:solidFill>
                  <a:schemeClr val="bg1"/>
                </a:solidFill>
              </a:rPr>
              <a:t>Administração e Auditoria </a:t>
            </a:r>
            <a:r>
              <a:rPr lang="pt-PT" sz="2000" b="1" dirty="0" smtClean="0">
                <a:solidFill>
                  <a:schemeClr val="bg1"/>
                </a:solidFill>
              </a:rPr>
              <a:t>Interna </a:t>
            </a:r>
            <a:r>
              <a:rPr lang="pt-PT" sz="2000" b="1" dirty="0">
                <a:solidFill>
                  <a:schemeClr val="bg1"/>
                </a:solidFill>
              </a:rPr>
              <a:t/>
            </a:r>
            <a:br>
              <a:rPr lang="pt-PT" sz="2000" b="1" dirty="0">
                <a:solidFill>
                  <a:schemeClr val="bg1"/>
                </a:solidFill>
              </a:rPr>
            </a:br>
            <a:endParaRPr lang="pt-PT" sz="2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82644" y="1659989"/>
            <a:ext cx="10720150" cy="5008098"/>
          </a:xfrm>
        </p:spPr>
        <p:txBody>
          <a:bodyPr>
            <a:noAutofit/>
          </a:bodyPr>
          <a:lstStyle/>
          <a:p>
            <a:pPr marL="342900" lvl="1" indent="-342900" algn="just"/>
            <a:r>
              <a:rPr lang="pt-PT" dirty="0" smtClean="0">
                <a:solidFill>
                  <a:schemeClr val="bg1"/>
                </a:solidFill>
              </a:rPr>
              <a:t>Constituição </a:t>
            </a:r>
            <a:r>
              <a:rPr lang="pt-PT" dirty="0">
                <a:solidFill>
                  <a:schemeClr val="bg1"/>
                </a:solidFill>
              </a:rPr>
              <a:t>da República de </a:t>
            </a:r>
            <a:r>
              <a:rPr lang="pt-PT" dirty="0" smtClean="0">
                <a:solidFill>
                  <a:schemeClr val="bg1"/>
                </a:solidFill>
              </a:rPr>
              <a:t>Moçambique;</a:t>
            </a:r>
          </a:p>
          <a:p>
            <a:pPr marL="342900" lvl="1" indent="-342900" algn="just"/>
            <a:r>
              <a:rPr lang="pt-PT" b="1" dirty="0" smtClean="0">
                <a:solidFill>
                  <a:schemeClr val="bg1"/>
                </a:solidFill>
              </a:rPr>
              <a:t>Lei </a:t>
            </a:r>
            <a:r>
              <a:rPr lang="pt-PT" b="1" dirty="0">
                <a:solidFill>
                  <a:schemeClr val="bg1"/>
                </a:solidFill>
              </a:rPr>
              <a:t>n.º 4/2022 — EGFAE</a:t>
            </a:r>
            <a:r>
              <a:rPr lang="pt-PT" dirty="0">
                <a:solidFill>
                  <a:schemeClr val="bg1"/>
                </a:solidFill>
              </a:rPr>
              <a:t> e respectiva </a:t>
            </a:r>
            <a:r>
              <a:rPr lang="pt-PT" dirty="0" smtClean="0">
                <a:solidFill>
                  <a:schemeClr val="bg1"/>
                </a:solidFill>
              </a:rPr>
              <a:t>regulamentação;</a:t>
            </a:r>
          </a:p>
          <a:p>
            <a:pPr marL="342900" lvl="1" indent="-342900" algn="just"/>
            <a:r>
              <a:rPr lang="pt-PT" dirty="0" smtClean="0">
                <a:solidFill>
                  <a:schemeClr val="bg1"/>
                </a:solidFill>
              </a:rPr>
              <a:t>Legislação </a:t>
            </a:r>
            <a:r>
              <a:rPr lang="pt-PT" dirty="0">
                <a:solidFill>
                  <a:schemeClr val="bg1"/>
                </a:solidFill>
              </a:rPr>
              <a:t>sobre organização e funcionamento dos órgãos do </a:t>
            </a:r>
            <a:r>
              <a:rPr lang="pt-PT" dirty="0" smtClean="0">
                <a:solidFill>
                  <a:schemeClr val="bg1"/>
                </a:solidFill>
              </a:rPr>
              <a:t>Estado;</a:t>
            </a:r>
          </a:p>
          <a:p>
            <a:pPr marL="342900" lvl="1" indent="-342900" algn="just"/>
            <a:r>
              <a:rPr lang="pt-PT" dirty="0" smtClean="0">
                <a:solidFill>
                  <a:schemeClr val="bg1"/>
                </a:solidFill>
              </a:rPr>
              <a:t>Normas </a:t>
            </a:r>
            <a:r>
              <a:rPr lang="pt-PT" dirty="0">
                <a:solidFill>
                  <a:schemeClr val="bg1"/>
                </a:solidFill>
              </a:rPr>
              <a:t>de gestão de Recursos </a:t>
            </a:r>
            <a:r>
              <a:rPr lang="pt-PT" dirty="0" smtClean="0">
                <a:solidFill>
                  <a:schemeClr val="bg1"/>
                </a:solidFill>
              </a:rPr>
              <a:t>Humanos;</a:t>
            </a:r>
          </a:p>
          <a:p>
            <a:pPr marL="342900" lvl="1" indent="-342900" algn="just"/>
            <a:r>
              <a:rPr lang="pt-PT" b="1" dirty="0" smtClean="0">
                <a:solidFill>
                  <a:schemeClr val="bg1"/>
                </a:solidFill>
              </a:rPr>
              <a:t>Lei </a:t>
            </a:r>
            <a:r>
              <a:rPr lang="pt-PT" b="1" dirty="0">
                <a:solidFill>
                  <a:schemeClr val="bg1"/>
                </a:solidFill>
              </a:rPr>
              <a:t>n.º 14/2020 — SISTAFE</a:t>
            </a:r>
            <a:r>
              <a:rPr lang="pt-PT" dirty="0">
                <a:solidFill>
                  <a:schemeClr val="bg1"/>
                </a:solidFill>
              </a:rPr>
              <a:t> e respectiva </a:t>
            </a:r>
            <a:r>
              <a:rPr lang="pt-PT" dirty="0" smtClean="0">
                <a:solidFill>
                  <a:schemeClr val="bg1"/>
                </a:solidFill>
              </a:rPr>
              <a:t>regulamentação;</a:t>
            </a:r>
          </a:p>
          <a:p>
            <a:pPr marL="342900" lvl="1" indent="-342900" algn="just"/>
            <a:r>
              <a:rPr lang="pt-PT" dirty="0" smtClean="0">
                <a:solidFill>
                  <a:schemeClr val="bg1"/>
                </a:solidFill>
              </a:rPr>
              <a:t>Legislação </a:t>
            </a:r>
            <a:r>
              <a:rPr lang="pt-PT" dirty="0">
                <a:solidFill>
                  <a:schemeClr val="bg1"/>
                </a:solidFill>
              </a:rPr>
              <a:t>de contratação pública e gestão </a:t>
            </a:r>
            <a:r>
              <a:rPr lang="pt-PT" dirty="0" smtClean="0">
                <a:solidFill>
                  <a:schemeClr val="bg1"/>
                </a:solidFill>
              </a:rPr>
              <a:t>patrimonial;</a:t>
            </a:r>
          </a:p>
          <a:p>
            <a:pPr marL="342900" lvl="1" indent="-342900" algn="just"/>
            <a:r>
              <a:rPr lang="pt-PT" dirty="0" smtClean="0">
                <a:solidFill>
                  <a:schemeClr val="bg1"/>
                </a:solidFill>
              </a:rPr>
              <a:t>Normas </a:t>
            </a:r>
            <a:r>
              <a:rPr lang="pt-PT" dirty="0">
                <a:solidFill>
                  <a:schemeClr val="bg1"/>
                </a:solidFill>
              </a:rPr>
              <a:t>de execução orçamental e prestação de </a:t>
            </a:r>
            <a:r>
              <a:rPr lang="pt-PT" dirty="0" smtClean="0">
                <a:solidFill>
                  <a:schemeClr val="bg1"/>
                </a:solidFill>
              </a:rPr>
              <a:t>contas;</a:t>
            </a:r>
          </a:p>
          <a:p>
            <a:pPr marL="342900" lvl="1" indent="-342900" algn="just"/>
            <a:r>
              <a:rPr lang="pt-PT" b="1" dirty="0" smtClean="0">
                <a:solidFill>
                  <a:schemeClr val="bg1"/>
                </a:solidFill>
              </a:rPr>
              <a:t>Subsistema </a:t>
            </a:r>
            <a:r>
              <a:rPr lang="pt-PT" b="1" dirty="0">
                <a:solidFill>
                  <a:schemeClr val="bg1"/>
                </a:solidFill>
              </a:rPr>
              <a:t>de Auditoria </a:t>
            </a:r>
            <a:r>
              <a:rPr lang="pt-PT" b="1" dirty="0" smtClean="0">
                <a:solidFill>
                  <a:schemeClr val="bg1"/>
                </a:solidFill>
              </a:rPr>
              <a:t>Interna</a:t>
            </a:r>
            <a:r>
              <a:rPr lang="pt-PT" dirty="0" smtClean="0">
                <a:solidFill>
                  <a:schemeClr val="bg1"/>
                </a:solidFill>
              </a:rPr>
              <a:t>;</a:t>
            </a:r>
          </a:p>
          <a:p>
            <a:pPr marL="342900" lvl="1" indent="-342900" algn="just"/>
            <a:r>
              <a:rPr lang="pt-PT" b="1" dirty="0" smtClean="0">
                <a:solidFill>
                  <a:schemeClr val="bg1"/>
                </a:solidFill>
              </a:rPr>
              <a:t>Diploma </a:t>
            </a:r>
            <a:r>
              <a:rPr lang="pt-PT" b="1" dirty="0">
                <a:solidFill>
                  <a:schemeClr val="bg1"/>
                </a:solidFill>
              </a:rPr>
              <a:t>Ministerial n.º 10/2021 — Manual de Auditoria </a:t>
            </a:r>
            <a:r>
              <a:rPr lang="pt-PT" b="1" dirty="0" smtClean="0">
                <a:solidFill>
                  <a:schemeClr val="bg1"/>
                </a:solidFill>
              </a:rPr>
              <a:t>Interna</a:t>
            </a:r>
            <a:r>
              <a:rPr lang="pt-PT" dirty="0" smtClean="0">
                <a:solidFill>
                  <a:schemeClr val="bg1"/>
                </a:solidFill>
              </a:rPr>
              <a:t>;</a:t>
            </a:r>
          </a:p>
          <a:p>
            <a:pPr marL="342900" lvl="1" indent="-342900" algn="just"/>
            <a:r>
              <a:rPr lang="pt-PT" dirty="0" smtClean="0">
                <a:solidFill>
                  <a:schemeClr val="bg1"/>
                </a:solidFill>
              </a:rPr>
              <a:t>Normas </a:t>
            </a:r>
            <a:r>
              <a:rPr lang="pt-PT" dirty="0">
                <a:solidFill>
                  <a:schemeClr val="bg1"/>
                </a:solidFill>
              </a:rPr>
              <a:t>e instrumentos da Inspecção-Geral de Finanças.</a:t>
            </a:r>
          </a:p>
          <a:p>
            <a:pPr algn="just"/>
            <a:endParaRPr lang="pt-PT" sz="1800" dirty="0">
              <a:solidFill>
                <a:schemeClr val="bg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lvl="1" algn="ctr"/>
            <a:r>
              <a:rPr lang="en-US" altLang="pt-BR" sz="2400" dirty="0" err="1">
                <a:solidFill>
                  <a:schemeClr val="bg1"/>
                </a:solidFill>
              </a:rPr>
              <a:t>Enquadramento</a:t>
            </a:r>
            <a:r>
              <a:rPr lang="en-US" altLang="pt-BR" sz="2400" dirty="0">
                <a:solidFill>
                  <a:schemeClr val="bg1"/>
                </a:solidFill>
              </a:rPr>
              <a:t> e </a:t>
            </a:r>
            <a:r>
              <a:rPr lang="en-US" altLang="pt-BR" sz="2400" dirty="0" smtClean="0">
                <a:solidFill>
                  <a:schemeClr val="bg1"/>
                </a:solidFill>
              </a:rPr>
              <a:t>Base </a:t>
            </a:r>
            <a:r>
              <a:rPr lang="en-US" altLang="pt-BR" sz="2400" dirty="0">
                <a:solidFill>
                  <a:schemeClr val="bg1"/>
                </a:solidFill>
              </a:rPr>
              <a:t>L</a:t>
            </a:r>
            <a:r>
              <a:rPr lang="en-US" altLang="pt-BR" sz="2400" dirty="0" smtClean="0">
                <a:solidFill>
                  <a:schemeClr val="bg1"/>
                </a:solidFill>
              </a:rPr>
              <a:t>egal </a:t>
            </a:r>
            <a:r>
              <a:rPr lang="en-US" altLang="pt-BR" sz="2400" dirty="0" smtClean="0">
                <a:solidFill>
                  <a:schemeClr val="bg1"/>
                </a:solidFill>
              </a:rPr>
              <a:t>(2/4)</a:t>
            </a:r>
            <a:endParaRPr lang="en-US" altLang="pt-B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3830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4665" y="1012874"/>
            <a:ext cx="9472930" cy="5401994"/>
          </a:xfrm>
        </p:spPr>
        <p:txBody>
          <a:bodyPr>
            <a:noAutofit/>
          </a:bodyPr>
          <a:lstStyle/>
          <a:p>
            <a:pPr marL="457200" lvl="1" indent="0" algn="ctr">
              <a:lnSpc>
                <a:spcPct val="150000"/>
              </a:lnSpc>
              <a:buNone/>
            </a:pPr>
            <a:r>
              <a:rPr lang="pt-PT" b="1" dirty="0" smtClean="0">
                <a:solidFill>
                  <a:schemeClr val="bg1"/>
                </a:solidFill>
              </a:rPr>
              <a:t>Cuidados e Produtos de Saúde:</a:t>
            </a:r>
          </a:p>
          <a:p>
            <a:pPr lvl="1" algn="just">
              <a:lnSpc>
                <a:spcPct val="150000"/>
              </a:lnSpc>
            </a:pPr>
            <a:r>
              <a:rPr lang="pt-PT" b="1" dirty="0" smtClean="0">
                <a:solidFill>
                  <a:schemeClr val="bg1"/>
                </a:solidFill>
              </a:rPr>
              <a:t>1. Lei </a:t>
            </a:r>
            <a:r>
              <a:rPr lang="pt-PT" b="1" dirty="0">
                <a:solidFill>
                  <a:schemeClr val="bg1"/>
                </a:solidFill>
              </a:rPr>
              <a:t>n.º 3/2022, de 10 de </a:t>
            </a:r>
            <a:r>
              <a:rPr lang="pt-PT" b="1" dirty="0" smtClean="0">
                <a:solidFill>
                  <a:schemeClr val="bg1"/>
                </a:solidFill>
              </a:rPr>
              <a:t>Fevereiro </a:t>
            </a:r>
            <a:r>
              <a:rPr lang="pt-PT" dirty="0" smtClean="0">
                <a:solidFill>
                  <a:schemeClr val="bg1"/>
                </a:solidFill>
              </a:rPr>
              <a:t>que Estabelece o Regime Jurídico Para a Protecção e Promoção de Saúde, Prevenção e Controlo de Doenças e Gestão de Riscos e Ameaças a Saúde Colectiva e o </a:t>
            </a:r>
            <a:r>
              <a:rPr lang="pt-PT" b="1" dirty="0" smtClean="0">
                <a:solidFill>
                  <a:schemeClr val="bg1"/>
                </a:solidFill>
              </a:rPr>
              <a:t>Decreto </a:t>
            </a:r>
            <a:r>
              <a:rPr lang="pt-PT" b="1" dirty="0">
                <a:solidFill>
                  <a:schemeClr val="bg1"/>
                </a:solidFill>
              </a:rPr>
              <a:t>n.º 65/2023, de 4 de </a:t>
            </a:r>
            <a:r>
              <a:rPr lang="pt-PT" b="1" dirty="0" smtClean="0">
                <a:solidFill>
                  <a:schemeClr val="bg1"/>
                </a:solidFill>
              </a:rPr>
              <a:t>Dezembro</a:t>
            </a:r>
            <a:r>
              <a:rPr lang="pt-PT" dirty="0" smtClean="0">
                <a:solidFill>
                  <a:schemeClr val="bg1"/>
                </a:solidFill>
              </a:rPr>
              <a:t>, que a regula;</a:t>
            </a:r>
          </a:p>
          <a:p>
            <a:pPr lvl="1" algn="just">
              <a:lnSpc>
                <a:spcPct val="150000"/>
              </a:lnSpc>
            </a:pPr>
            <a:endParaRPr lang="pt-PT" dirty="0" smtClean="0">
              <a:solidFill>
                <a:schemeClr val="bg1"/>
              </a:solidFill>
            </a:endParaRPr>
          </a:p>
          <a:p>
            <a:pPr algn="just" fontAlgn="auto"/>
            <a:r>
              <a:rPr lang="pt-PT" b="1" dirty="0" smtClean="0">
                <a:solidFill>
                  <a:schemeClr val="bg1"/>
                </a:solidFill>
              </a:rPr>
              <a:t>     2. Lei 03/2026 de 21 de Janeiro, </a:t>
            </a:r>
            <a:r>
              <a:rPr lang="pt-PT" sz="1800" dirty="0" smtClean="0">
                <a:solidFill>
                  <a:schemeClr val="bg1"/>
                </a:solidFill>
              </a:rPr>
              <a:t>Atinente </a:t>
            </a:r>
            <a:r>
              <a:rPr lang="pt-PT" sz="1800" dirty="0">
                <a:solidFill>
                  <a:schemeClr val="bg1"/>
                </a:solidFill>
              </a:rPr>
              <a:t>ao estabelecimento do regime jurídico do </a:t>
            </a:r>
            <a:r>
              <a:rPr lang="pt-PT" sz="1800" dirty="0" smtClean="0">
                <a:solidFill>
                  <a:schemeClr val="bg1"/>
                </a:solidFill>
              </a:rPr>
              <a:t>Sistema Nacional </a:t>
            </a:r>
            <a:r>
              <a:rPr lang="pt-PT" sz="1800" dirty="0">
                <a:solidFill>
                  <a:schemeClr val="bg1"/>
                </a:solidFill>
              </a:rPr>
              <a:t>de Saúde, abreviadamente designada SINS</a:t>
            </a:r>
          </a:p>
          <a:p>
            <a:pPr lvl="1" algn="just">
              <a:lnSpc>
                <a:spcPct val="150000"/>
              </a:lnSpc>
            </a:pPr>
            <a:endParaRPr lang="pt-PT" b="1" dirty="0" smtClean="0">
              <a:solidFill>
                <a:schemeClr val="bg1"/>
              </a:solidFill>
            </a:endParaRP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pt-PT" b="1" dirty="0" smtClean="0">
                <a:solidFill>
                  <a:schemeClr val="bg1"/>
                </a:solidFill>
              </a:rPr>
              <a:t>3. Decreto </a:t>
            </a:r>
            <a:r>
              <a:rPr lang="pt-PT" b="1" dirty="0">
                <a:solidFill>
                  <a:schemeClr val="bg1"/>
                </a:solidFill>
              </a:rPr>
              <a:t>70/2023</a:t>
            </a:r>
            <a:r>
              <a:rPr lang="pt-PT" dirty="0">
                <a:solidFill>
                  <a:schemeClr val="bg1"/>
                </a:solidFill>
              </a:rPr>
              <a:t>, Estatuto Orgânico da Inspecção-Geral de Saúde</a:t>
            </a:r>
          </a:p>
          <a:p>
            <a:pPr lvl="1" algn="just">
              <a:lnSpc>
                <a:spcPct val="150000"/>
              </a:lnSpc>
            </a:pPr>
            <a:endParaRPr lang="pt-PT" dirty="0" smtClean="0">
              <a:solidFill>
                <a:schemeClr val="bg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lvl="1" algn="ctr"/>
            <a:r>
              <a:rPr lang="en-US" altLang="pt-BR" sz="2400" dirty="0" err="1">
                <a:solidFill>
                  <a:schemeClr val="bg1"/>
                </a:solidFill>
              </a:rPr>
              <a:t>Enquadramento</a:t>
            </a:r>
            <a:r>
              <a:rPr lang="en-US" altLang="pt-BR" sz="2400" dirty="0">
                <a:solidFill>
                  <a:schemeClr val="bg1"/>
                </a:solidFill>
              </a:rPr>
              <a:t> e base </a:t>
            </a:r>
            <a:r>
              <a:rPr lang="en-US" altLang="pt-BR" sz="2400" dirty="0" smtClean="0">
                <a:solidFill>
                  <a:schemeClr val="bg1"/>
                </a:solidFill>
              </a:rPr>
              <a:t>legal (3/4)</a:t>
            </a:r>
            <a:endParaRPr lang="en-US" altLang="pt-B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0247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3649" y="1517279"/>
            <a:ext cx="9472930" cy="4598522"/>
          </a:xfrm>
        </p:spPr>
        <p:txBody>
          <a:bodyPr>
            <a:noAutofit/>
          </a:bodyPr>
          <a:lstStyle/>
          <a:p>
            <a:pPr marL="457200" lvl="1" indent="0" algn="just">
              <a:lnSpc>
                <a:spcPct val="150000"/>
              </a:lnSpc>
              <a:buNone/>
            </a:pPr>
            <a:r>
              <a:rPr lang="pt-PT" b="1" dirty="0">
                <a:solidFill>
                  <a:schemeClr val="bg1"/>
                </a:solidFill>
              </a:rPr>
              <a:t>Formação em </a:t>
            </a:r>
            <a:r>
              <a:rPr lang="pt-PT" b="1" dirty="0" smtClean="0">
                <a:solidFill>
                  <a:schemeClr val="bg1"/>
                </a:solidFill>
              </a:rPr>
              <a:t>Saúde:</a:t>
            </a:r>
          </a:p>
          <a:p>
            <a:pPr lvl="1" algn="just">
              <a:lnSpc>
                <a:spcPct val="150000"/>
              </a:lnSpc>
            </a:pPr>
            <a:r>
              <a:rPr lang="pt-PT" b="1" dirty="0">
                <a:solidFill>
                  <a:schemeClr val="bg1"/>
                </a:solidFill>
              </a:rPr>
              <a:t>Lei n.º 26/2022 — Lei da Educação </a:t>
            </a:r>
            <a:r>
              <a:rPr lang="pt-PT" b="1" dirty="0" smtClean="0">
                <a:solidFill>
                  <a:schemeClr val="bg1"/>
                </a:solidFill>
              </a:rPr>
              <a:t>Profissional</a:t>
            </a:r>
            <a:r>
              <a:rPr lang="pt-PT" dirty="0" smtClean="0">
                <a:solidFill>
                  <a:schemeClr val="bg1"/>
                </a:solidFill>
              </a:rPr>
              <a:t>;</a:t>
            </a:r>
          </a:p>
          <a:p>
            <a:pPr lvl="1" algn="just">
              <a:lnSpc>
                <a:spcPct val="150000"/>
              </a:lnSpc>
            </a:pPr>
            <a:r>
              <a:rPr lang="pt-PT" b="1" dirty="0" smtClean="0">
                <a:solidFill>
                  <a:schemeClr val="bg1"/>
                </a:solidFill>
              </a:rPr>
              <a:t>Decreto </a:t>
            </a:r>
            <a:r>
              <a:rPr lang="pt-PT" b="1" dirty="0">
                <a:solidFill>
                  <a:schemeClr val="bg1"/>
                </a:solidFill>
              </a:rPr>
              <a:t>n.º 28/2017 — Licenciamento das Instituições de Educação </a:t>
            </a:r>
            <a:r>
              <a:rPr lang="pt-PT" b="1" dirty="0" smtClean="0">
                <a:solidFill>
                  <a:schemeClr val="bg1"/>
                </a:solidFill>
              </a:rPr>
              <a:t>Profissional</a:t>
            </a:r>
            <a:r>
              <a:rPr lang="pt-PT" dirty="0" smtClean="0">
                <a:solidFill>
                  <a:schemeClr val="bg1"/>
                </a:solidFill>
              </a:rPr>
              <a:t>;</a:t>
            </a:r>
          </a:p>
          <a:p>
            <a:pPr lvl="1" algn="just">
              <a:lnSpc>
                <a:spcPct val="150000"/>
              </a:lnSpc>
            </a:pPr>
            <a:r>
              <a:rPr lang="pt-PT" b="1" dirty="0" smtClean="0">
                <a:solidFill>
                  <a:schemeClr val="bg1"/>
                </a:solidFill>
              </a:rPr>
              <a:t>Regulamento </a:t>
            </a:r>
            <a:r>
              <a:rPr lang="pt-PT" b="1" dirty="0">
                <a:solidFill>
                  <a:schemeClr val="bg1"/>
                </a:solidFill>
              </a:rPr>
              <a:t>Pedagógico das Instituições de Formação do </a:t>
            </a:r>
            <a:r>
              <a:rPr lang="pt-PT" b="1" dirty="0" smtClean="0">
                <a:solidFill>
                  <a:schemeClr val="bg1"/>
                </a:solidFill>
              </a:rPr>
              <a:t>MISAU</a:t>
            </a:r>
            <a:r>
              <a:rPr lang="pt-PT" dirty="0" smtClean="0">
                <a:solidFill>
                  <a:schemeClr val="bg1"/>
                </a:solidFill>
              </a:rPr>
              <a:t>;</a:t>
            </a:r>
          </a:p>
          <a:p>
            <a:pPr lvl="1" algn="just">
              <a:lnSpc>
                <a:spcPct val="150000"/>
              </a:lnSpc>
            </a:pPr>
            <a:r>
              <a:rPr lang="pt-PT" dirty="0" smtClean="0">
                <a:solidFill>
                  <a:schemeClr val="bg1"/>
                </a:solidFill>
              </a:rPr>
              <a:t>Regulamentos </a:t>
            </a:r>
            <a:r>
              <a:rPr lang="pt-PT" dirty="0">
                <a:solidFill>
                  <a:schemeClr val="bg1"/>
                </a:solidFill>
              </a:rPr>
              <a:t>de </a:t>
            </a:r>
            <a:r>
              <a:rPr lang="pt-PT" dirty="0" smtClean="0">
                <a:solidFill>
                  <a:schemeClr val="bg1"/>
                </a:solidFill>
              </a:rPr>
              <a:t>estágio;</a:t>
            </a:r>
          </a:p>
          <a:p>
            <a:pPr lvl="1" algn="just">
              <a:lnSpc>
                <a:spcPct val="150000"/>
              </a:lnSpc>
            </a:pPr>
            <a:r>
              <a:rPr lang="pt-PT" dirty="0" smtClean="0">
                <a:solidFill>
                  <a:schemeClr val="bg1"/>
                </a:solidFill>
              </a:rPr>
              <a:t>Planos </a:t>
            </a:r>
            <a:r>
              <a:rPr lang="pt-PT" dirty="0">
                <a:solidFill>
                  <a:schemeClr val="bg1"/>
                </a:solidFill>
              </a:rPr>
              <a:t>curriculares </a:t>
            </a:r>
            <a:r>
              <a:rPr lang="pt-PT" dirty="0" smtClean="0">
                <a:solidFill>
                  <a:schemeClr val="bg1"/>
                </a:solidFill>
              </a:rPr>
              <a:t>aprovados;</a:t>
            </a:r>
          </a:p>
          <a:p>
            <a:pPr lvl="1" algn="just">
              <a:lnSpc>
                <a:spcPct val="150000"/>
              </a:lnSpc>
            </a:pPr>
            <a:r>
              <a:rPr lang="pt-PT" dirty="0" smtClean="0">
                <a:solidFill>
                  <a:schemeClr val="bg1"/>
                </a:solidFill>
              </a:rPr>
              <a:t>Normas </a:t>
            </a:r>
            <a:r>
              <a:rPr lang="pt-PT" dirty="0">
                <a:solidFill>
                  <a:schemeClr val="bg1"/>
                </a:solidFill>
              </a:rPr>
              <a:t>de </a:t>
            </a:r>
            <a:r>
              <a:rPr lang="pt-PT" dirty="0" smtClean="0">
                <a:solidFill>
                  <a:schemeClr val="bg1"/>
                </a:solidFill>
              </a:rPr>
              <a:t>avaliação;</a:t>
            </a:r>
          </a:p>
          <a:p>
            <a:pPr lvl="1" algn="just">
              <a:lnSpc>
                <a:spcPct val="150000"/>
              </a:lnSpc>
            </a:pPr>
            <a:r>
              <a:rPr lang="pt-PT" dirty="0" smtClean="0">
                <a:solidFill>
                  <a:schemeClr val="bg1"/>
                </a:solidFill>
              </a:rPr>
              <a:t>Regulamentos específicos </a:t>
            </a:r>
            <a:r>
              <a:rPr lang="pt-PT" dirty="0">
                <a:solidFill>
                  <a:schemeClr val="bg1"/>
                </a:solidFill>
              </a:rPr>
              <a:t>dos </a:t>
            </a:r>
            <a:r>
              <a:rPr lang="pt-PT" dirty="0" smtClean="0">
                <a:solidFill>
                  <a:schemeClr val="bg1"/>
                </a:solidFill>
              </a:rPr>
              <a:t>cursos;</a:t>
            </a:r>
          </a:p>
          <a:p>
            <a:pPr lvl="1" algn="just">
              <a:lnSpc>
                <a:spcPct val="150000"/>
              </a:lnSpc>
            </a:pPr>
            <a:r>
              <a:rPr lang="pt-PT" dirty="0" smtClean="0">
                <a:solidFill>
                  <a:schemeClr val="bg1"/>
                </a:solidFill>
              </a:rPr>
              <a:t>Demais </a:t>
            </a:r>
            <a:r>
              <a:rPr lang="pt-PT" dirty="0">
                <a:solidFill>
                  <a:schemeClr val="bg1"/>
                </a:solidFill>
              </a:rPr>
              <a:t>legislação e regulamentação aplicável à formação de profissionais de saúde.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lvl="1" algn="ctr"/>
            <a:r>
              <a:rPr lang="en-US" altLang="pt-BR" sz="2400" dirty="0" err="1">
                <a:solidFill>
                  <a:schemeClr val="bg1"/>
                </a:solidFill>
              </a:rPr>
              <a:t>Enquadramento</a:t>
            </a:r>
            <a:r>
              <a:rPr lang="en-US" altLang="pt-BR" sz="2400" dirty="0">
                <a:solidFill>
                  <a:schemeClr val="bg1"/>
                </a:solidFill>
              </a:rPr>
              <a:t> e base </a:t>
            </a:r>
            <a:r>
              <a:rPr lang="en-US" altLang="pt-BR" sz="2400" dirty="0" smtClean="0">
                <a:solidFill>
                  <a:schemeClr val="bg1"/>
                </a:solidFill>
              </a:rPr>
              <a:t>legal (4/4)</a:t>
            </a:r>
            <a:endParaRPr lang="en-US" altLang="pt-B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346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3018" y="1551387"/>
            <a:ext cx="9814863" cy="3952301"/>
          </a:xfrm>
        </p:spPr>
        <p:txBody>
          <a:bodyPr>
            <a:normAutofit fontScale="92500"/>
          </a:bodyPr>
          <a:lstStyle/>
          <a:p>
            <a:pPr marL="398463" lvl="1" indent="-342900" algn="just">
              <a:lnSpc>
                <a:spcPct val="150000"/>
              </a:lnSpc>
            </a:pPr>
            <a:r>
              <a:rPr lang="pt-PT" sz="2400" b="1" dirty="0">
                <a:solidFill>
                  <a:schemeClr val="bg1"/>
                </a:solidFill>
              </a:rPr>
              <a:t>Inspecções Ordinárias</a:t>
            </a:r>
            <a:r>
              <a:rPr lang="pt-PT" sz="2400" dirty="0" smtClean="0">
                <a:solidFill>
                  <a:schemeClr val="bg1"/>
                </a:solidFill>
              </a:rPr>
              <a:t>;</a:t>
            </a:r>
          </a:p>
          <a:p>
            <a:pPr marL="398463" lvl="1" indent="-342900" algn="just">
              <a:lnSpc>
                <a:spcPct val="150000"/>
              </a:lnSpc>
            </a:pPr>
            <a:r>
              <a:rPr lang="pt-PT" sz="2400" b="1" dirty="0" smtClean="0">
                <a:solidFill>
                  <a:schemeClr val="bg1"/>
                </a:solidFill>
              </a:rPr>
              <a:t>Inspecções </a:t>
            </a:r>
            <a:r>
              <a:rPr lang="pt-PT" sz="2400" b="1" dirty="0">
                <a:solidFill>
                  <a:schemeClr val="bg1"/>
                </a:solidFill>
              </a:rPr>
              <a:t>de Seguimento</a:t>
            </a:r>
            <a:r>
              <a:rPr lang="pt-PT" sz="2400" dirty="0">
                <a:solidFill>
                  <a:schemeClr val="bg1"/>
                </a:solidFill>
              </a:rPr>
              <a:t>, destinadas a verificar o grau de implementação das recomendações e medidas correctivas resultantes de inspecções anteriores</a:t>
            </a:r>
            <a:r>
              <a:rPr lang="pt-PT" sz="2400" dirty="0" smtClean="0">
                <a:solidFill>
                  <a:schemeClr val="bg1"/>
                </a:solidFill>
              </a:rPr>
              <a:t>;</a:t>
            </a:r>
          </a:p>
          <a:p>
            <a:pPr marL="398463" lvl="1" indent="-342900" algn="just">
              <a:lnSpc>
                <a:spcPct val="150000"/>
              </a:lnSpc>
            </a:pPr>
            <a:r>
              <a:rPr lang="pt-PT" sz="2400" b="1" dirty="0" smtClean="0">
                <a:solidFill>
                  <a:schemeClr val="bg1"/>
                </a:solidFill>
              </a:rPr>
              <a:t>Inspecções </a:t>
            </a:r>
            <a:r>
              <a:rPr lang="pt-PT" sz="2400" b="1" dirty="0">
                <a:solidFill>
                  <a:schemeClr val="bg1"/>
                </a:solidFill>
              </a:rPr>
              <a:t>Extraordinárias</a:t>
            </a:r>
            <a:r>
              <a:rPr lang="pt-PT" sz="2400" dirty="0">
                <a:solidFill>
                  <a:schemeClr val="bg1"/>
                </a:solidFill>
              </a:rPr>
              <a:t>, realizadas para a averiguação de denúncias, queixas, petições, participações e outras situações decorrentes de situações reportadas à </a:t>
            </a:r>
            <a:r>
              <a:rPr lang="pt-PT" sz="2400" dirty="0" smtClean="0">
                <a:solidFill>
                  <a:schemeClr val="bg1"/>
                </a:solidFill>
              </a:rPr>
              <a:t>UCI;</a:t>
            </a:r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lvl="1" algn="ctr"/>
            <a:endParaRPr lang="en-US" altLang="pt-BR" sz="2400" dirty="0" smtClean="0">
              <a:solidFill>
                <a:schemeClr val="accent5"/>
              </a:solidFill>
            </a:endParaRPr>
          </a:p>
          <a:p>
            <a:pPr marL="0" lvl="1" algn="ctr"/>
            <a:endParaRPr lang="en-US" altLang="pt-BR" sz="2400" dirty="0" smtClean="0">
              <a:solidFill>
                <a:schemeClr val="bg1"/>
              </a:solidFill>
            </a:endParaRPr>
          </a:p>
          <a:p>
            <a:pPr marL="0" lvl="1" algn="ctr"/>
            <a:endParaRPr lang="pt-BR" altLang="pt-BR" sz="2400" dirty="0" smtClean="0">
              <a:solidFill>
                <a:schemeClr val="bg1"/>
              </a:solidFill>
            </a:endParaRPr>
          </a:p>
          <a:p>
            <a:pPr marL="0" lvl="1" algn="ctr"/>
            <a:r>
              <a:rPr lang="pt-BR" altLang="pt-BR" sz="2400" dirty="0" smtClean="0">
                <a:solidFill>
                  <a:schemeClr val="bg1"/>
                </a:solidFill>
              </a:rPr>
              <a:t>Tipos </a:t>
            </a:r>
            <a:r>
              <a:rPr lang="pt-BR" altLang="pt-BR" sz="2400" dirty="0">
                <a:solidFill>
                  <a:schemeClr val="bg1"/>
                </a:solidFill>
              </a:rPr>
              <a:t>de inspecções realizadas</a:t>
            </a:r>
            <a:endParaRPr lang="en-US" sz="2400" dirty="0">
              <a:solidFill>
                <a:schemeClr val="bg1"/>
              </a:solidFill>
            </a:endParaRPr>
          </a:p>
          <a:p>
            <a:pPr marL="0" lvl="1" algn="ctr"/>
            <a:endParaRPr lang="en-US" altLang="pt-BR" sz="2400" dirty="0">
              <a:solidFill>
                <a:schemeClr val="bg1"/>
              </a:solidFill>
            </a:endParaRPr>
          </a:p>
          <a:p>
            <a:pPr marL="0" lvl="1" algn="ctr"/>
            <a:endParaRPr lang="en-US" altLang="pt-BR" sz="2400" dirty="0">
              <a:solidFill>
                <a:schemeClr val="accent5"/>
              </a:solidFill>
            </a:endParaRPr>
          </a:p>
          <a:p>
            <a:pPr marL="0" lvl="1" algn="ctr"/>
            <a:endParaRPr lang="en-US" altLang="pt-B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059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lvl="1" algn="ctr"/>
            <a:endParaRPr lang="en-US" altLang="pt-BR" sz="2400" dirty="0" smtClean="0">
              <a:solidFill>
                <a:schemeClr val="accent5"/>
              </a:solidFill>
            </a:endParaRPr>
          </a:p>
          <a:p>
            <a:pPr marL="0" lvl="1" algn="ctr"/>
            <a:endParaRPr lang="en-US" altLang="pt-BR" sz="2400" dirty="0" smtClean="0">
              <a:solidFill>
                <a:schemeClr val="bg1"/>
              </a:solidFill>
            </a:endParaRPr>
          </a:p>
          <a:p>
            <a:pPr marL="0" lvl="1" algn="ctr"/>
            <a:r>
              <a:rPr lang="en-US" altLang="pt-BR" sz="2400" dirty="0" err="1" smtClean="0">
                <a:solidFill>
                  <a:schemeClr val="bg1"/>
                </a:solidFill>
              </a:rPr>
              <a:t>Recursos</a:t>
            </a:r>
            <a:r>
              <a:rPr lang="en-US" altLang="pt-BR" sz="2400" dirty="0" smtClean="0">
                <a:solidFill>
                  <a:schemeClr val="bg1"/>
                </a:solidFill>
              </a:rPr>
              <a:t> </a:t>
            </a:r>
            <a:r>
              <a:rPr lang="en-US" altLang="pt-BR" sz="2400" dirty="0" err="1">
                <a:solidFill>
                  <a:schemeClr val="bg1"/>
                </a:solidFill>
              </a:rPr>
              <a:t>Humanos</a:t>
            </a:r>
            <a:endParaRPr lang="en-US" altLang="pt-BR" sz="2400" dirty="0">
              <a:solidFill>
                <a:schemeClr val="bg1"/>
              </a:solidFill>
            </a:endParaRPr>
          </a:p>
          <a:p>
            <a:pPr marL="0" lvl="1" algn="ctr"/>
            <a:endParaRPr lang="en-US" altLang="pt-BR" sz="2400" dirty="0">
              <a:solidFill>
                <a:schemeClr val="accent5"/>
              </a:solidFill>
            </a:endParaRPr>
          </a:p>
          <a:p>
            <a:pPr marL="0" lvl="1" algn="ctr"/>
            <a:endParaRPr lang="en-US" altLang="pt-BR" sz="2400" dirty="0">
              <a:solidFill>
                <a:schemeClr val="bg1"/>
              </a:solidFill>
            </a:endParaRP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9097693"/>
              </p:ext>
            </p:extLst>
          </p:nvPr>
        </p:nvGraphicFramePr>
        <p:xfrm>
          <a:off x="351593" y="931591"/>
          <a:ext cx="11577714" cy="53384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29619"/>
                <a:gridCol w="3402037"/>
                <a:gridCol w="1505243"/>
                <a:gridCol w="1688124"/>
                <a:gridCol w="1589649"/>
                <a:gridCol w="1463042"/>
              </a:tblGrid>
              <a:tr h="3528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</a:rPr>
                        <a:t>Área</a:t>
                      </a:r>
                      <a:r>
                        <a:rPr lang="en-US" sz="1400" b="1" dirty="0">
                          <a:effectLst/>
                        </a:rPr>
                        <a:t> de </a:t>
                      </a:r>
                      <a:r>
                        <a:rPr lang="en-US" sz="1400" b="1" dirty="0" err="1">
                          <a:effectLst/>
                        </a:rPr>
                        <a:t>Intervenção</a:t>
                      </a:r>
                      <a:endParaRPr lang="pt-PT" sz="1600" b="1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Categoria Profissional</a:t>
                      </a:r>
                      <a:endParaRPr lang="pt-PT" sz="1600" b="1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</a:rPr>
                        <a:t>2025</a:t>
                      </a:r>
                      <a:endParaRPr lang="pt-PT" sz="1600" b="1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</a:rPr>
                        <a:t>2026</a:t>
                      </a:r>
                      <a:endParaRPr lang="pt-PT" sz="1600" b="1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Evolução</a:t>
                      </a:r>
                      <a:endParaRPr lang="pt-PT" sz="1600" b="1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%</a:t>
                      </a:r>
                      <a:endParaRPr lang="pt-PT" sz="1600" b="1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</a:tr>
              <a:tr h="186937">
                <a:tc rowSpan="6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</a:rPr>
                        <a:t>Cuidados</a:t>
                      </a:r>
                      <a:r>
                        <a:rPr lang="en-US" sz="1400" b="1" dirty="0">
                          <a:effectLst/>
                        </a:rPr>
                        <a:t> de </a:t>
                      </a:r>
                      <a:r>
                        <a:rPr lang="en-US" sz="1400" b="1" dirty="0" err="1">
                          <a:effectLst/>
                        </a:rPr>
                        <a:t>Saúde</a:t>
                      </a:r>
                      <a:endParaRPr lang="pt-PT" sz="1600" b="1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</a:rPr>
                        <a:t> </a:t>
                      </a:r>
                      <a:endParaRPr lang="pt-PT" sz="1600" b="1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</a:rPr>
                        <a:t> </a:t>
                      </a:r>
                      <a:endParaRPr lang="pt-PT" sz="1600" b="1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</a:rPr>
                        <a:t> </a:t>
                      </a:r>
                      <a:endParaRPr lang="pt-PT" sz="1600" b="1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err="1">
                          <a:effectLst/>
                        </a:rPr>
                        <a:t>Médicos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1</a:t>
                      </a:r>
                      <a:endParaRPr lang="pt-PT" sz="1600" b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effectLst/>
                        </a:rPr>
                        <a:t>-1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effectLst/>
                        </a:rPr>
                        <a:t>-50%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</a:tr>
              <a:tr h="341224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400" b="0" dirty="0">
                          <a:effectLst/>
                        </a:rPr>
                        <a:t>Técnicos Superiores de Saúde N1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effectLst/>
                        </a:rPr>
                        <a:t>0%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</a:tr>
              <a:tr h="379828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err="1" smtClean="0">
                          <a:effectLst/>
                        </a:rPr>
                        <a:t>Inspectores</a:t>
                      </a:r>
                      <a:r>
                        <a:rPr lang="en-US" sz="1600" b="0" dirty="0" smtClean="0">
                          <a:effectLst/>
                        </a:rPr>
                        <a:t> Sup. </a:t>
                      </a:r>
                      <a:r>
                        <a:rPr lang="en-US" sz="1600" b="0" dirty="0" err="1" smtClean="0">
                          <a:effectLst/>
                        </a:rPr>
                        <a:t>Administrativos</a:t>
                      </a:r>
                      <a:endParaRPr lang="pt-PT" sz="1800" b="0" dirty="0" smtClean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400" b="0" dirty="0" smtClean="0">
                          <a:effectLst/>
                          <a:latin typeface="Cambria"/>
                          <a:ea typeface="MS Mincho"/>
                          <a:cs typeface="Arial"/>
                        </a:rPr>
                        <a:t>1</a:t>
                      </a:r>
                      <a:endParaRPr lang="pt-PT" sz="14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400" b="0" dirty="0" smtClean="0">
                          <a:effectLst/>
                          <a:latin typeface="Cambria"/>
                          <a:ea typeface="MS Mincho"/>
                          <a:cs typeface="Arial"/>
                        </a:rPr>
                        <a:t>1</a:t>
                      </a:r>
                      <a:endParaRPr lang="pt-PT" sz="14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b="0" dirty="0" smtClean="0">
                          <a:effectLst/>
                          <a:latin typeface="Cambria"/>
                          <a:ea typeface="MS Mincho"/>
                          <a:cs typeface="Arial"/>
                        </a:rPr>
                        <a:t>0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b="0" dirty="0" smtClean="0">
                          <a:effectLst/>
                          <a:latin typeface="Cambria"/>
                          <a:ea typeface="MS Mincho"/>
                          <a:cs typeface="Arial"/>
                        </a:rPr>
                        <a:t>0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</a:tr>
              <a:tr h="352824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err="1" smtClean="0">
                          <a:effectLst/>
                        </a:rPr>
                        <a:t>Técnicos</a:t>
                      </a:r>
                      <a:r>
                        <a:rPr lang="en-US" sz="1600" b="0" dirty="0" smtClean="0">
                          <a:effectLst/>
                        </a:rPr>
                        <a:t> </a:t>
                      </a:r>
                      <a:r>
                        <a:rPr lang="en-US" sz="1600" b="0" dirty="0" err="1" smtClean="0">
                          <a:effectLst/>
                        </a:rPr>
                        <a:t>Superiores</a:t>
                      </a:r>
                      <a:r>
                        <a:rPr lang="en-US" sz="1600" b="0" dirty="0" smtClean="0">
                          <a:effectLst/>
                        </a:rPr>
                        <a:t> N1</a:t>
                      </a:r>
                      <a:endParaRPr lang="pt-PT" sz="1800" b="0" dirty="0" smtClean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b="0" dirty="0" smtClean="0">
                          <a:effectLst/>
                          <a:latin typeface="Cambria"/>
                          <a:ea typeface="MS Mincho"/>
                          <a:cs typeface="Arial"/>
                        </a:rPr>
                        <a:t>3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b="0" dirty="0" smtClean="0">
                          <a:effectLst/>
                          <a:latin typeface="Cambria"/>
                          <a:ea typeface="MS Mincho"/>
                          <a:cs typeface="Arial"/>
                        </a:rPr>
                        <a:t>3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b="0" dirty="0" smtClean="0">
                          <a:effectLst/>
                          <a:latin typeface="Cambria"/>
                          <a:ea typeface="MS Mincho"/>
                          <a:cs typeface="Arial"/>
                        </a:rPr>
                        <a:t>0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b="0" dirty="0" smtClean="0">
                          <a:effectLst/>
                          <a:latin typeface="Cambria"/>
                          <a:ea typeface="MS Mincho"/>
                          <a:cs typeface="Arial"/>
                        </a:rPr>
                        <a:t>0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</a:tr>
              <a:tr h="352824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err="1">
                          <a:effectLst/>
                        </a:rPr>
                        <a:t>Técnicos</a:t>
                      </a:r>
                      <a:r>
                        <a:rPr lang="en-US" sz="1400" b="0" dirty="0">
                          <a:effectLst/>
                        </a:rPr>
                        <a:t> de </a:t>
                      </a:r>
                      <a:r>
                        <a:rPr lang="en-US" sz="1400" b="0" dirty="0" err="1">
                          <a:effectLst/>
                        </a:rPr>
                        <a:t>Saúde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1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0</a:t>
                      </a:r>
                      <a:endParaRPr lang="pt-PT" sz="1600" b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effectLst/>
                        </a:rPr>
                        <a:t>50%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</a:tr>
              <a:tr h="377564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Subtotal – </a:t>
                      </a:r>
                      <a:r>
                        <a:rPr lang="en-US" sz="1400" b="0" dirty="0" err="1">
                          <a:effectLst/>
                        </a:rPr>
                        <a:t>Cuidados</a:t>
                      </a:r>
                      <a:r>
                        <a:rPr lang="en-US" sz="1400" b="0" dirty="0">
                          <a:effectLst/>
                        </a:rPr>
                        <a:t> de </a:t>
                      </a:r>
                      <a:r>
                        <a:rPr lang="en-US" sz="1400" b="0" dirty="0" err="1">
                          <a:effectLst/>
                        </a:rPr>
                        <a:t>Saúde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0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0%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</a:tr>
              <a:tr h="352824">
                <a:tc rowSpan="7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</a:rPr>
                        <a:t>Área Administrativa</a:t>
                      </a:r>
                      <a:endParaRPr lang="pt-PT" sz="1600" b="1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</a:rPr>
                        <a:t> </a:t>
                      </a:r>
                      <a:endParaRPr lang="pt-PT" sz="1600" b="1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</a:rPr>
                        <a:t> </a:t>
                      </a:r>
                      <a:endParaRPr lang="pt-PT" sz="1600" b="1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</a:rPr>
                        <a:t> </a:t>
                      </a:r>
                      <a:endParaRPr lang="pt-PT" sz="1600" b="1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</a:rPr>
                        <a:t> </a:t>
                      </a:r>
                      <a:endParaRPr lang="pt-PT" sz="1600" b="1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</a:rPr>
                        <a:t> </a:t>
                      </a:r>
                      <a:endParaRPr lang="pt-PT" sz="1600" b="1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</a:rPr>
                        <a:t> </a:t>
                      </a:r>
                      <a:endParaRPr lang="pt-PT" sz="1600" b="1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err="1">
                          <a:effectLst/>
                        </a:rPr>
                        <a:t>Agentes</a:t>
                      </a:r>
                      <a:r>
                        <a:rPr lang="en-US" sz="1400" b="0" dirty="0">
                          <a:effectLst/>
                        </a:rPr>
                        <a:t> de </a:t>
                      </a:r>
                      <a:r>
                        <a:rPr lang="en-US" sz="1400" b="0" dirty="0" err="1">
                          <a:effectLst/>
                        </a:rPr>
                        <a:t>Serviço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2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1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-1</a:t>
                      </a:r>
                      <a:endParaRPr lang="pt-PT" sz="1600" b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-50,0%</a:t>
                      </a:r>
                      <a:endParaRPr lang="pt-PT" sz="1600" b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</a:tr>
              <a:tr h="52923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err="1">
                          <a:effectLst/>
                        </a:rPr>
                        <a:t>Assistentes</a:t>
                      </a:r>
                      <a:r>
                        <a:rPr lang="en-US" sz="1400" b="0" dirty="0">
                          <a:effectLst/>
                        </a:rPr>
                        <a:t> </a:t>
                      </a:r>
                      <a:r>
                        <a:rPr lang="en-US" sz="1400" b="0" dirty="0" err="1">
                          <a:effectLst/>
                        </a:rPr>
                        <a:t>Técnicos</a:t>
                      </a:r>
                      <a:r>
                        <a:rPr lang="en-US" sz="1400" b="0" dirty="0">
                          <a:effectLst/>
                        </a:rPr>
                        <a:t> </a:t>
                      </a:r>
                      <a:r>
                        <a:rPr lang="en-US" sz="1400" b="0" dirty="0" err="1">
                          <a:effectLst/>
                        </a:rPr>
                        <a:t>Administrativos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1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0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-1</a:t>
                      </a:r>
                      <a:endParaRPr lang="pt-PT" sz="1600" b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-100%</a:t>
                      </a:r>
                      <a:endParaRPr lang="pt-PT" sz="1600" b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</a:tr>
              <a:tr h="341829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err="1">
                          <a:effectLst/>
                        </a:rPr>
                        <a:t>Técnicos</a:t>
                      </a:r>
                      <a:r>
                        <a:rPr lang="en-US" sz="1400" b="0" dirty="0">
                          <a:effectLst/>
                        </a:rPr>
                        <a:t> </a:t>
                      </a:r>
                      <a:r>
                        <a:rPr lang="en-US" sz="1400" b="0" dirty="0" smtClean="0">
                          <a:effectLst/>
                        </a:rPr>
                        <a:t>Prof. </a:t>
                      </a:r>
                      <a:r>
                        <a:rPr lang="en-US" sz="1400" b="0" dirty="0">
                          <a:effectLst/>
                        </a:rPr>
                        <a:t>de </a:t>
                      </a:r>
                      <a:r>
                        <a:rPr lang="en-US" sz="1400" b="0" dirty="0" err="1">
                          <a:effectLst/>
                        </a:rPr>
                        <a:t>Contabilidade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1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1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0</a:t>
                      </a:r>
                      <a:endParaRPr lang="pt-PT" sz="1600" b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effectLst/>
                        </a:rPr>
                        <a:t>100%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</a:tr>
              <a:tr h="40343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400" b="0" dirty="0">
                          <a:effectLst/>
                        </a:rPr>
                        <a:t>Técnicos </a:t>
                      </a:r>
                      <a:r>
                        <a:rPr lang="pt-PT" sz="1400" b="0" dirty="0" smtClean="0">
                          <a:effectLst/>
                        </a:rPr>
                        <a:t>Prof. Administração </a:t>
                      </a:r>
                      <a:r>
                        <a:rPr lang="pt-PT" sz="1400" b="0" dirty="0">
                          <a:effectLst/>
                        </a:rPr>
                        <a:t>Pública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0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1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+1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100%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</a:tr>
              <a:tr h="352824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err="1">
                          <a:effectLst/>
                        </a:rPr>
                        <a:t>Técnicos</a:t>
                      </a:r>
                      <a:r>
                        <a:rPr lang="en-US" sz="1400" b="0" dirty="0">
                          <a:effectLst/>
                        </a:rPr>
                        <a:t> </a:t>
                      </a:r>
                      <a:r>
                        <a:rPr lang="en-US" sz="1400" b="0" dirty="0" err="1">
                          <a:effectLst/>
                        </a:rPr>
                        <a:t>Superiores</a:t>
                      </a:r>
                      <a:r>
                        <a:rPr lang="en-US" sz="1400" b="0" dirty="0">
                          <a:effectLst/>
                        </a:rPr>
                        <a:t> N1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0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effectLst/>
                        </a:rPr>
                        <a:t>0%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</a:tr>
              <a:tr h="301569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err="1">
                          <a:effectLst/>
                        </a:rPr>
                        <a:t>Inspectores</a:t>
                      </a:r>
                      <a:r>
                        <a:rPr lang="en-US" sz="1400" b="0" dirty="0">
                          <a:effectLst/>
                        </a:rPr>
                        <a:t> </a:t>
                      </a:r>
                      <a:r>
                        <a:rPr lang="en-US" sz="1400" b="0" dirty="0" err="1">
                          <a:effectLst/>
                        </a:rPr>
                        <a:t>Superiores</a:t>
                      </a:r>
                      <a:r>
                        <a:rPr lang="en-US" sz="1400" b="0" dirty="0">
                          <a:effectLst/>
                        </a:rPr>
                        <a:t> </a:t>
                      </a:r>
                      <a:r>
                        <a:rPr lang="en-US" sz="1400" b="0" dirty="0" err="1">
                          <a:effectLst/>
                        </a:rPr>
                        <a:t>Administrativos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3</a:t>
                      </a:r>
                      <a:endParaRPr lang="pt-PT" sz="1600" b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effectLst/>
                        </a:rPr>
                        <a:t>0</a:t>
                      </a:r>
                      <a:r>
                        <a:rPr lang="en-US" sz="1400" b="0" dirty="0">
                          <a:effectLst/>
                        </a:rPr>
                        <a:t>%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</a:tr>
              <a:tr h="373874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Subtotal – Área Administrativa</a:t>
                      </a:r>
                      <a:endParaRPr lang="pt-PT" sz="1600" b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effectLst/>
                        </a:rPr>
                        <a:t>-1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effectLst/>
                        </a:rPr>
                        <a:t>-12,5%</a:t>
                      </a:r>
                      <a:endParaRPr lang="pt-PT" sz="1600" b="0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</a:tr>
              <a:tr h="2156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</a:rPr>
                        <a:t> </a:t>
                      </a:r>
                      <a:endParaRPr lang="pt-PT" sz="1600" b="1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TOTAL GERAL</a:t>
                      </a:r>
                      <a:endParaRPr lang="pt-PT" sz="1600" b="1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</a:rPr>
                        <a:t>17</a:t>
                      </a:r>
                      <a:endParaRPr lang="pt-PT" sz="1600" b="1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</a:rPr>
                        <a:t>16</a:t>
                      </a:r>
                      <a:endParaRPr lang="pt-PT" sz="1600" b="1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</a:rPr>
                        <a:t>-1</a:t>
                      </a:r>
                      <a:endParaRPr lang="pt-PT" sz="1600" b="1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</a:rPr>
                        <a:t>-7%</a:t>
                      </a:r>
                      <a:endParaRPr lang="pt-PT" sz="1600" b="1" dirty="0">
                        <a:effectLst/>
                        <a:latin typeface="Cambria"/>
                        <a:ea typeface="MS Mincho"/>
                        <a:cs typeface="Arial"/>
                      </a:endParaRPr>
                    </a:p>
                  </a:txBody>
                  <a:tcPr marL="50337" marR="50337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6684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4459" y="1477107"/>
            <a:ext cx="9891982" cy="3903602"/>
          </a:xfrm>
        </p:spPr>
        <p:txBody>
          <a:bodyPr/>
          <a:lstStyle/>
          <a:p>
            <a:pPr marL="0" indent="0" algn="just">
              <a:lnSpc>
                <a:spcPct val="200000"/>
              </a:lnSpc>
              <a:buNone/>
            </a:pPr>
            <a:r>
              <a:rPr lang="pt-BR" altLang="pt-BR" sz="2400" dirty="0" smtClean="0">
                <a:solidFill>
                  <a:schemeClr val="bg1"/>
                </a:solidFill>
              </a:rPr>
              <a:t>Apresentar </a:t>
            </a:r>
            <a:r>
              <a:rPr lang="pt-BR" altLang="pt-BR" sz="2400" dirty="0">
                <a:solidFill>
                  <a:schemeClr val="bg1"/>
                </a:solidFill>
              </a:rPr>
              <a:t>o Balanço das Inspecções </a:t>
            </a:r>
            <a:r>
              <a:rPr lang="pt-BR" altLang="pt-BR" sz="2400" dirty="0" smtClean="0">
                <a:solidFill>
                  <a:schemeClr val="bg1"/>
                </a:solidFill>
              </a:rPr>
              <a:t>realizadas no ano de </a:t>
            </a:r>
            <a:r>
              <a:rPr lang="pt-BR" altLang="pt-BR" sz="2400" dirty="0" smtClean="0">
                <a:solidFill>
                  <a:schemeClr val="bg1"/>
                </a:solidFill>
              </a:rPr>
              <a:t>2025</a:t>
            </a:r>
            <a:r>
              <a:rPr lang="pt-BR" altLang="pt-BR" sz="2400" dirty="0">
                <a:solidFill>
                  <a:schemeClr val="bg1"/>
                </a:solidFill>
              </a:rPr>
              <a:t> </a:t>
            </a:r>
            <a:r>
              <a:rPr lang="pt-BR" altLang="pt-BR" sz="2400" dirty="0" smtClean="0">
                <a:solidFill>
                  <a:schemeClr val="bg1"/>
                </a:solidFill>
              </a:rPr>
              <a:t>e no </a:t>
            </a:r>
            <a:r>
              <a:rPr lang="pt-BR" altLang="pt-BR" sz="2400" dirty="0" smtClean="0">
                <a:solidFill>
                  <a:schemeClr val="bg1"/>
                </a:solidFill>
              </a:rPr>
              <a:t>primeiro </a:t>
            </a:r>
            <a:r>
              <a:rPr lang="pt-BR" altLang="pt-BR" sz="2400" dirty="0">
                <a:solidFill>
                  <a:schemeClr val="bg1"/>
                </a:solidFill>
              </a:rPr>
              <a:t>semestre </a:t>
            </a:r>
            <a:r>
              <a:rPr lang="pt-BR" altLang="pt-BR" sz="2400" dirty="0" smtClean="0">
                <a:solidFill>
                  <a:schemeClr val="bg1"/>
                </a:solidFill>
              </a:rPr>
              <a:t>de </a:t>
            </a:r>
            <a:r>
              <a:rPr lang="pt-BR" altLang="pt-BR" sz="2400" dirty="0" smtClean="0">
                <a:solidFill>
                  <a:schemeClr val="bg1"/>
                </a:solidFill>
              </a:rPr>
              <a:t>2026 </a:t>
            </a:r>
            <a:r>
              <a:rPr lang="pt-BR" altLang="pt-BR" sz="2400" dirty="0" smtClean="0">
                <a:solidFill>
                  <a:srgbClr val="FF0000"/>
                </a:solidFill>
              </a:rPr>
              <a:t>e o ponto de </a:t>
            </a:r>
            <a:r>
              <a:rPr lang="pt-BR" altLang="pt-BR" sz="2400" dirty="0" smtClean="0">
                <a:solidFill>
                  <a:srgbClr val="FF0000"/>
                </a:solidFill>
              </a:rPr>
              <a:t>situação </a:t>
            </a:r>
            <a:r>
              <a:rPr lang="pt-BR" altLang="pt-BR" sz="2400" dirty="0" smtClean="0">
                <a:solidFill>
                  <a:srgbClr val="FF0000"/>
                </a:solidFill>
              </a:rPr>
              <a:t>dos processos disciplinares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lvl="1" algn="ctr"/>
            <a:endParaRPr lang="en-US" altLang="pt-BR" sz="2400" dirty="0" smtClean="0">
              <a:solidFill>
                <a:schemeClr val="accent5"/>
              </a:solidFill>
            </a:endParaRPr>
          </a:p>
          <a:p>
            <a:pPr marL="0" lvl="1" algn="ctr"/>
            <a:endParaRPr lang="en-US" altLang="pt-BR" sz="2400" dirty="0" smtClean="0">
              <a:solidFill>
                <a:schemeClr val="bg1"/>
              </a:solidFill>
            </a:endParaRPr>
          </a:p>
          <a:p>
            <a:pPr marL="0" lvl="1" algn="ctr"/>
            <a:r>
              <a:rPr lang="en-US" altLang="pt-BR" sz="2400" dirty="0">
                <a:solidFill>
                  <a:schemeClr val="bg1"/>
                </a:solidFill>
              </a:rPr>
              <a:t>Objectivo</a:t>
            </a:r>
          </a:p>
          <a:p>
            <a:pPr marL="0" lvl="1" algn="ctr"/>
            <a:endParaRPr lang="en-US" altLang="pt-BR" sz="2400" dirty="0">
              <a:solidFill>
                <a:schemeClr val="accent5"/>
              </a:solidFill>
            </a:endParaRPr>
          </a:p>
          <a:p>
            <a:pPr marL="0" lvl="1" algn="ctr"/>
            <a:endParaRPr lang="en-US" altLang="pt-B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637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3895704"/>
              </p:ext>
            </p:extLst>
          </p:nvPr>
        </p:nvGraphicFramePr>
        <p:xfrm>
          <a:off x="1294227" y="1457343"/>
          <a:ext cx="9736138" cy="4806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754792"/>
                <a:gridCol w="1462078"/>
                <a:gridCol w="1367313"/>
                <a:gridCol w="1151955"/>
              </a:tblGrid>
              <a:tr h="2712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Actividade</a:t>
                      </a:r>
                      <a:endParaRPr lang="pt-PT" sz="105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Programadas</a:t>
                      </a:r>
                      <a:endParaRPr lang="pt-PT" sz="105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Cumpridas</a:t>
                      </a:r>
                      <a:endParaRPr lang="pt-PT" sz="105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%</a:t>
                      </a:r>
                      <a:endParaRPr lang="pt-PT" sz="105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</a:tr>
              <a:tr h="3577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 smtClean="0">
                          <a:effectLst/>
                        </a:rPr>
                        <a:t>Auditoria </a:t>
                      </a:r>
                      <a:r>
                        <a:rPr lang="pt-PT" sz="1600" dirty="0">
                          <a:effectLst/>
                        </a:rPr>
                        <a:t>e Controlo Interno</a:t>
                      </a:r>
                      <a:endParaRPr lang="pt-PT" sz="105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2</a:t>
                      </a:r>
                      <a:endParaRPr lang="pt-PT" sz="105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</a:t>
                      </a:r>
                      <a:endParaRPr lang="pt-PT" sz="105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50,0%</a:t>
                      </a:r>
                      <a:endParaRPr lang="pt-PT" sz="105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</a:tr>
              <a:tr h="5424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 smtClean="0">
                          <a:effectLst/>
                        </a:rPr>
                        <a:t>Monitoria do </a:t>
                      </a:r>
                      <a:r>
                        <a:rPr lang="pt-PT" sz="1600" dirty="0">
                          <a:effectLst/>
                        </a:rPr>
                        <a:t>cumprimento das recomendações das Inspecções e Auditorias</a:t>
                      </a:r>
                      <a:endParaRPr lang="pt-PT" sz="105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8</a:t>
                      </a:r>
                      <a:endParaRPr lang="pt-PT" sz="105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11</a:t>
                      </a:r>
                      <a:endParaRPr lang="pt-PT" sz="105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137,5%</a:t>
                      </a:r>
                      <a:endParaRPr lang="pt-PT" sz="105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</a:tr>
              <a:tr h="71551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600" dirty="0" smtClean="0">
                          <a:effectLst/>
                        </a:rPr>
                        <a:t>Inspecções Ordinárias – US Públicas</a:t>
                      </a:r>
                      <a:r>
                        <a:rPr lang="pt-PT" sz="1600" baseline="0" dirty="0" smtClean="0">
                          <a:effectLst/>
                          <a:latin typeface="Calibri"/>
                          <a:cs typeface="Arial"/>
                        </a:rPr>
                        <a:t> </a:t>
                      </a:r>
                      <a:r>
                        <a:rPr lang="pt-PT" sz="1600" dirty="0" smtClean="0">
                          <a:effectLst/>
                        </a:rPr>
                        <a:t>e </a:t>
                      </a:r>
                      <a:r>
                        <a:rPr lang="pt-PT" sz="1600" dirty="0">
                          <a:effectLst/>
                        </a:rPr>
                        <a:t>Instituições de Formação</a:t>
                      </a:r>
                      <a:endParaRPr lang="pt-PT" sz="105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12</a:t>
                      </a:r>
                      <a:endParaRPr lang="pt-PT" sz="105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17</a:t>
                      </a:r>
                      <a:endParaRPr lang="pt-PT" sz="105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141,7%</a:t>
                      </a:r>
                      <a:endParaRPr lang="pt-PT" sz="105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</a:tr>
              <a:tr h="5424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 smtClean="0">
                          <a:effectLst/>
                        </a:rPr>
                        <a:t>Inspecções </a:t>
                      </a:r>
                      <a:r>
                        <a:rPr lang="pt-PT" sz="1600" dirty="0">
                          <a:effectLst/>
                        </a:rPr>
                        <a:t>Extraordinárias e Seguimento de Petições</a:t>
                      </a:r>
                      <a:endParaRPr lang="pt-PT" sz="105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8</a:t>
                      </a:r>
                      <a:endParaRPr lang="pt-PT" sz="105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8</a:t>
                      </a:r>
                      <a:endParaRPr lang="pt-PT" sz="105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100,0%</a:t>
                      </a:r>
                      <a:endParaRPr lang="pt-PT" sz="105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</a:tr>
              <a:tr h="3577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 smtClean="0">
                          <a:effectLst/>
                        </a:rPr>
                        <a:t>Emissão</a:t>
                      </a:r>
                      <a:r>
                        <a:rPr lang="pt-PT" sz="1600" baseline="0" dirty="0" smtClean="0">
                          <a:effectLst/>
                        </a:rPr>
                        <a:t> do</a:t>
                      </a:r>
                      <a:r>
                        <a:rPr lang="pt-PT" sz="1600" dirty="0" smtClean="0">
                          <a:effectLst/>
                        </a:rPr>
                        <a:t> </a:t>
                      </a:r>
                      <a:r>
                        <a:rPr lang="pt-PT" sz="1600" dirty="0">
                          <a:effectLst/>
                        </a:rPr>
                        <a:t>parecer sobre a Conta de Gerência</a:t>
                      </a:r>
                      <a:endParaRPr lang="pt-PT" sz="105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7</a:t>
                      </a:r>
                      <a:endParaRPr lang="pt-PT" sz="105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7</a:t>
                      </a:r>
                      <a:endParaRPr lang="pt-PT" sz="105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100,0%</a:t>
                      </a:r>
                      <a:endParaRPr lang="pt-PT" sz="105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</a:tr>
              <a:tr h="3577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 smtClean="0">
                          <a:effectLst/>
                        </a:rPr>
                        <a:t>Elaboração </a:t>
                      </a:r>
                      <a:r>
                        <a:rPr lang="pt-PT" sz="1600" dirty="0">
                          <a:effectLst/>
                        </a:rPr>
                        <a:t>Relatórios Periódicos de Balanço</a:t>
                      </a:r>
                      <a:endParaRPr lang="pt-PT" sz="105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4</a:t>
                      </a:r>
                      <a:endParaRPr lang="pt-PT" sz="105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4</a:t>
                      </a:r>
                      <a:endParaRPr lang="pt-PT" sz="105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100,0%</a:t>
                      </a:r>
                      <a:endParaRPr lang="pt-PT" sz="105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</a:tr>
              <a:tr h="5424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 smtClean="0">
                          <a:effectLst/>
                        </a:rPr>
                        <a:t>Capacitação </a:t>
                      </a:r>
                      <a:r>
                        <a:rPr lang="pt-PT" sz="1600" dirty="0">
                          <a:effectLst/>
                        </a:rPr>
                        <a:t>em matéria de análise de Conta de Gerência</a:t>
                      </a:r>
                      <a:endParaRPr lang="pt-PT" sz="105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</a:t>
                      </a:r>
                      <a:endParaRPr lang="pt-PT" sz="105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05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0%</a:t>
                      </a:r>
                      <a:endParaRPr lang="pt-PT" sz="105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</a:tr>
              <a:tr h="3577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 smtClean="0">
                          <a:effectLst/>
                        </a:rPr>
                        <a:t>Elaboração </a:t>
                      </a:r>
                      <a:r>
                        <a:rPr lang="pt-PT" sz="1600" dirty="0">
                          <a:effectLst/>
                        </a:rPr>
                        <a:t>e Harmonizar Matriz de Petições</a:t>
                      </a:r>
                      <a:endParaRPr lang="pt-PT" sz="105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12</a:t>
                      </a:r>
                      <a:endParaRPr lang="pt-PT" sz="105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12</a:t>
                      </a:r>
                      <a:endParaRPr lang="pt-PT" sz="105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100,0%</a:t>
                      </a:r>
                      <a:endParaRPr lang="pt-PT" sz="105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</a:tr>
              <a:tr h="3577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 smtClean="0">
                          <a:effectLst/>
                        </a:rPr>
                        <a:t>Aquisição</a:t>
                      </a:r>
                      <a:r>
                        <a:rPr lang="pt-PT" sz="1600" baseline="0" dirty="0" smtClean="0">
                          <a:effectLst/>
                        </a:rPr>
                        <a:t> de </a:t>
                      </a:r>
                      <a:r>
                        <a:rPr lang="pt-PT" sz="1600" dirty="0" smtClean="0">
                          <a:effectLst/>
                        </a:rPr>
                        <a:t>1 </a:t>
                      </a:r>
                      <a:r>
                        <a:rPr lang="pt-PT" sz="1600" dirty="0">
                          <a:effectLst/>
                        </a:rPr>
                        <a:t>aparelho de ar condicionado</a:t>
                      </a:r>
                      <a:endParaRPr lang="pt-PT" sz="105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</a:t>
                      </a:r>
                      <a:endParaRPr lang="pt-PT" sz="105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05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0%</a:t>
                      </a:r>
                      <a:endParaRPr lang="pt-PT" sz="105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</a:tr>
              <a:tr h="3577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 smtClean="0">
                          <a:effectLst/>
                        </a:rPr>
                        <a:t>Aquisição</a:t>
                      </a:r>
                      <a:r>
                        <a:rPr lang="pt-PT" sz="1600" baseline="0" dirty="0" smtClean="0">
                          <a:effectLst/>
                        </a:rPr>
                        <a:t> de</a:t>
                      </a:r>
                      <a:r>
                        <a:rPr lang="pt-PT" sz="1600" dirty="0" smtClean="0">
                          <a:effectLst/>
                        </a:rPr>
                        <a:t> </a:t>
                      </a:r>
                      <a:r>
                        <a:rPr lang="pt-PT" sz="1600" dirty="0">
                          <a:effectLst/>
                        </a:rPr>
                        <a:t>discos duros externos</a:t>
                      </a:r>
                      <a:endParaRPr lang="pt-PT" sz="105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4</a:t>
                      </a:r>
                      <a:endParaRPr lang="pt-PT" sz="105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05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0%</a:t>
                      </a:r>
                      <a:endParaRPr lang="pt-PT" sz="105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692" marR="51692" marT="0" marB="0"/>
                </a:tc>
              </a:tr>
            </a:tbl>
          </a:graphicData>
        </a:graphic>
      </p:graphicFrame>
      <p:sp>
        <p:nvSpPr>
          <p:cNvPr id="4" name="Title 1"/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lvl="1" algn="ctr"/>
            <a:endParaRPr lang="en-US" altLang="pt-BR" sz="2400" dirty="0" smtClean="0">
              <a:solidFill>
                <a:schemeClr val="accent5"/>
              </a:solidFill>
            </a:endParaRPr>
          </a:p>
          <a:p>
            <a:pPr marL="0" lvl="1" algn="ctr"/>
            <a:endParaRPr lang="en-US" altLang="pt-BR" sz="2400" dirty="0" smtClean="0">
              <a:solidFill>
                <a:schemeClr val="bg1"/>
              </a:solidFill>
            </a:endParaRPr>
          </a:p>
          <a:p>
            <a:pPr marL="457200" lvl="2" algn="ctr"/>
            <a:r>
              <a:rPr lang="en-US" altLang="pt-BR" sz="2400" dirty="0" err="1">
                <a:solidFill>
                  <a:schemeClr val="bg1"/>
                </a:solidFill>
              </a:rPr>
              <a:t>Grau</a:t>
            </a:r>
            <a:r>
              <a:rPr lang="en-US" altLang="pt-BR" sz="2400" dirty="0">
                <a:solidFill>
                  <a:schemeClr val="bg1"/>
                </a:solidFill>
              </a:rPr>
              <a:t> de </a:t>
            </a:r>
            <a:r>
              <a:rPr lang="en-US" altLang="pt-BR" sz="2400" dirty="0" err="1">
                <a:solidFill>
                  <a:schemeClr val="bg1"/>
                </a:solidFill>
              </a:rPr>
              <a:t>cumprimento</a:t>
            </a:r>
            <a:r>
              <a:rPr lang="en-US" altLang="pt-BR" sz="2400" dirty="0">
                <a:solidFill>
                  <a:schemeClr val="bg1"/>
                </a:solidFill>
              </a:rPr>
              <a:t> do PESOE 2025</a:t>
            </a:r>
          </a:p>
          <a:p>
            <a:pPr marL="0" lvl="1" algn="ctr"/>
            <a:endParaRPr lang="en-US" altLang="pt-BR" sz="2400" dirty="0">
              <a:solidFill>
                <a:schemeClr val="accent5"/>
              </a:solidFill>
            </a:endParaRPr>
          </a:p>
          <a:p>
            <a:pPr marL="0" lvl="1" algn="ctr"/>
            <a:endParaRPr lang="en-US" altLang="pt-BR" sz="24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88122" y="903439"/>
            <a:ext cx="8510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ctr"/>
            <a:r>
              <a:rPr lang="en-US" altLang="pt-BR" sz="2000" b="1" dirty="0" err="1" smtClean="0">
                <a:solidFill>
                  <a:schemeClr val="bg2">
                    <a:lumMod val="50000"/>
                  </a:schemeClr>
                </a:solidFill>
              </a:rPr>
              <a:t>Inspecções</a:t>
            </a:r>
            <a:r>
              <a:rPr lang="en-US" altLang="pt-BR" sz="20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pt-BR" sz="2000" b="1" dirty="0" err="1">
                <a:solidFill>
                  <a:schemeClr val="bg2">
                    <a:lumMod val="50000"/>
                  </a:schemeClr>
                </a:solidFill>
              </a:rPr>
              <a:t>Administrativas</a:t>
            </a:r>
            <a:r>
              <a:rPr lang="en-US" altLang="pt-BR" sz="20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pt-BR" sz="2000" b="1" dirty="0" smtClean="0">
                <a:solidFill>
                  <a:schemeClr val="bg2">
                    <a:lumMod val="50000"/>
                  </a:schemeClr>
                </a:solidFill>
              </a:rPr>
              <a:t>1/3</a:t>
            </a:r>
            <a:endParaRPr lang="en-US" altLang="pt-BR" sz="20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5544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3572671"/>
              </p:ext>
            </p:extLst>
          </p:nvPr>
        </p:nvGraphicFramePr>
        <p:xfrm>
          <a:off x="1266089" y="1600477"/>
          <a:ext cx="9980931" cy="47227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87375"/>
                <a:gridCol w="1307934"/>
                <a:gridCol w="1117458"/>
                <a:gridCol w="768164"/>
              </a:tblGrid>
              <a:tr h="4941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Actividade</a:t>
                      </a:r>
                      <a:endParaRPr lang="pt-PT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Programadas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Cumpridas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%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</a:tr>
              <a:tr h="4236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 smtClean="0">
                          <a:effectLst/>
                        </a:rPr>
                        <a:t>Aquisição</a:t>
                      </a:r>
                      <a:r>
                        <a:rPr lang="pt-PT" sz="1600" baseline="0" dirty="0" smtClean="0">
                          <a:effectLst/>
                        </a:rPr>
                        <a:t> de</a:t>
                      </a:r>
                      <a:r>
                        <a:rPr lang="pt-PT" sz="1600" dirty="0" smtClean="0">
                          <a:effectLst/>
                        </a:rPr>
                        <a:t> </a:t>
                      </a:r>
                      <a:r>
                        <a:rPr lang="pt-PT" sz="1600" dirty="0">
                          <a:effectLst/>
                        </a:rPr>
                        <a:t>8 Flash Drives de 16 GB</a:t>
                      </a:r>
                      <a:endParaRPr lang="pt-PT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8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0</a:t>
                      </a:r>
                      <a:endParaRPr lang="pt-PT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0%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</a:tr>
              <a:tr h="4236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 smtClean="0">
                          <a:effectLst/>
                        </a:rPr>
                        <a:t>Aquisição</a:t>
                      </a:r>
                      <a:r>
                        <a:rPr lang="pt-PT" sz="1600" baseline="0" dirty="0" smtClean="0">
                          <a:effectLst/>
                        </a:rPr>
                        <a:t> de</a:t>
                      </a:r>
                      <a:r>
                        <a:rPr lang="pt-PT" sz="1600" dirty="0" smtClean="0">
                          <a:effectLst/>
                        </a:rPr>
                        <a:t> </a:t>
                      </a:r>
                      <a:r>
                        <a:rPr lang="pt-PT" sz="1600" dirty="0">
                          <a:effectLst/>
                        </a:rPr>
                        <a:t>4 licenças de antivírus</a:t>
                      </a:r>
                      <a:endParaRPr lang="pt-PT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4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0%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</a:tr>
              <a:tr h="4236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 smtClean="0">
                          <a:effectLst/>
                        </a:rPr>
                        <a:t>Aquisição</a:t>
                      </a:r>
                      <a:r>
                        <a:rPr lang="pt-PT" sz="1600" baseline="0" dirty="0" smtClean="0">
                          <a:effectLst/>
                        </a:rPr>
                        <a:t> de</a:t>
                      </a:r>
                      <a:r>
                        <a:rPr lang="pt-PT" sz="1600" dirty="0" smtClean="0">
                          <a:effectLst/>
                        </a:rPr>
                        <a:t> </a:t>
                      </a:r>
                      <a:r>
                        <a:rPr lang="pt-PT" sz="1600" dirty="0">
                          <a:effectLst/>
                        </a:rPr>
                        <a:t>6 computadores de mesa</a:t>
                      </a:r>
                      <a:endParaRPr lang="pt-PT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6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0%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</a:tr>
              <a:tr h="4236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 smtClean="0">
                          <a:effectLst/>
                        </a:rPr>
                        <a:t>Aquisição</a:t>
                      </a:r>
                      <a:r>
                        <a:rPr lang="pt-PT" sz="1600" baseline="0" dirty="0" smtClean="0">
                          <a:effectLst/>
                        </a:rPr>
                        <a:t> de</a:t>
                      </a:r>
                      <a:r>
                        <a:rPr lang="pt-PT" sz="1600" dirty="0" smtClean="0">
                          <a:effectLst/>
                        </a:rPr>
                        <a:t> </a:t>
                      </a:r>
                      <a:r>
                        <a:rPr lang="pt-PT" sz="1600" dirty="0">
                          <a:effectLst/>
                        </a:rPr>
                        <a:t>módulo com 6 lugares</a:t>
                      </a:r>
                      <a:endParaRPr lang="pt-PT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0%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</a:tr>
              <a:tr h="4236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 smtClean="0">
                          <a:effectLst/>
                        </a:rPr>
                        <a:t>Aquisição</a:t>
                      </a:r>
                      <a:r>
                        <a:rPr lang="pt-PT" sz="1600" baseline="0" dirty="0" smtClean="0">
                          <a:effectLst/>
                        </a:rPr>
                        <a:t> de</a:t>
                      </a:r>
                      <a:r>
                        <a:rPr lang="pt-PT" sz="1600" dirty="0" smtClean="0">
                          <a:effectLst/>
                        </a:rPr>
                        <a:t> </a:t>
                      </a:r>
                      <a:r>
                        <a:rPr lang="pt-PT" sz="1600" dirty="0">
                          <a:effectLst/>
                        </a:rPr>
                        <a:t>8 cadeiras giratórias</a:t>
                      </a:r>
                      <a:endParaRPr lang="pt-PT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8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0%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</a:tr>
              <a:tr h="2470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 smtClean="0">
                          <a:effectLst/>
                        </a:rPr>
                        <a:t>Aquisição</a:t>
                      </a:r>
                      <a:r>
                        <a:rPr lang="pt-PT" sz="1600" baseline="0" dirty="0" smtClean="0">
                          <a:effectLst/>
                        </a:rPr>
                        <a:t> de</a:t>
                      </a:r>
                      <a:r>
                        <a:rPr lang="pt-PT" sz="1600" dirty="0" smtClean="0">
                          <a:effectLst/>
                        </a:rPr>
                        <a:t> </a:t>
                      </a:r>
                      <a:r>
                        <a:rPr lang="pt-PT" sz="1600" dirty="0">
                          <a:effectLst/>
                        </a:rPr>
                        <a:t>1 catana</a:t>
                      </a:r>
                      <a:endParaRPr lang="pt-PT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0%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</a:tr>
              <a:tr h="4236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 smtClean="0">
                          <a:effectLst/>
                        </a:rPr>
                        <a:t>Aquisição</a:t>
                      </a:r>
                      <a:r>
                        <a:rPr lang="pt-PT" sz="1600" baseline="0" dirty="0" smtClean="0">
                          <a:effectLst/>
                        </a:rPr>
                        <a:t> de</a:t>
                      </a:r>
                      <a:r>
                        <a:rPr lang="pt-PT" sz="1600" dirty="0" smtClean="0">
                          <a:effectLst/>
                        </a:rPr>
                        <a:t> </a:t>
                      </a:r>
                      <a:r>
                        <a:rPr lang="pt-PT" sz="1600" dirty="0">
                          <a:effectLst/>
                        </a:rPr>
                        <a:t>1 tesoura de jardim</a:t>
                      </a:r>
                      <a:endParaRPr lang="pt-PT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0%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</a:tr>
              <a:tr h="2470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 smtClean="0">
                          <a:effectLst/>
                        </a:rPr>
                        <a:t>Aquisição</a:t>
                      </a:r>
                      <a:r>
                        <a:rPr lang="pt-PT" sz="1600" baseline="0" dirty="0" smtClean="0">
                          <a:effectLst/>
                        </a:rPr>
                        <a:t> de</a:t>
                      </a:r>
                      <a:r>
                        <a:rPr lang="pt-PT" sz="1600" dirty="0" smtClean="0">
                          <a:effectLst/>
                        </a:rPr>
                        <a:t> </a:t>
                      </a:r>
                      <a:r>
                        <a:rPr lang="pt-PT" sz="1600" dirty="0">
                          <a:effectLst/>
                        </a:rPr>
                        <a:t>2 enxadas</a:t>
                      </a:r>
                      <a:endParaRPr lang="pt-PT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2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0%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</a:tr>
              <a:tr h="4236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 smtClean="0">
                          <a:effectLst/>
                        </a:rPr>
                        <a:t>Aquisição</a:t>
                      </a:r>
                      <a:r>
                        <a:rPr lang="pt-PT" sz="1600" baseline="0" dirty="0" smtClean="0">
                          <a:effectLst/>
                        </a:rPr>
                        <a:t> de</a:t>
                      </a:r>
                      <a:r>
                        <a:rPr lang="pt-PT" sz="1600" dirty="0" smtClean="0">
                          <a:effectLst/>
                        </a:rPr>
                        <a:t> </a:t>
                      </a:r>
                      <a:r>
                        <a:rPr lang="pt-PT" sz="1600" dirty="0">
                          <a:effectLst/>
                        </a:rPr>
                        <a:t>mangueira de 10 metros</a:t>
                      </a:r>
                      <a:endParaRPr lang="pt-PT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0%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</a:tr>
              <a:tr h="6354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 smtClean="0">
                          <a:effectLst/>
                        </a:rPr>
                        <a:t>Aquisição</a:t>
                      </a:r>
                      <a:r>
                        <a:rPr lang="pt-PT" sz="1600" baseline="0" dirty="0" smtClean="0">
                          <a:effectLst/>
                        </a:rPr>
                        <a:t> de</a:t>
                      </a:r>
                      <a:r>
                        <a:rPr lang="pt-PT" sz="1600" dirty="0" smtClean="0">
                          <a:effectLst/>
                        </a:rPr>
                        <a:t> </a:t>
                      </a:r>
                      <a:r>
                        <a:rPr lang="pt-PT" sz="1600" dirty="0">
                          <a:effectLst/>
                        </a:rPr>
                        <a:t>10 litros de cera acrílica para restauração do parquet</a:t>
                      </a:r>
                      <a:endParaRPr lang="pt-PT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10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0%</a:t>
                      </a:r>
                      <a:endParaRPr lang="pt-PT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</a:tr>
            </a:tbl>
          </a:graphicData>
        </a:graphic>
      </p:graphicFrame>
      <p:sp>
        <p:nvSpPr>
          <p:cNvPr id="4" name="Title 1"/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457200" lvl="2" algn="ctr"/>
            <a:r>
              <a:rPr lang="en-US" altLang="pt-BR" sz="2400" dirty="0" err="1">
                <a:solidFill>
                  <a:schemeClr val="bg1"/>
                </a:solidFill>
              </a:rPr>
              <a:t>Grau</a:t>
            </a:r>
            <a:r>
              <a:rPr lang="en-US" altLang="pt-BR" sz="2400" dirty="0">
                <a:solidFill>
                  <a:schemeClr val="bg1"/>
                </a:solidFill>
              </a:rPr>
              <a:t> de </a:t>
            </a:r>
            <a:r>
              <a:rPr lang="en-US" altLang="pt-BR" sz="2400" dirty="0" err="1">
                <a:solidFill>
                  <a:schemeClr val="bg1"/>
                </a:solidFill>
              </a:rPr>
              <a:t>cumprimento</a:t>
            </a:r>
            <a:r>
              <a:rPr lang="en-US" altLang="pt-BR" sz="2400" dirty="0">
                <a:solidFill>
                  <a:schemeClr val="bg1"/>
                </a:solidFill>
              </a:rPr>
              <a:t> do PESOE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8122" y="989351"/>
            <a:ext cx="8510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ctr"/>
            <a:r>
              <a:rPr lang="en-US" altLang="pt-BR" sz="2000" b="1" dirty="0" err="1" smtClean="0">
                <a:solidFill>
                  <a:schemeClr val="bg2">
                    <a:lumMod val="50000"/>
                  </a:schemeClr>
                </a:solidFill>
              </a:rPr>
              <a:t>Inspecções</a:t>
            </a:r>
            <a:r>
              <a:rPr lang="en-US" altLang="pt-BR" sz="20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pt-BR" sz="2000" b="1" dirty="0" err="1">
                <a:solidFill>
                  <a:schemeClr val="bg2">
                    <a:lumMod val="50000"/>
                  </a:schemeClr>
                </a:solidFill>
              </a:rPr>
              <a:t>Administrativas</a:t>
            </a:r>
            <a:r>
              <a:rPr lang="en-US" altLang="pt-BR" sz="20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pt-BR" sz="2000" b="1" dirty="0" smtClean="0">
                <a:solidFill>
                  <a:schemeClr val="bg2">
                    <a:lumMod val="50000"/>
                  </a:schemeClr>
                </a:solidFill>
              </a:rPr>
              <a:t>2/3</a:t>
            </a:r>
            <a:endParaRPr lang="en-US" altLang="pt-BR" sz="20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868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9194564"/>
              </p:ext>
            </p:extLst>
          </p:nvPr>
        </p:nvGraphicFramePr>
        <p:xfrm>
          <a:off x="1308246" y="1228503"/>
          <a:ext cx="9664408" cy="54180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470826"/>
                <a:gridCol w="1334666"/>
                <a:gridCol w="1084416"/>
                <a:gridCol w="774500"/>
              </a:tblGrid>
              <a:tr h="28636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Actividade</a:t>
                      </a:r>
                      <a:endParaRPr lang="pt-PT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Programadas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Cumpridas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%</a:t>
                      </a:r>
                      <a:endParaRPr lang="pt-PT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</a:tr>
              <a:tr h="7365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 smtClean="0">
                          <a:effectLst/>
                        </a:rPr>
                        <a:t>Elevação </a:t>
                      </a:r>
                      <a:r>
                        <a:rPr lang="pt-PT" sz="1600" dirty="0">
                          <a:effectLst/>
                        </a:rPr>
                        <a:t>do tanque de água, electrobomba e </a:t>
                      </a:r>
                      <a:r>
                        <a:rPr lang="pt-PT" sz="1600" dirty="0" smtClean="0">
                          <a:effectLst/>
                        </a:rPr>
                        <a:t>bóia</a:t>
                      </a:r>
                      <a:endParaRPr lang="pt-PT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0%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</a:tr>
              <a:tr h="7365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 smtClean="0">
                          <a:effectLst/>
                        </a:rPr>
                        <a:t>Aquisição</a:t>
                      </a:r>
                      <a:r>
                        <a:rPr lang="pt-PT" sz="1600" baseline="0" dirty="0" smtClean="0">
                          <a:effectLst/>
                        </a:rPr>
                        <a:t> de</a:t>
                      </a:r>
                      <a:r>
                        <a:rPr lang="pt-PT" sz="1600" dirty="0" smtClean="0">
                          <a:effectLst/>
                        </a:rPr>
                        <a:t> </a:t>
                      </a:r>
                      <a:r>
                        <a:rPr lang="pt-PT" sz="1600" dirty="0">
                          <a:effectLst/>
                        </a:rPr>
                        <a:t>4 lâmpadas económicas para os holofotes</a:t>
                      </a:r>
                      <a:endParaRPr lang="pt-PT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4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0%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</a:tr>
              <a:tr h="491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 smtClean="0">
                          <a:effectLst/>
                        </a:rPr>
                        <a:t>Aquisição</a:t>
                      </a:r>
                      <a:r>
                        <a:rPr lang="pt-PT" sz="1600" baseline="0" dirty="0" smtClean="0">
                          <a:effectLst/>
                        </a:rPr>
                        <a:t> de</a:t>
                      </a:r>
                      <a:r>
                        <a:rPr lang="pt-PT" sz="1600" dirty="0" smtClean="0">
                          <a:effectLst/>
                        </a:rPr>
                        <a:t> </a:t>
                      </a:r>
                      <a:r>
                        <a:rPr lang="pt-PT" sz="1600" dirty="0">
                          <a:effectLst/>
                        </a:rPr>
                        <a:t>3 quadros para afixação de papel</a:t>
                      </a:r>
                      <a:endParaRPr lang="pt-PT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3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0%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</a:tr>
              <a:tr h="491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 smtClean="0">
                          <a:effectLst/>
                        </a:rPr>
                        <a:t>Aquisição</a:t>
                      </a:r>
                      <a:r>
                        <a:rPr lang="pt-PT" sz="1600" baseline="0" dirty="0" smtClean="0">
                          <a:effectLst/>
                        </a:rPr>
                        <a:t> de</a:t>
                      </a:r>
                      <a:r>
                        <a:rPr lang="pt-PT" sz="1600" dirty="0" smtClean="0">
                          <a:effectLst/>
                        </a:rPr>
                        <a:t> </a:t>
                      </a:r>
                      <a:r>
                        <a:rPr lang="pt-PT" sz="1600" dirty="0">
                          <a:effectLst/>
                        </a:rPr>
                        <a:t>1 máquina fotocopiadora</a:t>
                      </a:r>
                      <a:endParaRPr lang="pt-PT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0%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</a:tr>
              <a:tr h="491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 smtClean="0">
                          <a:effectLst/>
                        </a:rPr>
                        <a:t>Aquisição</a:t>
                      </a:r>
                      <a:r>
                        <a:rPr lang="pt-PT" sz="1600" baseline="0" dirty="0" smtClean="0">
                          <a:effectLst/>
                        </a:rPr>
                        <a:t> de</a:t>
                      </a:r>
                      <a:r>
                        <a:rPr lang="pt-PT" sz="1600" dirty="0" smtClean="0">
                          <a:effectLst/>
                        </a:rPr>
                        <a:t> </a:t>
                      </a:r>
                      <a:r>
                        <a:rPr lang="pt-PT" sz="1600" dirty="0">
                          <a:effectLst/>
                        </a:rPr>
                        <a:t>1 máquina de encadernação</a:t>
                      </a:r>
                      <a:endParaRPr lang="pt-PT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0%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</a:tr>
              <a:tr h="2863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 smtClean="0">
                          <a:effectLst/>
                        </a:rPr>
                        <a:t>Aquisição</a:t>
                      </a:r>
                      <a:r>
                        <a:rPr lang="pt-PT" sz="1600" baseline="0" dirty="0" smtClean="0">
                          <a:effectLst/>
                        </a:rPr>
                        <a:t> de</a:t>
                      </a:r>
                      <a:r>
                        <a:rPr lang="pt-PT" sz="1600" dirty="0" smtClean="0">
                          <a:effectLst/>
                        </a:rPr>
                        <a:t> </a:t>
                      </a:r>
                      <a:r>
                        <a:rPr lang="pt-PT" sz="1600" dirty="0">
                          <a:effectLst/>
                        </a:rPr>
                        <a:t>1 furador gigante</a:t>
                      </a:r>
                      <a:endParaRPr lang="pt-PT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0%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</a:tr>
              <a:tr h="2863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 smtClean="0">
                          <a:effectLst/>
                        </a:rPr>
                        <a:t>Aquisição</a:t>
                      </a:r>
                      <a:r>
                        <a:rPr lang="pt-PT" sz="1600" baseline="0" dirty="0" smtClean="0">
                          <a:effectLst/>
                        </a:rPr>
                        <a:t> de</a:t>
                      </a:r>
                      <a:r>
                        <a:rPr lang="pt-PT" sz="1600" dirty="0" smtClean="0">
                          <a:effectLst/>
                        </a:rPr>
                        <a:t> </a:t>
                      </a:r>
                      <a:r>
                        <a:rPr lang="pt-PT" sz="1600" dirty="0">
                          <a:effectLst/>
                        </a:rPr>
                        <a:t>1 impressora</a:t>
                      </a:r>
                      <a:endParaRPr lang="pt-PT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0%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</a:tr>
              <a:tr h="491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 smtClean="0">
                          <a:effectLst/>
                        </a:rPr>
                        <a:t>Aquisição</a:t>
                      </a:r>
                      <a:r>
                        <a:rPr lang="pt-PT" sz="1600" baseline="0" dirty="0" smtClean="0">
                          <a:effectLst/>
                        </a:rPr>
                        <a:t> de</a:t>
                      </a:r>
                      <a:r>
                        <a:rPr lang="pt-PT" sz="1600" dirty="0" smtClean="0">
                          <a:effectLst/>
                        </a:rPr>
                        <a:t> </a:t>
                      </a:r>
                      <a:r>
                        <a:rPr lang="pt-PT" sz="1600" dirty="0">
                          <a:effectLst/>
                        </a:rPr>
                        <a:t>varões para cortinas</a:t>
                      </a:r>
                      <a:endParaRPr lang="pt-PT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100,0%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</a:tr>
              <a:tr h="491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 smtClean="0">
                          <a:effectLst/>
                        </a:rPr>
                        <a:t>Aquisição</a:t>
                      </a:r>
                      <a:r>
                        <a:rPr lang="pt-PT" sz="1600" baseline="0" dirty="0" smtClean="0">
                          <a:effectLst/>
                        </a:rPr>
                        <a:t> de</a:t>
                      </a:r>
                      <a:r>
                        <a:rPr lang="pt-PT" sz="1600" dirty="0" smtClean="0">
                          <a:effectLst/>
                        </a:rPr>
                        <a:t> </a:t>
                      </a:r>
                      <a:r>
                        <a:rPr lang="pt-PT" sz="1600" dirty="0">
                          <a:effectLst/>
                        </a:rPr>
                        <a:t>6 laptops para uso nas auditorias</a:t>
                      </a:r>
                      <a:endParaRPr lang="pt-PT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6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0%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</a:tr>
              <a:tr h="2863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TOTAL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121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61</a:t>
                      </a:r>
                      <a:endParaRPr lang="pt-PT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50,4%</a:t>
                      </a:r>
                      <a:endParaRPr lang="pt-PT" sz="1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7200" marR="67200" marT="0" marB="0"/>
                </a:tc>
              </a:tr>
            </a:tbl>
          </a:graphicData>
        </a:graphic>
      </p:graphicFrame>
      <p:sp>
        <p:nvSpPr>
          <p:cNvPr id="4" name="Title 1"/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lvl="1" algn="ctr"/>
            <a:endParaRPr lang="en-US" altLang="pt-BR" sz="2400" dirty="0" smtClean="0">
              <a:solidFill>
                <a:schemeClr val="accent5"/>
              </a:solidFill>
            </a:endParaRPr>
          </a:p>
          <a:p>
            <a:pPr marL="0" lvl="1" algn="ctr"/>
            <a:endParaRPr lang="en-US" altLang="pt-BR" sz="2400" dirty="0" smtClean="0">
              <a:solidFill>
                <a:schemeClr val="bg1"/>
              </a:solidFill>
            </a:endParaRPr>
          </a:p>
          <a:p>
            <a:pPr marL="457200" lvl="2" algn="ctr"/>
            <a:r>
              <a:rPr lang="en-US" altLang="pt-BR" sz="2400" dirty="0" err="1">
                <a:solidFill>
                  <a:schemeClr val="bg1"/>
                </a:solidFill>
              </a:rPr>
              <a:t>Grau</a:t>
            </a:r>
            <a:r>
              <a:rPr lang="en-US" altLang="pt-BR" sz="2400" dirty="0">
                <a:solidFill>
                  <a:schemeClr val="bg1"/>
                </a:solidFill>
              </a:rPr>
              <a:t> de </a:t>
            </a:r>
            <a:r>
              <a:rPr lang="en-US" altLang="pt-BR" sz="2400" dirty="0" err="1">
                <a:solidFill>
                  <a:schemeClr val="bg1"/>
                </a:solidFill>
              </a:rPr>
              <a:t>cumprimento</a:t>
            </a:r>
            <a:r>
              <a:rPr lang="en-US" altLang="pt-BR" sz="2400" dirty="0">
                <a:solidFill>
                  <a:schemeClr val="bg1"/>
                </a:solidFill>
              </a:rPr>
              <a:t> do PESOE 2025</a:t>
            </a:r>
          </a:p>
          <a:p>
            <a:pPr marL="0" lvl="1" algn="ctr"/>
            <a:endParaRPr lang="en-US" altLang="pt-BR" sz="2400" dirty="0">
              <a:solidFill>
                <a:schemeClr val="accent5"/>
              </a:solidFill>
            </a:endParaRPr>
          </a:p>
          <a:p>
            <a:pPr marL="0" lvl="1" algn="ctr"/>
            <a:endParaRPr lang="en-US" altLang="pt-BR" sz="24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88122" y="856528"/>
            <a:ext cx="8510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ctr"/>
            <a:r>
              <a:rPr lang="en-US" altLang="pt-BR" sz="2000" b="1" dirty="0" err="1" smtClean="0">
                <a:solidFill>
                  <a:schemeClr val="bg2">
                    <a:lumMod val="50000"/>
                  </a:schemeClr>
                </a:solidFill>
              </a:rPr>
              <a:t>Inspecções</a:t>
            </a:r>
            <a:r>
              <a:rPr lang="en-US" altLang="pt-BR" sz="20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pt-BR" sz="2000" b="1" dirty="0" err="1">
                <a:solidFill>
                  <a:schemeClr val="bg2">
                    <a:lumMod val="50000"/>
                  </a:schemeClr>
                </a:solidFill>
              </a:rPr>
              <a:t>Administrativas</a:t>
            </a:r>
            <a:r>
              <a:rPr lang="en-US" altLang="pt-BR" sz="2000" b="1" dirty="0">
                <a:solidFill>
                  <a:schemeClr val="bg2">
                    <a:lumMod val="50000"/>
                  </a:schemeClr>
                </a:solidFill>
              </a:rPr>
              <a:t> 3</a:t>
            </a:r>
            <a:r>
              <a:rPr lang="en-US" altLang="pt-BR" sz="2000" b="1" dirty="0" smtClean="0">
                <a:solidFill>
                  <a:schemeClr val="bg2">
                    <a:lumMod val="50000"/>
                  </a:schemeClr>
                </a:solidFill>
              </a:rPr>
              <a:t>/3</a:t>
            </a:r>
            <a:endParaRPr lang="en-US" altLang="pt-BR" sz="20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90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6909" y="1750042"/>
            <a:ext cx="9656618" cy="3615267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pt-PT" sz="2400" dirty="0" smtClean="0">
                <a:solidFill>
                  <a:schemeClr val="bg1"/>
                </a:solidFill>
              </a:rPr>
              <a:t>Com relação </a:t>
            </a:r>
            <a:r>
              <a:rPr lang="pt-PT" sz="2400" dirty="0" smtClean="0">
                <a:solidFill>
                  <a:schemeClr val="bg1"/>
                </a:solidFill>
              </a:rPr>
              <a:t>as </a:t>
            </a:r>
            <a:r>
              <a:rPr lang="pt-PT" sz="2400" dirty="0" smtClean="0">
                <a:solidFill>
                  <a:schemeClr val="bg1"/>
                </a:solidFill>
              </a:rPr>
              <a:t>aquisições </a:t>
            </a:r>
            <a:r>
              <a:rPr lang="pt-PT" sz="2400" dirty="0" smtClean="0">
                <a:solidFill>
                  <a:schemeClr val="bg1"/>
                </a:solidFill>
              </a:rPr>
              <a:t>de </a:t>
            </a:r>
            <a:r>
              <a:rPr lang="pt-PT" sz="2400" dirty="0">
                <a:solidFill>
                  <a:schemeClr val="bg1"/>
                </a:solidFill>
              </a:rPr>
              <a:t>bens e consumíveis constantes no </a:t>
            </a:r>
            <a:r>
              <a:rPr lang="pt-PT" sz="2400" dirty="0" smtClean="0">
                <a:solidFill>
                  <a:schemeClr val="bg1"/>
                </a:solidFill>
              </a:rPr>
              <a:t>PESOE-25, </a:t>
            </a:r>
            <a:r>
              <a:rPr lang="pt-PT" sz="2400" dirty="0">
                <a:solidFill>
                  <a:schemeClr val="bg1"/>
                </a:solidFill>
              </a:rPr>
              <a:t>não foi possível adquirir por exiguidade de fundos, todas as actividades do sector foram realizadas </a:t>
            </a:r>
            <a:r>
              <a:rPr lang="pt-PT" sz="2400" dirty="0" smtClean="0">
                <a:solidFill>
                  <a:schemeClr val="bg1"/>
                </a:solidFill>
              </a:rPr>
              <a:t>positivamente</a:t>
            </a:r>
            <a:r>
              <a:rPr lang="pt-PT" sz="2400" dirty="0">
                <a:solidFill>
                  <a:schemeClr val="bg1"/>
                </a:solidFill>
              </a:rPr>
              <a:t>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223109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457200" lvl="2" algn="ctr"/>
            <a:r>
              <a:rPr lang="en-US" altLang="pt-BR" sz="2400" dirty="0" err="1">
                <a:solidFill>
                  <a:schemeClr val="bg1"/>
                </a:solidFill>
              </a:rPr>
              <a:t>Grau</a:t>
            </a:r>
            <a:r>
              <a:rPr lang="en-US" altLang="pt-BR" sz="2400" dirty="0">
                <a:solidFill>
                  <a:schemeClr val="bg1"/>
                </a:solidFill>
              </a:rPr>
              <a:t> de </a:t>
            </a:r>
            <a:r>
              <a:rPr lang="en-US" altLang="pt-BR" sz="2400" dirty="0" err="1">
                <a:solidFill>
                  <a:schemeClr val="bg1"/>
                </a:solidFill>
              </a:rPr>
              <a:t>cumprimento</a:t>
            </a:r>
            <a:r>
              <a:rPr lang="en-US" altLang="pt-BR" sz="2400" dirty="0">
                <a:solidFill>
                  <a:schemeClr val="bg1"/>
                </a:solidFill>
              </a:rPr>
              <a:t> do PESOE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8122" y="1029954"/>
            <a:ext cx="8510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ctr"/>
            <a:r>
              <a:rPr lang="en-US" altLang="pt-BR" sz="2000" b="1" dirty="0" err="1">
                <a:solidFill>
                  <a:schemeClr val="bg2">
                    <a:lumMod val="50000"/>
                  </a:schemeClr>
                </a:solidFill>
              </a:rPr>
              <a:t>Inspecções</a:t>
            </a:r>
            <a:r>
              <a:rPr lang="en-US" altLang="pt-BR" sz="2000" b="1" dirty="0">
                <a:solidFill>
                  <a:schemeClr val="bg2">
                    <a:lumMod val="50000"/>
                  </a:schemeClr>
                </a:solidFill>
              </a:rPr>
              <a:t> dos </a:t>
            </a:r>
            <a:r>
              <a:rPr lang="en-US" altLang="pt-BR" sz="2000" b="1" dirty="0" err="1">
                <a:solidFill>
                  <a:schemeClr val="bg2">
                    <a:lumMod val="50000"/>
                  </a:schemeClr>
                </a:solidFill>
              </a:rPr>
              <a:t>C</a:t>
            </a:r>
            <a:r>
              <a:rPr lang="en-US" altLang="pt-BR" sz="2000" b="1" dirty="0" err="1" smtClean="0">
                <a:solidFill>
                  <a:schemeClr val="bg2">
                    <a:lumMod val="50000"/>
                  </a:schemeClr>
                </a:solidFill>
              </a:rPr>
              <a:t>uidados</a:t>
            </a:r>
            <a:r>
              <a:rPr lang="en-US" altLang="pt-BR" sz="20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pt-BR" sz="2000" b="1" dirty="0" smtClean="0">
                <a:solidFill>
                  <a:schemeClr val="bg2">
                    <a:lumMod val="50000"/>
                  </a:schemeClr>
                </a:solidFill>
              </a:rPr>
              <a:t>de </a:t>
            </a:r>
            <a:r>
              <a:rPr lang="en-US" altLang="pt-BR" sz="2000" b="1" dirty="0" err="1" smtClean="0">
                <a:solidFill>
                  <a:schemeClr val="bg2">
                    <a:lumMod val="50000"/>
                  </a:schemeClr>
                </a:solidFill>
              </a:rPr>
              <a:t>Saúde</a:t>
            </a:r>
            <a:endParaRPr lang="en-US" altLang="pt-BR" sz="2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0180054"/>
              </p:ext>
            </p:extLst>
          </p:nvPr>
        </p:nvGraphicFramePr>
        <p:xfrm>
          <a:off x="1586668" y="1557680"/>
          <a:ext cx="9217124" cy="42523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714167"/>
                <a:gridCol w="1659988"/>
                <a:gridCol w="1448972"/>
                <a:gridCol w="1393997"/>
              </a:tblGrid>
              <a:tr h="20090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Actividade</a:t>
                      </a:r>
                      <a:endParaRPr lang="pt-PT" sz="16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Programadas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Cumpridas</a:t>
                      </a:r>
                      <a:endParaRPr lang="pt-PT" sz="16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%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</a:tr>
              <a:tr h="4018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Inspecções Ordinárias – US Públicas</a:t>
                      </a:r>
                      <a:endParaRPr lang="pt-PT" sz="16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33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30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90,9%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</a:tr>
              <a:tr h="4018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Inspecções – Clínicas e Centros Médicos Privados</a:t>
                      </a:r>
                      <a:endParaRPr lang="pt-PT" sz="16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35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0%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</a:tr>
              <a:tr h="2009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Inspecções – Clínicas Dentárias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12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0%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</a:tr>
              <a:tr h="4018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Inspecções – Consultórios Médicos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12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0%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</a:tr>
              <a:tr h="2009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Inspecções Extraordinárias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12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8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66,7%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</a:tr>
              <a:tr h="4018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Fiscalização de Campanhas de Saúde</a:t>
                      </a:r>
                      <a:endParaRPr lang="pt-PT" sz="16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2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0%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</a:tr>
              <a:tr h="4018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Formação em Matéria de Legislação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0%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</a:tr>
              <a:tr h="4018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Inspecções – Laboratórios das US Públicas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16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30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187,5%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</a:tr>
              <a:tr h="4018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Inspecções – Laboratórios de Hospitais e Clínicas Privadas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8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0%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</a:tr>
              <a:tr h="2009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TOTAL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131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68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51,9%</a:t>
                      </a:r>
                      <a:endParaRPr lang="pt-PT" sz="16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5513" marR="65513" marT="0" marB="0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688122" y="5824025"/>
            <a:ext cx="918879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b="1" dirty="0">
                <a:solidFill>
                  <a:schemeClr val="bg1"/>
                </a:solidFill>
              </a:rPr>
              <a:t>NOTA: Não foi realizada nenhuma visita </a:t>
            </a:r>
            <a:r>
              <a:rPr lang="pt-PT" sz="1600" b="1" dirty="0" smtClean="0">
                <a:solidFill>
                  <a:schemeClr val="bg1"/>
                </a:solidFill>
              </a:rPr>
              <a:t>as </a:t>
            </a:r>
            <a:r>
              <a:rPr lang="pt-PT" sz="1600" b="1" dirty="0" err="1">
                <a:solidFill>
                  <a:schemeClr val="bg1"/>
                </a:solidFill>
              </a:rPr>
              <a:t>US's</a:t>
            </a:r>
            <a:r>
              <a:rPr lang="pt-PT" sz="1600" b="1" dirty="0">
                <a:solidFill>
                  <a:schemeClr val="bg1"/>
                </a:solidFill>
              </a:rPr>
              <a:t> privadas em cumprimento </a:t>
            </a:r>
            <a:r>
              <a:rPr lang="pt-PT" sz="1600" b="1" dirty="0" smtClean="0">
                <a:solidFill>
                  <a:schemeClr val="bg1"/>
                </a:solidFill>
              </a:rPr>
              <a:t>do </a:t>
            </a:r>
            <a:r>
              <a:rPr lang="pt-PT" sz="1600" b="1" dirty="0" smtClean="0">
                <a:solidFill>
                  <a:schemeClr val="bg1"/>
                </a:solidFill>
              </a:rPr>
              <a:t>Despacho 447/GMS/001.1/2024 </a:t>
            </a:r>
            <a:r>
              <a:rPr lang="pt-PT" sz="1600" b="1" dirty="0">
                <a:solidFill>
                  <a:schemeClr val="bg1"/>
                </a:solidFill>
              </a:rPr>
              <a:t>de 30 de Abril de 2024 </a:t>
            </a:r>
            <a:r>
              <a:rPr lang="pt-PT" sz="1600" b="1" dirty="0" smtClean="0">
                <a:solidFill>
                  <a:schemeClr val="bg1"/>
                </a:solidFill>
              </a:rPr>
              <a:t> do MISAU</a:t>
            </a:r>
            <a:endParaRPr lang="pt-PT" sz="1600" b="1" dirty="0">
              <a:solidFill>
                <a:schemeClr val="bg1"/>
              </a:solidFill>
            </a:endParaRPr>
          </a:p>
          <a:p>
            <a:endParaRPr lang="pt-PT" sz="16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4976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345369" y="228698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457200" lvl="2" algn="ctr"/>
            <a:r>
              <a:rPr lang="en-US" altLang="pt-BR" sz="2400" dirty="0" err="1">
                <a:solidFill>
                  <a:schemeClr val="bg1"/>
                </a:solidFill>
              </a:rPr>
              <a:t>Grau</a:t>
            </a:r>
            <a:r>
              <a:rPr lang="en-US" altLang="pt-BR" sz="2400" dirty="0">
                <a:solidFill>
                  <a:schemeClr val="bg1"/>
                </a:solidFill>
              </a:rPr>
              <a:t> de </a:t>
            </a:r>
            <a:r>
              <a:rPr lang="en-US" altLang="pt-BR" sz="2400" dirty="0" err="1">
                <a:solidFill>
                  <a:schemeClr val="bg1"/>
                </a:solidFill>
              </a:rPr>
              <a:t>cumprimento</a:t>
            </a:r>
            <a:r>
              <a:rPr lang="en-US" altLang="pt-BR" sz="2400" dirty="0">
                <a:solidFill>
                  <a:schemeClr val="bg1"/>
                </a:solidFill>
              </a:rPr>
              <a:t> do PESOE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8122" y="1029954"/>
            <a:ext cx="8510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ctr"/>
            <a:r>
              <a:rPr lang="en-US" altLang="pt-BR" sz="2000" b="1" dirty="0" err="1">
                <a:solidFill>
                  <a:schemeClr val="bg2">
                    <a:lumMod val="50000"/>
                  </a:schemeClr>
                </a:solidFill>
              </a:rPr>
              <a:t>Inspecções</a:t>
            </a:r>
            <a:r>
              <a:rPr lang="en-US" altLang="pt-BR" sz="20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pt-BR" sz="2000" b="1" dirty="0" smtClean="0">
                <a:solidFill>
                  <a:schemeClr val="bg2">
                    <a:lumMod val="50000"/>
                  </a:schemeClr>
                </a:solidFill>
              </a:rPr>
              <a:t>de </a:t>
            </a:r>
            <a:r>
              <a:rPr lang="en-US" altLang="pt-BR" sz="2000" b="1" dirty="0" err="1" smtClean="0">
                <a:solidFill>
                  <a:schemeClr val="bg2">
                    <a:lumMod val="50000"/>
                  </a:schemeClr>
                </a:solidFill>
              </a:rPr>
              <a:t>formação</a:t>
            </a:r>
            <a:r>
              <a:rPr lang="en-US" altLang="pt-BR" sz="20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pt-BR" sz="2000" b="1" dirty="0" err="1" smtClean="0">
                <a:solidFill>
                  <a:schemeClr val="bg2">
                    <a:lumMod val="50000"/>
                  </a:schemeClr>
                </a:solidFill>
              </a:rPr>
              <a:t>em</a:t>
            </a:r>
            <a:r>
              <a:rPr lang="en-US" altLang="pt-BR" sz="20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pt-BR" sz="2000" b="1" dirty="0" err="1" smtClean="0">
                <a:solidFill>
                  <a:schemeClr val="bg2">
                    <a:lumMod val="50000"/>
                  </a:schemeClr>
                </a:solidFill>
              </a:rPr>
              <a:t>Saúde</a:t>
            </a:r>
            <a:endParaRPr lang="en-US" altLang="pt-BR" sz="2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2462897"/>
              </p:ext>
            </p:extLst>
          </p:nvPr>
        </p:nvGraphicFramePr>
        <p:xfrm>
          <a:off x="1382443" y="1557362"/>
          <a:ext cx="9585229" cy="43512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068305"/>
                <a:gridCol w="1533378"/>
                <a:gridCol w="1280160"/>
                <a:gridCol w="703386"/>
              </a:tblGrid>
              <a:tr h="10958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Actividade</a:t>
                      </a:r>
                      <a:endParaRPr lang="pt-PT" sz="16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Programadas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Cumpridas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%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</a:tr>
              <a:tr h="5479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Avaliação das Normas de Ingresso (confirmação de Certificados de Habilitações Literárias)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2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0%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</a:tr>
              <a:tr h="3287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Avaliação do Cumprimento dos Planos Curriculares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2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0%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</a:tr>
              <a:tr h="5479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Avaliação do Cumprimento do Número Mínimo de Avaliações Programadas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2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0%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</a:tr>
              <a:tr h="3287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Verificação do Número Limite de Formandos no Campo de Estágio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12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0%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</a:tr>
              <a:tr h="5479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Verificação do Número de Actividades desenvolvidas pelos alunos no Campo de Estágio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12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0%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</a:tr>
              <a:tr h="4383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Verificação do Cumprimento do Plano de Aulas (Assistência às aulas)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12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0%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</a:tr>
              <a:tr h="6575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Realizar visitas de Inspecção Extraordinárias às Instituições de Formação de Saúde Privadas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2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0%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</a:tr>
              <a:tr h="1095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TOTAL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44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0%</a:t>
                      </a:r>
                      <a:endParaRPr lang="pt-PT" sz="16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5734" marR="35734" marT="0" marB="0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345368" y="5996226"/>
            <a:ext cx="96696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b="1" dirty="0">
                <a:solidFill>
                  <a:schemeClr val="bg2">
                    <a:lumMod val="50000"/>
                  </a:schemeClr>
                </a:solidFill>
              </a:rPr>
              <a:t>NOTA: </a:t>
            </a:r>
            <a:r>
              <a:rPr lang="pt-PT" sz="1600" b="1" dirty="0" smtClean="0">
                <a:solidFill>
                  <a:schemeClr val="bg2">
                    <a:lumMod val="50000"/>
                  </a:schemeClr>
                </a:solidFill>
              </a:rPr>
              <a:t>As actividades inspectivas da área de formação são realizadas de forma conjunta com a IGS.​</a:t>
            </a:r>
            <a:endParaRPr lang="pt-PT" sz="16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pt-PT" sz="16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491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1708152"/>
              </p:ext>
            </p:extLst>
          </p:nvPr>
        </p:nvGraphicFramePr>
        <p:xfrm>
          <a:off x="372697" y="1095623"/>
          <a:ext cx="11535506" cy="55927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259577"/>
                <a:gridCol w="1955954"/>
                <a:gridCol w="1491175"/>
                <a:gridCol w="1828800"/>
              </a:tblGrid>
              <a:tr h="5571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Actividades Planificadas</a:t>
                      </a:r>
                      <a:endParaRPr lang="pt-PT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Número de Inspecções Planificadas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2026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Inspecções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Realizadas</a:t>
                      </a:r>
                      <a:endParaRPr lang="pt-PT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Grau de Cumprimento do PES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2026 (%)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</a:tr>
              <a:tr h="7477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 smtClean="0">
                          <a:effectLst/>
                        </a:rPr>
                        <a:t>Inspecções Ordinárias </a:t>
                      </a:r>
                      <a:r>
                        <a:rPr lang="pt-PT" sz="1600" dirty="0">
                          <a:effectLst/>
                        </a:rPr>
                        <a:t>nas unidades sanitárias públicas e Instituições de Formação</a:t>
                      </a:r>
                      <a:endParaRPr lang="pt-PT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12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6</a:t>
                      </a:r>
                      <a:endParaRPr lang="pt-PT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50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</a:tr>
              <a:tr h="2576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Realizar Auditoria e Controlo Interno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3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33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</a:tr>
              <a:tr h="8766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Elaborar e Harmonizar Matriz de petições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12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6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50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</a:tr>
              <a:tr h="3738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Realizar Inspecções Extraordinárias e Seguimento de Petições.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8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2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25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</a:tr>
              <a:tr h="8723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Emitir parecer sobre a conta de Gerência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7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7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100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</a:tr>
              <a:tr h="7477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Monitorar o grau de cumprimento das recomendações das Inspecções e Auditorias Internas e Externas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12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6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50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</a:tr>
              <a:tr h="2492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Elaborar relatórios periódicos de Balanço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4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2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50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</a:tr>
              <a:tr h="12462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 </a:t>
                      </a:r>
                      <a:endParaRPr lang="pt-PT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58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30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&gt;100</a:t>
                      </a:r>
                      <a:endParaRPr lang="pt-PT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43" marR="47643" marT="0" marB="0" anchor="ctr"/>
                </a:tc>
              </a:tr>
            </a:tbl>
          </a:graphicData>
        </a:graphic>
      </p:graphicFrame>
      <p:sp>
        <p:nvSpPr>
          <p:cNvPr id="4" name="Title 1"/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lvl="1" algn="ctr"/>
            <a:endParaRPr lang="en-US" altLang="pt-BR" sz="2400" dirty="0" smtClean="0">
              <a:solidFill>
                <a:schemeClr val="accent5"/>
              </a:solidFill>
            </a:endParaRPr>
          </a:p>
          <a:p>
            <a:pPr marL="0" lvl="1" algn="ctr"/>
            <a:endParaRPr lang="en-US" altLang="pt-BR" sz="2400" dirty="0" smtClean="0">
              <a:solidFill>
                <a:schemeClr val="bg1"/>
              </a:solidFill>
            </a:endParaRPr>
          </a:p>
          <a:p>
            <a:pPr marL="0" lvl="1" algn="ctr"/>
            <a:r>
              <a:rPr lang="en-US" altLang="pt-BR" sz="2400" dirty="0" err="1" smtClean="0">
                <a:solidFill>
                  <a:schemeClr val="bg1"/>
                </a:solidFill>
              </a:rPr>
              <a:t>Execução</a:t>
            </a:r>
            <a:r>
              <a:rPr lang="en-US" altLang="pt-BR" sz="2400" dirty="0" smtClean="0">
                <a:solidFill>
                  <a:schemeClr val="bg1"/>
                </a:solidFill>
              </a:rPr>
              <a:t> </a:t>
            </a:r>
            <a:r>
              <a:rPr lang="en-US" altLang="pt-BR" sz="2400" dirty="0">
                <a:solidFill>
                  <a:schemeClr val="bg1"/>
                </a:solidFill>
              </a:rPr>
              <a:t>de PESOE 2026</a:t>
            </a:r>
          </a:p>
          <a:p>
            <a:pPr marL="0" lvl="1" algn="ctr"/>
            <a:endParaRPr lang="en-US" altLang="pt-BR" sz="2400" dirty="0">
              <a:solidFill>
                <a:schemeClr val="accent5"/>
              </a:solidFill>
            </a:endParaRPr>
          </a:p>
          <a:p>
            <a:pPr marL="0" lvl="1" algn="ctr"/>
            <a:endParaRPr lang="en-US" altLang="pt-BR" sz="24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88122" y="741680"/>
            <a:ext cx="85109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ctr"/>
            <a:r>
              <a:rPr lang="pt-PT" sz="2000" b="1" dirty="0">
                <a:solidFill>
                  <a:schemeClr val="bg2">
                    <a:lumMod val="50000"/>
                  </a:schemeClr>
                </a:solidFill>
              </a:rPr>
              <a:t>Administração e Auditoria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  <a:p>
            <a:pPr marL="0" lvl="2" algn="ctr"/>
            <a:endParaRPr lang="en-US" altLang="pt-BR" sz="20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068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1040732"/>
              </p:ext>
            </p:extLst>
          </p:nvPr>
        </p:nvGraphicFramePr>
        <p:xfrm>
          <a:off x="696253" y="1325262"/>
          <a:ext cx="10180663" cy="53232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65406"/>
                <a:gridCol w="1681029"/>
                <a:gridCol w="1297120"/>
                <a:gridCol w="1867170"/>
                <a:gridCol w="2269938"/>
              </a:tblGrid>
              <a:tr h="10090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Actividades Planificadas</a:t>
                      </a:r>
                      <a:endParaRPr lang="pt-PT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Número de Inspecções Planificadas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2026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Inspecções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Realizadas</a:t>
                      </a:r>
                      <a:endParaRPr lang="pt-PT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Grau de Cumprimento do PES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2026 (%)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Observações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3425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Monitoria de processos disciplinares recomendados nas Inspecções.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2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0</a:t>
                      </a:r>
                      <a:endParaRPr lang="pt-PT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 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 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-</a:t>
                      </a:r>
                      <a:endParaRPr lang="pt-PT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Durante o 1º semestre não houve recomendação de processos disciplinares resultante das inspecções.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8950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Elaborar e Monitorar o Plano de Combate a Corrupção.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0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-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A monitoria do Plano de Combate a Corrupção é feita anualmente. Está dentro do prazo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712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Monitorar a Autenticidade de Atestados de Doença nas Unidades Sanitárias.</a:t>
                      </a:r>
                      <a:endParaRPr lang="pt-PT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4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2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50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Monitoradas 4 US (HGJM, HGM, HGCh, HGPC).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1364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Total</a:t>
                      </a:r>
                      <a:endParaRPr lang="pt-PT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7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29</a:t>
                      </a:r>
                      <a:endParaRPr lang="pt-PT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 </a:t>
                      </a:r>
                      <a:endParaRPr lang="pt-PT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4" name="Title 1"/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lvl="1" algn="ctr"/>
            <a:endParaRPr lang="en-US" altLang="pt-BR" sz="2400" dirty="0" smtClean="0">
              <a:solidFill>
                <a:schemeClr val="accent5"/>
              </a:solidFill>
            </a:endParaRPr>
          </a:p>
          <a:p>
            <a:pPr marL="0" lvl="1" algn="ctr"/>
            <a:endParaRPr lang="en-US" altLang="pt-BR" sz="2400" dirty="0" smtClean="0">
              <a:solidFill>
                <a:schemeClr val="bg1"/>
              </a:solidFill>
            </a:endParaRPr>
          </a:p>
          <a:p>
            <a:pPr marL="0" lvl="1" algn="ctr"/>
            <a:endParaRPr lang="en-US" altLang="pt-BR" sz="2400" dirty="0" smtClean="0">
              <a:solidFill>
                <a:schemeClr val="bg1"/>
              </a:solidFill>
            </a:endParaRPr>
          </a:p>
          <a:p>
            <a:pPr marL="0" lvl="1" algn="ctr"/>
            <a:r>
              <a:rPr lang="en-US" altLang="pt-BR" sz="2400" dirty="0" err="1">
                <a:solidFill>
                  <a:schemeClr val="bg1"/>
                </a:solidFill>
              </a:rPr>
              <a:t>Execução</a:t>
            </a:r>
            <a:r>
              <a:rPr lang="en-US" altLang="pt-BR" sz="2400" dirty="0">
                <a:solidFill>
                  <a:schemeClr val="bg1"/>
                </a:solidFill>
              </a:rPr>
              <a:t> de PESOE 2026</a:t>
            </a:r>
          </a:p>
          <a:p>
            <a:pPr marL="0" lvl="1" algn="ctr"/>
            <a:endParaRPr lang="en-US" altLang="pt-BR" sz="2400" dirty="0">
              <a:solidFill>
                <a:schemeClr val="bg1"/>
              </a:solidFill>
            </a:endParaRPr>
          </a:p>
          <a:p>
            <a:pPr marL="0" lvl="1" algn="ctr"/>
            <a:endParaRPr lang="en-US" altLang="pt-BR" sz="2400" dirty="0">
              <a:solidFill>
                <a:schemeClr val="accent5"/>
              </a:solidFill>
            </a:endParaRPr>
          </a:p>
          <a:p>
            <a:pPr marL="0" lvl="1" algn="ctr"/>
            <a:endParaRPr lang="en-US" altLang="pt-BR" sz="24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88122" y="837176"/>
            <a:ext cx="8510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000" b="1" dirty="0">
                <a:solidFill>
                  <a:schemeClr val="bg2">
                    <a:lumMod val="50000"/>
                  </a:schemeClr>
                </a:solidFill>
              </a:rPr>
              <a:t>Área Jurídica</a:t>
            </a:r>
            <a:endParaRPr lang="en-US" sz="2000" b="1" dirty="0">
              <a:solidFill>
                <a:schemeClr val="bg2">
                  <a:lumMod val="50000"/>
                </a:schemeClr>
              </a:solidFill>
            </a:endParaRPr>
          </a:p>
          <a:p>
            <a:pPr marL="0" lvl="2" algn="ctr"/>
            <a:endParaRPr lang="en-US" altLang="pt-BR" sz="24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700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7153483"/>
              </p:ext>
            </p:extLst>
          </p:nvPr>
        </p:nvGraphicFramePr>
        <p:xfrm>
          <a:off x="2389184" y="1786988"/>
          <a:ext cx="7108830" cy="379827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84557"/>
                <a:gridCol w="1111807"/>
                <a:gridCol w="1010735"/>
                <a:gridCol w="1010735"/>
                <a:gridCol w="1145498"/>
                <a:gridCol w="1145498"/>
              </a:tblGrid>
              <a:tr h="503594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 dirty="0">
                          <a:effectLst/>
                        </a:rPr>
                        <a:t>Instituição/ Província</a:t>
                      </a: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 dirty="0">
                          <a:effectLst/>
                        </a:rPr>
                        <a:t>2025</a:t>
                      </a: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>
                          <a:effectLst/>
                        </a:rPr>
                        <a:t>2026</a:t>
                      </a:r>
                      <a:endParaRPr lang="pt-PT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>
                          <a:effectLst/>
                        </a:rPr>
                        <a:t> </a:t>
                      </a:r>
                      <a:endParaRPr lang="pt-PT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1078153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>
                          <a:effectLst/>
                        </a:rPr>
                        <a:t>Planif.</a:t>
                      </a:r>
                      <a:endParaRPr lang="pt-PT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>
                          <a:effectLst/>
                        </a:rPr>
                        <a:t>Real.</a:t>
                      </a:r>
                      <a:endParaRPr lang="pt-PT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>
                          <a:effectLst/>
                        </a:rPr>
                        <a:t>Planif.</a:t>
                      </a:r>
                      <a:endParaRPr lang="pt-PT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>
                          <a:effectLst/>
                        </a:rPr>
                        <a:t>Real.</a:t>
                      </a:r>
                      <a:endParaRPr lang="pt-PT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>
                          <a:effectLst/>
                        </a:rPr>
                        <a:t>(%)</a:t>
                      </a:r>
                      <a:endParaRPr lang="pt-PT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158174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>
                          <a:effectLst/>
                        </a:rPr>
                        <a:t>Cidade de Maputo</a:t>
                      </a:r>
                      <a:endParaRPr lang="pt-PT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12</a:t>
                      </a: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12</a:t>
                      </a:r>
                      <a:endParaRPr lang="pt-PT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6</a:t>
                      </a:r>
                      <a:endParaRPr lang="pt-PT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50%</a:t>
                      </a:r>
                      <a:endParaRPr lang="pt-PT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63478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TOTAL</a:t>
                      </a: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</a:rPr>
                        <a:t>12</a:t>
                      </a: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</a:rPr>
                        <a:t>17</a:t>
                      </a: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12</a:t>
                      </a:r>
                      <a:endParaRPr lang="pt-PT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6</a:t>
                      </a:r>
                      <a:endParaRPr lang="pt-PT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50%</a:t>
                      </a: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4" name="Title 1"/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lvl="1" algn="ctr"/>
            <a:r>
              <a:rPr lang="en-US" altLang="pt-BR" sz="2400" dirty="0" err="1">
                <a:solidFill>
                  <a:schemeClr val="bg1"/>
                </a:solidFill>
              </a:rPr>
              <a:t>Execução</a:t>
            </a:r>
            <a:r>
              <a:rPr lang="en-US" altLang="pt-BR" sz="2400" dirty="0">
                <a:solidFill>
                  <a:schemeClr val="bg1"/>
                </a:solidFill>
              </a:rPr>
              <a:t> de PESOE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8122" y="882357"/>
            <a:ext cx="85109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ctr"/>
            <a:r>
              <a:rPr lang="pt-PT" sz="2000" b="1" dirty="0">
                <a:solidFill>
                  <a:schemeClr val="bg2">
                    <a:lumMod val="50000"/>
                  </a:schemeClr>
                </a:solidFill>
              </a:rPr>
              <a:t>Administração e </a:t>
            </a:r>
            <a:r>
              <a:rPr lang="pt-PT" sz="2000" b="1" dirty="0" smtClean="0">
                <a:solidFill>
                  <a:schemeClr val="bg2">
                    <a:lumMod val="50000"/>
                  </a:schemeClr>
                </a:solidFill>
              </a:rPr>
              <a:t>Auditoria </a:t>
            </a:r>
            <a:r>
              <a:rPr lang="pt-PT" sz="2000" b="1" dirty="0" smtClean="0">
                <a:solidFill>
                  <a:schemeClr val="bg2">
                    <a:lumMod val="50000"/>
                  </a:schemeClr>
                </a:solidFill>
              </a:rPr>
              <a:t>(Quadro Comparativo das Inspecções Ordinárias)</a:t>
            </a:r>
            <a:endParaRPr lang="en-US" altLang="pt-BR" sz="2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03985" y="5585265"/>
            <a:ext cx="9472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chemeClr val="bg2">
                    <a:lumMod val="50000"/>
                  </a:schemeClr>
                </a:solidFill>
              </a:rPr>
              <a:t>Fonte</a:t>
            </a:r>
            <a:r>
              <a:rPr lang="pt-PT" dirty="0">
                <a:solidFill>
                  <a:schemeClr val="bg2">
                    <a:lumMod val="50000"/>
                  </a:schemeClr>
                </a:solidFill>
              </a:rPr>
              <a:t>: Relatórios de visitas ordinárias</a:t>
            </a:r>
          </a:p>
          <a:p>
            <a:endParaRPr lang="pt-PT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700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lvl="1" algn="ctr"/>
            <a:r>
              <a:rPr lang="en-US" altLang="pt-BR" sz="2400" dirty="0" err="1">
                <a:solidFill>
                  <a:schemeClr val="bg1"/>
                </a:solidFill>
              </a:rPr>
              <a:t>Execução</a:t>
            </a:r>
            <a:r>
              <a:rPr lang="en-US" altLang="pt-BR" sz="2400" dirty="0">
                <a:solidFill>
                  <a:schemeClr val="bg1"/>
                </a:solidFill>
              </a:rPr>
              <a:t> de PESOE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8122" y="882357"/>
            <a:ext cx="85109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ctr"/>
            <a:r>
              <a:rPr lang="pt-PT" sz="2000" b="1" dirty="0">
                <a:solidFill>
                  <a:schemeClr val="bg2">
                    <a:lumMod val="50000"/>
                  </a:schemeClr>
                </a:solidFill>
              </a:rPr>
              <a:t>Administração e </a:t>
            </a:r>
            <a:r>
              <a:rPr lang="pt-PT" sz="2000" b="1" dirty="0" smtClean="0">
                <a:solidFill>
                  <a:schemeClr val="bg2">
                    <a:lumMod val="50000"/>
                  </a:schemeClr>
                </a:solidFill>
              </a:rPr>
              <a:t>Auditoria </a:t>
            </a:r>
            <a:r>
              <a:rPr lang="pt-PT" sz="2000" b="1" dirty="0">
                <a:solidFill>
                  <a:schemeClr val="bg2">
                    <a:lumMod val="50000"/>
                  </a:schemeClr>
                </a:solidFill>
              </a:rPr>
              <a:t>(Quadro Comparativo das Inspecções </a:t>
            </a:r>
            <a:r>
              <a:rPr lang="pt-PT" sz="2000" b="1" dirty="0" smtClean="0">
                <a:solidFill>
                  <a:schemeClr val="bg2">
                    <a:lumMod val="50000"/>
                  </a:schemeClr>
                </a:solidFill>
              </a:rPr>
              <a:t>Extraordinárias</a:t>
            </a:r>
            <a:r>
              <a:rPr lang="pt-PT" sz="2000" b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en-US" altLang="pt-BR" sz="2000" b="1" dirty="0">
              <a:solidFill>
                <a:schemeClr val="bg2">
                  <a:lumMod val="50000"/>
                </a:schemeClr>
              </a:solidFill>
            </a:endParaRPr>
          </a:p>
          <a:p>
            <a:pPr marL="0" lvl="2" algn="ctr"/>
            <a:endParaRPr lang="pt-PT" sz="20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pPr marL="0" lvl="2" algn="ctr"/>
            <a:endParaRPr lang="en-US" altLang="pt-BR" sz="2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03985" y="5585265"/>
            <a:ext cx="47933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b="1" dirty="0">
                <a:solidFill>
                  <a:schemeClr val="bg2">
                    <a:lumMod val="50000"/>
                  </a:schemeClr>
                </a:solidFill>
              </a:rPr>
              <a:t>Fonte</a:t>
            </a:r>
            <a:r>
              <a:rPr lang="pt-PT" dirty="0">
                <a:solidFill>
                  <a:schemeClr val="bg2">
                    <a:lumMod val="50000"/>
                  </a:schemeClr>
                </a:solidFill>
              </a:rPr>
              <a:t>: Relatórios de visitas </a:t>
            </a:r>
            <a:r>
              <a:rPr lang="pt-PT" dirty="0" smtClean="0">
                <a:solidFill>
                  <a:schemeClr val="bg2">
                    <a:lumMod val="50000"/>
                  </a:schemeClr>
                </a:solidFill>
              </a:rPr>
              <a:t>extraordinárias</a:t>
            </a:r>
            <a:endParaRPr lang="pt-PT" dirty="0">
              <a:solidFill>
                <a:schemeClr val="bg2">
                  <a:lumMod val="50000"/>
                </a:schemeClr>
              </a:solidFill>
            </a:endParaRPr>
          </a:p>
          <a:p>
            <a:endParaRPr lang="pt-PT" dirty="0">
              <a:solidFill>
                <a:schemeClr val="bg2">
                  <a:lumMod val="50000"/>
                </a:schemeClr>
              </a:solidFill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9767993"/>
              </p:ext>
            </p:extLst>
          </p:nvPr>
        </p:nvGraphicFramePr>
        <p:xfrm>
          <a:off x="1480732" y="1943457"/>
          <a:ext cx="8925734" cy="32494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47605"/>
                <a:gridCol w="706703"/>
                <a:gridCol w="801858"/>
                <a:gridCol w="731520"/>
                <a:gridCol w="998807"/>
                <a:gridCol w="1839241"/>
              </a:tblGrid>
              <a:tr h="335280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dirty="0">
                          <a:effectLst/>
                        </a:rPr>
                        <a:t>Distritos-Locais Visitados</a:t>
                      </a: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800" dirty="0" smtClean="0">
                          <a:effectLst/>
                        </a:rPr>
                        <a:t>2025</a:t>
                      </a:r>
                      <a:endParaRPr lang="pt-PT" sz="1800" dirty="0" smtClean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dirty="0">
                          <a:effectLst/>
                        </a:rPr>
                        <a:t>2026</a:t>
                      </a: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PT" sz="1800" dirty="0" smtClean="0">
                          <a:effectLst/>
                        </a:rPr>
                        <a:t>Grau de execução </a:t>
                      </a: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85115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800" dirty="0" err="1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Planif</a:t>
                      </a:r>
                      <a:r>
                        <a:rPr lang="pt-PT" sz="18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.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dirty="0" err="1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Realiz</a:t>
                      </a:r>
                      <a:r>
                        <a:rPr lang="pt-PT" sz="18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.</a:t>
                      </a: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dirty="0" err="1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Planif</a:t>
                      </a:r>
                      <a:r>
                        <a:rPr lang="pt-PT" sz="18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.</a:t>
                      </a: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800" dirty="0" err="1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Realiz</a:t>
                      </a:r>
                      <a:r>
                        <a:rPr lang="pt-PT" sz="18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.</a:t>
                      </a:r>
                    </a:p>
                    <a:p>
                      <a:endParaRPr lang="pt-PT" dirty="0"/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pt-PT" sz="1800" dirty="0" err="1">
                          <a:effectLst/>
                        </a:rPr>
                        <a:t>KaMavota</a:t>
                      </a:r>
                      <a:r>
                        <a:rPr lang="pt-PT" sz="1800" dirty="0">
                          <a:effectLst/>
                        </a:rPr>
                        <a:t> – Centro de Saúde 1 de Junho (1)</a:t>
                      </a:r>
                    </a:p>
                    <a:p>
                      <a:pPr marL="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pt-PT" sz="1800" dirty="0" err="1">
                          <a:effectLst/>
                        </a:rPr>
                        <a:t>KaMubukwana</a:t>
                      </a:r>
                      <a:r>
                        <a:rPr lang="pt-PT" sz="1800" dirty="0">
                          <a:effectLst/>
                        </a:rPr>
                        <a:t> – Hospital Geral José Macamo (1)</a:t>
                      </a: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8</a:t>
                      </a: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800" dirty="0" smtClean="0"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8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pt-PT" sz="1800" dirty="0" smtClean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8</a:t>
                      </a: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dirty="0">
                          <a:effectLst/>
                        </a:rPr>
                        <a:t>2</a:t>
                      </a: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tabLst>
                          <a:tab pos="387350" algn="l"/>
                          <a:tab pos="551815" algn="ctr"/>
                        </a:tabLst>
                      </a:pPr>
                      <a:r>
                        <a:rPr lang="pt-PT" sz="1800" dirty="0" smtClean="0">
                          <a:effectLst/>
                        </a:rPr>
                        <a:t>25%</a:t>
                      </a: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025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PT" sz="1800">
                          <a:effectLst/>
                        </a:rPr>
                        <a:t>Total</a:t>
                      </a:r>
                      <a:endParaRPr lang="pt-PT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PT" sz="18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8</a:t>
                      </a: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PT" sz="18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11</a:t>
                      </a: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PT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PT" sz="1800" dirty="0">
                          <a:effectLst/>
                        </a:rPr>
                        <a:t>2</a:t>
                      </a: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87350" algn="l"/>
                          <a:tab pos="551815" algn="ctr"/>
                        </a:tabLst>
                      </a:pPr>
                      <a:r>
                        <a:rPr lang="pt-PT" sz="1800" dirty="0" smtClean="0">
                          <a:effectLst/>
                        </a:rPr>
                        <a:t>25%</a:t>
                      </a: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61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2114240"/>
              </p:ext>
            </p:extLst>
          </p:nvPr>
        </p:nvGraphicFramePr>
        <p:xfrm>
          <a:off x="1209822" y="1282467"/>
          <a:ext cx="10100603" cy="50994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05710"/>
                <a:gridCol w="847195"/>
                <a:gridCol w="964499"/>
                <a:gridCol w="938431"/>
                <a:gridCol w="938431"/>
                <a:gridCol w="1029667"/>
                <a:gridCol w="2076670"/>
              </a:tblGrid>
              <a:tr h="451241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 dirty="0">
                          <a:effectLst/>
                        </a:rPr>
                        <a:t>2025</a:t>
                      </a: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>
                          <a:effectLst/>
                        </a:rPr>
                        <a:t>2026</a:t>
                      </a:r>
                      <a:endParaRPr lang="pt-PT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 dirty="0">
                          <a:effectLst/>
                        </a:rPr>
                        <a:t> </a:t>
                      </a: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 dirty="0">
                          <a:effectLst/>
                          <a:latin typeface="+mn-lt"/>
                        </a:rPr>
                        <a:t>(%)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Observações </a:t>
                      </a: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966069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 dirty="0" err="1">
                          <a:effectLst/>
                          <a:latin typeface="+mn-lt"/>
                        </a:rPr>
                        <a:t>Planif</a:t>
                      </a:r>
                      <a:r>
                        <a:rPr lang="pt-PT" sz="1800" dirty="0">
                          <a:effectLst/>
                          <a:latin typeface="+mn-lt"/>
                        </a:rPr>
                        <a:t>.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>
                          <a:effectLst/>
                          <a:latin typeface="+mn-lt"/>
                        </a:rPr>
                        <a:t>Real.</a:t>
                      </a:r>
                      <a:endParaRPr lang="pt-PT" sz="180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>
                          <a:effectLst/>
                          <a:latin typeface="+mn-lt"/>
                        </a:rPr>
                        <a:t>Planif.</a:t>
                      </a:r>
                      <a:endParaRPr lang="pt-PT" sz="180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>
                          <a:effectLst/>
                          <a:latin typeface="+mn-lt"/>
                        </a:rPr>
                        <a:t>Real.</a:t>
                      </a:r>
                      <a:endParaRPr lang="pt-PT" sz="180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1417310"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800" dirty="0" smtClean="0">
                          <a:effectLst/>
                        </a:rPr>
                        <a:t>Inspecções Ordinárias nas unidades sanitárias públicas</a:t>
                      </a:r>
                      <a:endParaRPr lang="pt-PT" sz="1800" dirty="0" smtClean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33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24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29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&gt; 100%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1696032"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800" dirty="0" smtClean="0">
                          <a:effectLst/>
                        </a:rPr>
                        <a:t>Inspecções Ordinárias nas unidades sanitárias privadas</a:t>
                      </a:r>
                      <a:endParaRPr lang="pt-PT" sz="1800" dirty="0" smtClean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33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0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12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15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8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&gt; 100%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 baseline="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Despacho Nº 447/GMS/001.1/2024 de 30 de Abril de 2024 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56879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TOTAL</a:t>
                      </a: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66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30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36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44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4" name="Title 1"/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lvl="1" algn="ctr"/>
            <a:r>
              <a:rPr lang="en-US" altLang="pt-BR" sz="2400" dirty="0" err="1">
                <a:solidFill>
                  <a:schemeClr val="bg1"/>
                </a:solidFill>
              </a:rPr>
              <a:t>Execução</a:t>
            </a:r>
            <a:r>
              <a:rPr lang="en-US" altLang="pt-BR" sz="2400" dirty="0">
                <a:solidFill>
                  <a:schemeClr val="bg1"/>
                </a:solidFill>
              </a:rPr>
              <a:t> de PESOE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8122" y="882357"/>
            <a:ext cx="8510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ctr"/>
            <a:r>
              <a:rPr lang="pt-PT" sz="2000" b="1" dirty="0">
                <a:solidFill>
                  <a:schemeClr val="bg2">
                    <a:lumMod val="50000"/>
                  </a:schemeClr>
                </a:solidFill>
              </a:rPr>
              <a:t>Cuidados e produtos de saúde 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16527" y="6534834"/>
            <a:ext cx="9472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chemeClr val="bg2">
                    <a:lumMod val="50000"/>
                  </a:schemeClr>
                </a:solidFill>
              </a:rPr>
              <a:t>Fonte</a:t>
            </a:r>
            <a:r>
              <a:rPr lang="pt-PT" dirty="0">
                <a:solidFill>
                  <a:schemeClr val="bg2">
                    <a:lumMod val="50000"/>
                  </a:schemeClr>
                </a:solidFill>
              </a:rPr>
              <a:t>: Relatórios de visitas ordinárias</a:t>
            </a:r>
          </a:p>
          <a:p>
            <a:endParaRPr lang="pt-PT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184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lvl="1" algn="ctr"/>
            <a:r>
              <a:rPr lang="en-US" altLang="pt-BR" sz="2400" dirty="0" err="1">
                <a:solidFill>
                  <a:schemeClr val="bg1"/>
                </a:solidFill>
              </a:rPr>
              <a:t>Execução</a:t>
            </a:r>
            <a:r>
              <a:rPr lang="en-US" altLang="pt-BR" sz="2400" dirty="0">
                <a:solidFill>
                  <a:schemeClr val="bg1"/>
                </a:solidFill>
              </a:rPr>
              <a:t> de PESOE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8122" y="1023034"/>
            <a:ext cx="85109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ctr"/>
            <a:r>
              <a:rPr lang="pt-PT" sz="2000" b="1" dirty="0">
                <a:solidFill>
                  <a:schemeClr val="bg2">
                    <a:lumMod val="50000"/>
                  </a:schemeClr>
                </a:solidFill>
              </a:rPr>
              <a:t>Cuidados e produtos de saúde 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  <a:p>
            <a:pPr marL="0" lvl="2" algn="ctr"/>
            <a:r>
              <a:rPr lang="pt-PT" sz="20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pt-PT" sz="2000" b="1" dirty="0">
                <a:solidFill>
                  <a:schemeClr val="bg2">
                    <a:lumMod val="50000"/>
                  </a:schemeClr>
                </a:solidFill>
              </a:rPr>
              <a:t>(Quadro Comparativo das Inspecções </a:t>
            </a:r>
            <a:r>
              <a:rPr lang="pt-PT" sz="2000" b="1" dirty="0" smtClean="0">
                <a:solidFill>
                  <a:schemeClr val="bg2">
                    <a:lumMod val="50000"/>
                  </a:schemeClr>
                </a:solidFill>
              </a:rPr>
              <a:t>Extraordinárias</a:t>
            </a:r>
            <a:r>
              <a:rPr lang="pt-PT" sz="2000" b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en-US" altLang="pt-BR" sz="2000" b="1" dirty="0">
              <a:solidFill>
                <a:schemeClr val="bg2">
                  <a:lumMod val="50000"/>
                </a:schemeClr>
              </a:solidFill>
            </a:endParaRPr>
          </a:p>
          <a:p>
            <a:pPr marL="0" lvl="2" algn="ctr"/>
            <a:endParaRPr lang="pt-PT" sz="20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pPr marL="0" lvl="2" algn="ctr"/>
            <a:endParaRPr lang="en-US" altLang="pt-BR" sz="2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57472" y="4938934"/>
            <a:ext cx="47933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b="1" dirty="0">
                <a:solidFill>
                  <a:schemeClr val="bg2">
                    <a:lumMod val="50000"/>
                  </a:schemeClr>
                </a:solidFill>
              </a:rPr>
              <a:t>Fonte</a:t>
            </a:r>
            <a:r>
              <a:rPr lang="pt-PT" dirty="0">
                <a:solidFill>
                  <a:schemeClr val="bg2">
                    <a:lumMod val="50000"/>
                  </a:schemeClr>
                </a:solidFill>
              </a:rPr>
              <a:t>: Relatórios de visitas </a:t>
            </a:r>
            <a:r>
              <a:rPr lang="pt-PT" dirty="0" smtClean="0">
                <a:solidFill>
                  <a:schemeClr val="bg2">
                    <a:lumMod val="50000"/>
                  </a:schemeClr>
                </a:solidFill>
              </a:rPr>
              <a:t>extraordinárias</a:t>
            </a:r>
            <a:endParaRPr lang="pt-PT" dirty="0">
              <a:solidFill>
                <a:schemeClr val="bg2">
                  <a:lumMod val="50000"/>
                </a:schemeClr>
              </a:solidFill>
            </a:endParaRPr>
          </a:p>
          <a:p>
            <a:endParaRPr lang="pt-PT" dirty="0">
              <a:solidFill>
                <a:schemeClr val="bg2">
                  <a:lumMod val="50000"/>
                </a:schemeClr>
              </a:solidFill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4988087"/>
              </p:ext>
            </p:extLst>
          </p:nvPr>
        </p:nvGraphicFramePr>
        <p:xfrm>
          <a:off x="1480732" y="2205796"/>
          <a:ext cx="8925734" cy="21706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47605"/>
                <a:gridCol w="805177"/>
                <a:gridCol w="928468"/>
                <a:gridCol w="815926"/>
                <a:gridCol w="886264"/>
                <a:gridCol w="1642294"/>
              </a:tblGrid>
              <a:tr h="335280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800" dirty="0" smtClean="0">
                          <a:effectLst/>
                          <a:latin typeface="+mn-lt"/>
                        </a:rPr>
                        <a:t>2025</a:t>
                      </a:r>
                      <a:endParaRPr lang="pt-PT" sz="1800" dirty="0" smtClean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dirty="0">
                          <a:effectLst/>
                          <a:latin typeface="+mn-lt"/>
                        </a:rPr>
                        <a:t>2026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PT" sz="1800" dirty="0" smtClean="0">
                          <a:effectLst/>
                          <a:latin typeface="+mn-lt"/>
                        </a:rPr>
                        <a:t>Grau de execução 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85115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800" dirty="0" err="1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Planif</a:t>
                      </a:r>
                      <a:r>
                        <a:rPr lang="pt-PT" sz="18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.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dirty="0" err="1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Realiz</a:t>
                      </a:r>
                      <a:r>
                        <a:rPr lang="pt-PT" sz="18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.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dirty="0" err="1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Planif</a:t>
                      </a:r>
                      <a:r>
                        <a:rPr lang="pt-PT" sz="18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.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800" dirty="0" err="1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Realiz</a:t>
                      </a:r>
                      <a:r>
                        <a:rPr lang="pt-PT" sz="18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.</a:t>
                      </a:r>
                    </a:p>
                    <a:p>
                      <a:endParaRPr lang="pt-PT" sz="1800" dirty="0">
                        <a:latin typeface="+mn-lt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 algn="just" fontAlgn="ctr"/>
                      <a:r>
                        <a:rPr lang="pt-PT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Inspecções Extraordinárias (Publico</a:t>
                      </a:r>
                      <a:r>
                        <a:rPr lang="pt-PT" sz="18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e privado)</a:t>
                      </a:r>
                      <a:endParaRPr lang="pt-PT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12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8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6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2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tabLst>
                          <a:tab pos="387350" algn="l"/>
                          <a:tab pos="551815" algn="ctr"/>
                        </a:tabLst>
                      </a:pPr>
                      <a:r>
                        <a:rPr lang="pt-PT" sz="1800" dirty="0" smtClean="0">
                          <a:effectLst/>
                          <a:latin typeface="+mn-lt"/>
                        </a:rPr>
                        <a:t>33%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025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PT" sz="1800">
                          <a:effectLst/>
                          <a:latin typeface="+mn-lt"/>
                        </a:rPr>
                        <a:t>Total</a:t>
                      </a:r>
                      <a:endParaRPr lang="pt-PT" sz="180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PT" sz="18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12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PT" sz="18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8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PT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PT" sz="1800" dirty="0">
                          <a:effectLst/>
                          <a:latin typeface="+mn-lt"/>
                        </a:rPr>
                        <a:t>2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87350" algn="l"/>
                          <a:tab pos="551815" algn="ctr"/>
                        </a:tabLst>
                      </a:pPr>
                      <a:r>
                        <a:rPr lang="pt-PT" sz="1800" dirty="0" smtClean="0">
                          <a:effectLst/>
                          <a:latin typeface="+mn-lt"/>
                        </a:rPr>
                        <a:t>33%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3179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8589267"/>
              </p:ext>
            </p:extLst>
          </p:nvPr>
        </p:nvGraphicFramePr>
        <p:xfrm>
          <a:off x="1209822" y="1282467"/>
          <a:ext cx="10100603" cy="50994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05710"/>
                <a:gridCol w="847195"/>
                <a:gridCol w="964499"/>
                <a:gridCol w="938431"/>
                <a:gridCol w="938431"/>
                <a:gridCol w="1029667"/>
                <a:gridCol w="2076670"/>
              </a:tblGrid>
              <a:tr h="451241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 dirty="0">
                          <a:effectLst/>
                        </a:rPr>
                        <a:t>2025</a:t>
                      </a: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>
                          <a:effectLst/>
                        </a:rPr>
                        <a:t>2026</a:t>
                      </a:r>
                      <a:endParaRPr lang="pt-PT" sz="1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 dirty="0">
                          <a:effectLst/>
                        </a:rPr>
                        <a:t> </a:t>
                      </a: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 dirty="0">
                          <a:effectLst/>
                          <a:latin typeface="+mn-lt"/>
                        </a:rPr>
                        <a:t>(%)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Observações </a:t>
                      </a: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966069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 dirty="0" err="1">
                          <a:effectLst/>
                          <a:latin typeface="+mn-lt"/>
                        </a:rPr>
                        <a:t>Planif</a:t>
                      </a:r>
                      <a:r>
                        <a:rPr lang="pt-PT" sz="1800" dirty="0">
                          <a:effectLst/>
                          <a:latin typeface="+mn-lt"/>
                        </a:rPr>
                        <a:t>.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>
                          <a:effectLst/>
                          <a:latin typeface="+mn-lt"/>
                        </a:rPr>
                        <a:t>Real.</a:t>
                      </a:r>
                      <a:endParaRPr lang="pt-PT" sz="180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>
                          <a:effectLst/>
                          <a:latin typeface="+mn-lt"/>
                        </a:rPr>
                        <a:t>Planif.</a:t>
                      </a:r>
                      <a:endParaRPr lang="pt-PT" sz="180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>
                          <a:effectLst/>
                          <a:latin typeface="+mn-lt"/>
                        </a:rPr>
                        <a:t>Real.</a:t>
                      </a:r>
                      <a:endParaRPr lang="pt-PT" sz="180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1417310"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800" dirty="0" smtClean="0">
                          <a:effectLst/>
                        </a:rPr>
                        <a:t>Inspecções Ordinárias nos</a:t>
                      </a:r>
                      <a:r>
                        <a:rPr lang="pt-PT" sz="1800" baseline="0" dirty="0" smtClean="0">
                          <a:effectLst/>
                        </a:rPr>
                        <a:t> Institutos de formação</a:t>
                      </a:r>
                      <a:r>
                        <a:rPr lang="pt-PT" sz="1800" dirty="0" smtClean="0">
                          <a:effectLst/>
                        </a:rPr>
                        <a:t> públicas</a:t>
                      </a:r>
                      <a:endParaRPr lang="pt-PT" sz="1800" dirty="0" smtClean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dirty="0" smtClean="0"/>
                        <a:t>42</a:t>
                      </a:r>
                      <a:endParaRPr lang="pt-PT" dirty="0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dirty="0" smtClean="0"/>
                        <a:t>0</a:t>
                      </a:r>
                      <a:endParaRPr lang="pt-PT" dirty="0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dirty="0" smtClean="0"/>
                        <a:t>21</a:t>
                      </a:r>
                      <a:endParaRPr lang="pt-PT" dirty="0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dirty="0" smtClean="0"/>
                        <a:t>0</a:t>
                      </a:r>
                      <a:endParaRPr lang="pt-PT" dirty="0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0%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As</a:t>
                      </a:r>
                      <a:r>
                        <a:rPr lang="pt-PT" sz="1800" baseline="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 actividades ordinárias no ICS-Maputo são da alçada da IGS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1696032"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800" dirty="0" smtClean="0">
                          <a:effectLst/>
                        </a:rPr>
                        <a:t>Inspecções extraordinárias nos Institutos de formação  privadas</a:t>
                      </a:r>
                      <a:endParaRPr lang="pt-PT" sz="1800" dirty="0" smtClean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dirty="0" smtClean="0"/>
                        <a:t>2</a:t>
                      </a:r>
                      <a:endParaRPr lang="pt-PT" dirty="0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dirty="0" smtClean="0"/>
                        <a:t>2</a:t>
                      </a:r>
                      <a:endParaRPr lang="pt-PT" dirty="0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dirty="0" smtClean="0"/>
                        <a:t>1</a:t>
                      </a:r>
                      <a:endParaRPr lang="pt-PT" dirty="0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dirty="0" smtClean="0"/>
                        <a:t>4</a:t>
                      </a:r>
                      <a:endParaRPr lang="pt-PT" dirty="0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8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&gt; 100%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Actividade conjunta com a IGS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56879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TOTAL</a:t>
                      </a:r>
                      <a:endParaRPr lang="pt-PT" sz="1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dirty="0" smtClean="0"/>
                        <a:t>44</a:t>
                      </a:r>
                      <a:endParaRPr lang="pt-PT" dirty="0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dirty="0" smtClean="0"/>
                        <a:t>2</a:t>
                      </a:r>
                      <a:endParaRPr lang="pt-PT" dirty="0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dirty="0" smtClean="0"/>
                        <a:t>22</a:t>
                      </a:r>
                      <a:endParaRPr lang="pt-PT" dirty="0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dirty="0" smtClean="0"/>
                        <a:t>4</a:t>
                      </a:r>
                      <a:endParaRPr lang="pt-PT" dirty="0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PT" sz="18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18%</a:t>
                      </a: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PT" sz="1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4" name="Title 1"/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lvl="1" algn="ctr"/>
            <a:r>
              <a:rPr lang="en-US" altLang="pt-BR" sz="2400" dirty="0" err="1">
                <a:solidFill>
                  <a:schemeClr val="bg1"/>
                </a:solidFill>
              </a:rPr>
              <a:t>Execução</a:t>
            </a:r>
            <a:r>
              <a:rPr lang="en-US" altLang="pt-BR" sz="2400" dirty="0">
                <a:solidFill>
                  <a:schemeClr val="bg1"/>
                </a:solidFill>
              </a:rPr>
              <a:t> de PESOE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8122" y="882357"/>
            <a:ext cx="8510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ctr"/>
            <a:r>
              <a:rPr lang="pt-PT" sz="2000" b="1" dirty="0">
                <a:solidFill>
                  <a:schemeClr val="bg2">
                    <a:lumMod val="50000"/>
                  </a:schemeClr>
                </a:solidFill>
              </a:rPr>
              <a:t>Formação saúde 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16527" y="6534834"/>
            <a:ext cx="9472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chemeClr val="bg2">
                    <a:lumMod val="50000"/>
                  </a:schemeClr>
                </a:solidFill>
              </a:rPr>
              <a:t>Fonte</a:t>
            </a:r>
            <a:r>
              <a:rPr lang="pt-PT" dirty="0">
                <a:solidFill>
                  <a:schemeClr val="bg2">
                    <a:lumMod val="50000"/>
                  </a:schemeClr>
                </a:solidFill>
              </a:rPr>
              <a:t>: Relatórios de visitas ordinárias</a:t>
            </a:r>
          </a:p>
          <a:p>
            <a:endParaRPr lang="pt-PT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279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0" lvl="1" algn="ctr"/>
            <a:r>
              <a:rPr lang="en-US" altLang="pt-BR" sz="2400" dirty="0" err="1" smtClean="0">
                <a:solidFill>
                  <a:schemeClr val="bg1"/>
                </a:solidFill>
              </a:rPr>
              <a:t>Constragimentos</a:t>
            </a:r>
            <a:endParaRPr lang="en-US" altLang="pt-BR" sz="24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9821" y="1407363"/>
            <a:ext cx="9667093" cy="4290052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pt-PT" sz="1800" dirty="0" smtClean="0">
                <a:solidFill>
                  <a:schemeClr val="bg1"/>
                </a:solidFill>
              </a:rPr>
              <a:t>1. </a:t>
            </a:r>
            <a:r>
              <a:rPr lang="pt-PT" dirty="0" smtClean="0">
                <a:solidFill>
                  <a:schemeClr val="bg1"/>
                </a:solidFill>
              </a:rPr>
              <a:t>Insuficiência </a:t>
            </a:r>
            <a:r>
              <a:rPr lang="pt-PT" dirty="0">
                <a:solidFill>
                  <a:schemeClr val="bg1"/>
                </a:solidFill>
              </a:rPr>
              <a:t>de equipamento informático (computadores de mesa e laptops </a:t>
            </a:r>
            <a:r>
              <a:rPr lang="pt-PT" dirty="0" smtClean="0">
                <a:solidFill>
                  <a:schemeClr val="bg1"/>
                </a:solidFill>
              </a:rPr>
              <a:t>);</a:t>
            </a:r>
            <a:endParaRPr lang="pt-PT" dirty="0">
              <a:solidFill>
                <a:schemeClr val="bg1"/>
              </a:solidFill>
            </a:endParaRPr>
          </a:p>
          <a:p>
            <a:pPr lvl="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pt-PT" dirty="0" smtClean="0">
                <a:solidFill>
                  <a:schemeClr val="bg1"/>
                </a:solidFill>
              </a:rPr>
              <a:t>2. Interdição de actividades inspectivas  no privado pela Inspecção </a:t>
            </a:r>
            <a:r>
              <a:rPr lang="pt-PT" dirty="0">
                <a:solidFill>
                  <a:schemeClr val="bg1"/>
                </a:solidFill>
              </a:rPr>
              <a:t>Geral de Saúde </a:t>
            </a:r>
            <a:r>
              <a:rPr lang="pt-PT" dirty="0" smtClean="0">
                <a:solidFill>
                  <a:schemeClr val="bg1"/>
                </a:solidFill>
              </a:rPr>
              <a:t>através </a:t>
            </a:r>
            <a:r>
              <a:rPr lang="pt-PT" dirty="0">
                <a:solidFill>
                  <a:schemeClr val="bg1"/>
                </a:solidFill>
              </a:rPr>
              <a:t>do despacho numero 447/GMS/001.1/2024 de 30 de Abril de </a:t>
            </a:r>
            <a:r>
              <a:rPr lang="pt-PT" dirty="0" smtClean="0">
                <a:solidFill>
                  <a:schemeClr val="bg1"/>
                </a:solidFill>
              </a:rPr>
              <a:t>2024 o </a:t>
            </a:r>
            <a:r>
              <a:rPr lang="pt-PT" dirty="0">
                <a:solidFill>
                  <a:schemeClr val="bg1"/>
                </a:solidFill>
              </a:rPr>
              <a:t>que </a:t>
            </a:r>
            <a:r>
              <a:rPr lang="pt-PT" dirty="0" smtClean="0">
                <a:solidFill>
                  <a:schemeClr val="bg1"/>
                </a:solidFill>
              </a:rPr>
              <a:t>comprometeu </a:t>
            </a:r>
            <a:r>
              <a:rPr lang="pt-PT" dirty="0">
                <a:solidFill>
                  <a:schemeClr val="bg1"/>
                </a:solidFill>
              </a:rPr>
              <a:t>grandemente as metas previamente </a:t>
            </a:r>
            <a:r>
              <a:rPr lang="pt-PT" dirty="0" smtClean="0">
                <a:solidFill>
                  <a:schemeClr val="bg1"/>
                </a:solidFill>
              </a:rPr>
              <a:t>traçadas no ano de 2025;</a:t>
            </a:r>
            <a:endParaRPr lang="pt-PT" dirty="0">
              <a:solidFill>
                <a:schemeClr val="bg1"/>
              </a:solidFill>
            </a:endParaRPr>
          </a:p>
          <a:p>
            <a:pPr lvl="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pt-PT" dirty="0" smtClean="0">
                <a:solidFill>
                  <a:schemeClr val="bg1"/>
                </a:solidFill>
              </a:rPr>
              <a:t>3. Falta </a:t>
            </a:r>
            <a:r>
              <a:rPr lang="pt-PT" dirty="0">
                <a:solidFill>
                  <a:schemeClr val="bg1"/>
                </a:solidFill>
              </a:rPr>
              <a:t>de </a:t>
            </a:r>
            <a:r>
              <a:rPr lang="pt-PT" dirty="0" smtClean="0">
                <a:solidFill>
                  <a:schemeClr val="bg1"/>
                </a:solidFill>
              </a:rPr>
              <a:t>enquadramento </a:t>
            </a:r>
            <a:r>
              <a:rPr lang="pt-PT" dirty="0">
                <a:solidFill>
                  <a:schemeClr val="bg1"/>
                </a:solidFill>
              </a:rPr>
              <a:t>dos técnicos na carreira de Inspecção e incentivo.</a:t>
            </a:r>
          </a:p>
          <a:p>
            <a:pPr algn="just"/>
            <a:endParaRPr lang="pt-PT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258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2004" y="1277958"/>
            <a:ext cx="9891982" cy="4807842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pt-PT" dirty="0" smtClean="0">
                <a:solidFill>
                  <a:schemeClr val="bg1"/>
                </a:solidFill>
              </a:rPr>
              <a:t>1. Intensificar </a:t>
            </a:r>
            <a:r>
              <a:rPr lang="pt-PT" dirty="0">
                <a:solidFill>
                  <a:schemeClr val="bg1"/>
                </a:solidFill>
              </a:rPr>
              <a:t>acções inspectivas nas US do Sector Público;</a:t>
            </a:r>
          </a:p>
          <a:p>
            <a:pPr lvl="0" algn="just">
              <a:lnSpc>
                <a:spcPct val="150000"/>
              </a:lnSpc>
            </a:pPr>
            <a:r>
              <a:rPr lang="pt-PT" dirty="0" smtClean="0">
                <a:solidFill>
                  <a:schemeClr val="bg1"/>
                </a:solidFill>
              </a:rPr>
              <a:t>2. Maior </a:t>
            </a:r>
            <a:r>
              <a:rPr lang="pt-PT" dirty="0">
                <a:solidFill>
                  <a:schemeClr val="bg1"/>
                </a:solidFill>
              </a:rPr>
              <a:t>fiscalização das actividades nas US com vista a monitorar o funcionamento e correcção pontual das irregularidades;</a:t>
            </a:r>
          </a:p>
          <a:p>
            <a:pPr lvl="0" algn="just">
              <a:lnSpc>
                <a:spcPct val="150000"/>
              </a:lnSpc>
            </a:pPr>
            <a:r>
              <a:rPr lang="pt-PT" dirty="0" smtClean="0">
                <a:solidFill>
                  <a:schemeClr val="bg1"/>
                </a:solidFill>
              </a:rPr>
              <a:t>3. Aprimorar </a:t>
            </a:r>
            <a:r>
              <a:rPr lang="pt-PT" dirty="0">
                <a:solidFill>
                  <a:schemeClr val="bg1"/>
                </a:solidFill>
              </a:rPr>
              <a:t>a planificação das actividades integradas com a Inspecção Geral de Saúde do MISAU;</a:t>
            </a:r>
          </a:p>
          <a:p>
            <a:pPr lvl="0" algn="just">
              <a:lnSpc>
                <a:spcPct val="150000"/>
              </a:lnSpc>
            </a:pPr>
            <a:r>
              <a:rPr lang="pt-PT" dirty="0" smtClean="0">
                <a:solidFill>
                  <a:schemeClr val="bg1"/>
                </a:solidFill>
              </a:rPr>
              <a:t>4. Elevar </a:t>
            </a:r>
            <a:r>
              <a:rPr lang="pt-PT" dirty="0">
                <a:solidFill>
                  <a:schemeClr val="bg1"/>
                </a:solidFill>
              </a:rPr>
              <a:t>a interacção entre a Inspecção e os Hospitais, DDSMAS, no seguimento de queixas e denúncias apresentadas pelos utentes;</a:t>
            </a:r>
          </a:p>
          <a:p>
            <a:pPr lvl="0" algn="just">
              <a:lnSpc>
                <a:spcPct val="150000"/>
              </a:lnSpc>
            </a:pPr>
            <a:r>
              <a:rPr lang="pt-PT" dirty="0" smtClean="0">
                <a:solidFill>
                  <a:schemeClr val="bg1"/>
                </a:solidFill>
              </a:rPr>
              <a:t>5. Incrementar </a:t>
            </a:r>
            <a:r>
              <a:rPr lang="pt-PT" dirty="0">
                <a:solidFill>
                  <a:schemeClr val="bg1"/>
                </a:solidFill>
              </a:rPr>
              <a:t>as </a:t>
            </a:r>
            <a:r>
              <a:rPr lang="pt-PT" dirty="0" smtClean="0">
                <a:solidFill>
                  <a:schemeClr val="bg1"/>
                </a:solidFill>
              </a:rPr>
              <a:t>acções </a:t>
            </a:r>
            <a:r>
              <a:rPr lang="pt-PT" dirty="0">
                <a:solidFill>
                  <a:schemeClr val="bg1"/>
                </a:solidFill>
              </a:rPr>
              <a:t>de combate à corrupção;</a:t>
            </a:r>
          </a:p>
          <a:p>
            <a:pPr lvl="0" algn="just">
              <a:lnSpc>
                <a:spcPct val="150000"/>
              </a:lnSpc>
            </a:pPr>
            <a:r>
              <a:rPr lang="pt-PT" dirty="0" smtClean="0">
                <a:solidFill>
                  <a:schemeClr val="bg1"/>
                </a:solidFill>
              </a:rPr>
              <a:t>6. Realizar </a:t>
            </a:r>
            <a:r>
              <a:rPr lang="pt-PT" dirty="0">
                <a:solidFill>
                  <a:schemeClr val="bg1"/>
                </a:solidFill>
              </a:rPr>
              <a:t>visitas de troca de experiência com outras </a:t>
            </a:r>
            <a:r>
              <a:rPr lang="pt-PT" dirty="0" smtClean="0">
                <a:solidFill>
                  <a:schemeClr val="bg1"/>
                </a:solidFill>
              </a:rPr>
              <a:t>provínci</a:t>
            </a:r>
            <a:r>
              <a:rPr lang="pt-PT" dirty="0" smtClean="0"/>
              <a:t>as.</a:t>
            </a:r>
            <a:endParaRPr lang="pt-PT" dirty="0"/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1403985" y="160020"/>
            <a:ext cx="9472930" cy="58166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457200" lvl="2" algn="ctr"/>
            <a:endParaRPr lang="pt-PT" altLang="pt-BR" sz="2400" dirty="0" smtClean="0">
              <a:solidFill>
                <a:schemeClr val="bg1"/>
              </a:solidFill>
            </a:endParaRPr>
          </a:p>
          <a:p>
            <a:pPr marL="457200" lvl="2" algn="ctr"/>
            <a:r>
              <a:rPr lang="pt-PT" altLang="pt-BR" sz="2400" dirty="0" smtClean="0">
                <a:solidFill>
                  <a:schemeClr val="bg1"/>
                </a:solidFill>
              </a:rPr>
              <a:t>Desafios </a:t>
            </a:r>
            <a:r>
              <a:rPr lang="pt-PT" altLang="pt-BR" sz="2400" dirty="0">
                <a:solidFill>
                  <a:schemeClr val="bg1"/>
                </a:solidFill>
              </a:rPr>
              <a:t>e perspectivas</a:t>
            </a:r>
            <a:endParaRPr lang="en-US" sz="2400" dirty="0"/>
          </a:p>
          <a:p>
            <a:pPr marL="457200" lvl="2" algn="ctr"/>
            <a:endParaRPr lang="en-US" altLang="pt-B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7696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375024" y="2766377"/>
            <a:ext cx="9441951" cy="1325245"/>
          </a:xfr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/>
            <a:r>
              <a:rPr lang="pt-PT" b="1" dirty="0">
                <a:solidFill>
                  <a:schemeClr val="bg1"/>
                </a:solidFill>
                <a:latin typeface="Comic Sans MS" panose="030F0702030302020204" pitchFamily="66" charset="0"/>
              </a:rPr>
              <a:t>Muito obrigado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0337,3320345,3321926,3321402,3322870,3321610]}"/>
</p:tagLst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1733</TotalTime>
  <Words>1939</Words>
  <Application>Microsoft Office PowerPoint</Application>
  <PresentationFormat>Custom</PresentationFormat>
  <Paragraphs>615</Paragraphs>
  <Slides>25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Slice</vt:lpstr>
      <vt:lpstr>PowerPoint Presentation</vt:lpstr>
      <vt:lpstr>PowerPoint Presentation</vt:lpstr>
      <vt:lpstr>PowerPoint Presentation</vt:lpstr>
      <vt:lpstr>Administração e Auditoria Interna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Muito obrigado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Saude</cp:lastModifiedBy>
  <cp:revision>181</cp:revision>
  <dcterms:created xsi:type="dcterms:W3CDTF">2025-07-14T08:03:00Z</dcterms:created>
  <dcterms:modified xsi:type="dcterms:W3CDTF">2026-09-28T11:09:42Z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2CAEBBA65D8B41AC85F32BF362082C4A_13</vt:lpwstr>
  </property>
  <property fmtid="{D5CDD505-2E9C-101B-9397-08002B2CF9AE}" pid="3" name="KSOProductBuildVer">
    <vt:lpwstr>1033-12.2.0.22549</vt:lpwstr>
  </property>
</Properties>
</file>