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heme/themeOverride1.xml" ContentType="application/vnd.openxmlformats-officedocument.themeOverride+xml"/>
  <Override PartName="/ppt/charts/chart1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8" r:id="rId3"/>
    <p:sldId id="365" r:id="rId4"/>
    <p:sldId id="357" r:id="rId5"/>
    <p:sldId id="356" r:id="rId6"/>
    <p:sldId id="361" r:id="rId7"/>
    <p:sldId id="345" r:id="rId8"/>
    <p:sldId id="346" r:id="rId9"/>
    <p:sldId id="347" r:id="rId10"/>
    <p:sldId id="368" r:id="rId11"/>
    <p:sldId id="358" r:id="rId12"/>
    <p:sldId id="348" r:id="rId13"/>
    <p:sldId id="362" r:id="rId14"/>
    <p:sldId id="370" r:id="rId15"/>
    <p:sldId id="363" r:id="rId16"/>
    <p:sldId id="351" r:id="rId17"/>
    <p:sldId id="352" r:id="rId18"/>
    <p:sldId id="353" r:id="rId19"/>
    <p:sldId id="367" r:id="rId20"/>
    <p:sldId id="355" r:id="rId21"/>
    <p:sldId id="369" r:id="rId22"/>
    <p:sldId id="343" r:id="rId23"/>
  </p:sldIdLst>
  <p:sldSz cx="12192000" cy="6858000"/>
  <p:notesSz cx="6881813" cy="9296400"/>
  <p:custDataLst>
    <p:tags r:id="rId26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797C8-0E34-4105-B43A-9473771095AA}" v="45" dt="2026-09-17T12:31:44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 snapToGrid="0">
      <p:cViewPr>
        <p:scale>
          <a:sx n="89" d="100"/>
          <a:sy n="89" d="100"/>
        </p:scale>
        <p:origin x="-1320" y="-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Timbana" userId="7ed9e01f-347d-41e7-8ac4-53e49369b88d" providerId="ADAL" clId="{C333D178-E2ED-4FA8-9CC0-19F94F3C9C94}"/>
    <pc:docChg chg="undo redo custSel addSld delSld modSld modMainMaster">
      <pc:chgData name="Cristovao Timbana" userId="7ed9e01f-347d-41e7-8ac4-53e49369b88d" providerId="ADAL" clId="{C333D178-E2ED-4FA8-9CC0-19F94F3C9C94}" dt="2026-09-17T12:33:38.596" v="857" actId="478"/>
      <pc:docMkLst>
        <pc:docMk/>
      </pc:docMkLst>
      <pc:sldChg chg="addSp delSp modSp mod">
        <pc:chgData name="Cristovao Timbana" userId="7ed9e01f-347d-41e7-8ac4-53e49369b88d" providerId="ADAL" clId="{C333D178-E2ED-4FA8-9CC0-19F94F3C9C94}" dt="2026-09-17T12:33:38.596" v="857" actId="478"/>
        <pc:sldMkLst>
          <pc:docMk/>
          <pc:sldMk cId="0" sldId="256"/>
        </pc:sldMkLst>
        <pc:spChg chg="del">
          <ac:chgData name="Cristovao Timbana" userId="7ed9e01f-347d-41e7-8ac4-53e49369b88d" providerId="ADAL" clId="{C333D178-E2ED-4FA8-9CC0-19F94F3C9C94}" dt="2026-09-17T11:50:53.089" v="832" actId="478"/>
          <ac:spMkLst>
            <pc:docMk/>
            <pc:sldMk cId="0" sldId="256"/>
            <ac:spMk id="2" creationId="{FFD33A6C-1A3E-2E73-14C7-652256455583}"/>
          </ac:spMkLst>
        </pc:spChg>
        <pc:spChg chg="del">
          <ac:chgData name="Cristovao Timbana" userId="7ed9e01f-347d-41e7-8ac4-53e49369b88d" providerId="ADAL" clId="{C333D178-E2ED-4FA8-9CC0-19F94F3C9C94}" dt="2026-09-17T12:33:38.596" v="857" actId="478"/>
          <ac:spMkLst>
            <pc:docMk/>
            <pc:sldMk cId="0" sldId="256"/>
            <ac:spMk id="3" creationId="{AD795669-CAE4-E51E-24B2-B7B861015AFB}"/>
          </ac:spMkLst>
        </pc:spChg>
      </pc:sldChg>
      <pc:sldChg chg="addSp delSp modSp mod setBg">
        <pc:chgData name="Cristovao Timbana" userId="7ed9e01f-347d-41e7-8ac4-53e49369b88d" providerId="ADAL" clId="{C333D178-E2ED-4FA8-9CC0-19F94F3C9C94}" dt="2026-09-17T11:49:49.820" v="829" actId="20577"/>
        <pc:sldMkLst>
          <pc:docMk/>
          <pc:sldMk cId="0" sldId="258"/>
        </pc:sldMkLst>
        <pc:spChg chg="mod">
          <ac:chgData name="Cristovao Timbana" userId="7ed9e01f-347d-41e7-8ac4-53e49369b88d" providerId="ADAL" clId="{C333D178-E2ED-4FA8-9CC0-19F94F3C9C94}" dt="2026-09-14T12:44:59.074" v="678" actId="313"/>
          <ac:spMkLst>
            <pc:docMk/>
            <pc:sldMk cId="0" sldId="258"/>
            <ac:spMk id="13" creationId="{DF74C49A-5555-F6DF-2344-48955F797FD8}"/>
          </ac:spMkLst>
        </pc:spChg>
        <pc:spChg chg="mod">
          <ac:chgData name="Cristovao Timbana" userId="7ed9e01f-347d-41e7-8ac4-53e49369b88d" providerId="ADAL" clId="{C333D178-E2ED-4FA8-9CC0-19F94F3C9C94}" dt="2026-09-14T12:40:01.838" v="504" actId="1076"/>
          <ac:spMkLst>
            <pc:docMk/>
            <pc:sldMk cId="0" sldId="258"/>
            <ac:spMk id="24578" creationId="{A4012CFA-58F9-3F43-704D-7C6D4C70C954}"/>
          </ac:spMkLst>
        </pc:spChg>
        <pc:spChg chg="mod">
          <ac:chgData name="Cristovao Timbana" userId="7ed9e01f-347d-41e7-8ac4-53e49369b88d" providerId="ADAL" clId="{C333D178-E2ED-4FA8-9CC0-19F94F3C9C94}" dt="2026-09-17T11:49:49.820" v="829" actId="20577"/>
          <ac:spMkLst>
            <pc:docMk/>
            <pc:sldMk cId="0" sldId="258"/>
            <ac:spMk id="24579" creationId="{5C866598-F616-1F5F-A9F9-9B89097F1884}"/>
          </ac:spMkLst>
        </pc:spChg>
        <pc:picChg chg="mod">
          <ac:chgData name="Cristovao Timbana" userId="7ed9e01f-347d-41e7-8ac4-53e49369b88d" providerId="ADAL" clId="{C333D178-E2ED-4FA8-9CC0-19F94F3C9C94}" dt="2026-09-14T12:39:47.360" v="500" actId="14100"/>
          <ac:picMkLst>
            <pc:docMk/>
            <pc:sldMk cId="0" sldId="258"/>
            <ac:picMk id="24580" creationId="{FA5EF871-EDDE-BAD2-1693-91DAF3A24833}"/>
          </ac:picMkLst>
        </pc:picChg>
      </pc:sldChg>
      <pc:sldChg chg="addSp delSp modSp mod">
        <pc:chgData name="Cristovao Timbana" userId="7ed9e01f-347d-41e7-8ac4-53e49369b88d" providerId="ADAL" clId="{C333D178-E2ED-4FA8-9CC0-19F94F3C9C94}" dt="2026-09-17T12:27:18.592" v="839" actId="6549"/>
        <pc:sldMkLst>
          <pc:docMk/>
          <pc:sldMk cId="2765791685" sldId="333"/>
        </pc:sldMkLst>
        <pc:spChg chg="add del mod">
          <ac:chgData name="Cristovao Timbana" userId="7ed9e01f-347d-41e7-8ac4-53e49369b88d" providerId="ADAL" clId="{C333D178-E2ED-4FA8-9CC0-19F94F3C9C94}" dt="2026-09-17T10:57:07.481" v="805" actId="478"/>
          <ac:spMkLst>
            <pc:docMk/>
            <pc:sldMk cId="2765791685" sldId="333"/>
            <ac:spMk id="3" creationId="{B5363E4B-0714-D58C-AAE8-8426F8D6EE5B}"/>
          </ac:spMkLst>
        </pc:spChg>
        <pc:spChg chg="add mod">
          <ac:chgData name="Cristovao Timbana" userId="7ed9e01f-347d-41e7-8ac4-53e49369b88d" providerId="ADAL" clId="{C333D178-E2ED-4FA8-9CC0-19F94F3C9C94}" dt="2026-09-17T12:27:18.592" v="839" actId="6549"/>
          <ac:spMkLst>
            <pc:docMk/>
            <pc:sldMk cId="2765791685" sldId="333"/>
            <ac:spMk id="4" creationId="{0232D695-7911-9AB7-1525-6B0B63590185}"/>
          </ac:spMkLst>
        </pc:spChg>
        <pc:spChg chg="add mod">
          <ac:chgData name="Cristovao Timbana" userId="7ed9e01f-347d-41e7-8ac4-53e49369b88d" providerId="ADAL" clId="{C333D178-E2ED-4FA8-9CC0-19F94F3C9C94}" dt="2026-09-14T12:50:44.858" v="713" actId="20577"/>
          <ac:spMkLst>
            <pc:docMk/>
            <pc:sldMk cId="2765791685" sldId="333"/>
            <ac:spMk id="6" creationId="{B5678C29-B991-E318-C6A6-550E6CF7E735}"/>
          </ac:spMkLst>
        </pc:spChg>
        <pc:spChg chg="del mod">
          <ac:chgData name="Cristovao Timbana" userId="7ed9e01f-347d-41e7-8ac4-53e49369b88d" providerId="ADAL" clId="{C333D178-E2ED-4FA8-9CC0-19F94F3C9C94}" dt="2026-09-17T10:58:00.612" v="806" actId="478"/>
          <ac:spMkLst>
            <pc:docMk/>
            <pc:sldMk cId="2765791685" sldId="333"/>
            <ac:spMk id="94213" creationId="{00000000-0000-0000-0000-000000000000}"/>
          </ac:spMkLst>
        </pc:spChg>
      </pc:sldChg>
      <pc:sldChg chg="addSp delSp modSp add mod">
        <pc:chgData name="Cristovao Timbana" userId="7ed9e01f-347d-41e7-8ac4-53e49369b88d" providerId="ADAL" clId="{C333D178-E2ED-4FA8-9CC0-19F94F3C9C94}" dt="2026-09-14T13:33:11.462" v="755" actId="14100"/>
        <pc:sldMkLst>
          <pc:docMk/>
          <pc:sldMk cId="469607465" sldId="343"/>
        </pc:sldMkLst>
        <pc:spChg chg="add mod">
          <ac:chgData name="Cristovao Timbana" userId="7ed9e01f-347d-41e7-8ac4-53e49369b88d" providerId="ADAL" clId="{C333D178-E2ED-4FA8-9CC0-19F94F3C9C94}" dt="2026-09-14T13:33:11.462" v="755" actId="14100"/>
          <ac:spMkLst>
            <pc:docMk/>
            <pc:sldMk cId="469607465" sldId="343"/>
            <ac:spMk id="6" creationId="{9A4DD2E7-4F49-8D49-8B50-82758105787C}"/>
          </ac:spMkLst>
        </pc:spChg>
      </pc:sldChg>
      <pc:sldChg chg="add">
        <pc:chgData name="Cristovao Timbana" userId="7ed9e01f-347d-41e7-8ac4-53e49369b88d" providerId="ADAL" clId="{C333D178-E2ED-4FA8-9CC0-19F94F3C9C94}" dt="2026-09-17T10:56:01.239" v="762"/>
        <pc:sldMkLst>
          <pc:docMk/>
          <pc:sldMk cId="547752343" sldId="344"/>
        </pc:sldMkLst>
      </pc:sldChg>
      <pc:sldChg chg="new del">
        <pc:chgData name="Cristovao Timbana" userId="7ed9e01f-347d-41e7-8ac4-53e49369b88d" providerId="ADAL" clId="{C333D178-E2ED-4FA8-9CC0-19F94F3C9C94}" dt="2026-09-17T10:55:37.417" v="759" actId="680"/>
        <pc:sldMkLst>
          <pc:docMk/>
          <pc:sldMk cId="735031126" sldId="344"/>
        </pc:sldMkLst>
      </pc:sldChg>
      <pc:sldChg chg="new del">
        <pc:chgData name="Cristovao Timbana" userId="7ed9e01f-347d-41e7-8ac4-53e49369b88d" providerId="ADAL" clId="{C333D178-E2ED-4FA8-9CC0-19F94F3C9C94}" dt="2026-09-17T10:55:33.065" v="757" actId="680"/>
        <pc:sldMkLst>
          <pc:docMk/>
          <pc:sldMk cId="1154063898" sldId="344"/>
        </pc:sldMkLst>
      </pc:sldChg>
      <pc:sldChg chg="new del">
        <pc:chgData name="Cristovao Timbana" userId="7ed9e01f-347d-41e7-8ac4-53e49369b88d" providerId="ADAL" clId="{C333D178-E2ED-4FA8-9CC0-19F94F3C9C94}" dt="2026-09-17T10:55:49.877" v="761" actId="47"/>
        <pc:sldMkLst>
          <pc:docMk/>
          <pc:sldMk cId="3033654734" sldId="344"/>
        </pc:sldMkLst>
      </pc:sldChg>
      <pc:sldChg chg="add">
        <pc:chgData name="Cristovao Timbana" userId="7ed9e01f-347d-41e7-8ac4-53e49369b88d" providerId="ADAL" clId="{C333D178-E2ED-4FA8-9CC0-19F94F3C9C94}" dt="2026-09-17T10:56:15.760" v="763"/>
        <pc:sldMkLst>
          <pc:docMk/>
          <pc:sldMk cId="34944693" sldId="345"/>
        </pc:sldMkLst>
      </pc:sldChg>
      <pc:sldChg chg="add">
        <pc:chgData name="Cristovao Timbana" userId="7ed9e01f-347d-41e7-8ac4-53e49369b88d" providerId="ADAL" clId="{C333D178-E2ED-4FA8-9CC0-19F94F3C9C94}" dt="2026-09-17T10:56:17.733" v="764"/>
        <pc:sldMkLst>
          <pc:docMk/>
          <pc:sldMk cId="1497063838" sldId="346"/>
        </pc:sldMkLst>
      </pc:sldChg>
      <pc:sldChg chg="add">
        <pc:chgData name="Cristovao Timbana" userId="7ed9e01f-347d-41e7-8ac4-53e49369b88d" providerId="ADAL" clId="{C333D178-E2ED-4FA8-9CC0-19F94F3C9C94}" dt="2026-09-17T10:56:18.186" v="765"/>
        <pc:sldMkLst>
          <pc:docMk/>
          <pc:sldMk cId="2501639224" sldId="347"/>
        </pc:sldMkLst>
      </pc:sldChg>
      <pc:sldChg chg="add">
        <pc:chgData name="Cristovao Timbana" userId="7ed9e01f-347d-41e7-8ac4-53e49369b88d" providerId="ADAL" clId="{C333D178-E2ED-4FA8-9CC0-19F94F3C9C94}" dt="2026-09-17T10:56:18.499" v="766"/>
        <pc:sldMkLst>
          <pc:docMk/>
          <pc:sldMk cId="3638549593" sldId="348"/>
        </pc:sldMkLst>
      </pc:sldChg>
      <pc:sldChg chg="add">
        <pc:chgData name="Cristovao Timbana" userId="7ed9e01f-347d-41e7-8ac4-53e49369b88d" providerId="ADAL" clId="{C333D178-E2ED-4FA8-9CC0-19F94F3C9C94}" dt="2026-09-17T10:56:18.805" v="767"/>
        <pc:sldMkLst>
          <pc:docMk/>
          <pc:sldMk cId="2197821340" sldId="349"/>
        </pc:sldMkLst>
      </pc:sldChg>
      <pc:sldChg chg="add">
        <pc:chgData name="Cristovao Timbana" userId="7ed9e01f-347d-41e7-8ac4-53e49369b88d" providerId="ADAL" clId="{C333D178-E2ED-4FA8-9CC0-19F94F3C9C94}" dt="2026-09-17T10:56:19.111" v="768"/>
        <pc:sldMkLst>
          <pc:docMk/>
          <pc:sldMk cId="1853454506" sldId="350"/>
        </pc:sldMkLst>
      </pc:sldChg>
      <pc:sldChg chg="add">
        <pc:chgData name="Cristovao Timbana" userId="7ed9e01f-347d-41e7-8ac4-53e49369b88d" providerId="ADAL" clId="{C333D178-E2ED-4FA8-9CC0-19F94F3C9C94}" dt="2026-09-17T10:56:19.425" v="769"/>
        <pc:sldMkLst>
          <pc:docMk/>
          <pc:sldMk cId="3582967992" sldId="351"/>
        </pc:sldMkLst>
      </pc:sldChg>
      <pc:sldChg chg="add">
        <pc:chgData name="Cristovao Timbana" userId="7ed9e01f-347d-41e7-8ac4-53e49369b88d" providerId="ADAL" clId="{C333D178-E2ED-4FA8-9CC0-19F94F3C9C94}" dt="2026-09-17T10:56:19.718" v="770"/>
        <pc:sldMkLst>
          <pc:docMk/>
          <pc:sldMk cId="1758350371" sldId="352"/>
        </pc:sldMkLst>
      </pc:sldChg>
      <pc:sldChg chg="add">
        <pc:chgData name="Cristovao Timbana" userId="7ed9e01f-347d-41e7-8ac4-53e49369b88d" providerId="ADAL" clId="{C333D178-E2ED-4FA8-9CC0-19F94F3C9C94}" dt="2026-09-17T10:56:19.982" v="771"/>
        <pc:sldMkLst>
          <pc:docMk/>
          <pc:sldMk cId="1089052141" sldId="353"/>
        </pc:sldMkLst>
      </pc:sldChg>
      <pc:sldChg chg="add">
        <pc:chgData name="Cristovao Timbana" userId="7ed9e01f-347d-41e7-8ac4-53e49369b88d" providerId="ADAL" clId="{C333D178-E2ED-4FA8-9CC0-19F94F3C9C94}" dt="2026-09-17T10:56:20.222" v="772"/>
        <pc:sldMkLst>
          <pc:docMk/>
          <pc:sldMk cId="380524703" sldId="354"/>
        </pc:sldMkLst>
      </pc:sldChg>
      <pc:sldChg chg="add">
        <pc:chgData name="Cristovao Timbana" userId="7ed9e01f-347d-41e7-8ac4-53e49369b88d" providerId="ADAL" clId="{C333D178-E2ED-4FA8-9CC0-19F94F3C9C94}" dt="2026-09-17T10:56:39.686" v="777"/>
        <pc:sldMkLst>
          <pc:docMk/>
          <pc:sldMk cId="1832960446" sldId="355"/>
        </pc:sldMkLst>
      </pc:sldChg>
      <pc:sldChg chg="new del">
        <pc:chgData name="Cristovao Timbana" userId="7ed9e01f-347d-41e7-8ac4-53e49369b88d" providerId="ADAL" clId="{C333D178-E2ED-4FA8-9CC0-19F94F3C9C94}" dt="2026-09-17T10:56:33.062" v="776" actId="47"/>
        <pc:sldMkLst>
          <pc:docMk/>
          <pc:sldMk cId="2033519868" sldId="355"/>
        </pc:sldMkLst>
      </pc:sldChg>
      <pc:sldChg chg="new del">
        <pc:chgData name="Cristovao Timbana" userId="7ed9e01f-347d-41e7-8ac4-53e49369b88d" providerId="ADAL" clId="{C333D178-E2ED-4FA8-9CC0-19F94F3C9C94}" dt="2026-09-17T10:56:28.117" v="774" actId="47"/>
        <pc:sldMkLst>
          <pc:docMk/>
          <pc:sldMk cId="3055353711" sldId="355"/>
        </pc:sldMkLst>
      </pc:sldChg>
      <pc:sldChg chg="add">
        <pc:chgData name="Cristovao Timbana" userId="7ed9e01f-347d-41e7-8ac4-53e49369b88d" providerId="ADAL" clId="{C333D178-E2ED-4FA8-9CC0-19F94F3C9C94}" dt="2026-09-17T10:56:39.994" v="778"/>
        <pc:sldMkLst>
          <pc:docMk/>
          <pc:sldMk cId="658250921" sldId="356"/>
        </pc:sldMkLst>
      </pc:sldChg>
      <pc:sldChg chg="add">
        <pc:chgData name="Cristovao Timbana" userId="7ed9e01f-347d-41e7-8ac4-53e49369b88d" providerId="ADAL" clId="{C333D178-E2ED-4FA8-9CC0-19F94F3C9C94}" dt="2026-09-17T10:56:40.228" v="779"/>
        <pc:sldMkLst>
          <pc:docMk/>
          <pc:sldMk cId="4235754278" sldId="357"/>
        </pc:sldMkLst>
      </pc:sldChg>
      <pc:sldChg chg="add">
        <pc:chgData name="Cristovao Timbana" userId="7ed9e01f-347d-41e7-8ac4-53e49369b88d" providerId="ADAL" clId="{C333D178-E2ED-4FA8-9CC0-19F94F3C9C94}" dt="2026-09-17T10:56:40.433" v="780"/>
        <pc:sldMkLst>
          <pc:docMk/>
          <pc:sldMk cId="3735663537" sldId="358"/>
        </pc:sldMkLst>
      </pc:sldChg>
      <pc:sldChg chg="add">
        <pc:chgData name="Cristovao Timbana" userId="7ed9e01f-347d-41e7-8ac4-53e49369b88d" providerId="ADAL" clId="{C333D178-E2ED-4FA8-9CC0-19F94F3C9C94}" dt="2026-09-17T10:56:40.641" v="781"/>
        <pc:sldMkLst>
          <pc:docMk/>
          <pc:sldMk cId="3596886858" sldId="359"/>
        </pc:sldMkLst>
      </pc:sldChg>
      <pc:sldChg chg="add">
        <pc:chgData name="Cristovao Timbana" userId="7ed9e01f-347d-41e7-8ac4-53e49369b88d" providerId="ADAL" clId="{C333D178-E2ED-4FA8-9CC0-19F94F3C9C94}" dt="2026-09-17T10:56:40.883" v="782"/>
        <pc:sldMkLst>
          <pc:docMk/>
          <pc:sldMk cId="2614747318" sldId="360"/>
        </pc:sldMkLst>
      </pc:sldChg>
      <pc:sldChg chg="add">
        <pc:chgData name="Cristovao Timbana" userId="7ed9e01f-347d-41e7-8ac4-53e49369b88d" providerId="ADAL" clId="{C333D178-E2ED-4FA8-9CC0-19F94F3C9C94}" dt="2026-09-17T10:56:41.075" v="783"/>
        <pc:sldMkLst>
          <pc:docMk/>
          <pc:sldMk cId="3807395142" sldId="361"/>
        </pc:sldMkLst>
      </pc:sldChg>
      <pc:sldChg chg="add">
        <pc:chgData name="Cristovao Timbana" userId="7ed9e01f-347d-41e7-8ac4-53e49369b88d" providerId="ADAL" clId="{C333D178-E2ED-4FA8-9CC0-19F94F3C9C94}" dt="2026-09-17T10:56:41.287" v="784"/>
        <pc:sldMkLst>
          <pc:docMk/>
          <pc:sldMk cId="582488949" sldId="362"/>
        </pc:sldMkLst>
      </pc:sldChg>
      <pc:sldChg chg="add">
        <pc:chgData name="Cristovao Timbana" userId="7ed9e01f-347d-41e7-8ac4-53e49369b88d" providerId="ADAL" clId="{C333D178-E2ED-4FA8-9CC0-19F94F3C9C94}" dt="2026-09-17T10:56:41.516" v="785"/>
        <pc:sldMkLst>
          <pc:docMk/>
          <pc:sldMk cId="236667484" sldId="363"/>
        </pc:sldMkLst>
      </pc:sldChg>
      <pc:sldChg chg="add">
        <pc:chgData name="Cristovao Timbana" userId="7ed9e01f-347d-41e7-8ac4-53e49369b88d" providerId="ADAL" clId="{C333D178-E2ED-4FA8-9CC0-19F94F3C9C94}" dt="2026-09-17T10:56:41.733" v="786"/>
        <pc:sldMkLst>
          <pc:docMk/>
          <pc:sldMk cId="2595629959" sldId="364"/>
        </pc:sldMkLst>
      </pc:sldChg>
      <pc:sldChg chg="add">
        <pc:chgData name="Cristovao Timbana" userId="7ed9e01f-347d-41e7-8ac4-53e49369b88d" providerId="ADAL" clId="{C333D178-E2ED-4FA8-9CC0-19F94F3C9C94}" dt="2026-09-17T10:56:41.979" v="787"/>
        <pc:sldMkLst>
          <pc:docMk/>
          <pc:sldMk cId="4182679524" sldId="365"/>
        </pc:sldMkLst>
      </pc:sldChg>
      <pc:sldChg chg="add">
        <pc:chgData name="Cristovao Timbana" userId="7ed9e01f-347d-41e7-8ac4-53e49369b88d" providerId="ADAL" clId="{C333D178-E2ED-4FA8-9CC0-19F94F3C9C94}" dt="2026-09-17T10:56:42.213" v="788"/>
        <pc:sldMkLst>
          <pc:docMk/>
          <pc:sldMk cId="4204660213" sldId="366"/>
        </pc:sldMkLst>
      </pc:sldChg>
      <pc:sldChg chg="add">
        <pc:chgData name="Cristovao Timbana" userId="7ed9e01f-347d-41e7-8ac4-53e49369b88d" providerId="ADAL" clId="{C333D178-E2ED-4FA8-9CC0-19F94F3C9C94}" dt="2026-09-17T10:56:42.519" v="789"/>
        <pc:sldMkLst>
          <pc:docMk/>
          <pc:sldMk cId="1700438258" sldId="367"/>
        </pc:sldMkLst>
      </pc:sldChg>
      <pc:sldChg chg="add">
        <pc:chgData name="Cristovao Timbana" userId="7ed9e01f-347d-41e7-8ac4-53e49369b88d" providerId="ADAL" clId="{C333D178-E2ED-4FA8-9CC0-19F94F3C9C94}" dt="2026-09-17T10:56:43.314" v="790"/>
        <pc:sldMkLst>
          <pc:docMk/>
          <pc:sldMk cId="1564572949" sldId="368"/>
        </pc:sldMkLst>
      </pc:sldChg>
      <pc:sldChg chg="add">
        <pc:chgData name="Cristovao Timbana" userId="7ed9e01f-347d-41e7-8ac4-53e49369b88d" providerId="ADAL" clId="{C333D178-E2ED-4FA8-9CC0-19F94F3C9C94}" dt="2026-09-17T10:56:44.212" v="791"/>
        <pc:sldMkLst>
          <pc:docMk/>
          <pc:sldMk cId="589840149" sldId="369"/>
        </pc:sldMkLst>
      </pc:sldChg>
      <pc:sldChg chg="add">
        <pc:chgData name="Cristovao Timbana" userId="7ed9e01f-347d-41e7-8ac4-53e49369b88d" providerId="ADAL" clId="{C333D178-E2ED-4FA8-9CC0-19F94F3C9C94}" dt="2026-09-17T10:56:44.494" v="792"/>
        <pc:sldMkLst>
          <pc:docMk/>
          <pc:sldMk cId="2157610477" sldId="370"/>
        </pc:sldMkLst>
      </pc:sldChg>
      <pc:sldChg chg="add">
        <pc:chgData name="Cristovao Timbana" userId="7ed9e01f-347d-41e7-8ac4-53e49369b88d" providerId="ADAL" clId="{C333D178-E2ED-4FA8-9CC0-19F94F3C9C94}" dt="2026-09-17T10:56:45.723" v="793"/>
        <pc:sldMkLst>
          <pc:docMk/>
          <pc:sldMk cId="3632426442" sldId="371"/>
        </pc:sldMkLst>
      </pc:sldChg>
      <pc:sldChg chg="add">
        <pc:chgData name="Cristovao Timbana" userId="7ed9e01f-347d-41e7-8ac4-53e49369b88d" providerId="ADAL" clId="{C333D178-E2ED-4FA8-9CC0-19F94F3C9C94}" dt="2026-09-17T10:56:46.357" v="794"/>
        <pc:sldMkLst>
          <pc:docMk/>
          <pc:sldMk cId="2708606754" sldId="372"/>
        </pc:sldMkLst>
      </pc:sldChg>
      <pc:sldChg chg="add">
        <pc:chgData name="Cristovao Timbana" userId="7ed9e01f-347d-41e7-8ac4-53e49369b88d" providerId="ADAL" clId="{C333D178-E2ED-4FA8-9CC0-19F94F3C9C94}" dt="2026-09-17T10:56:48.531" v="795"/>
        <pc:sldMkLst>
          <pc:docMk/>
          <pc:sldMk cId="2156134829" sldId="373"/>
        </pc:sldMkLst>
      </pc:sldChg>
      <pc:sldChg chg="add">
        <pc:chgData name="Cristovao Timbana" userId="7ed9e01f-347d-41e7-8ac4-53e49369b88d" providerId="ADAL" clId="{C333D178-E2ED-4FA8-9CC0-19F94F3C9C94}" dt="2026-09-17T10:56:48.827" v="796"/>
        <pc:sldMkLst>
          <pc:docMk/>
          <pc:sldMk cId="726855858" sldId="374"/>
        </pc:sldMkLst>
      </pc:sldChg>
      <pc:sldChg chg="add">
        <pc:chgData name="Cristovao Timbana" userId="7ed9e01f-347d-41e7-8ac4-53e49369b88d" providerId="ADAL" clId="{C333D178-E2ED-4FA8-9CC0-19F94F3C9C94}" dt="2026-09-17T10:56:49.024" v="797"/>
        <pc:sldMkLst>
          <pc:docMk/>
          <pc:sldMk cId="2528353065" sldId="375"/>
        </pc:sldMkLst>
      </pc:sldChg>
      <pc:sldChg chg="add">
        <pc:chgData name="Cristovao Timbana" userId="7ed9e01f-347d-41e7-8ac4-53e49369b88d" providerId="ADAL" clId="{C333D178-E2ED-4FA8-9CC0-19F94F3C9C94}" dt="2026-09-17T10:56:49.206" v="798"/>
        <pc:sldMkLst>
          <pc:docMk/>
          <pc:sldMk cId="3487515266" sldId="376"/>
        </pc:sldMkLst>
      </pc:sldChg>
      <pc:sldChg chg="add">
        <pc:chgData name="Cristovao Timbana" userId="7ed9e01f-347d-41e7-8ac4-53e49369b88d" providerId="ADAL" clId="{C333D178-E2ED-4FA8-9CC0-19F94F3C9C94}" dt="2026-09-17T10:56:50.249" v="799"/>
        <pc:sldMkLst>
          <pc:docMk/>
          <pc:sldMk cId="1823102031" sldId="377"/>
        </pc:sldMkLst>
      </pc:sldChg>
      <pc:sldChg chg="add">
        <pc:chgData name="Cristovao Timbana" userId="7ed9e01f-347d-41e7-8ac4-53e49369b88d" providerId="ADAL" clId="{C333D178-E2ED-4FA8-9CC0-19F94F3C9C94}" dt="2026-09-17T10:56:50.477" v="800"/>
        <pc:sldMkLst>
          <pc:docMk/>
          <pc:sldMk cId="3252894241" sldId="378"/>
        </pc:sldMkLst>
      </pc:sldChg>
      <pc:sldChg chg="add">
        <pc:chgData name="Cristovao Timbana" userId="7ed9e01f-347d-41e7-8ac4-53e49369b88d" providerId="ADAL" clId="{C333D178-E2ED-4FA8-9CC0-19F94F3C9C94}" dt="2026-09-17T10:56:51.061" v="801"/>
        <pc:sldMkLst>
          <pc:docMk/>
          <pc:sldMk cId="3661190063" sldId="379"/>
        </pc:sldMkLst>
      </pc:sldChg>
      <pc:sldChg chg="add">
        <pc:chgData name="Cristovao Timbana" userId="7ed9e01f-347d-41e7-8ac4-53e49369b88d" providerId="ADAL" clId="{C333D178-E2ED-4FA8-9CC0-19F94F3C9C94}" dt="2026-09-17T10:56:52.130" v="802"/>
        <pc:sldMkLst>
          <pc:docMk/>
          <pc:sldMk cId="1217614434" sldId="380"/>
        </pc:sldMkLst>
      </pc:sldChg>
      <pc:sldChg chg="add">
        <pc:chgData name="Cristovao Timbana" userId="7ed9e01f-347d-41e7-8ac4-53e49369b88d" providerId="ADAL" clId="{C333D178-E2ED-4FA8-9CC0-19F94F3C9C94}" dt="2026-09-17T12:31:44.805" v="844"/>
        <pc:sldMkLst>
          <pc:docMk/>
          <pc:sldMk cId="1580191887" sldId="381"/>
        </pc:sldMkLst>
      </pc:sldChg>
      <pc:sldMasterChg chg="modSp mod delSldLayout modSldLayout sldLayoutOrd">
        <pc:chgData name="Cristovao Timbana" userId="7ed9e01f-347d-41e7-8ac4-53e49369b88d" providerId="ADAL" clId="{C333D178-E2ED-4FA8-9CC0-19F94F3C9C94}" dt="2026-09-17T12:33:05.340" v="856" actId="1076"/>
        <pc:sldMasterMkLst>
          <pc:docMk/>
          <pc:sldMasterMk cId="0" sldId="2147483648"/>
        </pc:sldMasterMkLst>
        <pc:grpChg chg="mod">
          <ac:chgData name="Cristovao Timbana" userId="7ed9e01f-347d-41e7-8ac4-53e49369b88d" providerId="ADAL" clId="{C333D178-E2ED-4FA8-9CC0-19F94F3C9C94}" dt="2026-09-14T12:46:47.922" v="693" actId="14100"/>
          <ac:grpSpMkLst>
            <pc:docMk/>
            <pc:sldMasterMk cId="0" sldId="2147483648"/>
            <ac:grpSpMk id="1031" creationId="{6B13CA1E-7907-9AB6-908D-32161B0BD304}"/>
          </ac:grpSpMkLst>
        </pc:grpChg>
        <pc:sldLayoutChg chg="addSp delSp modSp mod ord">
          <pc:chgData name="Cristovao Timbana" userId="7ed9e01f-347d-41e7-8ac4-53e49369b88d" providerId="ADAL" clId="{C333D178-E2ED-4FA8-9CC0-19F94F3C9C94}" dt="2026-09-17T12:33:05.340" v="856" actId="1076"/>
          <pc:sldLayoutMkLst>
            <pc:docMk/>
            <pc:sldMasterMk cId="0" sldId="2147483648"/>
            <pc:sldLayoutMk cId="1999378594" sldId="2147483688"/>
          </pc:sldLayoutMkLst>
          <pc:spChg chg="add del mod">
            <ac:chgData name="Cristovao Timbana" userId="7ed9e01f-347d-41e7-8ac4-53e49369b88d" providerId="ADAL" clId="{C333D178-E2ED-4FA8-9CC0-19F94F3C9C94}" dt="2026-09-17T12:32:52.792" v="855" actId="478"/>
            <ac:spMkLst>
              <pc:docMk/>
              <pc:sldMasterMk cId="0" sldId="2147483648"/>
              <pc:sldLayoutMk cId="1999378594" sldId="2147483688"/>
              <ac:spMk id="7" creationId="{FB9F9FCB-AFA8-6B21-9813-216D79301FC5}"/>
            </ac:spMkLst>
          </pc:spChg>
          <pc:spChg chg="mod">
            <ac:chgData name="Cristovao Timbana" userId="7ed9e01f-347d-41e7-8ac4-53e49369b88d" providerId="ADAL" clId="{C333D178-E2ED-4FA8-9CC0-19F94F3C9C94}" dt="2026-09-17T12:33:05.340" v="856" actId="1076"/>
            <ac:spMkLst>
              <pc:docMk/>
              <pc:sldMasterMk cId="0" sldId="2147483648"/>
              <pc:sldLayoutMk cId="1999378594" sldId="2147483688"/>
              <ac:spMk id="9" creationId="{4D3E06F1-1F79-6D72-8F24-50EB1D5F08C6}"/>
            </ac:spMkLst>
          </pc:spChg>
          <pc:spChg chg="add mod">
            <ac:chgData name="Cristovao Timbana" userId="7ed9e01f-347d-41e7-8ac4-53e49369b88d" providerId="ADAL" clId="{C333D178-E2ED-4FA8-9CC0-19F94F3C9C94}" dt="2026-09-14T12:25:38.056" v="325" actId="14100"/>
            <ac:spMkLst>
              <pc:docMk/>
              <pc:sldMasterMk cId="0" sldId="2147483648"/>
              <pc:sldLayoutMk cId="1999378594" sldId="2147483688"/>
              <ac:spMk id="11" creationId="{DC6E4D48-D476-9079-8A1D-DE51783549FE}"/>
            </ac:spMkLst>
          </pc:spChg>
          <pc:spChg chg="add mod">
            <ac:chgData name="Cristovao Timbana" userId="7ed9e01f-347d-41e7-8ac4-53e49369b88d" providerId="ADAL" clId="{C333D178-E2ED-4FA8-9CC0-19F94F3C9C94}" dt="2026-09-17T12:32:50.103" v="853" actId="1076"/>
            <ac:spMkLst>
              <pc:docMk/>
              <pc:sldMasterMk cId="0" sldId="2147483648"/>
              <pc:sldLayoutMk cId="1999378594" sldId="2147483688"/>
              <ac:spMk id="19" creationId="{B6A6BFBD-9882-3474-49D7-A2C5B31EDF50}"/>
            </ac:spMkLst>
          </pc:spChg>
          <pc:picChg chg="mod">
            <ac:chgData name="Cristovao Timbana" userId="7ed9e01f-347d-41e7-8ac4-53e49369b88d" providerId="ADAL" clId="{C333D178-E2ED-4FA8-9CC0-19F94F3C9C94}" dt="2026-09-14T12:26:18.653" v="329" actId="1076"/>
            <ac:picMkLst>
              <pc:docMk/>
              <pc:sldMasterMk cId="0" sldId="2147483648"/>
              <pc:sldLayoutMk cId="1999378594" sldId="2147483688"/>
              <ac:picMk id="5" creationId="{9BFB0EC2-6DD9-15D4-D949-F84E4666B124}"/>
            </ac:picMkLst>
          </pc:picChg>
          <pc:picChg chg="add mod ord">
            <ac:chgData name="Cristovao Timbana" userId="7ed9e01f-347d-41e7-8ac4-53e49369b88d" providerId="ADAL" clId="{C333D178-E2ED-4FA8-9CC0-19F94F3C9C94}" dt="2026-09-17T12:32:10.379" v="847" actId="1076"/>
            <ac:picMkLst>
              <pc:docMk/>
              <pc:sldMasterMk cId="0" sldId="2147483648"/>
              <pc:sldLayoutMk cId="1999378594" sldId="2147483688"/>
              <ac:picMk id="6" creationId="{A7E0ECDB-78A6-E0EE-99D8-DB08368F4D3C}"/>
            </ac:picMkLst>
          </pc:picChg>
        </pc:sldLayoutChg>
        <pc:sldLayoutChg chg="addSp delSp modSp mod">
          <pc:chgData name="Cristovao Timbana" userId="7ed9e01f-347d-41e7-8ac4-53e49369b88d" providerId="ADAL" clId="{C333D178-E2ED-4FA8-9CC0-19F94F3C9C94}" dt="2026-09-17T11:50:42.447" v="831" actId="478"/>
          <pc:sldLayoutMkLst>
            <pc:docMk/>
            <pc:sldMasterMk cId="0" sldId="2147483648"/>
            <pc:sldLayoutMk cId="3541848229" sldId="2147483693"/>
          </pc:sldLayoutMkLst>
          <pc:spChg chg="mod">
            <ac:chgData name="Cristovao Timbana" userId="7ed9e01f-347d-41e7-8ac4-53e49369b88d" providerId="ADAL" clId="{C333D178-E2ED-4FA8-9CC0-19F94F3C9C94}" dt="2026-09-14T12:23:06.942" v="313" actId="339"/>
            <ac:spMkLst>
              <pc:docMk/>
              <pc:sldMasterMk cId="0" sldId="2147483648"/>
              <pc:sldLayoutMk cId="3541848229" sldId="2147483693"/>
              <ac:spMk id="2" creationId="{D2A2499E-EE88-5471-CDB1-8A3B7D4CA3A5}"/>
            </ac:spMkLst>
          </pc:spChg>
          <pc:spChg chg="mod">
            <ac:chgData name="Cristovao Timbana" userId="7ed9e01f-347d-41e7-8ac4-53e49369b88d" providerId="ADAL" clId="{C333D178-E2ED-4FA8-9CC0-19F94F3C9C94}" dt="2026-09-14T12:11:09.626" v="213" actId="20577"/>
            <ac:spMkLst>
              <pc:docMk/>
              <pc:sldMasterMk cId="0" sldId="2147483648"/>
              <pc:sldLayoutMk cId="3541848229" sldId="2147483693"/>
              <ac:spMk id="3" creationId="{89E0EDC5-73C9-2395-68B4-8A503E64085A}"/>
            </ac:spMkLst>
          </pc:spChg>
          <pc:spChg chg="del mod">
            <ac:chgData name="Cristovao Timbana" userId="7ed9e01f-347d-41e7-8ac4-53e49369b88d" providerId="ADAL" clId="{C333D178-E2ED-4FA8-9CC0-19F94F3C9C94}" dt="2026-09-17T11:50:42.447" v="831" actId="478"/>
            <ac:spMkLst>
              <pc:docMk/>
              <pc:sldMasterMk cId="0" sldId="2147483648"/>
              <pc:sldLayoutMk cId="3541848229" sldId="2147483693"/>
              <ac:spMk id="10" creationId="{1A7BCD35-98A6-BECA-628F-EDC92ACB735E}"/>
            </ac:spMkLst>
          </pc:spChg>
          <pc:spChg chg="mod">
            <ac:chgData name="Cristovao Timbana" userId="7ed9e01f-347d-41e7-8ac4-53e49369b88d" providerId="ADAL" clId="{C333D178-E2ED-4FA8-9CC0-19F94F3C9C94}" dt="2026-09-14T12:49:27" v="700" actId="14100"/>
            <ac:spMkLst>
              <pc:docMk/>
              <pc:sldMasterMk cId="0" sldId="2147483648"/>
              <pc:sldLayoutMk cId="3541848229" sldId="2147483693"/>
              <ac:spMk id="11" creationId="{CB842B1E-3AA6-EB75-2CDE-F4F8C35B6A1D}"/>
            </ac:spMkLst>
          </pc:spChg>
          <pc:spChg chg="add del mod">
            <ac:chgData name="Cristovao Timbana" userId="7ed9e01f-347d-41e7-8ac4-53e49369b88d" providerId="ADAL" clId="{C333D178-E2ED-4FA8-9CC0-19F94F3C9C94}" dt="2026-09-17T11:50:26.374" v="830" actId="478"/>
            <ac:spMkLst>
              <pc:docMk/>
              <pc:sldMasterMk cId="0" sldId="2147483648"/>
              <pc:sldLayoutMk cId="3541848229" sldId="2147483693"/>
              <ac:spMk id="15" creationId="{7905DA00-A162-3296-6C7B-0562A0E78709}"/>
            </ac:spMkLst>
          </pc:spChg>
          <pc:spChg chg="add mod">
            <ac:chgData name="Cristovao Timbana" userId="7ed9e01f-347d-41e7-8ac4-53e49369b88d" providerId="ADAL" clId="{C333D178-E2ED-4FA8-9CC0-19F94F3C9C94}" dt="2026-09-14T12:21:25.995" v="310" actId="339"/>
            <ac:spMkLst>
              <pc:docMk/>
              <pc:sldMasterMk cId="0" sldId="2147483648"/>
              <pc:sldLayoutMk cId="3541848229" sldId="2147483693"/>
              <ac:spMk id="19" creationId="{79861ADA-BA1A-DC7E-389F-A3336FE57971}"/>
            </ac:spMkLst>
          </pc:spChg>
        </pc:sldLayoutChg>
        <pc:sldLayoutChg chg="addSp delSp modSp mod">
          <pc:chgData name="Cristovao Timbana" userId="7ed9e01f-347d-41e7-8ac4-53e49369b88d" providerId="ADAL" clId="{C333D178-E2ED-4FA8-9CC0-19F94F3C9C94}" dt="2026-09-14T13:32:45.845" v="743" actId="21"/>
          <pc:sldLayoutMkLst>
            <pc:docMk/>
            <pc:sldMasterMk cId="0" sldId="2147483648"/>
            <pc:sldLayoutMk cId="2796597292" sldId="2147483705"/>
          </pc:sldLayoutMkLst>
          <pc:spChg chg="add">
            <ac:chgData name="Cristovao Timbana" userId="7ed9e01f-347d-41e7-8ac4-53e49369b88d" providerId="ADAL" clId="{C333D178-E2ED-4FA8-9CC0-19F94F3C9C94}" dt="2026-09-14T13:25:53.474" v="715" actId="22"/>
            <ac:spMkLst>
              <pc:docMk/>
              <pc:sldMasterMk cId="0" sldId="2147483648"/>
              <pc:sldLayoutMk cId="2796597292" sldId="2147483705"/>
              <ac:spMk id="4" creationId="{29228B11-0A5F-34E2-20F3-CD5ECDEADF7B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SSCM\Desktop\GRAFICOS%202024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SCM\Desktop\GRAFICOS%202024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SCM\Desktop\GRAFICOS%202024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Gr&#225;fico%202%20no%20Microsoft%20PowerPoint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SCM\Desktop\GRAFICOS%202024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themeOverride" Target="../theme/themeOverride1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SCM\Desktop\GRAFICOS%202024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PT" sz="1680" b="1" i="0" u="none" strike="noStrike" baseline="0" dirty="0" smtClean="0">
                <a:effectLst/>
              </a:rPr>
              <a:t>Enfermeiros </a:t>
            </a:r>
            <a:endParaRPr lang="pt-PT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'Nonestral - 2026'!$CT$39</c:f>
              <c:strCache>
                <c:ptCount val="1"/>
                <c:pt idx="0">
                  <c:v>2025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'Nonestral - 2026'!$CS$40:$CS$41</c:f>
              <c:strCache>
                <c:ptCount val="2"/>
                <c:pt idx="0">
                  <c:v>SMI</c:v>
                </c:pt>
                <c:pt idx="1">
                  <c:v>SMI Superior</c:v>
                </c:pt>
              </c:strCache>
            </c:strRef>
          </c:cat>
          <c:val>
            <c:numRef>
              <c:f>'Nonestral - 2026'!$CT$40:$CT$41</c:f>
              <c:numCache>
                <c:formatCode>General</c:formatCode>
                <c:ptCount val="2"/>
                <c:pt idx="0">
                  <c:v>34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tx>
            <c:strRef>
              <c:f>'Nonestral - 2026'!$CU$39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'Nonestral - 2026'!$CS$40:$CS$41</c:f>
              <c:strCache>
                <c:ptCount val="2"/>
                <c:pt idx="0">
                  <c:v>SMI</c:v>
                </c:pt>
                <c:pt idx="1">
                  <c:v>SMI Superior</c:v>
                </c:pt>
              </c:strCache>
            </c:strRef>
          </c:cat>
          <c:val>
            <c:numRef>
              <c:f>'Nonestral - 2026'!$CU$40:$CU$41</c:f>
              <c:numCache>
                <c:formatCode>General</c:formatCode>
                <c:ptCount val="2"/>
                <c:pt idx="0">
                  <c:v>36</c:v>
                </c:pt>
                <c:pt idx="1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489920"/>
        <c:axId val="140595968"/>
      </c:barChart>
      <c:catAx>
        <c:axId val="41489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solidFill>
              <a:schemeClr val="tx1">
                <a:lumMod val="50000"/>
              </a:schemeClr>
            </a:solidFill>
          </a:ln>
        </c:spPr>
        <c:crossAx val="140595968"/>
        <c:crosses val="autoZero"/>
        <c:auto val="1"/>
        <c:lblAlgn val="ctr"/>
        <c:lblOffset val="100"/>
        <c:noMultiLvlLbl val="0"/>
      </c:catAx>
      <c:valAx>
        <c:axId val="140595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solidFill>
              <a:schemeClr val="tx1">
                <a:lumMod val="50000"/>
              </a:schemeClr>
            </a:solidFill>
          </a:ln>
        </c:spPr>
        <c:crossAx val="4148992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spPr>
    <a:solidFill>
      <a:schemeClr val="tx1">
        <a:lumMod val="95000"/>
      </a:schemeClr>
    </a:solidFill>
    <a:ln>
      <a:solidFill>
        <a:schemeClr val="tx1">
          <a:lumMod val="50000"/>
        </a:schemeClr>
      </a:solidFill>
    </a:ln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 sz="1400" b="1">
          <a:solidFill>
            <a:schemeClr val="bg1"/>
          </a:solidFill>
          <a:latin typeface="Century Gothic (corpo)"/>
        </a:defRPr>
      </a:pPr>
      <a:endParaRPr lang="pt-PT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PT" dirty="0" smtClean="0"/>
              <a:t>Médicos</a:t>
            </a:r>
            <a:endParaRPr lang="pt-PT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'Nonestral - 2026'!$CT$29</c:f>
              <c:strCache>
                <c:ptCount val="1"/>
                <c:pt idx="0">
                  <c:v>2025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'Nonestral - 2026'!$CS$30:$CS$31</c:f>
              <c:strCache>
                <c:ptCount val="2"/>
                <c:pt idx="0">
                  <c:v>Especialistas</c:v>
                </c:pt>
                <c:pt idx="1">
                  <c:v>Residentes</c:v>
                </c:pt>
              </c:strCache>
            </c:strRef>
          </c:cat>
          <c:val>
            <c:numRef>
              <c:f>'Nonestral - 2026'!$CT$30:$CT$31</c:f>
              <c:numCache>
                <c:formatCode>General</c:formatCode>
                <c:ptCount val="2"/>
                <c:pt idx="0">
                  <c:v>8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strRef>
              <c:f>'Nonestral - 2026'!$CU$29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'Nonestral - 2026'!$CS$30:$CS$31</c:f>
              <c:strCache>
                <c:ptCount val="2"/>
                <c:pt idx="0">
                  <c:v>Especialistas</c:v>
                </c:pt>
                <c:pt idx="1">
                  <c:v>Residentes</c:v>
                </c:pt>
              </c:strCache>
            </c:strRef>
          </c:cat>
          <c:val>
            <c:numRef>
              <c:f>'Nonestral - 2026'!$CU$30:$CU$31</c:f>
              <c:numCache>
                <c:formatCode>General</c:formatCode>
                <c:ptCount val="2"/>
                <c:pt idx="0">
                  <c:v>7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0514816"/>
        <c:axId val="160555008"/>
      </c:barChart>
      <c:catAx>
        <c:axId val="160514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solidFill>
              <a:schemeClr val="tx1">
                <a:lumMod val="50000"/>
              </a:schemeClr>
            </a:solidFill>
          </a:ln>
        </c:spPr>
        <c:crossAx val="160555008"/>
        <c:crosses val="autoZero"/>
        <c:auto val="1"/>
        <c:lblAlgn val="ctr"/>
        <c:lblOffset val="100"/>
        <c:noMultiLvlLbl val="0"/>
      </c:catAx>
      <c:valAx>
        <c:axId val="160555008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ln>
            <a:solidFill>
              <a:schemeClr val="tx1">
                <a:lumMod val="50000"/>
              </a:schemeClr>
            </a:solidFill>
          </a:ln>
        </c:spPr>
        <c:crossAx val="16051481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spPr>
    <a:solidFill>
      <a:schemeClr val="tx1"/>
    </a:solidFill>
    <a:ln>
      <a:solidFill>
        <a:schemeClr val="tx1">
          <a:lumMod val="50000"/>
        </a:schemeClr>
      </a:solidFill>
    </a:ln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 sz="1400" b="1">
          <a:solidFill>
            <a:schemeClr val="bg1"/>
          </a:solidFill>
          <a:latin typeface="Century Gothic (corpo)"/>
        </a:defRPr>
      </a:pPr>
      <a:endParaRPr lang="pt-PT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'Nonestral - 2026'!$AX$40</c:f>
              <c:strCache>
                <c:ptCount val="1"/>
                <c:pt idx="0">
                  <c:v>Total de Enfermerios</c:v>
                </c:pt>
              </c:strCache>
            </c:strRef>
          </c:tx>
          <c:marker>
            <c:symbol val="none"/>
          </c:marke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'Nonestral - 2026'!$AW$41:$AW$45</c:f>
              <c:strCache>
                <c:ptCount val="5"/>
                <c:pt idx="0">
                  <c:v>Cs 1 de Junho</c:v>
                </c:pt>
                <c:pt idx="1">
                  <c:v>Cs Albazine</c:v>
                </c:pt>
                <c:pt idx="2">
                  <c:v>Cs Pescadores</c:v>
                </c:pt>
                <c:pt idx="3">
                  <c:v>Cs 1 de Maio</c:v>
                </c:pt>
                <c:pt idx="4">
                  <c:v>Cs Canhaca</c:v>
                </c:pt>
              </c:strCache>
            </c:strRef>
          </c:cat>
          <c:val>
            <c:numRef>
              <c:f>'Nonestral - 2026'!$AX$41:$AX$45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'Nonestral - 2026'!$AY$40</c:f>
              <c:strCache>
                <c:ptCount val="1"/>
                <c:pt idx="0">
                  <c:v>Escala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'Nonestral - 2026'!$AW$41:$AW$45</c:f>
              <c:strCache>
                <c:ptCount val="5"/>
                <c:pt idx="0">
                  <c:v>Cs 1 de Junho</c:v>
                </c:pt>
                <c:pt idx="1">
                  <c:v>Cs Albazine</c:v>
                </c:pt>
                <c:pt idx="2">
                  <c:v>Cs Pescadores</c:v>
                </c:pt>
                <c:pt idx="3">
                  <c:v>Cs 1 de Maio</c:v>
                </c:pt>
                <c:pt idx="4">
                  <c:v>Cs Canhaca</c:v>
                </c:pt>
              </c:strCache>
            </c:strRef>
          </c:cat>
          <c:val>
            <c:numRef>
              <c:f>'Nonestral - 2026'!$AY$41:$AY$45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058944"/>
        <c:axId val="197063040"/>
      </c:lineChart>
      <c:catAx>
        <c:axId val="19705894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bg1"/>
            </a:solidFill>
          </a:ln>
        </c:spPr>
        <c:txPr>
          <a:bodyPr rot="-2700000"/>
          <a:lstStyle/>
          <a:p>
            <a:pPr>
              <a:defRPr/>
            </a:pPr>
            <a:endParaRPr lang="pt-PT"/>
          </a:p>
        </c:txPr>
        <c:crossAx val="197063040"/>
        <c:crosses val="autoZero"/>
        <c:auto val="1"/>
        <c:lblAlgn val="ctr"/>
        <c:lblOffset val="100"/>
        <c:noMultiLvlLbl val="0"/>
      </c:catAx>
      <c:valAx>
        <c:axId val="197063040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7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chemeClr val="bg1"/>
            </a:solidFill>
          </a:ln>
        </c:spPr>
        <c:crossAx val="197058944"/>
        <c:crosses val="autoZero"/>
        <c:crossBetween val="between"/>
      </c:valAx>
      <c:spPr>
        <a:ln>
          <a:solidFill>
            <a:schemeClr val="tx1">
              <a:lumMod val="75000"/>
            </a:schemeClr>
          </a:solidFill>
        </a:ln>
      </c:spPr>
    </c:plotArea>
    <c:legend>
      <c:legendPos val="t"/>
      <c:layout/>
      <c:overlay val="0"/>
    </c:legend>
    <c:plotVisOnly val="1"/>
    <c:dispBlanksAs val="gap"/>
    <c:showDLblsOverMax val="0"/>
  </c:chart>
  <c:spPr>
    <a:solidFill>
      <a:schemeClr val="tx1"/>
    </a:solidFill>
    <a:ln>
      <a:solidFill>
        <a:schemeClr val="tx1">
          <a:lumMod val="50000"/>
        </a:schemeClr>
      </a:solidFill>
    </a:ln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 sz="1400" b="1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 sz="1600"/>
            </a:pPr>
            <a:r>
              <a:rPr lang="pt-PT" sz="1600"/>
              <a:t>Movimento na maternidade nos Centro de Saude Area de HGM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'[Gráfico 2 no Microsoft PowerPoint]HGM'!$C$12</c:f>
              <c:strCache>
                <c:ptCount val="1"/>
                <c:pt idx="0">
                  <c:v>CS 1 de Junho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'[Gráfico 2 no Microsoft PowerPoint]HGM'!$D$11:$E$11;'[Gráfico 2 no Microsoft PowerPoint]HGM'!$G$11:$H$11</c:f>
              <c:strCache>
                <c:ptCount val="4"/>
                <c:pt idx="0">
                  <c:v>Total de admitidos </c:v>
                </c:pt>
                <c:pt idx="1">
                  <c:v>Nº total de partos </c:v>
                </c:pt>
                <c:pt idx="2">
                  <c:v>Indice de Cumprimento</c:v>
                </c:pt>
                <c:pt idx="3">
                  <c:v>Transferidos (para HGM)</c:v>
                </c:pt>
              </c:strCache>
            </c:strRef>
          </c:cat>
          <c:val>
            <c:numRef>
              <c:f>'[Gráfico 2 no Microsoft PowerPoint]HGM'!$D$12:$E$12;'[Gráfico 2 no Microsoft PowerPoint]HGM'!$G$12:$H$12</c:f>
              <c:numCache>
                <c:formatCode>General</c:formatCode>
                <c:ptCount val="4"/>
                <c:pt idx="0">
                  <c:v>938</c:v>
                </c:pt>
                <c:pt idx="1">
                  <c:v>522</c:v>
                </c:pt>
                <c:pt idx="2" formatCode="0%">
                  <c:v>0.42716857610474634</c:v>
                </c:pt>
                <c:pt idx="3">
                  <c:v>247</c:v>
                </c:pt>
              </c:numCache>
            </c:numRef>
          </c:val>
        </c:ser>
        <c:ser>
          <c:idx val="1"/>
          <c:order val="1"/>
          <c:tx>
            <c:strRef>
              <c:f>'[Gráfico 2 no Microsoft PowerPoint]HGM'!$C$13</c:f>
              <c:strCache>
                <c:ptCount val="1"/>
                <c:pt idx="0">
                  <c:v>CS Albazine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convex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'[Gráfico 2 no Microsoft PowerPoint]HGM'!$D$11:$E$11;'[Gráfico 2 no Microsoft PowerPoint]HGM'!$G$11:$H$11</c:f>
              <c:strCache>
                <c:ptCount val="4"/>
                <c:pt idx="0">
                  <c:v>Total de admitidos </c:v>
                </c:pt>
                <c:pt idx="1">
                  <c:v>Nº total de partos </c:v>
                </c:pt>
                <c:pt idx="2">
                  <c:v>Indice de Cumprimento</c:v>
                </c:pt>
                <c:pt idx="3">
                  <c:v>Transferidos (para HGM)</c:v>
                </c:pt>
              </c:strCache>
            </c:strRef>
          </c:cat>
          <c:val>
            <c:numRef>
              <c:f>'[Gráfico 2 no Microsoft PowerPoint]HGM'!$D$13:$E$13;'[Gráfico 2 no Microsoft PowerPoint]HGM'!$G$13:$H$13</c:f>
              <c:numCache>
                <c:formatCode>General</c:formatCode>
                <c:ptCount val="4"/>
                <c:pt idx="0">
                  <c:v>1428</c:v>
                </c:pt>
                <c:pt idx="1">
                  <c:v>554</c:v>
                </c:pt>
                <c:pt idx="2" formatCode="0%">
                  <c:v>0.43759873617693523</c:v>
                </c:pt>
                <c:pt idx="3">
                  <c:v>302</c:v>
                </c:pt>
              </c:numCache>
            </c:numRef>
          </c:val>
        </c:ser>
        <c:ser>
          <c:idx val="2"/>
          <c:order val="2"/>
          <c:tx>
            <c:strRef>
              <c:f>'[Gráfico 2 no Microsoft PowerPoint]HGM'!$C$14</c:f>
              <c:strCache>
                <c:ptCount val="1"/>
                <c:pt idx="0">
                  <c:v>CS 1 de Maio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'[Gráfico 2 no Microsoft PowerPoint]HGM'!$D$11:$E$11;'[Gráfico 2 no Microsoft PowerPoint]HGM'!$G$11:$H$11</c:f>
              <c:strCache>
                <c:ptCount val="4"/>
                <c:pt idx="0">
                  <c:v>Total de admitidos </c:v>
                </c:pt>
                <c:pt idx="1">
                  <c:v>Nº total de partos </c:v>
                </c:pt>
                <c:pt idx="2">
                  <c:v>Indice de Cumprimento</c:v>
                </c:pt>
                <c:pt idx="3">
                  <c:v>Transferidos (para HGM)</c:v>
                </c:pt>
              </c:strCache>
            </c:strRef>
          </c:cat>
          <c:val>
            <c:numRef>
              <c:f>'[Gráfico 2 no Microsoft PowerPoint]HGM'!$D$14:$E$14;'[Gráfico 2 no Microsoft PowerPoint]HGM'!$G$14:$H$14</c:f>
              <c:numCache>
                <c:formatCode>General</c:formatCode>
                <c:ptCount val="4"/>
                <c:pt idx="0">
                  <c:v>880</c:v>
                </c:pt>
                <c:pt idx="1">
                  <c:v>351</c:v>
                </c:pt>
                <c:pt idx="2" formatCode="0%">
                  <c:v>0.43874999999999997</c:v>
                </c:pt>
                <c:pt idx="3">
                  <c:v>291</c:v>
                </c:pt>
              </c:numCache>
            </c:numRef>
          </c:val>
        </c:ser>
        <c:ser>
          <c:idx val="3"/>
          <c:order val="3"/>
          <c:tx>
            <c:strRef>
              <c:f>'[Gráfico 2 no Microsoft PowerPoint]HGM'!$C$15</c:f>
              <c:strCache>
                <c:ptCount val="1"/>
                <c:pt idx="0">
                  <c:v>CS Canhaca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'[Gráfico 2 no Microsoft PowerPoint]HGM'!$D$11:$E$11;'[Gráfico 2 no Microsoft PowerPoint]HGM'!$G$11:$H$11</c:f>
              <c:strCache>
                <c:ptCount val="4"/>
                <c:pt idx="0">
                  <c:v>Total de admitidos </c:v>
                </c:pt>
                <c:pt idx="1">
                  <c:v>Nº total de partos </c:v>
                </c:pt>
                <c:pt idx="2">
                  <c:v>Indice de Cumprimento</c:v>
                </c:pt>
                <c:pt idx="3">
                  <c:v>Transferidos (para HGM)</c:v>
                </c:pt>
              </c:strCache>
            </c:strRef>
          </c:cat>
          <c:val>
            <c:numRef>
              <c:f>'[Gráfico 2 no Microsoft PowerPoint]HGM'!$D$15:$E$15;'[Gráfico 2 no Microsoft PowerPoint]HGM'!$G$15:$H$15</c:f>
              <c:numCache>
                <c:formatCode>General</c:formatCode>
                <c:ptCount val="4"/>
                <c:pt idx="0">
                  <c:v>53</c:v>
                </c:pt>
                <c:pt idx="1">
                  <c:v>45</c:v>
                </c:pt>
                <c:pt idx="2" formatCode="0%">
                  <c:v>0.4838709677419355</c:v>
                </c:pt>
                <c:pt idx="3">
                  <c:v>8</c:v>
                </c:pt>
              </c:numCache>
            </c:numRef>
          </c:val>
        </c:ser>
        <c:ser>
          <c:idx val="4"/>
          <c:order val="4"/>
          <c:tx>
            <c:strRef>
              <c:f>'[Gráfico 2 no Microsoft PowerPoint]HGM'!$C$16</c:f>
              <c:strCache>
                <c:ptCount val="1"/>
                <c:pt idx="0">
                  <c:v>CS Pescadores</c:v>
                </c:pt>
              </c:strCache>
            </c:strRef>
          </c:tx>
          <c:spPr>
            <a:solidFill>
              <a:schemeClr val="tx1">
                <a:lumMod val="65000"/>
              </a:schemeClr>
            </a:solidFill>
            <a:scene3d>
              <a:camera prst="orthographicFront"/>
              <a:lightRig rig="threePt" dir="t"/>
            </a:scene3d>
            <a:sp3d>
              <a:bevelT prst="slope"/>
            </a:sp3d>
          </c:spPr>
          <c:invertIfNegative val="0"/>
          <c:dLbls>
            <c:spPr>
              <a:scene3d>
                <a:camera prst="orthographicFront"/>
                <a:lightRig rig="threePt" dir="t"/>
              </a:scene3d>
              <a:sp3d>
                <a:bevelB prst="slope"/>
              </a:sp3d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'[Gráfico 2 no Microsoft PowerPoint]HGM'!$D$11:$E$11;'[Gráfico 2 no Microsoft PowerPoint]HGM'!$G$11:$H$11</c:f>
              <c:strCache>
                <c:ptCount val="4"/>
                <c:pt idx="0">
                  <c:v>Total de admitidos </c:v>
                </c:pt>
                <c:pt idx="1">
                  <c:v>Nº total de partos </c:v>
                </c:pt>
                <c:pt idx="2">
                  <c:v>Indice de Cumprimento</c:v>
                </c:pt>
                <c:pt idx="3">
                  <c:v>Transferidos (para HGM)</c:v>
                </c:pt>
              </c:strCache>
            </c:strRef>
          </c:cat>
          <c:val>
            <c:numRef>
              <c:f>'[Gráfico 2 no Microsoft PowerPoint]HGM'!$D$16:$E$16;'[Gráfico 2 no Microsoft PowerPoint]HGM'!$G$16:$H$16</c:f>
              <c:numCache>
                <c:formatCode>General</c:formatCode>
                <c:ptCount val="4"/>
                <c:pt idx="0">
                  <c:v>390</c:v>
                </c:pt>
                <c:pt idx="1">
                  <c:v>241</c:v>
                </c:pt>
                <c:pt idx="2" formatCode="0%">
                  <c:v>0.52967032967032968</c:v>
                </c:pt>
                <c:pt idx="3">
                  <c:v>102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5191168"/>
        <c:axId val="285201536"/>
      </c:barChart>
      <c:catAx>
        <c:axId val="285191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pt-PT"/>
          </a:p>
        </c:txPr>
        <c:crossAx val="285201536"/>
        <c:crosses val="autoZero"/>
        <c:auto val="1"/>
        <c:lblAlgn val="ctr"/>
        <c:lblOffset val="100"/>
        <c:noMultiLvlLbl val="0"/>
      </c:catAx>
      <c:valAx>
        <c:axId val="2852015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pt-PT"/>
          </a:p>
        </c:txPr>
        <c:crossAx val="285191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pt-PT"/>
        </a:p>
      </c:txPr>
    </c:legend>
    <c:plotVisOnly val="1"/>
    <c:dispBlanksAs val="gap"/>
    <c:showDLblsOverMax val="0"/>
  </c:chart>
  <c:spPr>
    <a:solidFill>
      <a:schemeClr val="tx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 sz="1050" b="1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 sz="1600"/>
            </a:pPr>
            <a:r>
              <a:rPr lang="en-US" sz="1600" dirty="0"/>
              <a:t>Peso das </a:t>
            </a:r>
            <a:r>
              <a:rPr lang="pt-PT" sz="1600" b="1" i="0" u="none" strike="noStrike" baseline="0" dirty="0" smtClean="0">
                <a:effectLst/>
              </a:rPr>
              <a:t>Transferências</a:t>
            </a:r>
            <a:endParaRPr lang="en-US" sz="1600" dirty="0"/>
          </a:p>
        </c:rich>
      </c:tx>
      <c:layout>
        <c:manualLayout>
          <c:xMode val="edge"/>
          <c:yMode val="edge"/>
          <c:x val="0.30457697683473128"/>
          <c:y val="2.561749251142197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E85-4D75-B432-DFC274F5913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E85-4D75-B432-DFC274F59138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vert="horz"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pt-PT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Sheet1!$A$33:$A$34</c:f>
              <c:strCache>
                <c:ptCount val="2"/>
                <c:pt idx="0">
                  <c:v>Transferencias </c:v>
                </c:pt>
                <c:pt idx="1">
                  <c:v>Casa </c:v>
                </c:pt>
              </c:strCache>
            </c:strRef>
          </c:cat>
          <c:val>
            <c:numRef>
              <c:f>Sheet1!$B$33:$B$34</c:f>
              <c:numCache>
                <c:formatCode>0.00%</c:formatCode>
                <c:ptCount val="2"/>
                <c:pt idx="0">
                  <c:v>0.30299999999999999</c:v>
                </c:pt>
                <c:pt idx="1">
                  <c:v>0.69699999999999995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1E85-4D75-B432-DFC274F5913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vert="horz"/>
        <a:lstStyle/>
        <a:p>
          <a:pPr>
            <a:defRPr sz="1200" b="1"/>
          </a:pPr>
          <a:endParaRPr lang="pt-PT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tx1">
          <a:lumMod val="50000"/>
        </a:schemeClr>
      </a:solidFill>
      <a:round/>
    </a:ln>
    <a:effectLst/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 sz="1050"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 dirty="0" err="1" smtClean="0"/>
              <a:t>Transferências</a:t>
            </a:r>
            <a:r>
              <a:rPr lang="en-US" dirty="0" smtClean="0"/>
              <a:t> </a:t>
            </a:r>
            <a:r>
              <a:rPr lang="en-US" dirty="0"/>
              <a:t>CS </a:t>
            </a:r>
            <a:r>
              <a:rPr lang="en-US" dirty="0" smtClean="0"/>
              <a:t>Area </a:t>
            </a:r>
            <a:r>
              <a:rPr lang="en-US" dirty="0" err="1"/>
              <a:t>Mavalane</a:t>
            </a:r>
            <a:endParaRPr lang="en-US" dirty="0"/>
          </a:p>
        </c:rich>
      </c:tx>
      <c:layout>
        <c:manualLayout>
          <c:xMode val="edge"/>
          <c:yMode val="edge"/>
          <c:x val="0.28961434820647419"/>
          <c:y val="2.431534785520010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Sheet1!$A$35:$A$43</c:f>
              <c:strCache>
                <c:ptCount val="9"/>
                <c:pt idx="0">
                  <c:v>Peclampsia</c:v>
                </c:pt>
                <c:pt idx="1">
                  <c:v>cesariana anter</c:v>
                </c:pt>
                <c:pt idx="2">
                  <c:v>Roptura de Membra</c:v>
                </c:pt>
                <c:pt idx="3">
                  <c:v>SFA</c:v>
                </c:pt>
                <c:pt idx="4">
                  <c:v>ICP</c:v>
                </c:pt>
                <c:pt idx="5">
                  <c:v>Postermo</c:v>
                </c:pt>
                <c:pt idx="6">
                  <c:v>Parto arrastado</c:v>
                </c:pt>
                <c:pt idx="7">
                  <c:v>Idade &gt;35</c:v>
                </c:pt>
                <c:pt idx="8">
                  <c:v>Outros </c:v>
                </c:pt>
              </c:strCache>
            </c:strRef>
          </c:cat>
          <c:val>
            <c:numRef>
              <c:f>Sheet1!$B$35:$B$43</c:f>
              <c:numCache>
                <c:formatCode>General</c:formatCode>
                <c:ptCount val="9"/>
                <c:pt idx="0">
                  <c:v>316</c:v>
                </c:pt>
                <c:pt idx="1">
                  <c:v>21</c:v>
                </c:pt>
                <c:pt idx="2">
                  <c:v>189</c:v>
                </c:pt>
                <c:pt idx="3">
                  <c:v>227</c:v>
                </c:pt>
                <c:pt idx="4">
                  <c:v>102</c:v>
                </c:pt>
                <c:pt idx="5">
                  <c:v>33</c:v>
                </c:pt>
                <c:pt idx="6">
                  <c:v>9</c:v>
                </c:pt>
                <c:pt idx="7">
                  <c:v>42</c:v>
                </c:pt>
                <c:pt idx="8">
                  <c:v>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323-437E-A8D0-333D7E1D5B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40915328"/>
        <c:axId val="40945536"/>
      </c:barChart>
      <c:catAx>
        <c:axId val="40915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b="1"/>
            </a:pPr>
            <a:endParaRPr lang="pt-PT"/>
          </a:p>
        </c:txPr>
        <c:crossAx val="40945536"/>
        <c:crosses val="autoZero"/>
        <c:auto val="1"/>
        <c:lblAlgn val="ctr"/>
        <c:lblOffset val="100"/>
        <c:noMultiLvlLbl val="0"/>
      </c:catAx>
      <c:valAx>
        <c:axId val="40945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pt-PT"/>
          </a:p>
        </c:txPr>
        <c:crossAx val="4091532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tx1">
          <a:lumMod val="50000"/>
        </a:schemeClr>
      </a:solidFill>
      <a:round/>
    </a:ln>
    <a:effectLst/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pt-PT"/>
              <a:t>Indicadores da sala de partos </a:t>
            </a:r>
          </a:p>
        </c:rich>
      </c:tx>
      <c:layout>
        <c:manualLayout>
          <c:xMode val="edge"/>
          <c:yMode val="edge"/>
          <c:x val="0.14522222222222222"/>
          <c:y val="2.777777777777777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Sheet1!$B$48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Sheet1!$A$49:$A$51</c:f>
              <c:strCache>
                <c:ptCount val="3"/>
                <c:pt idx="0">
                  <c:v>Total de partos </c:v>
                </c:pt>
                <c:pt idx="1">
                  <c:v>Cesarianas </c:v>
                </c:pt>
                <c:pt idx="2">
                  <c:v>Nados vivos </c:v>
                </c:pt>
              </c:strCache>
            </c:strRef>
          </c:cat>
          <c:val>
            <c:numRef>
              <c:f>Sheet1!$B$49:$B$51</c:f>
              <c:numCache>
                <c:formatCode>General</c:formatCode>
                <c:ptCount val="3"/>
                <c:pt idx="0">
                  <c:v>3507</c:v>
                </c:pt>
                <c:pt idx="1">
                  <c:v>724</c:v>
                </c:pt>
                <c:pt idx="2">
                  <c:v>3469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F71-4001-B63B-7750894C5830}"/>
            </c:ext>
          </c:extLst>
        </c:ser>
        <c:ser>
          <c:idx val="1"/>
          <c:order val="1"/>
          <c:tx>
            <c:strRef>
              <c:f>Sheet1!$C$48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Sheet1!$A$49:$A$51</c:f>
              <c:strCache>
                <c:ptCount val="3"/>
                <c:pt idx="0">
                  <c:v>Total de partos </c:v>
                </c:pt>
                <c:pt idx="1">
                  <c:v>Cesarianas </c:v>
                </c:pt>
                <c:pt idx="2">
                  <c:v>Nados vivos </c:v>
                </c:pt>
              </c:strCache>
            </c:strRef>
          </c:cat>
          <c:val>
            <c:numRef>
              <c:f>Sheet1!$C$49:$C$51</c:f>
              <c:numCache>
                <c:formatCode>General</c:formatCode>
                <c:ptCount val="3"/>
                <c:pt idx="0">
                  <c:v>5119</c:v>
                </c:pt>
                <c:pt idx="1">
                  <c:v>1862</c:v>
                </c:pt>
                <c:pt idx="2">
                  <c:v>5092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F71-4001-B63B-7750894C583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43077248"/>
        <c:axId val="343078784"/>
      </c:barChart>
      <c:catAx>
        <c:axId val="343077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b="1"/>
            </a:pPr>
            <a:endParaRPr lang="pt-PT"/>
          </a:p>
        </c:txPr>
        <c:crossAx val="343078784"/>
        <c:crosses val="autoZero"/>
        <c:auto val="1"/>
        <c:lblAlgn val="ctr"/>
        <c:lblOffset val="100"/>
        <c:noMultiLvlLbl val="0"/>
      </c:catAx>
      <c:valAx>
        <c:axId val="34307878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43077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vert="horz"/>
        <a:lstStyle/>
        <a:p>
          <a:pPr>
            <a:defRPr/>
          </a:pPr>
          <a:endParaRPr lang="pt-PT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tx1">
          <a:lumMod val="50000"/>
        </a:schemeClr>
      </a:solidFill>
      <a:round/>
    </a:ln>
    <a:effectLst/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Nados Mortos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Sheet1!$B$56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Sheet1!$A$57:$A$60</c:f>
              <c:strCache>
                <c:ptCount val="4"/>
                <c:pt idx="0">
                  <c:v>nados Mortos </c:v>
                </c:pt>
                <c:pt idx="1">
                  <c:v>Macerrados </c:v>
                </c:pt>
                <c:pt idx="2">
                  <c:v>focos perdidos </c:v>
                </c:pt>
                <c:pt idx="3">
                  <c:v>TNM</c:v>
                </c:pt>
              </c:strCache>
            </c:strRef>
          </c:cat>
          <c:val>
            <c:numRef>
              <c:f>Sheet1!$B$57:$B$60</c:f>
              <c:numCache>
                <c:formatCode>General</c:formatCode>
                <c:ptCount val="4"/>
                <c:pt idx="0">
                  <c:v>38</c:v>
                </c:pt>
                <c:pt idx="1">
                  <c:v>32</c:v>
                </c:pt>
                <c:pt idx="2">
                  <c:v>4</c:v>
                </c:pt>
                <c:pt idx="3" formatCode="0%">
                  <c:v>0.01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E6F-4039-9BA7-1C9AAB3A6319}"/>
            </c:ext>
          </c:extLst>
        </c:ser>
        <c:ser>
          <c:idx val="1"/>
          <c:order val="1"/>
          <c:tx>
            <c:strRef>
              <c:f>Sheet1!$C$56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Sheet1!$A$57:$A$60</c:f>
              <c:strCache>
                <c:ptCount val="4"/>
                <c:pt idx="0">
                  <c:v>nados Mortos </c:v>
                </c:pt>
                <c:pt idx="1">
                  <c:v>Macerrados </c:v>
                </c:pt>
                <c:pt idx="2">
                  <c:v>focos perdidos </c:v>
                </c:pt>
                <c:pt idx="3">
                  <c:v>TNM</c:v>
                </c:pt>
              </c:strCache>
            </c:strRef>
          </c:cat>
          <c:val>
            <c:numRef>
              <c:f>Sheet1!$C$57:$C$60</c:f>
              <c:numCache>
                <c:formatCode>General</c:formatCode>
                <c:ptCount val="4"/>
                <c:pt idx="0">
                  <c:v>27</c:v>
                </c:pt>
                <c:pt idx="1">
                  <c:v>19</c:v>
                </c:pt>
                <c:pt idx="2">
                  <c:v>8</c:v>
                </c:pt>
                <c:pt idx="3" formatCode="0.00%">
                  <c:v>5.0000000000000001E-3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AE6F-4039-9BA7-1C9AAB3A631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59000320"/>
        <c:axId val="359060224"/>
      </c:barChart>
      <c:catAx>
        <c:axId val="359000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b="1"/>
            </a:pPr>
            <a:endParaRPr lang="pt-PT"/>
          </a:p>
        </c:txPr>
        <c:crossAx val="359060224"/>
        <c:crosses val="autoZero"/>
        <c:auto val="1"/>
        <c:lblAlgn val="ctr"/>
        <c:lblOffset val="100"/>
        <c:noMultiLvlLbl val="0"/>
      </c:catAx>
      <c:valAx>
        <c:axId val="35906022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59000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vert="horz"/>
        <a:lstStyle/>
        <a:p>
          <a:pPr>
            <a:defRPr/>
          </a:pPr>
          <a:endParaRPr lang="pt-PT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tx1">
          <a:lumMod val="50000"/>
        </a:schemeClr>
      </a:solidFill>
      <a:round/>
    </a:ln>
    <a:effectLst/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Mortalidade Materna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Sheet1!$B$70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Sheet1!$A$71:$A$76</c:f>
              <c:strCache>
                <c:ptCount val="6"/>
                <c:pt idx="0">
                  <c:v>Hemorragia obstetrica  </c:v>
                </c:pt>
                <c:pt idx="1">
                  <c:v>Hipertensao na gravidez</c:v>
                </c:pt>
                <c:pt idx="2">
                  <c:v>Aborto </c:v>
                </c:pt>
                <c:pt idx="3">
                  <c:v>Sepsis </c:v>
                </c:pt>
                <c:pt idx="4">
                  <c:v>Compli Anestesica</c:v>
                </c:pt>
                <c:pt idx="5">
                  <c:v>Total </c:v>
                </c:pt>
              </c:strCache>
            </c:strRef>
          </c:cat>
          <c:val>
            <c:numRef>
              <c:f>Sheet1!$B$71:$B$76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  <c:pt idx="5">
                  <c:v>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644-4BD5-8DAA-3FDED04E79AC}"/>
            </c:ext>
          </c:extLst>
        </c:ser>
        <c:ser>
          <c:idx val="1"/>
          <c:order val="1"/>
          <c:tx>
            <c:strRef>
              <c:f>Sheet1!$C$70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Sheet1!$A$71:$A$76</c:f>
              <c:strCache>
                <c:ptCount val="6"/>
                <c:pt idx="0">
                  <c:v>Hemorragia obstetrica  </c:v>
                </c:pt>
                <c:pt idx="1">
                  <c:v>Hipertensao na gravidez</c:v>
                </c:pt>
                <c:pt idx="2">
                  <c:v>Aborto </c:v>
                </c:pt>
                <c:pt idx="3">
                  <c:v>Sepsis </c:v>
                </c:pt>
                <c:pt idx="4">
                  <c:v>Compli Anestesica</c:v>
                </c:pt>
                <c:pt idx="5">
                  <c:v>Total </c:v>
                </c:pt>
              </c:strCache>
            </c:strRef>
          </c:cat>
          <c:val>
            <c:numRef>
              <c:f>Sheet1!$C$71:$C$76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644-4BD5-8DAA-3FDED04E79A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12653440"/>
        <c:axId val="412654976"/>
      </c:barChart>
      <c:catAx>
        <c:axId val="41265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b="1"/>
            </a:pPr>
            <a:endParaRPr lang="pt-PT"/>
          </a:p>
        </c:txPr>
        <c:crossAx val="412654976"/>
        <c:crosses val="autoZero"/>
        <c:auto val="1"/>
        <c:lblAlgn val="ctr"/>
        <c:lblOffset val="100"/>
        <c:noMultiLvlLbl val="0"/>
      </c:catAx>
      <c:valAx>
        <c:axId val="41265497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41265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vert="horz"/>
        <a:lstStyle/>
        <a:p>
          <a:pPr>
            <a:defRPr b="1"/>
          </a:pPr>
          <a:endParaRPr lang="pt-PT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tx1">
          <a:lumMod val="50000"/>
        </a:schemeClr>
      </a:solidFill>
      <a:round/>
    </a:ln>
    <a:effectLst/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'Nonestral - 2026'!$AY$12</c:f>
              <c:strCache>
                <c:ptCount val="1"/>
                <c:pt idx="0">
                  <c:v>HGM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'Nonestral - 2026'!$AX$13:$AX$14</c:f>
              <c:numCache>
                <c:formatCode>General</c:formatCode>
                <c:ptCount val="2"/>
                <c:pt idx="0">
                  <c:v>2025</c:v>
                </c:pt>
                <c:pt idx="1">
                  <c:v>2026</c:v>
                </c:pt>
              </c:numCache>
            </c:numRef>
          </c:cat>
          <c:val>
            <c:numRef>
              <c:f>'Nonestral - 2026'!$AY$13:$AY$14</c:f>
              <c:numCache>
                <c:formatCode>General</c:formatCode>
                <c:ptCount val="2"/>
                <c:pt idx="0">
                  <c:v>259</c:v>
                </c:pt>
                <c:pt idx="1">
                  <c:v>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5806976"/>
        <c:axId val="285809664"/>
      </c:barChart>
      <c:catAx>
        <c:axId val="285806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95000"/>
                <a:lumOff val="5000"/>
              </a:schemeClr>
            </a:solidFill>
          </a:ln>
        </c:spPr>
        <c:crossAx val="285809664"/>
        <c:crosses val="autoZero"/>
        <c:auto val="1"/>
        <c:lblAlgn val="ctr"/>
        <c:lblOffset val="100"/>
        <c:noMultiLvlLbl val="0"/>
      </c:catAx>
      <c:valAx>
        <c:axId val="2858096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95000"/>
                <a:lumOff val="5000"/>
              </a:schemeClr>
            </a:solidFill>
          </a:ln>
        </c:spPr>
        <c:crossAx val="285806976"/>
        <c:crosses val="autoZero"/>
        <c:crossBetween val="between"/>
      </c:valAx>
    </c:plotArea>
    <c:plotVisOnly val="1"/>
    <c:dispBlanksAs val="gap"/>
    <c:showDLblsOverMax val="0"/>
  </c:chart>
  <c:spPr>
    <a:solidFill>
      <a:schemeClr val="tx1"/>
    </a:solidFill>
    <a:ln>
      <a:noFill/>
    </a:ln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 sz="1400" b="1">
          <a:solidFill>
            <a:schemeClr val="bg1"/>
          </a:solidFill>
          <a:latin typeface="Century Gothic (corpo)"/>
        </a:defRPr>
      </a:pPr>
      <a:endParaRPr lang="pt-PT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Proveniencia das mortes</a:t>
            </a:r>
          </a:p>
        </c:rich>
      </c:tx>
      <c:layout>
        <c:manualLayout>
          <c:xMode val="edge"/>
          <c:yMode val="edge"/>
          <c:x val="0.19319444444444445"/>
          <c:y val="2.777777777777777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5747594050743661E-2"/>
          <c:y val="0.17171296296296298"/>
          <c:w val="0.8964746281714786"/>
          <c:h val="0.5857946923301253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1 de Maio</c:v>
                </c:pt>
                <c:pt idx="1">
                  <c:v>1 de Junho</c:v>
                </c:pt>
                <c:pt idx="2">
                  <c:v>Romao</c:v>
                </c:pt>
                <c:pt idx="3">
                  <c:v>Pescadores</c:v>
                </c:pt>
                <c:pt idx="4">
                  <c:v>Albasine</c:v>
                </c:pt>
                <c:pt idx="5">
                  <c:v>P Cimento</c:v>
                </c:pt>
                <c:pt idx="6">
                  <c:v>Malhagalene</c:v>
                </c:pt>
                <c:pt idx="7">
                  <c:v>Inhaka</c:v>
                </c:pt>
                <c:pt idx="8">
                  <c:v>casa</c:v>
                </c:pt>
                <c:pt idx="9">
                  <c:v>outros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EB0-415F-8C0A-4808DB353D0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561548288"/>
        <c:axId val="561686400"/>
      </c:barChart>
      <c:catAx>
        <c:axId val="561548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pt-PT"/>
          </a:p>
        </c:txPr>
        <c:crossAx val="561686400"/>
        <c:crosses val="autoZero"/>
        <c:auto val="1"/>
        <c:lblAlgn val="ctr"/>
        <c:lblOffset val="100"/>
        <c:noMultiLvlLbl val="0"/>
      </c:catAx>
      <c:valAx>
        <c:axId val="56168640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6154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tx1">
          <a:lumMod val="50000"/>
        </a:schemeClr>
      </a:solidFill>
      <a:round/>
    </a:ln>
    <a:effectLst/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>
          <a:solidFill>
            <a:schemeClr val="bg1"/>
          </a:solidFill>
        </a:defRPr>
      </a:pPr>
      <a:endParaRPr lang="pt-PT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/>
            </a:pPr>
            <a:r>
              <a:rPr lang="en-US" dirty="0" err="1"/>
              <a:t>Óbitos</a:t>
            </a:r>
            <a:r>
              <a:rPr lang="en-US" dirty="0"/>
              <a:t> </a:t>
            </a:r>
            <a:r>
              <a:rPr lang="en-US" dirty="0" err="1"/>
              <a:t>Neonatais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5.9149444044975311E-2"/>
          <c:y val="0.12999694629952097"/>
          <c:w val="0.93072529056544073"/>
          <c:h val="0.713364563998545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HGM!$C$66</c:f>
              <c:strCache>
                <c:ptCount val="1"/>
                <c:pt idx="0">
                  <c:v>HGM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c:spPr>
          <c:invertIfNegative val="0"/>
          <c:dPt>
            <c:idx val="0"/>
            <c:invertIfNegative val="0"/>
            <c:bubble3D val="0"/>
            <c:spPr>
              <a:solidFill>
                <a:srgbClr val="17406D">
                  <a:lumMod val="40000"/>
                  <a:lumOff val="60000"/>
                </a:srgb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prst="slope"/>
              </a:sp3d>
            </c:spPr>
          </c:dPt>
          <c:dPt>
            <c:idx val="1"/>
            <c:invertIfNegative val="0"/>
            <c:bubble3D val="0"/>
            <c:spPr>
              <a:solidFill>
                <a:srgbClr val="A5C249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prst="slope"/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HGM!$D$65:$F$65</c:f>
              <c:strCache>
                <c:ptCount val="3"/>
                <c:pt idx="0">
                  <c:v>Nº de nados mortos (1 semestre 2025)</c:v>
                </c:pt>
                <c:pt idx="1">
                  <c:v>Nº de nados mortos (1 semestre 2026)</c:v>
                </c:pt>
                <c:pt idx="2">
                  <c:v>Evolução </c:v>
                </c:pt>
              </c:strCache>
            </c:strRef>
          </c:cat>
          <c:val>
            <c:numRef>
              <c:f>HGM!$D$66:$F$66</c:f>
              <c:numCache>
                <c:formatCode>General</c:formatCode>
                <c:ptCount val="3"/>
                <c:pt idx="0">
                  <c:v>80</c:v>
                </c:pt>
                <c:pt idx="1">
                  <c:v>167</c:v>
                </c:pt>
                <c:pt idx="2" formatCode="0%">
                  <c:v>1.0874999999999999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5B8-4DE6-8862-8B46660CA1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842496"/>
        <c:axId val="140844032"/>
      </c:barChart>
      <c:catAx>
        <c:axId val="14084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pt-PT"/>
          </a:p>
        </c:txPr>
        <c:crossAx val="140844032"/>
        <c:crosses val="autoZero"/>
        <c:auto val="1"/>
        <c:lblAlgn val="ctr"/>
        <c:lblOffset val="100"/>
        <c:noMultiLvlLbl val="0"/>
      </c:catAx>
      <c:valAx>
        <c:axId val="1408440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pt-PT"/>
          </a:p>
        </c:txPr>
        <c:crossAx val="140842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ysClr val="window" lastClr="FFFFFF">
          <a:lumMod val="50000"/>
        </a:sysClr>
      </a:solidFill>
      <a:round/>
    </a:ln>
    <a:effectLst/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 sz="1800" b="1"/>
      </a:pPr>
      <a:endParaRPr lang="pt-PT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'Nonestral - 2026'!$CP$63</c:f>
              <c:strCache>
                <c:ptCount val="1"/>
                <c:pt idx="0">
                  <c:v>2026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'Nonestral - 2026'!$CO$64:$CO$69</c:f>
              <c:strCache>
                <c:ptCount val="6"/>
                <c:pt idx="0">
                  <c:v>CS 1 de Junho </c:v>
                </c:pt>
                <c:pt idx="1">
                  <c:v>Cs 1 de Maio </c:v>
                </c:pt>
                <c:pt idx="2">
                  <c:v>Cs Pescadores </c:v>
                </c:pt>
                <c:pt idx="3">
                  <c:v>Cs Albazine</c:v>
                </c:pt>
                <c:pt idx="4">
                  <c:v>CS Inhaca </c:v>
                </c:pt>
                <c:pt idx="5">
                  <c:v>HGM</c:v>
                </c:pt>
              </c:strCache>
            </c:strRef>
          </c:cat>
          <c:val>
            <c:numRef>
              <c:f>'Nonestral - 2026'!$CP$64:$CP$69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2</c:v>
                </c:pt>
                <c:pt idx="3">
                  <c:v>6</c:v>
                </c:pt>
                <c:pt idx="4">
                  <c:v>0</c:v>
                </c:pt>
                <c:pt idx="5">
                  <c:v>106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908288"/>
        <c:axId val="140620928"/>
      </c:barChart>
      <c:catAx>
        <c:axId val="4090828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tx1">
                <a:lumMod val="75000"/>
              </a:schemeClr>
            </a:solidFill>
          </a:ln>
        </c:spPr>
        <c:txPr>
          <a:bodyPr rot="-2700000"/>
          <a:lstStyle/>
          <a:p>
            <a:pPr>
              <a:defRPr/>
            </a:pPr>
            <a:endParaRPr lang="pt-PT"/>
          </a:p>
        </c:txPr>
        <c:crossAx val="140620928"/>
        <c:crosses val="autoZero"/>
        <c:auto val="1"/>
        <c:lblAlgn val="ctr"/>
        <c:lblOffset val="100"/>
        <c:noMultiLvlLbl val="0"/>
      </c:catAx>
      <c:valAx>
        <c:axId val="1406209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chemeClr val="tx1">
                <a:lumMod val="75000"/>
              </a:schemeClr>
            </a:solidFill>
          </a:ln>
        </c:spPr>
        <c:crossAx val="40908288"/>
        <c:crosses val="autoZero"/>
        <c:crossBetween val="between"/>
      </c:valAx>
    </c:plotArea>
    <c:plotVisOnly val="1"/>
    <c:dispBlanksAs val="gap"/>
    <c:showDLblsOverMax val="0"/>
  </c:chart>
  <c:spPr>
    <a:solidFill>
      <a:schemeClr val="tx1"/>
    </a:solidFill>
    <a:ln>
      <a:solidFill>
        <a:schemeClr val="tx1">
          <a:lumMod val="50000"/>
        </a:schemeClr>
      </a:solidFill>
    </a:ln>
    <a:scene3d>
      <a:camera prst="orthographicFront"/>
      <a:lightRig rig="threePt" dir="t"/>
    </a:scene3d>
    <a:sp3d>
      <a:bevelT w="114300" prst="artDeco"/>
    </a:sp3d>
  </c:spPr>
  <c:txPr>
    <a:bodyPr/>
    <a:lstStyle/>
    <a:p>
      <a:pPr>
        <a:defRPr sz="1600" b="1">
          <a:solidFill>
            <a:schemeClr val="bg1"/>
          </a:solidFill>
          <a:latin typeface="Century Gothic (corpo)"/>
        </a:defRPr>
      </a:pPr>
      <a:endParaRPr lang="pt-PT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0.1977</cdr:x>
      <cdr:y>0.39373</cdr:y>
    </cdr:from>
    <cdr:to>
      <cdr:x>0.42767</cdr:x>
      <cdr:y>0.53244</cdr:y>
    </cdr:to>
    <cdr:sp macro="" textlink="">
      <cdr:nvSpPr>
        <cdr:cNvPr id="2" name="Oval 1"/>
        <cdr:cNvSpPr/>
      </cdr:nvSpPr>
      <cdr:spPr>
        <a:xfrm xmlns:a="http://schemas.openxmlformats.org/drawingml/2006/main" rot="19818761">
          <a:off x="1034862" y="1548177"/>
          <a:ext cx="1203786" cy="54541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4">
            <a:lumMod val="60000"/>
            <a:lumOff val="40000"/>
          </a:schemeClr>
        </a:solidFill>
        <a:ln xmlns:a="http://schemas.openxmlformats.org/drawingml/2006/main">
          <a:solidFill>
            <a:srgbClr val="E6FFCD"/>
          </a:solidFill>
        </a:ln>
        <a:effectLst xmlns:a="http://schemas.openxmlformats.org/drawingml/2006/main">
          <a:outerShdw blurRad="225425" dist="50800" dir="5220000" algn="ctr">
            <a:srgbClr val="000000">
              <a:alpha val="33000"/>
            </a:srgbClr>
          </a:outerShdw>
        </a:effectLst>
        <a:scene3d xmlns:a="http://schemas.openxmlformats.org/drawingml/2006/main"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xmlns:a="http://schemas.openxmlformats.org/drawingml/2006/main" extrusionH="254000" contourW="19050">
          <a:bevelT w="82550" h="44450" prst="angle"/>
          <a:bevelB w="82550" h="44450" prst="angle"/>
          <a:contourClr>
            <a:srgbClr val="FFFFFF"/>
          </a:contourClr>
        </a:sp3d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noAutofit/>
        </a:bodyPr>
        <a:lstStyle xmlns:a="http://schemas.openxmlformats.org/drawingml/2006/main">
          <a:defPPr>
            <a:defRPr lang="en-US"/>
          </a:defPPr>
          <a:lvl1pPr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1200" b="1" dirty="0" smtClean="0">
              <a:solidFill>
                <a:schemeClr val="bg1"/>
              </a:solidFill>
              <a:latin typeface="Century Gothic" pitchFamily="34" charset="0"/>
            </a:rPr>
            <a:t>5,9</a:t>
          </a:r>
          <a:r>
            <a:rPr lang="pt-PT" sz="1200" b="1" dirty="0" smtClean="0">
              <a:solidFill>
                <a:schemeClr val="bg1"/>
              </a:solidFill>
              <a:latin typeface="Century Gothic" pitchFamily="34" charset="0"/>
            </a:rPr>
            <a:t>%</a:t>
          </a:r>
          <a:endParaRPr lang="pt-PT" sz="1200" b="1" dirty="0">
            <a:solidFill>
              <a:schemeClr val="bg1"/>
            </a:solidFill>
            <a:latin typeface="Century Gothic" pitchFamily="34" charset="0"/>
          </a:endParaRPr>
        </a:p>
      </cdr:txBody>
    </cdr:sp>
  </cdr:relSizeAnchor>
  <cdr:relSizeAnchor xmlns:cdr="http://schemas.openxmlformats.org/drawingml/2006/chartDrawing">
    <cdr:from>
      <cdr:x>0.69325</cdr:x>
      <cdr:y>0.45752</cdr:y>
    </cdr:from>
    <cdr:to>
      <cdr:x>0.92322</cdr:x>
      <cdr:y>0.59623</cdr:y>
    </cdr:to>
    <cdr:sp macro="" textlink="">
      <cdr:nvSpPr>
        <cdr:cNvPr id="3" name="Oval 2"/>
        <cdr:cNvSpPr/>
      </cdr:nvSpPr>
      <cdr:spPr>
        <a:xfrm xmlns:a="http://schemas.openxmlformats.org/drawingml/2006/main" rot="19818761">
          <a:off x="3628837" y="1799002"/>
          <a:ext cx="1203786" cy="54541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4">
            <a:lumMod val="60000"/>
            <a:lumOff val="40000"/>
          </a:schemeClr>
        </a:solidFill>
        <a:ln xmlns:a="http://schemas.openxmlformats.org/drawingml/2006/main">
          <a:solidFill>
            <a:srgbClr val="E6FFCD"/>
          </a:solidFill>
        </a:ln>
        <a:effectLst xmlns:a="http://schemas.openxmlformats.org/drawingml/2006/main">
          <a:outerShdw blurRad="225425" dist="50800" dir="5220000" algn="ctr">
            <a:srgbClr val="000000">
              <a:alpha val="33000"/>
            </a:srgbClr>
          </a:outerShdw>
        </a:effectLst>
        <a:scene3d xmlns:a="http://schemas.openxmlformats.org/drawingml/2006/main"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xmlns:a="http://schemas.openxmlformats.org/drawingml/2006/main" extrusionH="254000" contourW="19050">
          <a:bevelT w="82550" h="44450" prst="angle"/>
          <a:bevelB w="82550" h="44450" prst="angle"/>
          <a:contourClr>
            <a:srgbClr val="FFFFFF"/>
          </a:contourClr>
        </a:sp3d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noAutofit/>
        </a:bodyPr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1200" b="1" dirty="0" smtClean="0">
              <a:solidFill>
                <a:srgbClr val="FF0000"/>
              </a:solidFill>
              <a:latin typeface="Century Gothic" pitchFamily="34" charset="0"/>
            </a:rPr>
            <a:t>-40,0</a:t>
          </a:r>
          <a:r>
            <a:rPr lang="pt-PT" sz="1200" b="1" dirty="0" smtClean="0">
              <a:solidFill>
                <a:srgbClr val="FF0000"/>
              </a:solidFill>
              <a:latin typeface="Century Gothic" pitchFamily="34" charset="0"/>
            </a:rPr>
            <a:t>%</a:t>
          </a:r>
          <a:endParaRPr lang="pt-PT" sz="1200" b="1" dirty="0">
            <a:solidFill>
              <a:srgbClr val="FF0000"/>
            </a:solidFill>
            <a:latin typeface="Century Gothic" pitchFamily="34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="" xmlns:a16="http://schemas.microsoft.com/office/drawing/2014/main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="" xmlns:a16="http://schemas.microsoft.com/office/drawing/2014/main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605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08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=""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=""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=""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42261" indent="-231115" defTabSz="462229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3004490" indent="-231115" defTabSz="462229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66719" indent="-231115" defTabSz="462229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928948" indent="-231115" defTabSz="462229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496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2CC6742-0D21-882A-91B9-77613B7C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B483EAE-7869-8F5C-14D3-A1FE2A86C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7FD817CA-99A3-3536-71CD-810CF23E1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 err="1"/>
              <a:t>Perguntas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importantes</a:t>
            </a:r>
            <a:r>
              <a:rPr lang="en-US" dirty="0"/>
              <a:t> para o </a:t>
            </a:r>
            <a:r>
              <a:rPr lang="en-US" dirty="0" err="1"/>
              <a:t>painel</a:t>
            </a:r>
            <a:r>
              <a:rPr lang="en-US" dirty="0"/>
              <a:t>: </a:t>
            </a:r>
            <a:r>
              <a:rPr lang="en-US" b="1" dirty="0"/>
              <a:t>Qual é o </a:t>
            </a:r>
            <a:r>
              <a:rPr lang="en-US" b="1" dirty="0" err="1"/>
              <a:t>impacto</a:t>
            </a:r>
            <a:r>
              <a:rPr lang="en-US" b="1" dirty="0"/>
              <a:t> dessas </a:t>
            </a:r>
            <a:r>
              <a:rPr lang="en-US" b="1" dirty="0" err="1"/>
              <a:t>referências</a:t>
            </a:r>
            <a:r>
              <a:rPr lang="en-US" b="1" dirty="0"/>
              <a:t> </a:t>
            </a:r>
            <a:r>
              <a:rPr lang="en-US" b="1" dirty="0" err="1"/>
              <a:t>sobre</a:t>
            </a:r>
            <a:r>
              <a:rPr lang="en-US" b="1" dirty="0"/>
              <a:t> a </a:t>
            </a:r>
            <a:r>
              <a:rPr lang="en-US" b="1" dirty="0" err="1"/>
              <a:t>capacidade</a:t>
            </a:r>
            <a:r>
              <a:rPr lang="en-US" b="1" dirty="0"/>
              <a:t> </a:t>
            </a:r>
            <a:r>
              <a:rPr lang="en-US" b="1" dirty="0" err="1"/>
              <a:t>assistencial</a:t>
            </a:r>
            <a:r>
              <a:rPr lang="en-US" b="1" dirty="0"/>
              <a:t> do hospital?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Quais </a:t>
            </a:r>
            <a:r>
              <a:rPr lang="en-US" b="1" dirty="0" err="1"/>
              <a:t>são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principais</a:t>
            </a:r>
            <a:r>
              <a:rPr lang="en-US" b="1" dirty="0"/>
              <a:t> </a:t>
            </a:r>
            <a:r>
              <a:rPr lang="en-US" b="1" dirty="0" err="1"/>
              <a:t>resultados</a:t>
            </a:r>
            <a:r>
              <a:rPr lang="en-US" b="1" dirty="0"/>
              <a:t> </a:t>
            </a:r>
            <a:r>
              <a:rPr lang="en-US" b="1" dirty="0" err="1"/>
              <a:t>maternos</a:t>
            </a:r>
            <a:r>
              <a:rPr lang="en-US" b="1" dirty="0"/>
              <a:t> e </a:t>
            </a:r>
            <a:r>
              <a:rPr lang="en-US" b="1" dirty="0" err="1"/>
              <a:t>neonatais</a:t>
            </a:r>
            <a:r>
              <a:rPr lang="en-US" b="1" dirty="0"/>
              <a:t> e </a:t>
            </a:r>
            <a:r>
              <a:rPr lang="en-US" b="1" dirty="0" err="1"/>
              <a:t>onde</a:t>
            </a:r>
            <a:r>
              <a:rPr lang="en-US" b="1" dirty="0"/>
              <a:t> </a:t>
            </a:r>
            <a:r>
              <a:rPr lang="en-US" b="1" dirty="0" err="1"/>
              <a:t>estão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pontos</a:t>
            </a:r>
            <a:r>
              <a:rPr lang="en-US" b="1" dirty="0"/>
              <a:t> </a:t>
            </a:r>
            <a:r>
              <a:rPr lang="en-US" b="1" dirty="0" err="1"/>
              <a:t>críticos</a:t>
            </a:r>
            <a:r>
              <a:rPr lang="en-US" b="1" dirty="0"/>
              <a:t> da rede?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126C295-0FC8-3688-8E92-29C3CD0B2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14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 err="1"/>
              <a:t>Perguntas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importantes</a:t>
            </a:r>
            <a:r>
              <a:rPr lang="en-US" dirty="0"/>
              <a:t> para o </a:t>
            </a:r>
            <a:r>
              <a:rPr lang="en-US" dirty="0" err="1"/>
              <a:t>painel</a:t>
            </a:r>
            <a:r>
              <a:rPr lang="en-US" dirty="0"/>
              <a:t>: </a:t>
            </a:r>
            <a:r>
              <a:rPr lang="en-US" b="1" dirty="0"/>
              <a:t>Qual é o </a:t>
            </a:r>
            <a:r>
              <a:rPr lang="en-US" b="1" dirty="0" err="1"/>
              <a:t>impacto</a:t>
            </a:r>
            <a:r>
              <a:rPr lang="en-US" b="1" dirty="0"/>
              <a:t> dessas </a:t>
            </a:r>
            <a:r>
              <a:rPr lang="en-US" b="1" dirty="0" err="1"/>
              <a:t>referências</a:t>
            </a:r>
            <a:r>
              <a:rPr lang="en-US" b="1" dirty="0"/>
              <a:t> </a:t>
            </a:r>
            <a:r>
              <a:rPr lang="en-US" b="1" dirty="0" err="1"/>
              <a:t>sobre</a:t>
            </a:r>
            <a:r>
              <a:rPr lang="en-US" b="1" dirty="0"/>
              <a:t> a </a:t>
            </a:r>
            <a:r>
              <a:rPr lang="en-US" b="1" dirty="0" err="1"/>
              <a:t>capacidade</a:t>
            </a:r>
            <a:r>
              <a:rPr lang="en-US" b="1" dirty="0"/>
              <a:t> </a:t>
            </a:r>
            <a:r>
              <a:rPr lang="en-US" b="1" dirty="0" err="1"/>
              <a:t>assistencial</a:t>
            </a:r>
            <a:r>
              <a:rPr lang="en-US" b="1" dirty="0"/>
              <a:t> do hospital?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Quais </a:t>
            </a:r>
            <a:r>
              <a:rPr lang="en-US" b="1" dirty="0" err="1"/>
              <a:t>são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principais</a:t>
            </a:r>
            <a:r>
              <a:rPr lang="en-US" b="1" dirty="0"/>
              <a:t> </a:t>
            </a:r>
            <a:r>
              <a:rPr lang="en-US" b="1" dirty="0" err="1"/>
              <a:t>resultados</a:t>
            </a:r>
            <a:r>
              <a:rPr lang="en-US" b="1" dirty="0"/>
              <a:t> </a:t>
            </a:r>
            <a:r>
              <a:rPr lang="en-US" b="1" dirty="0" err="1"/>
              <a:t>maternos</a:t>
            </a:r>
            <a:r>
              <a:rPr lang="en-US" b="1" dirty="0"/>
              <a:t> e </a:t>
            </a:r>
            <a:r>
              <a:rPr lang="en-US" b="1" dirty="0" err="1"/>
              <a:t>neonatais</a:t>
            </a:r>
            <a:r>
              <a:rPr lang="en-US" b="1" dirty="0"/>
              <a:t> e </a:t>
            </a:r>
            <a:r>
              <a:rPr lang="en-US" b="1" dirty="0" err="1"/>
              <a:t>onde</a:t>
            </a:r>
            <a:r>
              <a:rPr lang="en-US" b="1" dirty="0"/>
              <a:t> </a:t>
            </a:r>
            <a:r>
              <a:rPr lang="en-US" b="1" dirty="0" err="1"/>
              <a:t>estão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pontos</a:t>
            </a:r>
            <a:r>
              <a:rPr lang="en-US" b="1" dirty="0"/>
              <a:t> </a:t>
            </a:r>
            <a:r>
              <a:rPr lang="en-US" b="1" dirty="0" err="1"/>
              <a:t>críticos</a:t>
            </a:r>
            <a:r>
              <a:rPr lang="en-US" b="1" dirty="0"/>
              <a:t> da rede?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84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</a:t>
            </a:r>
            <a:r>
              <a:rPr lang="en-US" dirty="0" err="1"/>
              <a:t>indice</a:t>
            </a:r>
            <a:r>
              <a:rPr lang="en-US" dirty="0"/>
              <a:t> de </a:t>
            </a:r>
            <a:r>
              <a:rPr lang="en-US" dirty="0" err="1"/>
              <a:t>cumprimento</a:t>
            </a:r>
            <a:r>
              <a:rPr lang="en-US" dirty="0"/>
              <a:t> ter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conta</a:t>
            </a:r>
            <a:r>
              <a:rPr lang="en-US" dirty="0"/>
              <a:t> a meta de </a:t>
            </a:r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partos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29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06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=""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=""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=""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=""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=""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=""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=""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=""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=""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=""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=""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=""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=""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=""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=""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=""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=""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=""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650" y="5597337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=""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920248"/>
            <a:ext cx="902970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 GERAL MAVALANE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=""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=""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524656" y="3575878"/>
            <a:ext cx="10879659" cy="155075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ea typeface="MS PGothic" panose="020B0600070205080204" pitchFamily="34" charset="-128"/>
              </a:rPr>
              <a:t>Tema: “</a:t>
            </a:r>
            <a:r>
              <a:rPr lang="pt-PT" altLang="en-US" sz="3200" b="1" dirty="0">
                <a:ea typeface="MS PGothic" panose="020B0600070205080204" pitchFamily="34" charset="-128"/>
              </a:rPr>
              <a:t>Rede de Emergência Obstétrica e Neonatal: Referência e Capacidade Resolutiva - Área do HGM</a:t>
            </a:r>
            <a:r>
              <a:rPr lang="en-US" altLang="en-US" sz="3200" b="1" dirty="0">
                <a:ea typeface="MS PGothic" panose="020B0600070205080204" pitchFamily="34" charset="-128"/>
              </a:rPr>
              <a:t>” </a:t>
            </a:r>
            <a:endParaRPr lang="pt-BR" sz="3200" b="1" dirty="0">
              <a:solidFill>
                <a:srgbClr val="DBEFF9">
                  <a:lumMod val="25000"/>
                </a:srgb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A361DD-1489-8A43-82B0-DC1661E13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41225CB-ECD2-3041-83EB-9CE5A5D88086}"/>
              </a:ext>
            </a:extLst>
          </p:cNvPr>
          <p:cNvSpPr txBox="1"/>
          <p:nvPr/>
        </p:nvSpPr>
        <p:spPr>
          <a:xfrm>
            <a:off x="1184223" y="221163"/>
            <a:ext cx="104631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Rede sanitária 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B13EDD2-F0FC-144E-A2AB-BC9AA2C9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58" y="1028984"/>
            <a:ext cx="8104540" cy="5425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2321858" y="6454588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rgbClr val="002060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>
                <a:solidFill>
                  <a:srgbClr val="002060"/>
                </a:solidFill>
                <a:latin typeface="Century Gothic" pitchFamily="34" charset="0"/>
                <a:cs typeface="Times New Roman" pitchFamily="18" charset="0"/>
              </a:rPr>
              <a:t>HGM/NEP</a:t>
            </a:r>
            <a:endParaRPr lang="en-ZA" altLang="pt-PT" sz="1050" dirty="0">
              <a:solidFill>
                <a:srgbClr val="002060"/>
              </a:solidFill>
              <a:latin typeface="Century Gothic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71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5678C29-B991-E318-C6A6-550E6CF7E735}"/>
              </a:ext>
            </a:extLst>
          </p:cNvPr>
          <p:cNvSpPr txBox="1"/>
          <p:nvPr/>
        </p:nvSpPr>
        <p:spPr>
          <a:xfrm>
            <a:off x="1184223" y="221163"/>
            <a:ext cx="104631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Objectivos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4" name="TextBox 5">
            <a:extLst>
              <a:ext uri="{FF2B5EF4-FFF2-40B4-BE49-F238E27FC236}">
                <a16:creationId xmlns=""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510988" y="1613646"/>
            <a:ext cx="1084729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/>
            <a:r>
              <a:rPr lang="pt-BR" sz="2800" b="1" dirty="0" err="1">
                <a:solidFill>
                  <a:schemeClr val="bg1"/>
                </a:solidFill>
                <a:cs typeface="Arial" panose="020B0604020202020204" pitchFamily="34" charset="0"/>
              </a:rPr>
              <a:t>Objectivo</a:t>
            </a:r>
            <a:r>
              <a:rPr lang="pt-BR" sz="2800" b="1" dirty="0">
                <a:solidFill>
                  <a:schemeClr val="bg1"/>
                </a:solidFill>
                <a:cs typeface="Arial" panose="020B0604020202020204" pitchFamily="34" charset="0"/>
              </a:rPr>
              <a:t> Geral </a:t>
            </a:r>
          </a:p>
          <a:p>
            <a:pPr algn="just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 algn="just" defTabSz="91440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Analisar</a:t>
            </a:r>
            <a:r>
              <a:rPr lang="en-US" dirty="0">
                <a:solidFill>
                  <a:schemeClr val="bg1"/>
                </a:solidFill>
              </a:rPr>
              <a:t> o </a:t>
            </a:r>
            <a:r>
              <a:rPr lang="en-US" dirty="0" err="1">
                <a:solidFill>
                  <a:schemeClr val="bg1"/>
                </a:solidFill>
              </a:rPr>
              <a:t>desempenho</a:t>
            </a:r>
            <a:r>
              <a:rPr lang="en-US" dirty="0">
                <a:solidFill>
                  <a:schemeClr val="bg1"/>
                </a:solidFill>
              </a:rPr>
              <a:t> da rede </a:t>
            </a:r>
            <a:r>
              <a:rPr lang="en-US" dirty="0" err="1">
                <a:solidFill>
                  <a:schemeClr val="bg1"/>
                </a:solidFill>
              </a:rPr>
              <a:t>materno</a:t>
            </a:r>
            <a:r>
              <a:rPr lang="en-US" dirty="0">
                <a:solidFill>
                  <a:schemeClr val="bg1"/>
                </a:solidFill>
              </a:rPr>
              <a:t>-neonatal, </a:t>
            </a:r>
            <a:r>
              <a:rPr lang="en-US" dirty="0" err="1">
                <a:solidFill>
                  <a:schemeClr val="bg1"/>
                </a:solidFill>
              </a:rPr>
              <a:t>desde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assistência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maternidades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origem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ao</a:t>
            </a:r>
            <a:r>
              <a:rPr lang="en-US" dirty="0">
                <a:solidFill>
                  <a:schemeClr val="bg1"/>
                </a:solidFill>
              </a:rPr>
              <a:t> hospital de </a:t>
            </a:r>
            <a:r>
              <a:rPr lang="en-US" dirty="0" err="1">
                <a:solidFill>
                  <a:schemeClr val="bg1"/>
                </a:solidFill>
              </a:rPr>
              <a:t>referência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identificando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padrões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referência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principais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complicações</a:t>
            </a:r>
            <a:r>
              <a:rPr lang="en-US" dirty="0">
                <a:solidFill>
                  <a:schemeClr val="bg1"/>
                </a:solidFill>
              </a:rPr>
              <a:t> e </a:t>
            </a:r>
            <a:r>
              <a:rPr lang="en-US" dirty="0" err="1">
                <a:solidFill>
                  <a:schemeClr val="bg1"/>
                </a:solidFill>
              </a:rPr>
              <a:t>desfechos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maternos</a:t>
            </a:r>
            <a:r>
              <a:rPr lang="en-US" dirty="0">
                <a:solidFill>
                  <a:schemeClr val="bg1"/>
                </a:solidFill>
              </a:rPr>
              <a:t> e </a:t>
            </a:r>
            <a:r>
              <a:rPr lang="en-US" dirty="0" err="1">
                <a:solidFill>
                  <a:schemeClr val="bg1"/>
                </a:solidFill>
              </a:rPr>
              <a:t>neonatais</a:t>
            </a:r>
            <a:r>
              <a:rPr lang="en-US" dirty="0">
                <a:solidFill>
                  <a:schemeClr val="bg1"/>
                </a:solidFill>
              </a:rPr>
              <a:t>, para </a:t>
            </a:r>
            <a:r>
              <a:rPr lang="en-US" dirty="0" err="1">
                <a:solidFill>
                  <a:schemeClr val="bg1"/>
                </a:solidFill>
              </a:rPr>
              <a:t>orientar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intervenções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melhoria</a:t>
            </a:r>
            <a:r>
              <a:rPr lang="en-US" dirty="0">
                <a:solidFill>
                  <a:schemeClr val="bg1"/>
                </a:solidFill>
              </a:rPr>
              <a:t> da </a:t>
            </a:r>
            <a:r>
              <a:rPr lang="en-US" dirty="0" err="1">
                <a:solidFill>
                  <a:schemeClr val="bg1"/>
                </a:solidFill>
              </a:rPr>
              <a:t>qualidade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resolutividade</a:t>
            </a:r>
            <a:r>
              <a:rPr lang="en-US" dirty="0">
                <a:solidFill>
                  <a:schemeClr val="bg1"/>
                </a:solidFill>
              </a:rPr>
              <a:t> e </a:t>
            </a:r>
            <a:r>
              <a:rPr lang="en-US" dirty="0" err="1">
                <a:solidFill>
                  <a:schemeClr val="bg1"/>
                </a:solidFill>
              </a:rPr>
              <a:t>continuidade</a:t>
            </a:r>
            <a:r>
              <a:rPr lang="en-US" dirty="0">
                <a:solidFill>
                  <a:schemeClr val="bg1"/>
                </a:solidFill>
              </a:rPr>
              <a:t> dos </a:t>
            </a:r>
            <a:r>
              <a:rPr lang="en-US" dirty="0" err="1">
                <a:solidFill>
                  <a:schemeClr val="bg1"/>
                </a:solidFill>
              </a:rPr>
              <a:t>cuidados</a:t>
            </a:r>
            <a:endParaRPr lang="pt-BR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24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5678C29-B991-E318-C6A6-550E6CF7E735}"/>
              </a:ext>
            </a:extLst>
          </p:cNvPr>
          <p:cNvSpPr txBox="1"/>
          <p:nvPr/>
        </p:nvSpPr>
        <p:spPr>
          <a:xfrm>
            <a:off x="1184223" y="221163"/>
            <a:ext cx="104631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Fluxo de Transferência de Pacientes de CS para Hospital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671" y="953237"/>
            <a:ext cx="8872884" cy="5815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231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7F49512-250D-C5E5-C763-C5FFE64A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9DC612B-065E-695D-A7CF-74F800A191AE}"/>
              </a:ext>
            </a:extLst>
          </p:cNvPr>
          <p:cNvSpPr txBox="1"/>
          <p:nvPr/>
        </p:nvSpPr>
        <p:spPr>
          <a:xfrm>
            <a:off x="1783830" y="221163"/>
            <a:ext cx="100284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Capacidade de RH por turno HGM 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083C179-490B-D850-64BD-13E22922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651942" y="5351672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6128816" y="5351672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  <p:graphicFrame>
        <p:nvGraphicFramePr>
          <p:cNvPr id="10" name="Gráfic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9586757"/>
              </p:ext>
            </p:extLst>
          </p:nvPr>
        </p:nvGraphicFramePr>
        <p:xfrm>
          <a:off x="651942" y="1390650"/>
          <a:ext cx="5234508" cy="3961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Gráfico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4381159"/>
              </p:ext>
            </p:extLst>
          </p:nvPr>
        </p:nvGraphicFramePr>
        <p:xfrm>
          <a:off x="6200775" y="1398494"/>
          <a:ext cx="5448300" cy="395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Oval 13"/>
          <p:cNvSpPr/>
          <p:nvPr/>
        </p:nvSpPr>
        <p:spPr>
          <a:xfrm rot="19818761">
            <a:off x="7224295" y="3154289"/>
            <a:ext cx="1203786" cy="54942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E6FFCD"/>
            </a:solidFill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1200" b="1" dirty="0" smtClean="0">
                <a:solidFill>
                  <a:srgbClr val="FF0000"/>
                </a:solidFill>
                <a:latin typeface="Century Gothic" pitchFamily="34" charset="0"/>
              </a:rPr>
              <a:t>-12,5</a:t>
            </a:r>
            <a:r>
              <a:rPr lang="pt-PT" sz="1200" b="1" dirty="0" smtClean="0">
                <a:solidFill>
                  <a:srgbClr val="FF0000"/>
                </a:solidFill>
                <a:latin typeface="Century Gothic" pitchFamily="34" charset="0"/>
              </a:rPr>
              <a:t>%</a:t>
            </a:r>
            <a:endParaRPr lang="pt-PT" sz="12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 rot="19818761">
            <a:off x="9967496" y="2266784"/>
            <a:ext cx="1203786" cy="54942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E6FFCD"/>
            </a:solidFill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1200" b="1" dirty="0" smtClean="0">
                <a:solidFill>
                  <a:srgbClr val="FF0000"/>
                </a:solidFill>
                <a:latin typeface="Century Gothic" pitchFamily="34" charset="0"/>
              </a:rPr>
              <a:t>-</a:t>
            </a:r>
            <a:r>
              <a:rPr lang="pt-PT" sz="1200" b="1" dirty="0" smtClean="0">
                <a:solidFill>
                  <a:srgbClr val="FF0000"/>
                </a:solidFill>
                <a:latin typeface="Century Gothic" pitchFamily="34" charset="0"/>
              </a:rPr>
              <a:t>50,0</a:t>
            </a:r>
            <a:r>
              <a:rPr lang="pt-PT" sz="1200" b="1" dirty="0" smtClean="0">
                <a:solidFill>
                  <a:srgbClr val="FF0000"/>
                </a:solidFill>
                <a:latin typeface="Century Gothic" pitchFamily="34" charset="0"/>
              </a:rPr>
              <a:t>%</a:t>
            </a:r>
            <a:endParaRPr lang="pt-PT" sz="12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18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06D8B86-B83D-4C8D-3792-B16F375CBE53}"/>
              </a:ext>
            </a:extLst>
          </p:cNvPr>
          <p:cNvSpPr txBox="1"/>
          <p:nvPr/>
        </p:nvSpPr>
        <p:spPr>
          <a:xfrm>
            <a:off x="1754333" y="221163"/>
            <a:ext cx="100284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Capacidade de RH por turno HGM 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5" name="Rectângulo 4"/>
          <p:cNvSpPr/>
          <p:nvPr/>
        </p:nvSpPr>
        <p:spPr>
          <a:xfrm>
            <a:off x="1171575" y="1092661"/>
            <a:ext cx="1020127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ctr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>
                <a:solidFill>
                  <a:srgbClr val="001D35"/>
                </a:solidFill>
                <a:cs typeface="Times New Roman" panose="02020603050405020304" pitchFamily="18" charset="0"/>
              </a:rPr>
              <a:t>3 </a:t>
            </a:r>
            <a:r>
              <a:rPr lang="pt-BR" dirty="0" smtClean="0">
                <a:solidFill>
                  <a:srgbClr val="001D35"/>
                </a:solidFill>
                <a:cs typeface="Times New Roman" panose="02020603050405020304" pitchFamily="18" charset="0"/>
              </a:rPr>
              <a:t>médicos </a:t>
            </a:r>
            <a:r>
              <a:rPr lang="pt-BR" dirty="0">
                <a:solidFill>
                  <a:srgbClr val="001D35"/>
                </a:solidFill>
                <a:cs typeface="Times New Roman" panose="02020603050405020304" pitchFamily="18" charset="0"/>
              </a:rPr>
              <a:t>especialistas não trabalham nos turnos da noite, restando apenas 4 especialista para 30 noites de </a:t>
            </a:r>
            <a:r>
              <a:rPr lang="pt-BR" dirty="0" smtClean="0">
                <a:solidFill>
                  <a:srgbClr val="001D35"/>
                </a:solidFill>
                <a:cs typeface="Times New Roman" panose="02020603050405020304" pitchFamily="18" charset="0"/>
              </a:rPr>
              <a:t>urgência </a:t>
            </a:r>
            <a:r>
              <a:rPr lang="pt-BR" dirty="0">
                <a:solidFill>
                  <a:srgbClr val="001D35"/>
                </a:solidFill>
                <a:cs typeface="Times New Roman" panose="02020603050405020304" pitchFamily="18" charset="0"/>
              </a:rPr>
              <a:t>em ginecologia e </a:t>
            </a:r>
            <a:r>
              <a:rPr lang="pt-BR" dirty="0" smtClean="0">
                <a:solidFill>
                  <a:srgbClr val="001D35"/>
                </a:solidFill>
                <a:cs typeface="Times New Roman" panose="02020603050405020304" pitchFamily="18" charset="0"/>
              </a:rPr>
              <a:t>obstetricia.</a:t>
            </a:r>
          </a:p>
          <a:p>
            <a:pPr algn="just" fontAlgn="ctr">
              <a:lnSpc>
                <a:spcPct val="150000"/>
              </a:lnSpc>
            </a:pPr>
            <a:endParaRPr lang="pt-BR" dirty="0">
              <a:solidFill>
                <a:srgbClr val="001D35"/>
              </a:solidFill>
              <a:cs typeface="Times New Roman" panose="02020603050405020304" pitchFamily="18" charset="0"/>
            </a:endParaRPr>
          </a:p>
          <a:p>
            <a:pPr marL="285750" indent="-285750" algn="just" fontAlgn="ctr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>
                <a:solidFill>
                  <a:srgbClr val="001D35"/>
                </a:solidFill>
                <a:cs typeface="Times New Roman" panose="02020603050405020304" pitchFamily="18" charset="0"/>
              </a:rPr>
              <a:t>3 enfermeiras superiores não podem cobrir 30 noites como segundo elementos, a maior parte dos turnos serao de apenas </a:t>
            </a:r>
            <a:r>
              <a:rPr lang="pt-BR" b="1" dirty="0">
                <a:solidFill>
                  <a:srgbClr val="001D35"/>
                </a:solidFill>
                <a:cs typeface="Times New Roman" panose="02020603050405020304" pitchFamily="18" charset="0"/>
              </a:rPr>
              <a:t>um </a:t>
            </a:r>
            <a:r>
              <a:rPr lang="pt-BR" b="1" dirty="0" smtClean="0">
                <a:solidFill>
                  <a:srgbClr val="001D35"/>
                </a:solidFill>
                <a:cs typeface="Times New Roman" panose="02020603050405020304" pitchFamily="18" charset="0"/>
              </a:rPr>
              <a:t>médico </a:t>
            </a:r>
            <a:r>
              <a:rPr lang="pt-BR" b="1" dirty="0">
                <a:solidFill>
                  <a:srgbClr val="001D35"/>
                </a:solidFill>
                <a:cs typeface="Times New Roman" panose="02020603050405020304" pitchFamily="18" charset="0"/>
              </a:rPr>
              <a:t>e duas enfermeiras, para atender sala de partos, bloco </a:t>
            </a:r>
            <a:r>
              <a:rPr lang="pt-BR" b="1" dirty="0" smtClean="0">
                <a:solidFill>
                  <a:srgbClr val="001D35"/>
                </a:solidFill>
                <a:cs typeface="Times New Roman" panose="02020603050405020304" pitchFamily="18" charset="0"/>
              </a:rPr>
              <a:t>operatório </a:t>
            </a:r>
            <a:r>
              <a:rPr lang="pt-BR" b="1" dirty="0">
                <a:solidFill>
                  <a:srgbClr val="001D35"/>
                </a:solidFill>
                <a:cs typeface="Times New Roman" panose="02020603050405020304" pitchFamily="18" charset="0"/>
              </a:rPr>
              <a:t>e </a:t>
            </a:r>
            <a:r>
              <a:rPr lang="pt-BR" b="1" dirty="0" smtClean="0">
                <a:solidFill>
                  <a:srgbClr val="001D35"/>
                </a:solidFill>
                <a:cs typeface="Times New Roman" panose="02020603050405020304" pitchFamily="18" charset="0"/>
              </a:rPr>
              <a:t>urgência </a:t>
            </a:r>
            <a:r>
              <a:rPr lang="pt-BR" b="1" dirty="0">
                <a:solidFill>
                  <a:srgbClr val="001D35"/>
                </a:solidFill>
                <a:cs typeface="Times New Roman" panose="02020603050405020304" pitchFamily="18" charset="0"/>
              </a:rPr>
              <a:t>de </a:t>
            </a:r>
            <a:r>
              <a:rPr lang="pt-BR" b="1" dirty="0" smtClean="0">
                <a:solidFill>
                  <a:srgbClr val="001D35"/>
                </a:solidFill>
                <a:cs typeface="Times New Roman" panose="02020603050405020304" pitchFamily="18" charset="0"/>
              </a:rPr>
              <a:t>ginecologia.</a:t>
            </a:r>
            <a:endParaRPr lang="pt-PT" altLang="en-US" b="1" dirty="0" smtClean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85750" indent="-285750" algn="just" defTabSz="914400">
              <a:lnSpc>
                <a:spcPct val="150000"/>
              </a:lnSpc>
              <a:buFont typeface="Wingdings" pitchFamily="2" charset="2"/>
              <a:buChar char="q"/>
            </a:pPr>
            <a:endParaRPr lang="pt-PT" altLang="en-US" dirty="0" smtClean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85750" indent="-285750" algn="just" defTabSz="914400">
              <a:lnSpc>
                <a:spcPct val="150000"/>
              </a:lnSpc>
              <a:buFont typeface="Wingdings" pitchFamily="2" charset="2"/>
              <a:buChar char="q"/>
            </a:pPr>
            <a:r>
              <a:rPr lang="pt-PT" alt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Com </a:t>
            </a: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uma </a:t>
            </a:r>
            <a:r>
              <a:rPr lang="pt-PT" alt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média </a:t>
            </a: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de 28 partos por dia e 30 admissões na urgência de ginecologia, </a:t>
            </a:r>
            <a:r>
              <a:rPr lang="pt-PT" alt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1 médico </a:t>
            </a: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e duas enfermeiras não </a:t>
            </a:r>
            <a:r>
              <a:rPr lang="pt-PT" alt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conseguirão </a:t>
            </a: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atender </a:t>
            </a:r>
            <a:r>
              <a:rPr lang="pt-PT" alt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com qualidade desejada.</a:t>
            </a:r>
          </a:p>
          <a:p>
            <a:pPr marL="285750" indent="-285750" algn="just" defTabSz="914400">
              <a:lnSpc>
                <a:spcPct val="150000"/>
              </a:lnSpc>
              <a:buFont typeface="Wingdings" pitchFamily="2" charset="2"/>
              <a:buChar char="q"/>
            </a:pPr>
            <a:endParaRPr lang="pt-PT" altLang="en-US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85750" indent="-285750" algn="just" defTabSz="914400">
              <a:lnSpc>
                <a:spcPct val="150000"/>
              </a:lnSpc>
              <a:buFont typeface="Wingdings" pitchFamily="2" charset="2"/>
              <a:buChar char="q"/>
            </a:pPr>
            <a:r>
              <a:rPr lang="pt-PT" altLang="en-US" b="1" dirty="0">
                <a:solidFill>
                  <a:schemeClr val="bg1"/>
                </a:solidFill>
                <a:cs typeface="Arial" panose="020B0604020202020204" pitchFamily="34" charset="0"/>
              </a:rPr>
              <a:t>Durante o primeiro semestre as equipas eram constituídas de 3 clínicos e 4 enfermeiras, um agente de serviço e um administrativo</a:t>
            </a:r>
          </a:p>
        </p:txBody>
      </p:sp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B1C7059-FD03-7587-4203-038EDFDDC552}"/>
              </a:ext>
            </a:extLst>
          </p:cNvPr>
          <p:cNvSpPr txBox="1"/>
          <p:nvPr/>
        </p:nvSpPr>
        <p:spPr>
          <a:xfrm>
            <a:off x="1064302" y="221163"/>
            <a:ext cx="10942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Capacidade de RH por turno dos </a:t>
            </a:r>
            <a:r>
              <a:rPr lang="pt-PT" altLang="en-US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C. </a:t>
            </a:r>
            <a:r>
              <a:rPr lang="pt-PT" altLang="en-US" sz="2800" b="1" dirty="0" err="1" smtClean="0">
                <a:solidFill>
                  <a:schemeClr val="bg1"/>
                </a:solidFill>
                <a:cs typeface="Arial" panose="020B0604020202020204" pitchFamily="34" charset="0"/>
              </a:rPr>
              <a:t>Saude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8" name="Rectangle 15"/>
          <p:cNvSpPr>
            <a:spLocks noChangeArrowheads="1"/>
          </p:cNvSpPr>
          <p:nvPr/>
        </p:nvSpPr>
        <p:spPr bwMode="auto">
          <a:xfrm>
            <a:off x="2031385" y="5423621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3328929"/>
              </p:ext>
            </p:extLst>
          </p:nvPr>
        </p:nvGraphicFramePr>
        <p:xfrm>
          <a:off x="2141220" y="1074420"/>
          <a:ext cx="7002780" cy="435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9706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09F61-7516-D6FF-0B58-876EAC067054}"/>
              </a:ext>
            </a:extLst>
          </p:cNvPr>
          <p:cNvSpPr txBox="1"/>
          <p:nvPr/>
        </p:nvSpPr>
        <p:spPr>
          <a:xfrm>
            <a:off x="1076325" y="221163"/>
            <a:ext cx="10945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400" b="1" dirty="0">
                <a:solidFill>
                  <a:schemeClr val="bg1"/>
                </a:solidFill>
                <a:cs typeface="Arial" panose="020B0604020202020204" pitchFamily="34" charset="0"/>
              </a:rPr>
              <a:t>Movimento na maternidade nos Centro de Saúde da </a:t>
            </a:r>
            <a:r>
              <a:rPr lang="pt-PT" altLang="en-US" sz="2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Área </a:t>
            </a:r>
            <a:r>
              <a:rPr lang="pt-PT" altLang="en-US" sz="2400" b="1" dirty="0">
                <a:solidFill>
                  <a:schemeClr val="bg1"/>
                </a:solidFill>
                <a:cs typeface="Arial" panose="020B0604020202020204" pitchFamily="34" charset="0"/>
              </a:rPr>
              <a:t>de HGM</a:t>
            </a:r>
            <a:endParaRPr lang="pt-BR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9820594"/>
              </p:ext>
            </p:extLst>
          </p:nvPr>
        </p:nvGraphicFramePr>
        <p:xfrm>
          <a:off x="266700" y="1129664"/>
          <a:ext cx="11220450" cy="5204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175690" y="6265718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5678C29-B991-E318-C6A6-550E6CF7E735}"/>
              </a:ext>
            </a:extLst>
          </p:cNvPr>
          <p:cNvSpPr txBox="1"/>
          <p:nvPr/>
        </p:nvSpPr>
        <p:spPr>
          <a:xfrm>
            <a:off x="1184223" y="221163"/>
            <a:ext cx="104631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Transferência </a:t>
            </a:r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de Pacientes de CS para Hospital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06F94A2-B692-7B3F-6C59-F44D845BD980}"/>
              </a:ext>
            </a:extLst>
          </p:cNvPr>
          <p:cNvSpPr txBox="1"/>
          <p:nvPr/>
        </p:nvSpPr>
        <p:spPr>
          <a:xfrm>
            <a:off x="781665" y="5011250"/>
            <a:ext cx="10865692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alt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Apenas 30</a:t>
            </a: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% dos admitidos vieram </a:t>
            </a:r>
            <a:r>
              <a:rPr lang="pt-PT" alt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transferidas das US e 70% foram </a:t>
            </a: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admitidas vinda de casa.</a:t>
            </a:r>
          </a:p>
        </p:txBody>
      </p:sp>
      <p:graphicFrame>
        <p:nvGraphicFramePr>
          <p:cNvPr id="9" name="Chart 6">
            <a:extLst>
              <a:ext uri="{FF2B5EF4-FFF2-40B4-BE49-F238E27FC236}">
                <a16:creationId xmlns="" xmlns:a16="http://schemas.microsoft.com/office/drawing/2014/main" id="{2D2DEE42-E029-9F39-52AE-1E8B8D8CDD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3032022"/>
              </p:ext>
            </p:extLst>
          </p:nvPr>
        </p:nvGraphicFramePr>
        <p:xfrm>
          <a:off x="2530830" y="1354238"/>
          <a:ext cx="6043487" cy="2974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518840" y="4345079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15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09F61-7516-D6FF-0B58-876EAC067054}"/>
              </a:ext>
            </a:extLst>
          </p:cNvPr>
          <p:cNvSpPr txBox="1"/>
          <p:nvPr/>
        </p:nvSpPr>
        <p:spPr>
          <a:xfrm>
            <a:off x="1184223" y="221163"/>
            <a:ext cx="108378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Principais Causas de Transferência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="" xmlns:a16="http://schemas.microsoft.com/office/drawing/2014/main" id="{95515137-2702-A835-223E-26CBD30EBA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5282221"/>
              </p:ext>
            </p:extLst>
          </p:nvPr>
        </p:nvGraphicFramePr>
        <p:xfrm>
          <a:off x="1787526" y="1161327"/>
          <a:ext cx="8572500" cy="3583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651BE0FC-D2E4-16E7-FCC6-52ABAA803C6D}"/>
              </a:ext>
            </a:extLst>
          </p:cNvPr>
          <p:cNvSpPr txBox="1"/>
          <p:nvPr/>
        </p:nvSpPr>
        <p:spPr>
          <a:xfrm>
            <a:off x="381001" y="4993622"/>
            <a:ext cx="1138555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alt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Nos últimos 6 meses vieram </a:t>
            </a:r>
            <a:r>
              <a:rPr lang="pt-PT" altLang="en-US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Transferência 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Cerca </a:t>
            </a:r>
            <a:r>
              <a:rPr lang="pt-PT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de 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4493 pacientes </a:t>
            </a:r>
            <a:r>
              <a:rPr lang="pt-PT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de todos os centros d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 </a:t>
            </a:r>
            <a:r>
              <a:rPr lang="pt-PT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saúde da cidade e 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província </a:t>
            </a:r>
            <a:r>
              <a:rPr lang="pt-PT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de 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Maputo, sendo que </a:t>
            </a:r>
            <a:r>
              <a:rPr lang="pt-PT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1713 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são </a:t>
            </a:r>
            <a:r>
              <a:rPr lang="pt-PT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nossa área de 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saúde</a:t>
            </a:r>
          </a:p>
          <a:p>
            <a:pPr algn="just">
              <a:lnSpc>
                <a:spcPct val="150000"/>
              </a:lnSpc>
            </a:pPr>
            <a:r>
              <a:rPr lang="pt-PT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Total </a:t>
            </a:r>
            <a:r>
              <a:rPr lang="pt-PT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de </a:t>
            </a:r>
            <a:r>
              <a:rPr lang="pt-PT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12293 </a:t>
            </a:r>
            <a:r>
              <a:rPr lang="pt-PT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admitidos </a:t>
            </a:r>
            <a:r>
              <a:rPr lang="pt-PT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só </a:t>
            </a:r>
            <a:r>
              <a:rPr lang="pt-PT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na sala de partos </a:t>
            </a:r>
            <a:endParaRPr lang="en-US" b="1" dirty="0">
              <a:latin typeface="+mj-lt"/>
            </a:endParaRPr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1671114" y="4744645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46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1A3E60D-CA30-7621-A324-FE080EC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BB1DAB2-44BE-44E1-05E5-0CDD90CB9EBB}"/>
              </a:ext>
            </a:extLst>
          </p:cNvPr>
          <p:cNvSpPr txBox="1"/>
          <p:nvPr/>
        </p:nvSpPr>
        <p:spPr>
          <a:xfrm>
            <a:off x="2416994" y="221163"/>
            <a:ext cx="8780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CAPACIDADE DE RESPOSTA OBSTÉTRICA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F28538C-1797-43F2-72AC-B4FE2FF7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="" xmlns:a16="http://schemas.microsoft.com/office/drawing/2014/main" id="{594C9F1E-F756-25A9-EBEA-397EB388DF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0983075"/>
              </p:ext>
            </p:extLst>
          </p:nvPr>
        </p:nvGraphicFramePr>
        <p:xfrm>
          <a:off x="526026" y="151662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="" xmlns:a16="http://schemas.microsoft.com/office/drawing/2014/main" id="{9E21C0A4-6F46-E206-231C-832A05EED2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2452638"/>
              </p:ext>
            </p:extLst>
          </p:nvPr>
        </p:nvGraphicFramePr>
        <p:xfrm>
          <a:off x="6376219" y="1516626"/>
          <a:ext cx="4572000" cy="2719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2FF84FD-BE1D-3CFB-421C-78D31FCACD0E}"/>
              </a:ext>
            </a:extLst>
          </p:cNvPr>
          <p:cNvSpPr txBox="1"/>
          <p:nvPr/>
        </p:nvSpPr>
        <p:spPr>
          <a:xfrm>
            <a:off x="442452" y="4562168"/>
            <a:ext cx="11187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Houve aumento no numero de partos, duplicação de cesarianas realizadas, e redução para </a:t>
            </a:r>
            <a:r>
              <a:rPr lang="pt-PT" alt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metade </a:t>
            </a: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n</a:t>
            </a:r>
            <a:r>
              <a:rPr lang="pt-PT" dirty="0" smtClean="0">
                <a:solidFill>
                  <a:schemeClr val="bg1"/>
                </a:solidFill>
                <a:cs typeface="Arial" panose="020B0604020202020204" pitchFamily="34" charset="0"/>
              </a:rPr>
              <a:t>a </a:t>
            </a:r>
            <a:r>
              <a:rPr lang="pt-PT" dirty="0">
                <a:solidFill>
                  <a:schemeClr val="bg1"/>
                </a:solidFill>
                <a:cs typeface="Arial" panose="020B0604020202020204" pitchFamily="34" charset="0"/>
              </a:rPr>
              <a:t>taxa de natimortalidade</a:t>
            </a:r>
            <a:endParaRPr lang="en-US" dirty="0"/>
          </a:p>
        </p:txBody>
      </p:sp>
      <p:sp>
        <p:nvSpPr>
          <p:cNvPr id="8" name="Rectangle 15"/>
          <p:cNvSpPr>
            <a:spLocks noChangeArrowheads="1"/>
          </p:cNvSpPr>
          <p:nvPr/>
        </p:nvSpPr>
        <p:spPr bwMode="auto">
          <a:xfrm>
            <a:off x="442452" y="4208672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6279983" y="4236046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54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EDF8C24-5B39-003C-3559-BCB430E6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5E0B4A1-097E-89CA-2AC9-52D920DA649E}"/>
              </a:ext>
            </a:extLst>
          </p:cNvPr>
          <p:cNvSpPr txBox="1"/>
          <p:nvPr/>
        </p:nvSpPr>
        <p:spPr>
          <a:xfrm>
            <a:off x="2416994" y="221163"/>
            <a:ext cx="8780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Mortalidade Materna </a:t>
            </a:r>
            <a:r>
              <a:rPr lang="pt-PT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e as </a:t>
            </a:r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Principais Causas 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F3E67E9-E348-21C9-A088-B8873DB0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47FACA-D7FB-6A10-D28A-E68FF207E205}"/>
              </a:ext>
            </a:extLst>
          </p:cNvPr>
          <p:cNvSpPr txBox="1"/>
          <p:nvPr/>
        </p:nvSpPr>
        <p:spPr>
          <a:xfrm>
            <a:off x="442452" y="4562168"/>
            <a:ext cx="1117804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Houve redução na mortalidade materna, </a:t>
            </a:r>
            <a:r>
              <a:rPr lang="pt-PT" alt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porém </a:t>
            </a: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a </a:t>
            </a:r>
            <a:r>
              <a:rPr lang="pt-PT" dirty="0">
                <a:solidFill>
                  <a:schemeClr val="bg1"/>
                </a:solidFill>
              </a:rPr>
              <a:t>patologia hipertensiva </a:t>
            </a:r>
            <a:r>
              <a:rPr lang="pt-PT" b="1" dirty="0">
                <a:solidFill>
                  <a:schemeClr val="bg1"/>
                </a:solidFill>
              </a:rPr>
              <a:t>(</a:t>
            </a:r>
            <a:r>
              <a:rPr lang="pt-PT" b="1" dirty="0" smtClean="0">
                <a:solidFill>
                  <a:schemeClr val="bg1"/>
                </a:solidFill>
              </a:rPr>
              <a:t>eclâmpsia</a:t>
            </a:r>
            <a:r>
              <a:rPr lang="pt-PT" b="1" dirty="0">
                <a:solidFill>
                  <a:schemeClr val="bg1"/>
                </a:solidFill>
              </a:rPr>
              <a:t>) com 2 </a:t>
            </a:r>
            <a:r>
              <a:rPr lang="pt-PT" b="1" dirty="0" smtClean="0">
                <a:solidFill>
                  <a:schemeClr val="bg1"/>
                </a:solidFill>
              </a:rPr>
              <a:t>casos, hemorragia </a:t>
            </a:r>
            <a:r>
              <a:rPr lang="pt-PT" b="1" dirty="0">
                <a:solidFill>
                  <a:schemeClr val="bg1"/>
                </a:solidFill>
              </a:rPr>
              <a:t>obstétrica (atonia uterina) com 1 caso e a complicação anestésica com 2 </a:t>
            </a:r>
            <a:r>
              <a:rPr lang="pt-PT" dirty="0" smtClean="0">
                <a:solidFill>
                  <a:schemeClr val="bg1"/>
                </a:solidFill>
              </a:rPr>
              <a:t>casos. </a:t>
            </a:r>
            <a:r>
              <a:rPr lang="pt-PT" dirty="0">
                <a:solidFill>
                  <a:schemeClr val="bg1"/>
                </a:solidFill>
              </a:rPr>
              <a:t>foram </a:t>
            </a:r>
            <a:r>
              <a:rPr lang="pt-PT" dirty="0" smtClean="0">
                <a:solidFill>
                  <a:schemeClr val="bg1"/>
                </a:solidFill>
              </a:rPr>
              <a:t>as </a:t>
            </a:r>
            <a:r>
              <a:rPr lang="pt-PT" dirty="0">
                <a:solidFill>
                  <a:schemeClr val="bg1"/>
                </a:solidFill>
              </a:rPr>
              <a:t>causas de morte maternas em 2026</a:t>
            </a:r>
            <a:r>
              <a:rPr lang="pt-PT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="" xmlns:a16="http://schemas.microsoft.com/office/drawing/2014/main" id="{2C69ACFB-38AB-DDD4-FD2F-B8CCD9F1FA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1027239"/>
              </p:ext>
            </p:extLst>
          </p:nvPr>
        </p:nvGraphicFramePr>
        <p:xfrm>
          <a:off x="2416994" y="1304925"/>
          <a:ext cx="7462112" cy="2999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291488" y="4280400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14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EDF8C24-5B39-003C-3559-BCB430E6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5E0B4A1-097E-89CA-2AC9-52D920DA649E}"/>
              </a:ext>
            </a:extLst>
          </p:cNvPr>
          <p:cNvSpPr txBox="1"/>
          <p:nvPr/>
        </p:nvSpPr>
        <p:spPr>
          <a:xfrm>
            <a:off x="1230285" y="221163"/>
            <a:ext cx="105072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Rácio de Mortalidade Materna Intra-Hospitalar (100.000 NV)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F3E67E9-E348-21C9-A088-B8873DB0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47FACA-D7FB-6A10-D28A-E68FF207E205}"/>
              </a:ext>
            </a:extLst>
          </p:cNvPr>
          <p:cNvSpPr txBox="1"/>
          <p:nvPr/>
        </p:nvSpPr>
        <p:spPr>
          <a:xfrm>
            <a:off x="704850" y="4885047"/>
            <a:ext cx="1091565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O Rácio de Mortalidade Materna Intra-Hospitalar reduziu de 259/100.000 NV no 1º semestre de 2025 (</a:t>
            </a:r>
            <a:r>
              <a:rPr lang="pt-PT" altLang="en-US" b="1" dirty="0">
                <a:solidFill>
                  <a:schemeClr val="bg1"/>
                </a:solidFill>
                <a:cs typeface="Arial" panose="020B0604020202020204" pitchFamily="34" charset="0"/>
              </a:rPr>
              <a:t>9 óbitos</a:t>
            </a: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) para 98/100.000 NV no 1º semestre de 2026 (</a:t>
            </a:r>
            <a:r>
              <a:rPr lang="pt-PT" altLang="en-US" b="1" dirty="0">
                <a:solidFill>
                  <a:schemeClr val="bg1"/>
                </a:solidFill>
                <a:cs typeface="Arial" panose="020B0604020202020204" pitchFamily="34" charset="0"/>
              </a:rPr>
              <a:t>5 óbitos</a:t>
            </a:r>
            <a:r>
              <a:rPr lang="pt-PT" altLang="en-US" dirty="0">
                <a:solidFill>
                  <a:schemeClr val="bg1"/>
                </a:solidFill>
                <a:cs typeface="Arial" panose="020B0604020202020204" pitchFamily="34" charset="0"/>
              </a:rPr>
              <a:t>), representando uma redução de 62,2%.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1" name="Gráfico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3289881"/>
              </p:ext>
            </p:extLst>
          </p:nvPr>
        </p:nvGraphicFramePr>
        <p:xfrm>
          <a:off x="1911927" y="1076498"/>
          <a:ext cx="7813963" cy="3485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ctangle 5"/>
          <p:cNvSpPr/>
          <p:nvPr/>
        </p:nvSpPr>
        <p:spPr bwMode="auto">
          <a:xfrm>
            <a:off x="9753601" y="3369888"/>
            <a:ext cx="1398494" cy="384175"/>
          </a:xfrm>
          <a:prstGeom prst="rect">
            <a:avLst/>
          </a:prstGeom>
          <a:solidFill>
            <a:srgbClr val="FF00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66/100.000NV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</p:txBody>
      </p:sp>
      <p:cxnSp>
        <p:nvCxnSpPr>
          <p:cNvPr id="13" name="Straight Connector 22"/>
          <p:cNvCxnSpPr/>
          <p:nvPr/>
        </p:nvCxnSpPr>
        <p:spPr>
          <a:xfrm flipH="1" flipV="1">
            <a:off x="2429435" y="3570707"/>
            <a:ext cx="7324167" cy="8732"/>
          </a:xfrm>
          <a:prstGeom prst="line">
            <a:avLst/>
          </a:prstGeom>
          <a:ln w="444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 rot="19818761">
            <a:off x="5565026" y="1529237"/>
            <a:ext cx="1546041" cy="48258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E6FFCD"/>
            </a:solidFill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1600" b="1" dirty="0" smtClean="0">
                <a:solidFill>
                  <a:srgbClr val="FF0000"/>
                </a:solidFill>
                <a:latin typeface="Century Gothic" pitchFamily="34" charset="0"/>
              </a:rPr>
              <a:t>-62,2%</a:t>
            </a:r>
            <a:endParaRPr lang="pt-PT" sz="16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1852083" y="4523660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26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AE822A8-BD15-B692-1393-4063E68CB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4AA378-3A77-A702-4835-2EE1D1679421}"/>
              </a:ext>
            </a:extLst>
          </p:cNvPr>
          <p:cNvSpPr txBox="1"/>
          <p:nvPr/>
        </p:nvSpPr>
        <p:spPr>
          <a:xfrm>
            <a:off x="2416994" y="221163"/>
            <a:ext cx="8780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Óbitos Maternos por Proveniência (CS para HGM)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C1BF16D-0535-FDC9-379E-14F1DB2E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1D747D96-6116-0D96-D691-0D26BD46F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092982"/>
              </p:ext>
            </p:extLst>
          </p:nvPr>
        </p:nvGraphicFramePr>
        <p:xfrm>
          <a:off x="559825" y="1305127"/>
          <a:ext cx="5545700" cy="30096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9088">
                  <a:extLst>
                    <a:ext uri="{9D8B030D-6E8A-4147-A177-3AD203B41FA5}">
                      <a16:colId xmlns="" xmlns:a16="http://schemas.microsoft.com/office/drawing/2014/main" val="1875433642"/>
                    </a:ext>
                  </a:extLst>
                </a:gridCol>
                <a:gridCol w="1365364">
                  <a:extLst>
                    <a:ext uri="{9D8B030D-6E8A-4147-A177-3AD203B41FA5}">
                      <a16:colId xmlns="" xmlns:a16="http://schemas.microsoft.com/office/drawing/2014/main" val="2473233441"/>
                    </a:ext>
                  </a:extLst>
                </a:gridCol>
                <a:gridCol w="1431248">
                  <a:extLst>
                    <a:ext uri="{9D8B030D-6E8A-4147-A177-3AD203B41FA5}">
                      <a16:colId xmlns="" xmlns:a16="http://schemas.microsoft.com/office/drawing/2014/main" val="126919740"/>
                    </a:ext>
                  </a:extLst>
                </a:gridCol>
              </a:tblGrid>
              <a:tr h="50611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200000"/>
                        </a:lnSpc>
                        <a:buNone/>
                      </a:pPr>
                      <a:r>
                        <a:rPr lang="pt-PT" sz="1200" kern="100" dirty="0">
                          <a:effectLst/>
                          <a:latin typeface="Century Gothic" panose="020B0502020202020204" pitchFamily="34" charset="0"/>
                        </a:rPr>
                        <a:t>Proveniência</a:t>
                      </a:r>
                      <a:endParaRPr lang="en-US" sz="1200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kern="100" dirty="0">
                          <a:effectLst/>
                          <a:latin typeface="Century Gothic" panose="020B0502020202020204" pitchFamily="34" charset="0"/>
                        </a:rPr>
                        <a:t>No de casos</a:t>
                      </a:r>
                      <a:endParaRPr lang="en-US" sz="1200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kern="100" dirty="0">
                          <a:effectLst/>
                          <a:latin typeface="Century Gothic" panose="020B0502020202020204" pitchFamily="34" charset="0"/>
                        </a:rPr>
                        <a:t>Percentagem</a:t>
                      </a:r>
                      <a:endParaRPr lang="en-US" sz="1200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193563113"/>
                  </a:ext>
                </a:extLst>
              </a:tr>
              <a:tr h="50632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200000"/>
                        </a:lnSpc>
                        <a:buNone/>
                      </a:pPr>
                      <a:r>
                        <a:rPr lang="pt-PT" sz="1200" kern="100" dirty="0">
                          <a:effectLst/>
                          <a:latin typeface="Century Gothic" panose="020B0502020202020204" pitchFamily="34" charset="0"/>
                        </a:rPr>
                        <a:t>Casa</a:t>
                      </a:r>
                      <a:endParaRPr lang="en-US" sz="1200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b="1" kern="100" dirty="0"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endParaRPr lang="en-US" sz="1200" b="1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b="1" kern="100" dirty="0">
                          <a:effectLst/>
                          <a:latin typeface="Century Gothic" panose="020B0502020202020204" pitchFamily="34" charset="0"/>
                        </a:rPr>
                        <a:t>40%</a:t>
                      </a:r>
                      <a:endParaRPr lang="en-US" sz="1200" b="1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96290100"/>
                  </a:ext>
                </a:extLst>
              </a:tr>
              <a:tr h="47829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200000"/>
                        </a:lnSpc>
                        <a:buNone/>
                      </a:pPr>
                      <a:r>
                        <a:rPr lang="pt-PT" sz="1200" kern="100" dirty="0">
                          <a:effectLst/>
                          <a:latin typeface="Century Gothic" panose="020B0502020202020204" pitchFamily="34" charset="0"/>
                        </a:rPr>
                        <a:t>US periférica do próprio distrito</a:t>
                      </a:r>
                      <a:endParaRPr lang="en-US" sz="1200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b="1" kern="100" dirty="0"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  <a:endParaRPr lang="en-US" sz="1200" b="1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b="1" kern="100" dirty="0">
                          <a:effectLst/>
                          <a:latin typeface="Century Gothic" panose="020B0502020202020204" pitchFamily="34" charset="0"/>
                        </a:rPr>
                        <a:t>20%</a:t>
                      </a:r>
                      <a:endParaRPr lang="en-US" sz="1200" b="1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989692698"/>
                  </a:ext>
                </a:extLst>
              </a:tr>
              <a:tr h="50632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200000"/>
                        </a:lnSpc>
                        <a:buNone/>
                      </a:pPr>
                      <a:r>
                        <a:rPr lang="pt-PT" sz="1200" kern="100">
                          <a:effectLst/>
                          <a:latin typeface="Century Gothic" panose="020B0502020202020204" pitchFamily="34" charset="0"/>
                        </a:rPr>
                        <a:t>US da província de Maputo</a:t>
                      </a:r>
                      <a:endParaRPr lang="en-US" sz="1200" kern="1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b="1" kern="100" dirty="0"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endParaRPr lang="en-US" sz="1200" b="1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b="1" kern="100" dirty="0">
                          <a:effectLst/>
                          <a:latin typeface="Century Gothic" panose="020B0502020202020204" pitchFamily="34" charset="0"/>
                        </a:rPr>
                        <a:t>40%</a:t>
                      </a:r>
                      <a:endParaRPr lang="en-US" sz="1200" b="1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194199310"/>
                  </a:ext>
                </a:extLst>
              </a:tr>
              <a:tr h="50632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200000"/>
                        </a:lnSpc>
                        <a:buNone/>
                      </a:pPr>
                      <a:r>
                        <a:rPr lang="pt-PT" sz="1200" kern="100">
                          <a:effectLst/>
                          <a:latin typeface="Century Gothic" panose="020B0502020202020204" pitchFamily="34" charset="0"/>
                        </a:rPr>
                        <a:t>Sem informação </a:t>
                      </a:r>
                      <a:endParaRPr lang="en-US" sz="1200" kern="1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b="1" kern="100" dirty="0"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r>
                        <a:rPr lang="pt-PT" sz="1200" b="1" kern="100" dirty="0" smtClean="0"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  <a:endParaRPr lang="en-US" sz="1200" b="1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b="1" kern="100" dirty="0"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r>
                        <a:rPr lang="pt-PT" sz="1200" b="1" kern="100" dirty="0" smtClean="0">
                          <a:effectLst/>
                          <a:latin typeface="Century Gothic" panose="020B0502020202020204" pitchFamily="34" charset="0"/>
                        </a:rPr>
                        <a:t>0,0%</a:t>
                      </a:r>
                      <a:endParaRPr lang="en-US" sz="1200" b="1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69532851"/>
                  </a:ext>
                </a:extLst>
              </a:tr>
              <a:tr h="506321"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200000"/>
                        </a:lnSpc>
                        <a:buNone/>
                      </a:pPr>
                      <a:r>
                        <a:rPr lang="pt-PT" sz="1200" kern="100">
                          <a:effectLst/>
                          <a:latin typeface="Century Gothic" panose="020B0502020202020204" pitchFamily="34" charset="0"/>
                        </a:rPr>
                        <a:t>Total</a:t>
                      </a:r>
                      <a:endParaRPr lang="en-US" sz="1200" kern="1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b="1" kern="100" dirty="0"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lang="en-US" sz="1200" b="1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pt-PT" sz="1200" b="1" kern="100" dirty="0">
                          <a:effectLst/>
                          <a:latin typeface="Century Gothic" panose="020B0502020202020204" pitchFamily="34" charset="0"/>
                        </a:rPr>
                        <a:t>100%</a:t>
                      </a:r>
                      <a:endParaRPr lang="en-US" sz="1200" b="1" kern="1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86220988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="" xmlns:a16="http://schemas.microsoft.com/office/drawing/2014/main" id="{06FE4281-6534-358D-42A1-A2FBE5E2F8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1271634"/>
              </p:ext>
            </p:extLst>
          </p:nvPr>
        </p:nvGraphicFramePr>
        <p:xfrm>
          <a:off x="6995344" y="1300725"/>
          <a:ext cx="4572000" cy="3005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15"/>
          <p:cNvSpPr>
            <a:spLocks noChangeArrowheads="1"/>
          </p:cNvSpPr>
          <p:nvPr/>
        </p:nvSpPr>
        <p:spPr bwMode="auto">
          <a:xfrm>
            <a:off x="509063" y="4255171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6889912" y="4255171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6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71E5213-67D7-62F9-547B-DF0C7F4D6C54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Óbitos Neonatais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graphicFrame>
        <p:nvGraphicFramePr>
          <p:cNvPr id="4" name="Gráfic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2493774"/>
              </p:ext>
            </p:extLst>
          </p:nvPr>
        </p:nvGraphicFramePr>
        <p:xfrm>
          <a:off x="553636" y="1234034"/>
          <a:ext cx="11288593" cy="5016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435323" y="6257104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7354D0C-5457-C632-DE00-A712CE83E86E}"/>
              </a:ext>
            </a:extLst>
          </p:cNvPr>
          <p:cNvSpPr txBox="1"/>
          <p:nvPr/>
        </p:nvSpPr>
        <p:spPr>
          <a:xfrm>
            <a:off x="2416995" y="221163"/>
            <a:ext cx="88256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Nados </a:t>
            </a:r>
            <a:r>
              <a:rPr lang="pt-PT" altLang="en-US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Mortos do 1º. Semestre de 2026</a:t>
            </a:r>
            <a:endParaRPr lang="pt-BR" sz="28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822526" y="5775685"/>
            <a:ext cx="2263775" cy="261610"/>
          </a:xfrm>
          <a:prstGeom prst="rect">
            <a:avLst/>
          </a:prstGeom>
          <a:noFill/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/>
            <a:r>
              <a:rPr lang="pt-PT" altLang="pt-PT" sz="1050" b="1" dirty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FONTE: </a:t>
            </a:r>
            <a:r>
              <a:rPr lang="pt-PT" altLang="pt-PT" sz="1050" dirty="0" smtClean="0">
                <a:solidFill>
                  <a:schemeClr val="bg1"/>
                </a:solidFill>
                <a:latin typeface="Century Gothic" pitchFamily="34" charset="0"/>
                <a:cs typeface="Times New Roman" pitchFamily="18" charset="0"/>
              </a:rPr>
              <a:t>HGM/Maternidade</a:t>
            </a:r>
            <a:endParaRPr lang="en-ZA" altLang="pt-PT" sz="1050" dirty="0">
              <a:solidFill>
                <a:schemeClr val="bg1"/>
              </a:solidFill>
              <a:latin typeface="Century Gothic" pitchFamily="34" charset="0"/>
              <a:cs typeface="Times New Roman" pitchFamily="18" charset="0"/>
            </a:endParaRPr>
          </a:p>
        </p:txBody>
      </p:sp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8867262"/>
              </p:ext>
            </p:extLst>
          </p:nvPr>
        </p:nvGraphicFramePr>
        <p:xfrm>
          <a:off x="943266" y="1153756"/>
          <a:ext cx="10158625" cy="4652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1394085" y="221163"/>
            <a:ext cx="10028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Desafios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sp>
        <p:nvSpPr>
          <p:cNvPr id="5" name="TextBox 5">
            <a:extLst>
              <a:ext uri="{FF2B5EF4-FFF2-40B4-BE49-F238E27FC236}">
                <a16:creationId xmlns=""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482183" y="1228002"/>
            <a:ext cx="10940321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bg1"/>
                </a:solidFill>
              </a:rPr>
              <a:t>Superlotação da maternidade desde a sala de partos </a:t>
            </a:r>
            <a:r>
              <a:rPr lang="pt-PT" dirty="0" smtClean="0">
                <a:solidFill>
                  <a:schemeClr val="bg1"/>
                </a:solidFill>
              </a:rPr>
              <a:t>até </a:t>
            </a:r>
            <a:r>
              <a:rPr lang="pt-PT" dirty="0">
                <a:solidFill>
                  <a:schemeClr val="bg1"/>
                </a:solidFill>
              </a:rPr>
              <a:t>as </a:t>
            </a:r>
            <a:r>
              <a:rPr lang="pt-PT" dirty="0" smtClean="0">
                <a:solidFill>
                  <a:schemeClr val="bg1"/>
                </a:solidFill>
              </a:rPr>
              <a:t>enfermarias/berçário;</a:t>
            </a:r>
            <a:endParaRPr lang="pt-PT" dirty="0">
              <a:solidFill>
                <a:schemeClr val="bg1"/>
              </a:solidFill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bg1"/>
                </a:solidFill>
              </a:rPr>
              <a:t>Quantidade insuficiente de roupa </a:t>
            </a:r>
            <a:r>
              <a:rPr lang="pt-PT" dirty="0" smtClean="0">
                <a:solidFill>
                  <a:schemeClr val="bg1"/>
                </a:solidFill>
              </a:rPr>
              <a:t>hospitalar;</a:t>
            </a:r>
            <a:endParaRPr lang="pt-PT" dirty="0">
              <a:solidFill>
                <a:schemeClr val="bg1"/>
              </a:solidFill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bg1"/>
                </a:solidFill>
              </a:rPr>
              <a:t>Insuficiência de enfermeiras e agentes de </a:t>
            </a:r>
            <a:r>
              <a:rPr lang="pt-PT" dirty="0" smtClean="0">
                <a:solidFill>
                  <a:schemeClr val="bg1"/>
                </a:solidFill>
              </a:rPr>
              <a:t>serviço;</a:t>
            </a:r>
            <a:endParaRPr lang="pt-PT" dirty="0">
              <a:solidFill>
                <a:schemeClr val="bg1"/>
              </a:solidFill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bg1"/>
                </a:solidFill>
              </a:rPr>
              <a:t>Insuficiência de insumos o que dificulta a execução das cirurgias </a:t>
            </a:r>
            <a:r>
              <a:rPr lang="pt-PT" dirty="0" smtClean="0">
                <a:solidFill>
                  <a:schemeClr val="bg1"/>
                </a:solidFill>
              </a:rPr>
              <a:t>electivas;</a:t>
            </a:r>
            <a:endParaRPr lang="pt-PT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bg1"/>
                </a:solidFill>
              </a:rPr>
              <a:t>Atraso </a:t>
            </a:r>
            <a:r>
              <a:rPr lang="pt-PT" dirty="0">
                <a:solidFill>
                  <a:schemeClr val="bg1"/>
                </a:solidFill>
              </a:rPr>
              <a:t>na decisão de </a:t>
            </a:r>
            <a:r>
              <a:rPr lang="pt-PT" dirty="0" smtClean="0">
                <a:solidFill>
                  <a:schemeClr val="bg1"/>
                </a:solidFill>
              </a:rPr>
              <a:t>transferência;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bg1"/>
                </a:solidFill>
              </a:rPr>
              <a:t>Demora da </a:t>
            </a:r>
            <a:r>
              <a:rPr lang="pt-PT" dirty="0" smtClean="0">
                <a:solidFill>
                  <a:schemeClr val="bg1"/>
                </a:solidFill>
              </a:rPr>
              <a:t>família </a:t>
            </a:r>
            <a:r>
              <a:rPr lang="pt-PT" dirty="0">
                <a:solidFill>
                  <a:schemeClr val="bg1"/>
                </a:solidFill>
              </a:rPr>
              <a:t>em </a:t>
            </a:r>
            <a:r>
              <a:rPr lang="pt-PT" dirty="0" smtClean="0">
                <a:solidFill>
                  <a:schemeClr val="bg1"/>
                </a:solidFill>
              </a:rPr>
              <a:t>procurar </a:t>
            </a:r>
            <a:r>
              <a:rPr lang="pt-PT" dirty="0" smtClean="0">
                <a:solidFill>
                  <a:schemeClr val="bg1"/>
                </a:solidFill>
              </a:rPr>
              <a:t>assistência;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bg1"/>
                </a:solidFill>
              </a:rPr>
              <a:t>Rotura constante de Medicamentos e insumos.</a:t>
            </a:r>
          </a:p>
        </p:txBody>
      </p:sp>
    </p:spTree>
    <p:extLst>
      <p:ext uri="{BB962C8B-B14F-4D97-AF65-F5344CB8AC3E}">
        <p14:creationId xmlns:p14="http://schemas.microsoft.com/office/powerpoint/2010/main" val="227513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1394085" y="217474"/>
            <a:ext cx="10028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Plano de Melhoria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340885"/>
              </p:ext>
            </p:extLst>
          </p:nvPr>
        </p:nvGraphicFramePr>
        <p:xfrm>
          <a:off x="342899" y="978303"/>
          <a:ext cx="11468100" cy="5231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551"/>
                <a:gridCol w="3238499"/>
                <a:gridCol w="2724151"/>
                <a:gridCol w="3009899"/>
              </a:tblGrid>
              <a:tr h="388573">
                <a:tc>
                  <a:txBody>
                    <a:bodyPr/>
                    <a:lstStyle/>
                    <a:p>
                      <a:pPr algn="ctr"/>
                      <a:r>
                        <a:rPr lang="pt-PT" dirty="0" smtClean="0"/>
                        <a:t>Problema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smtClean="0"/>
                        <a:t>Principais Causas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smtClean="0"/>
                        <a:t>Consequências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smtClean="0"/>
                        <a:t>Possíveis</a:t>
                      </a:r>
                      <a:r>
                        <a:rPr lang="pt-PT" baseline="0" dirty="0" smtClean="0"/>
                        <a:t> Soluções</a:t>
                      </a:r>
                      <a:endParaRPr lang="en-GB" dirty="0"/>
                    </a:p>
                  </a:txBody>
                  <a:tcPr anchor="ctr"/>
                </a:tc>
              </a:tr>
              <a:tr h="1230482">
                <a:tc>
                  <a:txBody>
                    <a:bodyPr/>
                    <a:lstStyle/>
                    <a:p>
                      <a:r>
                        <a:rPr lang="pt-PT" sz="1400" dirty="0" smtClean="0">
                          <a:solidFill>
                            <a:schemeClr val="bg1"/>
                          </a:solidFill>
                        </a:rPr>
                        <a:t>Consulta Pré-natal</a:t>
                      </a:r>
                      <a:r>
                        <a:rPr lang="pt-PT" sz="1400" baseline="0" dirty="0" smtClean="0">
                          <a:solidFill>
                            <a:schemeClr val="bg1"/>
                          </a:solidFill>
                        </a:rPr>
                        <a:t> Deficiente</a:t>
                      </a:r>
                      <a:endParaRPr lang="en-GB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>
                          <a:solidFill>
                            <a:schemeClr val="bg1"/>
                          </a:solidFill>
                        </a:rPr>
                        <a:t>Aparelhos</a:t>
                      </a:r>
                      <a:r>
                        <a:rPr lang="pt-PT" sz="1400" baseline="0" dirty="0" smtClean="0">
                          <a:solidFill>
                            <a:schemeClr val="bg1"/>
                          </a:solidFill>
                        </a:rPr>
                        <a:t> de TA avariados e falta de pilha, rastreio deficiente da infecção da mãe na gravidez, rupturas de medicamentos (</a:t>
                      </a:r>
                      <a:r>
                        <a:rPr lang="pt-PT" sz="1400" baseline="0" dirty="0" err="1" smtClean="0">
                          <a:solidFill>
                            <a:schemeClr val="bg1"/>
                          </a:solidFill>
                        </a:rPr>
                        <a:t>Dexametasona</a:t>
                      </a:r>
                      <a:r>
                        <a:rPr lang="pt-PT" sz="1400" baseline="0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GB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>
                          <a:solidFill>
                            <a:schemeClr val="bg1"/>
                          </a:solidFill>
                        </a:rPr>
                        <a:t>Diagnostico Tardio, Pré-eclampsia</a:t>
                      </a:r>
                      <a:r>
                        <a:rPr lang="pt-PT" sz="1400" baseline="0" dirty="0" smtClean="0">
                          <a:solidFill>
                            <a:schemeClr val="bg1"/>
                          </a:solidFill>
                        </a:rPr>
                        <a:t>/ prematuridade </a:t>
                      </a:r>
                      <a:endParaRPr lang="en-GB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>
                          <a:solidFill>
                            <a:schemeClr val="bg1"/>
                          </a:solidFill>
                        </a:rPr>
                        <a:t>Rastreio</a:t>
                      </a:r>
                      <a:r>
                        <a:rPr lang="pt-PT" sz="1400" baseline="0" dirty="0" smtClean="0">
                          <a:solidFill>
                            <a:schemeClr val="bg1"/>
                          </a:solidFill>
                        </a:rPr>
                        <a:t> de infecção materna no 1º e últimos trimestre de gravidez/ medição de TA em toda consulta pré natal/ referencia para o ARO</a:t>
                      </a:r>
                      <a:endParaRPr lang="en-GB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640750"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Demora da chega da ambulância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Número insuficiente</a:t>
                      </a:r>
                      <a:r>
                        <a:rPr lang="pt-PT" sz="1400" baseline="0" dirty="0" smtClean="0"/>
                        <a:t> de Ambulância </a:t>
                      </a:r>
                      <a:r>
                        <a:rPr lang="pt-PT" sz="1400" b="1" baseline="0" dirty="0" smtClean="0"/>
                        <a:t>e Recursos Humanos</a:t>
                      </a:r>
                      <a:endParaRPr lang="en-GB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Atraso na chegada ao hospital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Reforçar o transporte e Recursos</a:t>
                      </a:r>
                      <a:r>
                        <a:rPr lang="pt-PT" sz="1400" baseline="0" dirty="0" smtClean="0"/>
                        <a:t> Humanos</a:t>
                      </a:r>
                      <a:endParaRPr lang="en-GB" sz="1400" dirty="0"/>
                    </a:p>
                  </a:txBody>
                  <a:tcPr anchor="ctr"/>
                </a:tc>
              </a:tr>
              <a:tr h="777147"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Deficiente Comunicação  com o hospital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Falta de telefone, ausênsia de comunicação prévia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Hospital não preparado para receber a emegência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Comunicação obrigatória antes da tansferência, contactos funcionais 24h</a:t>
                      </a:r>
                      <a:endParaRPr lang="en-GB" sz="1400" dirty="0"/>
                    </a:p>
                  </a:txBody>
                  <a:tcPr anchor="ctr"/>
                </a:tc>
              </a:tr>
              <a:tr h="777147"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Transporte neonatal inadequado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Falta de incubadora de transporte, oxigênio ou pessoal treinado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Hipotermia, hipóxia e agravamnto do Recém-nascido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Equipar ambulância,</a:t>
                      </a:r>
                      <a:r>
                        <a:rPr lang="pt-PT" sz="1400" baseline="0" dirty="0" smtClean="0"/>
                        <a:t> protocolos de transpote NN</a:t>
                      </a:r>
                      <a:endParaRPr lang="en-GB" sz="1400" dirty="0"/>
                    </a:p>
                  </a:txBody>
                  <a:tcPr anchor="ctr"/>
                </a:tc>
              </a:tr>
              <a:tr h="640750"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Sobrecarga do Pessoal de referência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Elevado número de referências, insuficiência de profissionais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Espera para o atendimento ou internamento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baseline="0" dirty="0" smtClean="0"/>
                        <a:t>Alocar Recursos Humanos</a:t>
                      </a:r>
                    </a:p>
                  </a:txBody>
                  <a:tcPr anchor="ctr"/>
                </a:tc>
              </a:tr>
              <a:tr h="777147"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Défice</a:t>
                      </a:r>
                      <a:r>
                        <a:rPr lang="pt-PT" sz="1400" baseline="0" dirty="0" smtClean="0"/>
                        <a:t> de profissionais de Saúde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Dificuldade na estabilização e tratamento Falta de medicamentos, oxigénio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Agravamento durante o transporte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1400" dirty="0" smtClean="0"/>
                        <a:t>Alocação</a:t>
                      </a:r>
                      <a:r>
                        <a:rPr lang="pt-PT" sz="1400" baseline="0" dirty="0" smtClean="0"/>
                        <a:t> do pessoal/fomacão continua</a:t>
                      </a:r>
                      <a:endParaRPr lang="en-GB" sz="1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749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1394085" y="217474"/>
            <a:ext cx="10028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Boas Práticas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  <p:sp>
        <p:nvSpPr>
          <p:cNvPr id="5" name="TextBox 5">
            <a:extLst>
              <a:ext uri="{FF2B5EF4-FFF2-40B4-BE49-F238E27FC236}">
                <a16:creationId xmlns=""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723900" y="1228002"/>
            <a:ext cx="1069860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alt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Discussão do óbito envolvendo o centro de saúde que </a:t>
            </a:r>
            <a:r>
              <a:rPr lang="pt-PT" altLang="en-US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referiu;</a:t>
            </a:r>
            <a:endParaRPr lang="pt-PT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 marL="457200" indent="-457200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Uso de protocolos padronizados antes da 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referência;</a:t>
            </a:r>
            <a:endParaRPr lang="pt-PT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 marL="457200" indent="-457200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Formação </a:t>
            </a:r>
            <a:r>
              <a:rPr lang="pt-PT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contínua de 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enfermeiras </a:t>
            </a:r>
            <a:r>
              <a:rPr lang="pt-PT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do  berçário e maternidade em manejo do 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RN;</a:t>
            </a:r>
          </a:p>
          <a:p>
            <a:pPr marL="457200" indent="-457200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Lavagens das mãos;</a:t>
            </a:r>
          </a:p>
          <a:p>
            <a:pPr marL="457200" indent="-457200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Limpeza das incubadoras diário;</a:t>
            </a:r>
          </a:p>
          <a:p>
            <a:pPr marL="457200" indent="-457200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Encontros Trimestrais com as parteiras tradicionais para consciencialização na adesão ao parto institucional (</a:t>
            </a:r>
            <a:r>
              <a:rPr lang="pt-PT" dirty="0">
                <a:solidFill>
                  <a:schemeClr val="bg1"/>
                </a:solidFill>
                <a:cs typeface="Arial" panose="020B0604020202020204" pitchFamily="34" charset="0"/>
              </a:rPr>
              <a:t>Distrito de </a:t>
            </a:r>
            <a:r>
              <a:rPr lang="pt-PT" dirty="0" err="1">
                <a:solidFill>
                  <a:schemeClr val="bg1"/>
                </a:solidFill>
                <a:cs typeface="Arial" panose="020B0604020202020204" pitchFamily="34" charset="0"/>
              </a:rPr>
              <a:t>Kamavota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);</a:t>
            </a:r>
          </a:p>
          <a:p>
            <a:pPr marL="457200" indent="-457200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Encontro mensal de auscultação comunitária;</a:t>
            </a:r>
          </a:p>
          <a:p>
            <a:pPr marL="457200" indent="-457200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Palestras nos mercados juntos com SESP (Distrito de </a:t>
            </a:r>
            <a:r>
              <a:rPr lang="pt-PT" dirty="0" err="1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Kamavota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);</a:t>
            </a:r>
          </a:p>
          <a:p>
            <a:pPr marL="457200" indent="-457200" algn="just" defTabSz="9144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Programa na Televisão e Rádio </a:t>
            </a:r>
            <a:r>
              <a:rPr lang="pt-PT" dirty="0">
                <a:solidFill>
                  <a:schemeClr val="bg1"/>
                </a:solidFill>
                <a:cs typeface="Arial" panose="020B0604020202020204" pitchFamily="34" charset="0"/>
              </a:rPr>
              <a:t>(Distrito de </a:t>
            </a:r>
            <a:r>
              <a:rPr lang="pt-PT" dirty="0" err="1">
                <a:solidFill>
                  <a:schemeClr val="bg1"/>
                </a:solidFill>
                <a:cs typeface="Arial" panose="020B0604020202020204" pitchFamily="34" charset="0"/>
              </a:rPr>
              <a:t>Kamavota</a:t>
            </a:r>
            <a:r>
              <a:rPr lang="pt-PT" dirty="0"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  <a:r>
              <a:rPr lang="pt-PT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.</a:t>
            </a:r>
            <a:endParaRPr lang="pt-PT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3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1394085" y="217474"/>
            <a:ext cx="10028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Boas Práticas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177" y="1133581"/>
            <a:ext cx="4333198" cy="38384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9" y="1133580"/>
            <a:ext cx="5117958" cy="383846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0243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="" xmlns:a16="http://schemas.microsoft.com/office/drawing/2014/main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="" xmlns:a16="http://schemas.microsoft.com/office/drawing/2014/main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!”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9865</TotalTime>
  <Words>1048</Words>
  <Application>Microsoft Office PowerPoint</Application>
  <PresentationFormat>Personalizados</PresentationFormat>
  <Paragraphs>167</Paragraphs>
  <Slides>22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22</vt:i4>
      </vt:variant>
    </vt:vector>
  </HeadingPairs>
  <TitlesOfParts>
    <vt:vector size="23" baseType="lpstr">
      <vt:lpstr>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SSCM</cp:lastModifiedBy>
  <cp:revision>193</cp:revision>
  <cp:lastPrinted>2026-10-09T09:57:33Z</cp:lastPrinted>
  <dcterms:created xsi:type="dcterms:W3CDTF">2025-07-14T08:03:00Z</dcterms:created>
  <dcterms:modified xsi:type="dcterms:W3CDTF">2026-10-09T13:44:15Z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