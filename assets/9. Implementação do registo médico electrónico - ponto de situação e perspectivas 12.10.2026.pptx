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302" r:id="rId2"/>
    <p:sldId id="257" r:id="rId3"/>
    <p:sldId id="258" r:id="rId4"/>
    <p:sldId id="260" r:id="rId5"/>
    <p:sldId id="268" r:id="rId6"/>
    <p:sldId id="261" r:id="rId7"/>
    <p:sldId id="263" r:id="rId8"/>
    <p:sldId id="264" r:id="rId9"/>
    <p:sldId id="265" r:id="rId10"/>
    <p:sldId id="266" r:id="rId11"/>
    <p:sldId id="280" r:id="rId12"/>
    <p:sldId id="282" r:id="rId13"/>
    <p:sldId id="273" r:id="rId14"/>
    <p:sldId id="295" r:id="rId15"/>
    <p:sldId id="300" r:id="rId16"/>
    <p:sldId id="301" r:id="rId17"/>
    <p:sldId id="299" r:id="rId18"/>
    <p:sldId id="277" r:id="rId19"/>
    <p:sldId id="296" r:id="rId20"/>
    <p:sldId id="298" r:id="rId21"/>
    <p:sldId id="281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i8VWwQk7DWe/vxyCNmIYrqIvuR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24"/>
    <p:restoredTop sz="94658"/>
  </p:normalViewPr>
  <p:slideViewPr>
    <p:cSldViewPr snapToGrid="0">
      <p:cViewPr varScale="1">
        <p:scale>
          <a:sx n="70" d="100"/>
          <a:sy n="70" d="100"/>
        </p:scale>
        <p:origin x="44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42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4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40" Type="http://customschemas.google.com/relationships/presentationmetadata" Target="metadata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4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43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pt-PT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3" name="Google Shape;5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4240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3076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Criar timeline deste ano incluir piloto data e detalhes até expansão depois deste slide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298B7-2D40-2D80-876F-280A053A1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55667-56DD-6E67-68C2-F896B8E79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0258CB-24A4-4F41-5330-D7A7E4B63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A02A1-7AC0-C3A2-C4BD-636FFC6C1F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pt-PT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pt-PT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95555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pt-PT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pt-PT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27521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E1F0208F-3E16-B951-F28D-634A20E20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4:notes">
            <a:extLst>
              <a:ext uri="{FF2B5EF4-FFF2-40B4-BE49-F238E27FC236}">
                <a16:creationId xmlns:a16="http://schemas.microsoft.com/office/drawing/2014/main" id="{D78B7221-00FB-A54B-560E-7A3B5E3857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4:notes">
            <a:extLst>
              <a:ext uri="{FF2B5EF4-FFF2-40B4-BE49-F238E27FC236}">
                <a16:creationId xmlns:a16="http://schemas.microsoft.com/office/drawing/2014/main" id="{1A6DF85C-F002-8C4A-E082-6A2215E46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38893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8DEE18B7-7E82-5CF3-A92D-931467F0F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4:notes">
            <a:extLst>
              <a:ext uri="{FF2B5EF4-FFF2-40B4-BE49-F238E27FC236}">
                <a16:creationId xmlns:a16="http://schemas.microsoft.com/office/drawing/2014/main" id="{838D2EC6-D20C-6BB5-BE34-25FB658C4F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4:notes">
            <a:extLst>
              <a:ext uri="{FF2B5EF4-FFF2-40B4-BE49-F238E27FC236}">
                <a16:creationId xmlns:a16="http://schemas.microsoft.com/office/drawing/2014/main" id="{18D85074-B12B-358A-88BE-D860958ED8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92468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9D50D4F7-AAF2-021D-261F-5BA3BC61B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7:notes">
            <a:extLst>
              <a:ext uri="{FF2B5EF4-FFF2-40B4-BE49-F238E27FC236}">
                <a16:creationId xmlns:a16="http://schemas.microsoft.com/office/drawing/2014/main" id="{81CAA235-4D3A-C76A-B5D8-E3A73CB106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37:notes">
            <a:extLst>
              <a:ext uri="{FF2B5EF4-FFF2-40B4-BE49-F238E27FC236}">
                <a16:creationId xmlns:a16="http://schemas.microsoft.com/office/drawing/2014/main" id="{99D5FC9C-DEC9-7B34-FB78-D366AB5DF2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7391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>
            <a:spLocks noGrp="1"/>
          </p:cNvSpPr>
          <p:nvPr>
            <p:ph type="title"/>
          </p:nvPr>
        </p:nvSpPr>
        <p:spPr>
          <a:xfrm>
            <a:off x="3454400" y="95250"/>
            <a:ext cx="86106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body" idx="1"/>
          </p:nvPr>
        </p:nvSpPr>
        <p:spPr>
          <a:xfrm>
            <a:off x="508002" y="1447800"/>
            <a:ext cx="5549900" cy="47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Font typeface="Calibri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2"/>
          </p:nvPr>
        </p:nvSpPr>
        <p:spPr>
          <a:xfrm>
            <a:off x="6261102" y="1447800"/>
            <a:ext cx="5549900" cy="47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Font typeface="Calibri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dt" idx="10"/>
          </p:nvPr>
        </p:nvSpPr>
        <p:spPr>
          <a:xfrm>
            <a:off x="1016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sldNum" idx="12"/>
          </p:nvPr>
        </p:nvSpPr>
        <p:spPr>
          <a:xfrm>
            <a:off x="92329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4165600" y="6613527"/>
            <a:ext cx="386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9"/>
          <p:cNvSpPr txBox="1">
            <a:spLocks noGrp="1"/>
          </p:cNvSpPr>
          <p:nvPr>
            <p:ph type="title"/>
          </p:nvPr>
        </p:nvSpPr>
        <p:spPr>
          <a:xfrm>
            <a:off x="2475148" y="95250"/>
            <a:ext cx="87376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972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•"/>
              <a:defRPr sz="20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•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•"/>
              <a:defRPr sz="20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92329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dt" idx="10"/>
          </p:nvPr>
        </p:nvSpPr>
        <p:spPr>
          <a:xfrm>
            <a:off x="787400" y="6562727"/>
            <a:ext cx="21590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ftr" idx="11"/>
          </p:nvPr>
        </p:nvSpPr>
        <p:spPr>
          <a:xfrm>
            <a:off x="4165600" y="6613527"/>
            <a:ext cx="386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787400" y="6562727"/>
            <a:ext cx="21590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sldNum" idx="12"/>
          </p:nvPr>
        </p:nvSpPr>
        <p:spPr>
          <a:xfrm>
            <a:off x="92329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ftr" idx="11"/>
          </p:nvPr>
        </p:nvSpPr>
        <p:spPr>
          <a:xfrm>
            <a:off x="4165600" y="6613527"/>
            <a:ext cx="386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AU_Template">
  <p:cSld name="MISAU_Templat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81600" y="388940"/>
            <a:ext cx="1614488" cy="1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2"/>
          <p:cNvSpPr txBox="1"/>
          <p:nvPr/>
        </p:nvSpPr>
        <p:spPr>
          <a:xfrm>
            <a:off x="4471989" y="1957388"/>
            <a:ext cx="31400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PT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Ministério da Saúde</a:t>
            </a:r>
            <a:endParaRPr/>
          </a:p>
        </p:txBody>
      </p:sp>
      <p:cxnSp>
        <p:nvCxnSpPr>
          <p:cNvPr id="71" name="Google Shape;71;p22"/>
          <p:cNvCxnSpPr/>
          <p:nvPr/>
        </p:nvCxnSpPr>
        <p:spPr>
          <a:xfrm>
            <a:off x="203200" y="0"/>
            <a:ext cx="0" cy="6553200"/>
          </a:xfrm>
          <a:prstGeom prst="straightConnector1">
            <a:avLst/>
          </a:prstGeom>
          <a:noFill/>
          <a:ln w="38100" cap="flat" cmpd="sng">
            <a:solidFill>
              <a:srgbClr val="3E7D5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" name="Google Shape;72;p22"/>
          <p:cNvCxnSpPr/>
          <p:nvPr/>
        </p:nvCxnSpPr>
        <p:spPr>
          <a:xfrm>
            <a:off x="406400" y="0"/>
            <a:ext cx="0" cy="6553200"/>
          </a:xfrm>
          <a:prstGeom prst="straightConnector1">
            <a:avLst/>
          </a:prstGeom>
          <a:noFill/>
          <a:ln w="38100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" name="Google Shape;73;p22"/>
          <p:cNvCxnSpPr/>
          <p:nvPr/>
        </p:nvCxnSpPr>
        <p:spPr>
          <a:xfrm>
            <a:off x="585788" y="0"/>
            <a:ext cx="0" cy="655320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" name="Google Shape;74;p22"/>
          <p:cNvCxnSpPr/>
          <p:nvPr/>
        </p:nvCxnSpPr>
        <p:spPr>
          <a:xfrm>
            <a:off x="787400" y="0"/>
            <a:ext cx="0" cy="6553200"/>
          </a:xfrm>
          <a:prstGeom prst="straightConnector1">
            <a:avLst/>
          </a:prstGeom>
          <a:noFill/>
          <a:ln w="38100" cap="flat" cmpd="sng">
            <a:solidFill>
              <a:srgbClr val="B32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" name="Google Shape;75;p22"/>
          <p:cNvSpPr txBox="1"/>
          <p:nvPr/>
        </p:nvSpPr>
        <p:spPr>
          <a:xfrm>
            <a:off x="4006850" y="1589088"/>
            <a:ext cx="39687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PT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República de Moçambique</a:t>
            </a:r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ctrTitle"/>
          </p:nvPr>
        </p:nvSpPr>
        <p:spPr>
          <a:xfrm>
            <a:off x="1064196" y="2564904"/>
            <a:ext cx="995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ubTitle" idx="1"/>
          </p:nvPr>
        </p:nvSpPr>
        <p:spPr>
          <a:xfrm>
            <a:off x="1064196" y="4149080"/>
            <a:ext cx="99568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3119439" y="6515100"/>
            <a:ext cx="6048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Font typeface="Calibri"/>
              <a:buNone/>
              <a:defRPr sz="1400">
                <a:solidFill>
                  <a:srgbClr val="EFEFE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9347200" y="6553202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sz="1000" b="0" i="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sz="1000" b="0" i="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sz="1000" b="0" i="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sz="1000" b="0" i="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sz="1000" b="0" i="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sz="1000" b="0" i="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sz="1000" b="0" i="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sz="1000" b="0" i="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sz="1000" b="0" i="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dt" idx="10"/>
          </p:nvPr>
        </p:nvSpPr>
        <p:spPr>
          <a:xfrm>
            <a:off x="163513" y="65627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8800" y="11963"/>
            <a:ext cx="711200" cy="6455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23"/>
          <p:cNvCxnSpPr/>
          <p:nvPr/>
        </p:nvCxnSpPr>
        <p:spPr>
          <a:xfrm>
            <a:off x="44451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3E7D5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" name="Google Shape;84;p23"/>
          <p:cNvCxnSpPr/>
          <p:nvPr/>
        </p:nvCxnSpPr>
        <p:spPr>
          <a:xfrm>
            <a:off x="143933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" name="Google Shape;85;p23"/>
          <p:cNvCxnSpPr/>
          <p:nvPr/>
        </p:nvCxnSpPr>
        <p:spPr>
          <a:xfrm>
            <a:off x="239184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" name="Google Shape;86;p23"/>
          <p:cNvCxnSpPr/>
          <p:nvPr/>
        </p:nvCxnSpPr>
        <p:spPr>
          <a:xfrm>
            <a:off x="334433" y="14817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B32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p23"/>
          <p:cNvSpPr txBox="1"/>
          <p:nvPr/>
        </p:nvSpPr>
        <p:spPr>
          <a:xfrm>
            <a:off x="401216" y="6477000"/>
            <a:ext cx="11790784" cy="33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ABAB"/>
              </a:buClr>
              <a:buSzPts val="1600"/>
              <a:buFont typeface="Cambria"/>
              <a:buNone/>
            </a:pPr>
            <a:r>
              <a:rPr lang="pt-PT" sz="1600" b="1" i="0" u="none">
                <a:solidFill>
                  <a:srgbClr val="AEABAB"/>
                </a:solidFill>
                <a:latin typeface="Cambria"/>
                <a:ea typeface="Cambria"/>
                <a:cs typeface="Cambria"/>
                <a:sym typeface="Cambria"/>
              </a:rPr>
              <a:t>MISAU: O nosso maior valor é a vida</a:t>
            </a:r>
            <a:endParaRPr/>
          </a:p>
        </p:txBody>
      </p:sp>
      <p:sp>
        <p:nvSpPr>
          <p:cNvPr id="88" name="Google Shape;88;p23"/>
          <p:cNvSpPr txBox="1"/>
          <p:nvPr/>
        </p:nvSpPr>
        <p:spPr>
          <a:xfrm>
            <a:off x="254000" y="642731"/>
            <a:ext cx="1320800" cy="32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pt-PT" sz="1500" b="1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MISAU</a:t>
            </a:r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title"/>
          </p:nvPr>
        </p:nvSpPr>
        <p:spPr>
          <a:xfrm>
            <a:off x="3149600" y="95250"/>
            <a:ext cx="8737600" cy="1200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972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sldNum" idx="12"/>
          </p:nvPr>
        </p:nvSpPr>
        <p:spPr>
          <a:xfrm>
            <a:off x="92329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dt" idx="10"/>
          </p:nvPr>
        </p:nvSpPr>
        <p:spPr>
          <a:xfrm>
            <a:off x="787400" y="6563784"/>
            <a:ext cx="2159000" cy="29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Google Shape;94;p24"/>
          <p:cNvCxnSpPr/>
          <p:nvPr/>
        </p:nvCxnSpPr>
        <p:spPr>
          <a:xfrm>
            <a:off x="2032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3E7D5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5" name="Google Shape;95;p24"/>
          <p:cNvCxnSpPr/>
          <p:nvPr/>
        </p:nvCxnSpPr>
        <p:spPr>
          <a:xfrm>
            <a:off x="406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" name="Google Shape;96;p24"/>
          <p:cNvCxnSpPr/>
          <p:nvPr/>
        </p:nvCxnSpPr>
        <p:spPr>
          <a:xfrm>
            <a:off x="585788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" name="Google Shape;97;p24"/>
          <p:cNvCxnSpPr/>
          <p:nvPr/>
        </p:nvCxnSpPr>
        <p:spPr>
          <a:xfrm>
            <a:off x="787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B32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" name="Google Shape;98;p24"/>
          <p:cNvSpPr txBox="1"/>
          <p:nvPr/>
        </p:nvSpPr>
        <p:spPr>
          <a:xfrm>
            <a:off x="3119439" y="6488113"/>
            <a:ext cx="5857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Calibri"/>
              <a:buNone/>
            </a:pPr>
            <a:r>
              <a:rPr lang="pt-PT" sz="18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MISAU: O nosso maior valor é a vida</a:t>
            </a:r>
            <a:endParaRPr/>
          </a:p>
        </p:txBody>
      </p:sp>
      <p:pic>
        <p:nvPicPr>
          <p:cNvPr id="99" name="Google Shape;9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600" y="76201"/>
            <a:ext cx="104140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4"/>
          <p:cNvSpPr txBox="1"/>
          <p:nvPr/>
        </p:nvSpPr>
        <p:spPr>
          <a:xfrm>
            <a:off x="977900" y="847726"/>
            <a:ext cx="1320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pt-PT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MISAU</a:t>
            </a:r>
            <a:endParaRPr/>
          </a:p>
        </p:txBody>
      </p:sp>
      <p:sp>
        <p:nvSpPr>
          <p:cNvPr id="101" name="Google Shape;101;p24"/>
          <p:cNvSpPr txBox="1">
            <a:spLocks noGrp="1"/>
          </p:cNvSpPr>
          <p:nvPr>
            <p:ph type="title"/>
          </p:nvPr>
        </p:nvSpPr>
        <p:spPr>
          <a:xfrm>
            <a:off x="3119669" y="274638"/>
            <a:ext cx="846273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None/>
              <a:defRPr sz="1600" b="1"/>
            </a:lvl9pPr>
          </a:lstStyle>
          <a:p>
            <a:endParaRPr/>
          </a:p>
        </p:txBody>
      </p:sp>
      <p:sp>
        <p:nvSpPr>
          <p:cNvPr id="103" name="Google Shape;103;p24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Char char="•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Char char="•"/>
              <a:defRPr sz="1600"/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None/>
              <a:defRPr sz="1600" b="1"/>
            </a:lvl9pPr>
          </a:lstStyle>
          <a:p>
            <a:endParaRPr/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Char char="•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Char char="•"/>
              <a:defRPr sz="1600"/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dt" idx="10"/>
          </p:nvPr>
        </p:nvSpPr>
        <p:spPr>
          <a:xfrm>
            <a:off x="787400" y="6613527"/>
            <a:ext cx="2159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sldNum" idx="12"/>
          </p:nvPr>
        </p:nvSpPr>
        <p:spPr>
          <a:xfrm>
            <a:off x="92329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ftr" idx="11"/>
          </p:nvPr>
        </p:nvSpPr>
        <p:spPr>
          <a:xfrm>
            <a:off x="4165600" y="6613527"/>
            <a:ext cx="386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110;p25"/>
          <p:cNvCxnSpPr/>
          <p:nvPr/>
        </p:nvCxnSpPr>
        <p:spPr>
          <a:xfrm>
            <a:off x="2032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3E7D5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" name="Google Shape;111;p25"/>
          <p:cNvCxnSpPr/>
          <p:nvPr/>
        </p:nvCxnSpPr>
        <p:spPr>
          <a:xfrm>
            <a:off x="406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" name="Google Shape;112;p25"/>
          <p:cNvCxnSpPr/>
          <p:nvPr/>
        </p:nvCxnSpPr>
        <p:spPr>
          <a:xfrm>
            <a:off x="585788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" name="Google Shape;113;p25"/>
          <p:cNvCxnSpPr/>
          <p:nvPr/>
        </p:nvCxnSpPr>
        <p:spPr>
          <a:xfrm>
            <a:off x="787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B32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" name="Google Shape;114;p25"/>
          <p:cNvSpPr txBox="1"/>
          <p:nvPr/>
        </p:nvSpPr>
        <p:spPr>
          <a:xfrm>
            <a:off x="3119439" y="6488113"/>
            <a:ext cx="5857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Calibri"/>
              <a:buNone/>
            </a:pPr>
            <a:r>
              <a:rPr lang="pt-PT" sz="18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MISAU: O nosso maior valor é a vida</a:t>
            </a:r>
            <a:endParaRPr/>
          </a:p>
        </p:txBody>
      </p:sp>
      <p:pic>
        <p:nvPicPr>
          <p:cNvPr id="115" name="Google Shape;11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600" y="76201"/>
            <a:ext cx="104140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5"/>
          <p:cNvSpPr txBox="1"/>
          <p:nvPr/>
        </p:nvSpPr>
        <p:spPr>
          <a:xfrm>
            <a:off x="977900" y="847726"/>
            <a:ext cx="1320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pt-PT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MISAU</a:t>
            </a:r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title"/>
          </p:nvPr>
        </p:nvSpPr>
        <p:spPr>
          <a:xfrm>
            <a:off x="3454400" y="95250"/>
            <a:ext cx="86106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dt" idx="10"/>
          </p:nvPr>
        </p:nvSpPr>
        <p:spPr>
          <a:xfrm>
            <a:off x="787400" y="6613527"/>
            <a:ext cx="2159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sldNum" idx="12"/>
          </p:nvPr>
        </p:nvSpPr>
        <p:spPr>
          <a:xfrm>
            <a:off x="92329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ftr" idx="11"/>
          </p:nvPr>
        </p:nvSpPr>
        <p:spPr>
          <a:xfrm>
            <a:off x="4165600" y="6613527"/>
            <a:ext cx="386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" name="Google Shape;122;p26"/>
          <p:cNvCxnSpPr/>
          <p:nvPr/>
        </p:nvCxnSpPr>
        <p:spPr>
          <a:xfrm>
            <a:off x="2032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3E7D5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" name="Google Shape;123;p26"/>
          <p:cNvCxnSpPr/>
          <p:nvPr/>
        </p:nvCxnSpPr>
        <p:spPr>
          <a:xfrm>
            <a:off x="406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4" name="Google Shape;124;p26"/>
          <p:cNvCxnSpPr/>
          <p:nvPr/>
        </p:nvCxnSpPr>
        <p:spPr>
          <a:xfrm>
            <a:off x="585788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5" name="Google Shape;125;p26"/>
          <p:cNvCxnSpPr/>
          <p:nvPr/>
        </p:nvCxnSpPr>
        <p:spPr>
          <a:xfrm>
            <a:off x="787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B32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6" name="Google Shape;126;p26"/>
          <p:cNvSpPr txBox="1"/>
          <p:nvPr/>
        </p:nvSpPr>
        <p:spPr>
          <a:xfrm>
            <a:off x="3090863" y="6488113"/>
            <a:ext cx="58562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Calibri"/>
              <a:buNone/>
            </a:pPr>
            <a:r>
              <a:rPr lang="pt-PT" sz="18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MISAU: O nosso maior valor é a vida</a:t>
            </a:r>
            <a:endParaRPr/>
          </a:p>
        </p:txBody>
      </p:sp>
      <p:pic>
        <p:nvPicPr>
          <p:cNvPr id="127" name="Google Shape;12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600" y="76201"/>
            <a:ext cx="104140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6"/>
          <p:cNvSpPr txBox="1"/>
          <p:nvPr/>
        </p:nvSpPr>
        <p:spPr>
          <a:xfrm>
            <a:off x="977900" y="847726"/>
            <a:ext cx="1320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pt-PT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MISAU</a:t>
            </a:r>
            <a:endParaRPr/>
          </a:p>
        </p:txBody>
      </p:sp>
      <p:sp>
        <p:nvSpPr>
          <p:cNvPr id="129" name="Google Shape;129;p26"/>
          <p:cNvSpPr txBox="1">
            <a:spLocks noGrp="1"/>
          </p:cNvSpPr>
          <p:nvPr>
            <p:ph type="dt" idx="10"/>
          </p:nvPr>
        </p:nvSpPr>
        <p:spPr>
          <a:xfrm>
            <a:off x="787400" y="6597650"/>
            <a:ext cx="2159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sldNum" idx="12"/>
          </p:nvPr>
        </p:nvSpPr>
        <p:spPr>
          <a:xfrm>
            <a:off x="92329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31" name="Google Shape;131;p26"/>
          <p:cNvSpPr txBox="1">
            <a:spLocks noGrp="1"/>
          </p:cNvSpPr>
          <p:nvPr>
            <p:ph type="ftr" idx="11"/>
          </p:nvPr>
        </p:nvSpPr>
        <p:spPr>
          <a:xfrm>
            <a:off x="4165600" y="6613527"/>
            <a:ext cx="386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Google Shape;133;p27"/>
          <p:cNvCxnSpPr/>
          <p:nvPr/>
        </p:nvCxnSpPr>
        <p:spPr>
          <a:xfrm>
            <a:off x="2032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3E7D5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4" name="Google Shape;134;p27"/>
          <p:cNvCxnSpPr/>
          <p:nvPr/>
        </p:nvCxnSpPr>
        <p:spPr>
          <a:xfrm>
            <a:off x="406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5" name="Google Shape;135;p27"/>
          <p:cNvCxnSpPr/>
          <p:nvPr/>
        </p:nvCxnSpPr>
        <p:spPr>
          <a:xfrm>
            <a:off x="585788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" name="Google Shape;136;p27"/>
          <p:cNvCxnSpPr/>
          <p:nvPr/>
        </p:nvCxnSpPr>
        <p:spPr>
          <a:xfrm>
            <a:off x="787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B32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7" name="Google Shape;137;p27"/>
          <p:cNvSpPr txBox="1"/>
          <p:nvPr/>
        </p:nvSpPr>
        <p:spPr>
          <a:xfrm>
            <a:off x="3119439" y="6415088"/>
            <a:ext cx="5857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Calibri"/>
              <a:buNone/>
            </a:pPr>
            <a:r>
              <a:rPr lang="pt-PT" sz="18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MISAU: O nosso maior valor é a vida</a:t>
            </a:r>
            <a:endParaRPr/>
          </a:p>
        </p:txBody>
      </p:sp>
      <p:sp>
        <p:nvSpPr>
          <p:cNvPr id="138" name="Google Shape;138;p27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7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SzPts val="3200"/>
              <a:buFont typeface="Calibri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SzPts val="2800"/>
              <a:buFont typeface="Calibri"/>
              <a:buChar char="•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•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•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•"/>
              <a:defRPr sz="2000"/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Calibri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dt" idx="10"/>
          </p:nvPr>
        </p:nvSpPr>
        <p:spPr>
          <a:xfrm>
            <a:off x="912814" y="6600827"/>
            <a:ext cx="203358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sldNum" idx="12"/>
          </p:nvPr>
        </p:nvSpPr>
        <p:spPr>
          <a:xfrm>
            <a:off x="92329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ftr" idx="11"/>
          </p:nvPr>
        </p:nvSpPr>
        <p:spPr>
          <a:xfrm>
            <a:off x="4165600" y="6613527"/>
            <a:ext cx="386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Google Shape;145;p28"/>
          <p:cNvCxnSpPr/>
          <p:nvPr/>
        </p:nvCxnSpPr>
        <p:spPr>
          <a:xfrm>
            <a:off x="2032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3E7D5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6" name="Google Shape;146;p28"/>
          <p:cNvCxnSpPr/>
          <p:nvPr/>
        </p:nvCxnSpPr>
        <p:spPr>
          <a:xfrm>
            <a:off x="406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7" name="Google Shape;147;p28"/>
          <p:cNvCxnSpPr/>
          <p:nvPr/>
        </p:nvCxnSpPr>
        <p:spPr>
          <a:xfrm>
            <a:off x="585788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8" name="Google Shape;148;p28"/>
          <p:cNvCxnSpPr/>
          <p:nvPr/>
        </p:nvCxnSpPr>
        <p:spPr>
          <a:xfrm>
            <a:off x="787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B32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9" name="Google Shape;149;p28"/>
          <p:cNvSpPr txBox="1"/>
          <p:nvPr/>
        </p:nvSpPr>
        <p:spPr>
          <a:xfrm>
            <a:off x="3119439" y="6378575"/>
            <a:ext cx="5857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Calibri"/>
              <a:buNone/>
            </a:pPr>
            <a:r>
              <a:rPr lang="pt-PT" sz="18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MISAU: O nosso maior valor é a vida</a:t>
            </a:r>
            <a:endParaRPr/>
          </a:p>
        </p:txBody>
      </p:sp>
      <p:sp>
        <p:nvSpPr>
          <p:cNvPr id="150" name="Google Shape;150;p28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8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8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Calibri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9pPr>
          </a:lstStyle>
          <a:p>
            <a:endParaRPr/>
          </a:p>
        </p:txBody>
      </p:sp>
      <p:sp>
        <p:nvSpPr>
          <p:cNvPr id="153" name="Google Shape;153;p28"/>
          <p:cNvSpPr txBox="1">
            <a:spLocks noGrp="1"/>
          </p:cNvSpPr>
          <p:nvPr>
            <p:ph type="dt" idx="10"/>
          </p:nvPr>
        </p:nvSpPr>
        <p:spPr>
          <a:xfrm>
            <a:off x="1016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8"/>
          <p:cNvSpPr txBox="1">
            <a:spLocks noGrp="1"/>
          </p:cNvSpPr>
          <p:nvPr>
            <p:ph type="sldNum" idx="12"/>
          </p:nvPr>
        </p:nvSpPr>
        <p:spPr>
          <a:xfrm>
            <a:off x="92329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55" name="Google Shape;155;p28"/>
          <p:cNvSpPr txBox="1">
            <a:spLocks noGrp="1"/>
          </p:cNvSpPr>
          <p:nvPr>
            <p:ph type="ftr" idx="11"/>
          </p:nvPr>
        </p:nvSpPr>
        <p:spPr>
          <a:xfrm>
            <a:off x="4165600" y="6613527"/>
            <a:ext cx="386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" name="Google Shape;157;p29"/>
          <p:cNvCxnSpPr/>
          <p:nvPr/>
        </p:nvCxnSpPr>
        <p:spPr>
          <a:xfrm>
            <a:off x="2032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3E7D5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29"/>
          <p:cNvCxnSpPr/>
          <p:nvPr/>
        </p:nvCxnSpPr>
        <p:spPr>
          <a:xfrm>
            <a:off x="406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p29"/>
          <p:cNvCxnSpPr/>
          <p:nvPr/>
        </p:nvCxnSpPr>
        <p:spPr>
          <a:xfrm>
            <a:off x="585788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29"/>
          <p:cNvCxnSpPr/>
          <p:nvPr/>
        </p:nvCxnSpPr>
        <p:spPr>
          <a:xfrm>
            <a:off x="787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B3261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1" name="Google Shape;16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600" y="76201"/>
            <a:ext cx="104140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9"/>
          <p:cNvSpPr txBox="1"/>
          <p:nvPr/>
        </p:nvSpPr>
        <p:spPr>
          <a:xfrm>
            <a:off x="977900" y="847726"/>
            <a:ext cx="1320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pt-PT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MISAU</a:t>
            </a:r>
            <a:endParaRPr/>
          </a:p>
        </p:txBody>
      </p:sp>
      <p:sp>
        <p:nvSpPr>
          <p:cNvPr id="163" name="Google Shape;163;p29"/>
          <p:cNvSpPr txBox="1"/>
          <p:nvPr/>
        </p:nvSpPr>
        <p:spPr>
          <a:xfrm>
            <a:off x="3119439" y="6378575"/>
            <a:ext cx="5857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Calibri"/>
              <a:buNone/>
            </a:pPr>
            <a:r>
              <a:rPr lang="pt-PT" sz="18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MISAU: O nosso maior valor é a vida</a:t>
            </a:r>
            <a:endParaRPr/>
          </a:p>
        </p:txBody>
      </p:sp>
      <p:sp>
        <p:nvSpPr>
          <p:cNvPr id="164" name="Google Shape;164;p29"/>
          <p:cNvSpPr txBox="1">
            <a:spLocks noGrp="1"/>
          </p:cNvSpPr>
          <p:nvPr>
            <p:ph type="title"/>
          </p:nvPr>
        </p:nvSpPr>
        <p:spPr>
          <a:xfrm>
            <a:off x="3454400" y="95250"/>
            <a:ext cx="86106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9"/>
          <p:cNvSpPr txBox="1">
            <a:spLocks noGrp="1"/>
          </p:cNvSpPr>
          <p:nvPr>
            <p:ph type="body" idx="1"/>
          </p:nvPr>
        </p:nvSpPr>
        <p:spPr>
          <a:xfrm rot="5400000">
            <a:off x="4318000" y="-1651000"/>
            <a:ext cx="5105400" cy="11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29"/>
          <p:cNvSpPr txBox="1">
            <a:spLocks noGrp="1"/>
          </p:cNvSpPr>
          <p:nvPr>
            <p:ph type="dt" idx="10"/>
          </p:nvPr>
        </p:nvSpPr>
        <p:spPr>
          <a:xfrm>
            <a:off x="1016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9"/>
          <p:cNvSpPr txBox="1">
            <a:spLocks noGrp="1"/>
          </p:cNvSpPr>
          <p:nvPr>
            <p:ph type="sldNum" idx="12"/>
          </p:nvPr>
        </p:nvSpPr>
        <p:spPr>
          <a:xfrm>
            <a:off x="92329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68" name="Google Shape;168;p29"/>
          <p:cNvSpPr txBox="1">
            <a:spLocks noGrp="1"/>
          </p:cNvSpPr>
          <p:nvPr>
            <p:ph type="ftr" idx="11"/>
          </p:nvPr>
        </p:nvSpPr>
        <p:spPr>
          <a:xfrm>
            <a:off x="4165600" y="6613527"/>
            <a:ext cx="386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Google Shape;170;p30"/>
          <p:cNvCxnSpPr/>
          <p:nvPr/>
        </p:nvCxnSpPr>
        <p:spPr>
          <a:xfrm>
            <a:off x="2032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3E7D5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Google Shape;171;p30"/>
          <p:cNvCxnSpPr/>
          <p:nvPr/>
        </p:nvCxnSpPr>
        <p:spPr>
          <a:xfrm>
            <a:off x="406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2" name="Google Shape;172;p30"/>
          <p:cNvCxnSpPr/>
          <p:nvPr/>
        </p:nvCxnSpPr>
        <p:spPr>
          <a:xfrm>
            <a:off x="585788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" name="Google Shape;173;p30"/>
          <p:cNvCxnSpPr/>
          <p:nvPr/>
        </p:nvCxnSpPr>
        <p:spPr>
          <a:xfrm>
            <a:off x="787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B32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4" name="Google Shape;174;p30"/>
          <p:cNvSpPr txBox="1"/>
          <p:nvPr/>
        </p:nvSpPr>
        <p:spPr>
          <a:xfrm>
            <a:off x="3119439" y="6378575"/>
            <a:ext cx="5857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Calibri"/>
              <a:buNone/>
            </a:pPr>
            <a:r>
              <a:rPr lang="pt-PT" sz="18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MISAU: O nosso maior valor é a vida</a:t>
            </a:r>
            <a:endParaRPr/>
          </a:p>
        </p:txBody>
      </p:sp>
      <p:sp>
        <p:nvSpPr>
          <p:cNvPr id="175" name="Google Shape;175;p30"/>
          <p:cNvSpPr txBox="1">
            <a:spLocks noGrp="1"/>
          </p:cNvSpPr>
          <p:nvPr>
            <p:ph type="title"/>
          </p:nvPr>
        </p:nvSpPr>
        <p:spPr>
          <a:xfrm rot="5400000">
            <a:off x="7391403" y="1879600"/>
            <a:ext cx="6457950" cy="2889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0"/>
          <p:cNvSpPr txBox="1">
            <a:spLocks noGrp="1"/>
          </p:cNvSpPr>
          <p:nvPr>
            <p:ph type="body" idx="1"/>
          </p:nvPr>
        </p:nvSpPr>
        <p:spPr>
          <a:xfrm rot="5400000">
            <a:off x="1511303" y="-908050"/>
            <a:ext cx="6457950" cy="8464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30"/>
          <p:cNvSpPr txBox="1">
            <a:spLocks noGrp="1"/>
          </p:cNvSpPr>
          <p:nvPr>
            <p:ph type="dt" idx="10"/>
          </p:nvPr>
        </p:nvSpPr>
        <p:spPr>
          <a:xfrm>
            <a:off x="1016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0"/>
          <p:cNvSpPr txBox="1">
            <a:spLocks noGrp="1"/>
          </p:cNvSpPr>
          <p:nvPr>
            <p:ph type="sldNum" idx="12"/>
          </p:nvPr>
        </p:nvSpPr>
        <p:spPr>
          <a:xfrm>
            <a:off x="92329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79" name="Google Shape;179;p30"/>
          <p:cNvSpPr txBox="1">
            <a:spLocks noGrp="1"/>
          </p:cNvSpPr>
          <p:nvPr>
            <p:ph type="ftr" idx="11"/>
          </p:nvPr>
        </p:nvSpPr>
        <p:spPr>
          <a:xfrm>
            <a:off x="4165600" y="6613527"/>
            <a:ext cx="386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Text slide">
  <p:cSld name="Basic Text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/>
          <p:nvPr/>
        </p:nvSpPr>
        <p:spPr>
          <a:xfrm>
            <a:off x="522288" y="1154113"/>
            <a:ext cx="5353051" cy="513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None/>
            </a:pP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31"/>
          <p:cNvCxnSpPr/>
          <p:nvPr/>
        </p:nvCxnSpPr>
        <p:spPr>
          <a:xfrm>
            <a:off x="2032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3E7D5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3" name="Google Shape;183;p31"/>
          <p:cNvCxnSpPr/>
          <p:nvPr/>
        </p:nvCxnSpPr>
        <p:spPr>
          <a:xfrm>
            <a:off x="406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" name="Google Shape;184;p31"/>
          <p:cNvCxnSpPr/>
          <p:nvPr/>
        </p:nvCxnSpPr>
        <p:spPr>
          <a:xfrm>
            <a:off x="585788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5" name="Google Shape;185;p31"/>
          <p:cNvCxnSpPr/>
          <p:nvPr/>
        </p:nvCxnSpPr>
        <p:spPr>
          <a:xfrm>
            <a:off x="787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B32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" name="Google Shape;186;p31"/>
          <p:cNvSpPr txBox="1"/>
          <p:nvPr/>
        </p:nvSpPr>
        <p:spPr>
          <a:xfrm>
            <a:off x="3119439" y="6391275"/>
            <a:ext cx="5857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Calibri"/>
              <a:buNone/>
            </a:pPr>
            <a:r>
              <a:rPr lang="pt-PT" sz="18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MISAU: O nosso maior valor é a vida</a:t>
            </a:r>
            <a:endParaRPr/>
          </a:p>
        </p:txBody>
      </p:sp>
      <p:sp>
        <p:nvSpPr>
          <p:cNvPr id="187" name="Google Shape;187;p31"/>
          <p:cNvSpPr/>
          <p:nvPr/>
        </p:nvSpPr>
        <p:spPr>
          <a:xfrm>
            <a:off x="522288" y="1154113"/>
            <a:ext cx="5353051" cy="513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None/>
            </a:pP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1"/>
          <p:cNvSpPr/>
          <p:nvPr/>
        </p:nvSpPr>
        <p:spPr>
          <a:xfrm>
            <a:off x="522288" y="1154113"/>
            <a:ext cx="5353051" cy="513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None/>
            </a:pP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1"/>
          <p:cNvSpPr txBox="1">
            <a:spLocks noGrp="1"/>
          </p:cNvSpPr>
          <p:nvPr>
            <p:ph type="body" idx="1"/>
          </p:nvPr>
        </p:nvSpPr>
        <p:spPr>
          <a:xfrm>
            <a:off x="1199456" y="1152144"/>
            <a:ext cx="4677088" cy="513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None/>
              <a:defRPr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•"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None/>
              <a:defRPr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31"/>
          <p:cNvSpPr txBox="1">
            <a:spLocks noGrp="1"/>
          </p:cNvSpPr>
          <p:nvPr>
            <p:ph type="body" idx="2"/>
          </p:nvPr>
        </p:nvSpPr>
        <p:spPr>
          <a:xfrm>
            <a:off x="6864085" y="1152144"/>
            <a:ext cx="4803659" cy="501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31"/>
          <p:cNvSpPr txBox="1">
            <a:spLocks noGrp="1"/>
          </p:cNvSpPr>
          <p:nvPr>
            <p:ph type="body" idx="3"/>
          </p:nvPr>
        </p:nvSpPr>
        <p:spPr>
          <a:xfrm>
            <a:off x="1199456" y="256032"/>
            <a:ext cx="10456096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None/>
              <a:defRPr sz="1600" b="1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31"/>
          <p:cNvSpPr txBox="1">
            <a:spLocks noGrp="1"/>
          </p:cNvSpPr>
          <p:nvPr>
            <p:ph type="dt" idx="10"/>
          </p:nvPr>
        </p:nvSpPr>
        <p:spPr>
          <a:xfrm>
            <a:off x="1016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1"/>
          <p:cNvSpPr txBox="1">
            <a:spLocks noGrp="1"/>
          </p:cNvSpPr>
          <p:nvPr>
            <p:ph type="ftr" idx="11"/>
          </p:nvPr>
        </p:nvSpPr>
        <p:spPr>
          <a:xfrm>
            <a:off x="4165600" y="6613527"/>
            <a:ext cx="386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31"/>
          <p:cNvSpPr txBox="1">
            <a:spLocks noGrp="1"/>
          </p:cNvSpPr>
          <p:nvPr>
            <p:ph type="sldNum" idx="12"/>
          </p:nvPr>
        </p:nvSpPr>
        <p:spPr>
          <a:xfrm>
            <a:off x="92329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asic Text slide">
  <p:cSld name="2_Basic Text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/>
          <p:nvPr/>
        </p:nvSpPr>
        <p:spPr>
          <a:xfrm>
            <a:off x="522288" y="1154113"/>
            <a:ext cx="5353051" cy="513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None/>
            </a:pP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2"/>
          <p:cNvSpPr txBox="1">
            <a:spLocks noGrp="1"/>
          </p:cNvSpPr>
          <p:nvPr>
            <p:ph type="body" idx="1"/>
          </p:nvPr>
        </p:nvSpPr>
        <p:spPr>
          <a:xfrm>
            <a:off x="524256" y="1152144"/>
            <a:ext cx="5352288" cy="513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None/>
              <a:defRPr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Char char="•"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None/>
              <a:defRPr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32"/>
          <p:cNvSpPr txBox="1">
            <a:spLocks noGrp="1"/>
          </p:cNvSpPr>
          <p:nvPr>
            <p:ph type="body" idx="2"/>
          </p:nvPr>
        </p:nvSpPr>
        <p:spPr>
          <a:xfrm>
            <a:off x="6315456" y="1152144"/>
            <a:ext cx="5352288" cy="513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32"/>
          <p:cNvSpPr txBox="1">
            <a:spLocks noGrp="1"/>
          </p:cNvSpPr>
          <p:nvPr>
            <p:ph type="body" idx="3"/>
          </p:nvPr>
        </p:nvSpPr>
        <p:spPr>
          <a:xfrm>
            <a:off x="524256" y="256032"/>
            <a:ext cx="11131296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None/>
              <a:defRPr sz="1600" b="1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32"/>
          <p:cNvSpPr txBox="1">
            <a:spLocks noGrp="1"/>
          </p:cNvSpPr>
          <p:nvPr>
            <p:ph type="dt" idx="10"/>
          </p:nvPr>
        </p:nvSpPr>
        <p:spPr>
          <a:xfrm>
            <a:off x="1016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32"/>
          <p:cNvSpPr txBox="1">
            <a:spLocks noGrp="1"/>
          </p:cNvSpPr>
          <p:nvPr>
            <p:ph type="ftr" idx="11"/>
          </p:nvPr>
        </p:nvSpPr>
        <p:spPr>
          <a:xfrm>
            <a:off x="4165600" y="6613527"/>
            <a:ext cx="386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32"/>
          <p:cNvSpPr txBox="1">
            <a:spLocks noGrp="1"/>
          </p:cNvSpPr>
          <p:nvPr>
            <p:ph type="sldNum" idx="12"/>
          </p:nvPr>
        </p:nvSpPr>
        <p:spPr>
          <a:xfrm>
            <a:off x="92329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image" Target="../media/image1.png" /><Relationship Id="rId2" Type="http://schemas.openxmlformats.org/officeDocument/2006/relationships/slideLayout" Target="../slideLayouts/slideLayout2.xml" /><Relationship Id="rId16" Type="http://schemas.openxmlformats.org/officeDocument/2006/relationships/theme" Target="../theme/theme1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3454400" y="95250"/>
            <a:ext cx="86106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1219200" y="1447800"/>
            <a:ext cx="113030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rgbClr val="21295C"/>
              </a:buClr>
              <a:buSzPts val="24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rgbClr val="21295C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1016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165600" y="6613527"/>
            <a:ext cx="386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92329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alibri"/>
        <a:defRPr sz="1400" b="0" i="0" u="none" strike="noStrike" cap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8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 /><Relationship Id="rId13" Type="http://schemas.openxmlformats.org/officeDocument/2006/relationships/image" Target="../media/image2.jpg" /><Relationship Id="rId3" Type="http://schemas.openxmlformats.org/officeDocument/2006/relationships/image" Target="../media/image6.png" /><Relationship Id="rId7" Type="http://schemas.openxmlformats.org/officeDocument/2006/relationships/image" Target="../media/image10.png" /><Relationship Id="rId12" Type="http://schemas.openxmlformats.org/officeDocument/2006/relationships/image" Target="../media/image15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9.png" /><Relationship Id="rId11" Type="http://schemas.openxmlformats.org/officeDocument/2006/relationships/image" Target="../media/image14.png" /><Relationship Id="rId5" Type="http://schemas.openxmlformats.org/officeDocument/2006/relationships/image" Target="../media/image8.png" /><Relationship Id="rId10" Type="http://schemas.openxmlformats.org/officeDocument/2006/relationships/image" Target="../media/image13.png" /><Relationship Id="rId4" Type="http://schemas.openxmlformats.org/officeDocument/2006/relationships/image" Target="../media/image7.png" /><Relationship Id="rId9" Type="http://schemas.openxmlformats.org/officeDocument/2006/relationships/image" Target="../media/image12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 /><Relationship Id="rId3" Type="http://schemas.openxmlformats.org/officeDocument/2006/relationships/image" Target="../media/image16.png" /><Relationship Id="rId7" Type="http://schemas.openxmlformats.org/officeDocument/2006/relationships/image" Target="../media/image20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9.png" /><Relationship Id="rId5" Type="http://schemas.openxmlformats.org/officeDocument/2006/relationships/image" Target="../media/image18.png" /><Relationship Id="rId4" Type="http://schemas.openxmlformats.org/officeDocument/2006/relationships/image" Target="../media/image17.png" /><Relationship Id="rId9" Type="http://schemas.openxmlformats.org/officeDocument/2006/relationships/image" Target="../media/image5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openxmlformats.org/officeDocument/2006/relationships/image" Target="../media/image22.png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 /><Relationship Id="rId3" Type="http://schemas.openxmlformats.org/officeDocument/2006/relationships/image" Target="../media/image23.png" /><Relationship Id="rId7" Type="http://schemas.openxmlformats.org/officeDocument/2006/relationships/image" Target="../media/image27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6.png" /><Relationship Id="rId5" Type="http://schemas.openxmlformats.org/officeDocument/2006/relationships/image" Target="../media/image25.png" /><Relationship Id="rId10" Type="http://schemas.openxmlformats.org/officeDocument/2006/relationships/image" Target="../media/image5.png" /><Relationship Id="rId4" Type="http://schemas.openxmlformats.org/officeDocument/2006/relationships/image" Target="../media/image24.png" /><Relationship Id="rId9" Type="http://schemas.openxmlformats.org/officeDocument/2006/relationships/image" Target="../media/image29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5.png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png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 /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"/>
          <p:cNvSpPr txBox="1"/>
          <p:nvPr/>
        </p:nvSpPr>
        <p:spPr>
          <a:xfrm>
            <a:off x="310714" y="2806147"/>
            <a:ext cx="11345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Reunião de Coordenação do SSCM</a:t>
            </a:r>
            <a:endParaRPr lang="pt-PT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7" name="Google Shape;577;p1"/>
          <p:cNvSpPr txBox="1"/>
          <p:nvPr/>
        </p:nvSpPr>
        <p:spPr>
          <a:xfrm>
            <a:off x="946298" y="3984768"/>
            <a:ext cx="11100390" cy="84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pt-PT" sz="2400" b="1" dirty="0">
                <a:solidFill>
                  <a:schemeClr val="tx1"/>
                </a:solidFill>
                <a:latin typeface="Calibri" panose="020B0604020202020204" pitchFamily="34" charset="0"/>
                <a:ea typeface="Calibri"/>
                <a:cs typeface="Calibri" panose="020B0604020202020204" pitchFamily="34" charset="0"/>
                <a:sym typeface="Calibri"/>
              </a:rPr>
              <a:t>Implementação do Sistema de Informação para Registo de Saúde Eletrónico (SIS-RSE)</a:t>
            </a:r>
            <a:endParaRPr lang="pt-PT" sz="2400" b="1" dirty="0">
              <a:solidFill>
                <a:schemeClr val="tx1"/>
              </a:solidFill>
              <a:latin typeface="Calibri" panose="020B0604020202020204" pitchFamily="34" charset="0"/>
              <a:cs typeface="Calibri" panose="020B0604020202020204" pitchFamily="34" charset="0"/>
              <a:sym typeface="Calibri"/>
            </a:endParaRPr>
          </a:p>
        </p:txBody>
      </p:sp>
      <p:sp>
        <p:nvSpPr>
          <p:cNvPr id="578" name="Google Shape;578;p1"/>
          <p:cNvSpPr/>
          <p:nvPr/>
        </p:nvSpPr>
        <p:spPr>
          <a:xfrm>
            <a:off x="4658913" y="2252111"/>
            <a:ext cx="264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Ministério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</a:t>
            </a:r>
            <a:r>
              <a:rPr lang="en-US" sz="20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Saúde</a:t>
            </a:r>
            <a:endParaRPr sz="2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"/>
          <p:cNvSpPr txBox="1"/>
          <p:nvPr/>
        </p:nvSpPr>
        <p:spPr>
          <a:xfrm>
            <a:off x="6647771" y="6604964"/>
            <a:ext cx="4010100" cy="190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000" b="1" i="0" u="none" strike="noStrike" cap="none" dirty="0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O NOSSO MAIOR VALOR </a:t>
            </a:r>
            <a:r>
              <a:rPr lang="en-US" sz="1000" b="1" i="0" u="none" strike="noStrike" cap="none" dirty="0" err="1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É</a:t>
            </a:r>
            <a:r>
              <a:rPr lang="en-US" sz="1000" b="1" i="0" u="none" strike="noStrike" cap="none" dirty="0">
                <a:solidFill>
                  <a:srgbClr val="21295C"/>
                </a:solidFill>
                <a:latin typeface="Arial"/>
                <a:ea typeface="Arial"/>
                <a:cs typeface="Arial"/>
                <a:sym typeface="Arial"/>
              </a:rPr>
              <a:t> A VIDA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0" name="Google Shape;58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9751" y="157625"/>
            <a:ext cx="2147325" cy="20273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A4012CFA-58F9-3F43-704D-7C6D4C70C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298" y="5358391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Outubro de 2026</a:t>
            </a:r>
            <a:endParaRPr lang="en-US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339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"/>
          <p:cNvSpPr txBox="1">
            <a:spLocks noGrp="1"/>
          </p:cNvSpPr>
          <p:nvPr>
            <p:ph type="sldNum" idx="12"/>
          </p:nvPr>
        </p:nvSpPr>
        <p:spPr>
          <a:xfrm>
            <a:off x="92329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pt-PT"/>
              <a:t>2</a:t>
            </a:fld>
            <a:endParaRPr/>
          </a:p>
        </p:txBody>
      </p:sp>
      <p:sp>
        <p:nvSpPr>
          <p:cNvPr id="216" name="Google Shape;216;p2"/>
          <p:cNvSpPr txBox="1">
            <a:spLocks noGrp="1"/>
          </p:cNvSpPr>
          <p:nvPr>
            <p:ph type="body" idx="1"/>
          </p:nvPr>
        </p:nvSpPr>
        <p:spPr>
          <a:xfrm>
            <a:off x="963023" y="1068908"/>
            <a:ext cx="11000377" cy="5286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91" lvl="0" indent="-342891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pt-PT" sz="2400" dirty="0">
                <a:solidFill>
                  <a:srgbClr val="1B2B33"/>
                </a:solidFill>
                <a:latin typeface="Calibri"/>
                <a:ea typeface="Calibri"/>
                <a:cs typeface="Calibri"/>
                <a:sym typeface="Calibri"/>
              </a:rPr>
              <a:t>Justificativa</a:t>
            </a:r>
            <a:endParaRPr sz="2400" dirty="0">
              <a:solidFill>
                <a:srgbClr val="1B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91" lvl="0" indent="-342891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pt-PT" sz="2400" dirty="0">
                <a:solidFill>
                  <a:srgbClr val="1B2B33"/>
                </a:solidFill>
                <a:latin typeface="Calibri"/>
                <a:ea typeface="Calibri"/>
                <a:cs typeface="Calibri"/>
                <a:sym typeface="Calibri"/>
              </a:rPr>
              <a:t>SIS-RME: Conceitos básicos</a:t>
            </a:r>
            <a:endParaRPr sz="2400" dirty="0"/>
          </a:p>
          <a:p>
            <a:pPr marL="800091" lvl="1" indent="-342891">
              <a:lnSpc>
                <a:spcPct val="150000"/>
              </a:lnSpc>
            </a:pPr>
            <a:r>
              <a:rPr lang="pt-PT" sz="2000" dirty="0">
                <a:solidFill>
                  <a:srgbClr val="1B2B33"/>
                </a:solidFill>
                <a:latin typeface="Calibri"/>
                <a:ea typeface="Calibri"/>
                <a:cs typeface="Calibri"/>
                <a:sym typeface="Calibri"/>
              </a:rPr>
              <a:t>Visão Geral</a:t>
            </a:r>
            <a:endParaRPr sz="2000" dirty="0"/>
          </a:p>
          <a:p>
            <a:pPr marL="800091" lvl="1" indent="-342891">
              <a:lnSpc>
                <a:spcPct val="150000"/>
              </a:lnSpc>
            </a:pPr>
            <a:r>
              <a:rPr lang="pt-PT" sz="2000" dirty="0">
                <a:solidFill>
                  <a:srgbClr val="1B2B33"/>
                </a:solidFill>
                <a:latin typeface="Calibri"/>
                <a:ea typeface="Calibri"/>
                <a:cs typeface="Calibri"/>
                <a:sym typeface="Calibri"/>
              </a:rPr>
              <a:t>Perfis</a:t>
            </a:r>
            <a:endParaRPr sz="2000" dirty="0"/>
          </a:p>
          <a:p>
            <a:pPr marL="800091" lvl="1" indent="-342891">
              <a:lnSpc>
                <a:spcPct val="150000"/>
              </a:lnSpc>
            </a:pPr>
            <a:r>
              <a:rPr lang="pt-PT" sz="2000" dirty="0">
                <a:solidFill>
                  <a:srgbClr val="1B2B33"/>
                </a:solidFill>
                <a:latin typeface="Calibri"/>
                <a:ea typeface="Calibri"/>
                <a:cs typeface="Calibri"/>
                <a:sym typeface="Calibri"/>
              </a:rPr>
              <a:t>Acessos</a:t>
            </a:r>
            <a:endParaRPr sz="2000" dirty="0"/>
          </a:p>
          <a:p>
            <a:pPr marL="800091" lvl="1" indent="-342891">
              <a:lnSpc>
                <a:spcPct val="150000"/>
              </a:lnSpc>
            </a:pPr>
            <a:r>
              <a:rPr lang="pt-PT" sz="2000" dirty="0">
                <a:solidFill>
                  <a:srgbClr val="1B2B33"/>
                </a:solidFill>
                <a:latin typeface="Calibri"/>
                <a:ea typeface="Calibri"/>
                <a:cs typeface="Calibri"/>
                <a:sym typeface="Calibri"/>
              </a:rPr>
              <a:t>Fluxograma de atendimento</a:t>
            </a:r>
            <a:endParaRPr sz="2000" dirty="0"/>
          </a:p>
          <a:p>
            <a:pPr marL="800091" lvl="1" indent="-342891">
              <a:lnSpc>
                <a:spcPct val="150000"/>
              </a:lnSpc>
            </a:pPr>
            <a:r>
              <a:rPr lang="pt-PT" sz="2000" dirty="0">
                <a:solidFill>
                  <a:srgbClr val="1B2B33"/>
                </a:solidFill>
                <a:latin typeface="Calibri"/>
                <a:ea typeface="Calibri"/>
                <a:cs typeface="Calibri"/>
                <a:sym typeface="Calibri"/>
              </a:rPr>
              <a:t>Número Único do Utente</a:t>
            </a:r>
            <a:endParaRPr sz="2000" dirty="0"/>
          </a:p>
          <a:p>
            <a:pPr marL="342891" lvl="0" indent="-342891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pt-PT" sz="2400" dirty="0">
                <a:solidFill>
                  <a:srgbClr val="1B2B33"/>
                </a:solidFill>
                <a:latin typeface="Calibri"/>
                <a:ea typeface="Calibri"/>
                <a:cs typeface="Calibri"/>
                <a:sym typeface="Calibri"/>
              </a:rPr>
              <a:t>Integração de Sistemas de Informação</a:t>
            </a:r>
            <a:endParaRPr sz="2400" dirty="0"/>
          </a:p>
          <a:p>
            <a:pPr marL="342891" lvl="0" indent="-342891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pt-PT" sz="2400" dirty="0">
                <a:solidFill>
                  <a:srgbClr val="1B2B33"/>
                </a:solidFill>
                <a:latin typeface="Calibri"/>
                <a:ea typeface="Calibri"/>
                <a:cs typeface="Calibri"/>
                <a:sym typeface="Calibri"/>
              </a:rPr>
              <a:t>Desafios e oportunidades</a:t>
            </a:r>
            <a:endParaRPr sz="2400" dirty="0"/>
          </a:p>
          <a:p>
            <a:pPr marL="342891" lvl="0" indent="-190491" algn="l" rtl="0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None/>
            </a:pPr>
            <a:endParaRPr sz="2400" dirty="0">
              <a:solidFill>
                <a:srgbClr val="1B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91" lvl="0" indent="-190491" algn="l" rtl="0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None/>
            </a:pPr>
            <a:endParaRPr sz="2400" dirty="0">
              <a:solidFill>
                <a:srgbClr val="1B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91" lvl="0" indent="-190491" algn="l" rtl="0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None/>
            </a:pPr>
            <a:endParaRPr sz="2400" dirty="0">
              <a:solidFill>
                <a:srgbClr val="1B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91" lvl="0" indent="-190491" algn="l" rtl="0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None/>
            </a:pPr>
            <a:endParaRPr sz="2400" dirty="0">
              <a:solidFill>
                <a:srgbClr val="1B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Font typeface="Calibri"/>
              <a:buNone/>
            </a:pPr>
            <a:endParaRPr sz="2400" dirty="0"/>
          </a:p>
        </p:txBody>
      </p:sp>
      <p:sp>
        <p:nvSpPr>
          <p:cNvPr id="217" name="Google Shape;217;p2"/>
          <p:cNvSpPr txBox="1">
            <a:spLocks noGrp="1"/>
          </p:cNvSpPr>
          <p:nvPr>
            <p:ph type="title"/>
          </p:nvPr>
        </p:nvSpPr>
        <p:spPr>
          <a:xfrm>
            <a:off x="2319867" y="95250"/>
            <a:ext cx="86106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Conteúdo da apresentação</a:t>
            </a:r>
            <a:endParaRPr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9" name="TextBox 218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5B6B73"/>
                </a:solidFill>
                <a:latin typeface="Calibri"/>
              </a:rPr>
              <a:t>LI Conselho Coordenador de Saúde · SIS-RME</a:t>
            </a:r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3781F320-5A62-C930-75B3-491B4B567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263640"/>
            <a:ext cx="384048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"/>
          <p:cNvSpPr txBox="1">
            <a:spLocks noGrp="1"/>
          </p:cNvSpPr>
          <p:nvPr>
            <p:ph type="title"/>
          </p:nvPr>
        </p:nvSpPr>
        <p:spPr>
          <a:xfrm>
            <a:off x="861236" y="83715"/>
            <a:ext cx="87376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Justificativa</a:t>
            </a:r>
            <a:endParaRPr sz="3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3" name="Google Shape;223;p3"/>
          <p:cNvSpPr txBox="1">
            <a:spLocks noGrp="1"/>
          </p:cNvSpPr>
          <p:nvPr>
            <p:ph type="body" idx="1"/>
          </p:nvPr>
        </p:nvSpPr>
        <p:spPr>
          <a:xfrm>
            <a:off x="420624" y="1346036"/>
            <a:ext cx="11111024" cy="4946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r>
              <a:rPr lang="pt-PT" sz="8000" dirty="0">
                <a:latin typeface="Calibri" panose="020B0604020202020204" pitchFamily="34" charset="0"/>
                <a:cs typeface="Calibri" panose="020B0604020202020204" pitchFamily="34" charset="0"/>
              </a:rPr>
              <a:t>O SIS-RME, tem o </a:t>
            </a:r>
            <a:r>
              <a:rPr lang="pt-PT" sz="8000" dirty="0" err="1">
                <a:latin typeface="Calibri" panose="020B0604020202020204" pitchFamily="34" charset="0"/>
                <a:cs typeface="Calibri" panose="020B0604020202020204" pitchFamily="34" charset="0"/>
              </a:rPr>
              <a:t>objectivo</a:t>
            </a:r>
            <a:r>
              <a:rPr lang="pt-PT" sz="8000" dirty="0">
                <a:latin typeface="Calibri" panose="020B0604020202020204" pitchFamily="34" charset="0"/>
                <a:cs typeface="Calibri" panose="020B0604020202020204" pitchFamily="34" charset="0"/>
              </a:rPr>
              <a:t> de contribuir para a </a:t>
            </a:r>
            <a:r>
              <a:rPr lang="pt-PT" sz="8000" b="1" dirty="0">
                <a:latin typeface="Calibri" panose="020B0604020202020204" pitchFamily="34" charset="0"/>
                <a:cs typeface="Calibri" panose="020B0604020202020204" pitchFamily="34" charset="0"/>
              </a:rPr>
              <a:t>melhoria da qualidade dos dados, da continuidade dos cuidados e da eficiência dos serviços de saúde</a:t>
            </a:r>
            <a:r>
              <a:rPr lang="pt-PT" sz="8000" dirty="0">
                <a:latin typeface="Calibri" panose="020B0604020202020204" pitchFamily="34" charset="0"/>
                <a:cs typeface="Calibri" panose="020B0604020202020204" pitchFamily="34" charset="0"/>
              </a:rPr>
              <a:t>. É um sistema de registo clínico no local de atendimento, permitindo registar dados do paciente acompanhando o seu fluxo de atendimento entre os diferentes serviços da Unidade Sanitária.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endParaRPr lang="pt-PT" sz="8000" dirty="0">
              <a:latin typeface="Calibri" panose="020B0604020202020204" pitchFamily="34" charset="0"/>
              <a:cs typeface="Calibri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r>
              <a:rPr lang="pt-PT" sz="8000" dirty="0">
                <a:latin typeface="Calibri" panose="020B0604020202020204" pitchFamily="34" charset="0"/>
                <a:cs typeface="Calibri" panose="020B0604020202020204" pitchFamily="34" charset="0"/>
              </a:rPr>
              <a:t>O SIS-RME será implementado </a:t>
            </a:r>
            <a:r>
              <a:rPr lang="pt-PT" sz="8000" b="1" dirty="0">
                <a:latin typeface="Calibri" panose="020B0604020202020204" pitchFamily="34" charset="0"/>
                <a:cs typeface="Calibri" panose="020B0604020202020204" pitchFamily="34" charset="0"/>
              </a:rPr>
              <a:t>através da digitalização dos processos </a:t>
            </a:r>
            <a:r>
              <a:rPr lang="pt-PT" sz="8000" dirty="0">
                <a:latin typeface="Calibri" panose="020B0604020202020204" pitchFamily="34" charset="0"/>
                <a:cs typeface="Calibri" panose="020B0604020202020204" pitchFamily="34" charset="0"/>
              </a:rPr>
              <a:t>nas unidades sanitárias representando um passo decisivo para a modernização das unidades sanitárias, promovendo a integração dos serviços, a continuidade do cuidado e a eliminação gradual do registo em papel.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endParaRPr lang="pt-PT" sz="8000" dirty="0">
              <a:latin typeface="Calibri" panose="020B0604020202020204" pitchFamily="34" charset="0"/>
              <a:cs typeface="Calibri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r>
              <a:rPr lang="pt-PT" sz="8000" dirty="0">
                <a:latin typeface="Calibri" panose="020B0604020202020204" pitchFamily="34" charset="0"/>
                <a:cs typeface="Calibri" panose="020B0604020202020204" pitchFamily="34" charset="0"/>
              </a:rPr>
              <a:t>Implementação progressiva de SIS-RME, irá abranger áreas críticas como a </a:t>
            </a:r>
            <a:r>
              <a:rPr lang="pt-PT" sz="8000" b="1" dirty="0">
                <a:latin typeface="Calibri" panose="020B0604020202020204" pitchFamily="34" charset="0"/>
                <a:cs typeface="Calibri" panose="020B0604020202020204" pitchFamily="34" charset="0"/>
              </a:rPr>
              <a:t>gestão de pacientes, os meios auxiliares de diagnóstico, a logística e o subsistema comunitário.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endParaRPr lang="pt-PT" sz="8000" dirty="0">
              <a:latin typeface="Calibri" panose="020B0604020202020204" pitchFamily="34" charset="0"/>
              <a:cs typeface="Calibri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r>
              <a:rPr lang="pt-PT" sz="8000" dirty="0">
                <a:latin typeface="Calibri" panose="020B0604020202020204" pitchFamily="34" charset="0"/>
                <a:cs typeface="Calibri" panose="020B0604020202020204" pitchFamily="34" charset="0"/>
              </a:rPr>
              <a:t>Este avanço tecnológico está em consonância com a missão do MISAU </a:t>
            </a:r>
            <a:r>
              <a:rPr lang="pt-PT" sz="8000" b="1" dirty="0">
                <a:latin typeface="Calibri" panose="020B0604020202020204" pitchFamily="34" charset="0"/>
                <a:cs typeface="Calibri" panose="020B0604020202020204" pitchFamily="34" charset="0"/>
              </a:rPr>
              <a:t>em garantir cuidados de saúde acessíveis, equitativos e de qualidade à população. </a:t>
            </a:r>
          </a:p>
          <a:p>
            <a:pPr marL="0" indent="0" algn="just">
              <a:spcBef>
                <a:spcPts val="0"/>
              </a:spcBef>
              <a:buSzPts val="2400"/>
              <a:buNone/>
            </a:pPr>
            <a:endParaRPr lang="en-MZ" sz="2200" dirty="0">
              <a:latin typeface="Calibri" panose="020B0604020202020204" pitchFamily="34" charset="0"/>
              <a:cs typeface="Calibri" panose="020B0604020202020204" pitchFamily="34" charset="0"/>
            </a:endParaRPr>
          </a:p>
          <a:p>
            <a:pPr marL="0" indent="0" algn="just">
              <a:spcBef>
                <a:spcPts val="0"/>
              </a:spcBef>
              <a:buSzPts val="2400"/>
              <a:buNone/>
            </a:pPr>
            <a:endParaRPr lang="pt-PT" sz="2200" dirty="0">
              <a:latin typeface="Calibri" panose="020B0604020202020204" pitchFamily="34" charset="0"/>
              <a:cs typeface="Calibri" panose="020B0604020202020204" pitchFamily="34" charset="0"/>
            </a:endParaRPr>
          </a:p>
          <a:p>
            <a:pPr marL="0" indent="0" algn="just">
              <a:spcBef>
                <a:spcPts val="0"/>
              </a:spcBef>
              <a:buSzPts val="2400"/>
              <a:buNone/>
            </a:pPr>
            <a:endParaRPr lang="pt-PT" sz="2200" dirty="0">
              <a:latin typeface="Calibri" panose="020B0604020202020204" pitchFamily="34" charset="0"/>
              <a:cs typeface="Calibri" panose="020B0604020202020204" pitchFamily="34" charset="0"/>
            </a:endParaRPr>
          </a:p>
          <a:p>
            <a:pPr marL="0" indent="0" algn="just">
              <a:spcBef>
                <a:spcPts val="0"/>
              </a:spcBef>
              <a:buSzPts val="2400"/>
              <a:buNone/>
            </a:pPr>
            <a:endParaRPr lang="en-MZ" sz="2000" dirty="0"/>
          </a:p>
          <a:p>
            <a:pPr marL="0" lvl="0" indent="0" algn="just">
              <a:spcBef>
                <a:spcPts val="0"/>
              </a:spcBef>
              <a:buSzPts val="2400"/>
              <a:buNone/>
            </a:pPr>
            <a:endParaRPr lang="pt-PT" sz="2000" dirty="0"/>
          </a:p>
          <a:p>
            <a:pPr marL="0" lvl="0" indent="0" algn="just">
              <a:spcBef>
                <a:spcPts val="0"/>
              </a:spcBef>
              <a:buSzPts val="2400"/>
              <a:buNone/>
            </a:pPr>
            <a:endParaRPr sz="2000" dirty="0"/>
          </a:p>
        </p:txBody>
      </p:sp>
      <p:sp>
        <p:nvSpPr>
          <p:cNvPr id="225" name="TextBox 224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5B6B73"/>
                </a:solidFill>
                <a:latin typeface="Calibri"/>
              </a:rPr>
              <a:t>LI Conselho Coordenador de Saúde · SIS-RME</a:t>
            </a:r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0DD27920-B891-7E04-8309-BA35FB8CA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263640"/>
            <a:ext cx="384048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"/>
          <p:cNvSpPr txBox="1">
            <a:spLocks noGrp="1"/>
          </p:cNvSpPr>
          <p:nvPr>
            <p:ph type="title"/>
          </p:nvPr>
        </p:nvSpPr>
        <p:spPr>
          <a:xfrm>
            <a:off x="969806" y="-76720"/>
            <a:ext cx="87376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200" dirty="0" err="1">
                <a:solidFill>
                  <a:srgbClr val="2129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Trajectória</a:t>
            </a:r>
            <a:r>
              <a:rPr lang="pt-PT" sz="3200" dirty="0">
                <a:solidFill>
                  <a:srgbClr val="2129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Registo Médico </a:t>
            </a:r>
            <a:r>
              <a:rPr lang="pt-PT" sz="3200" dirty="0" err="1">
                <a:solidFill>
                  <a:srgbClr val="2129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Electrónico</a:t>
            </a:r>
            <a:endParaRPr sz="3200" dirty="0">
              <a:solidFill>
                <a:srgbClr val="21295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2" name="Google Shape;272;p5"/>
          <p:cNvSpPr txBox="1">
            <a:spLocks noGrp="1"/>
          </p:cNvSpPr>
          <p:nvPr>
            <p:ph type="body" idx="1"/>
          </p:nvPr>
        </p:nvSpPr>
        <p:spPr>
          <a:xfrm>
            <a:off x="446567" y="1141074"/>
            <a:ext cx="11138881" cy="551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MZ" sz="1800" dirty="0">
                <a:latin typeface="Calibri" panose="020F0502020204030204" pitchFamily="34" charset="0"/>
                <a:cs typeface="Calibri" panose="020F0502020204030204" pitchFamily="34" charset="0"/>
              </a:rPr>
              <a:t>O primeiro Sistema de Informação de Saúde Hospitalar (SIS-H) foi introduzido em Moçambique no ano de </a:t>
            </a:r>
            <a:r>
              <a:rPr lang="en-MZ" sz="1800" b="1" dirty="0">
                <a:latin typeface="Calibri" panose="020F0502020204030204" pitchFamily="34" charset="0"/>
                <a:cs typeface="Calibri" panose="020F0502020204030204" pitchFamily="34" charset="0"/>
              </a:rPr>
              <a:t>2016,</a:t>
            </a:r>
            <a:r>
              <a:rPr lang="en-MZ" sz="1800" dirty="0">
                <a:latin typeface="Calibri" panose="020F0502020204030204" pitchFamily="34" charset="0"/>
                <a:cs typeface="Calibri" panose="020F0502020204030204" pitchFamily="34" charset="0"/>
              </a:rPr>
              <a:t> como um projeto piloto no </a:t>
            </a:r>
            <a:r>
              <a:rPr lang="en-MZ" sz="1800" b="1" dirty="0">
                <a:latin typeface="Calibri" panose="020F0502020204030204" pitchFamily="34" charset="0"/>
                <a:cs typeface="Calibri" panose="020F0502020204030204" pitchFamily="34" charset="0"/>
              </a:rPr>
              <a:t>Hospital Central de Quelimane</a:t>
            </a:r>
            <a:r>
              <a:rPr lang="en-MZ" sz="1800" dirty="0">
                <a:latin typeface="Calibri" panose="020F0502020204030204" pitchFamily="34" charset="0"/>
                <a:cs typeface="Calibri" panose="020F0502020204030204" pitchFamily="34" charset="0"/>
              </a:rPr>
              <a:t>, após um processo colaborativo iniciado em 2015 entre o Ministério da Saúde (MISAU), a KOFIH e a Inje University, da Coreia do Sul.</a:t>
            </a:r>
          </a:p>
          <a:p>
            <a:pPr algn="just"/>
            <a:endParaRPr lang="en-MZ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MZ" sz="1800" dirty="0">
                <a:latin typeface="Calibri" panose="020F0502020204030204" pitchFamily="34" charset="0"/>
                <a:cs typeface="Calibri" panose="020F0502020204030204" pitchFamily="34" charset="0"/>
              </a:rPr>
              <a:t>Em </a:t>
            </a:r>
            <a:r>
              <a:rPr lang="en-MZ" sz="1800" b="1" dirty="0">
                <a:latin typeface="Calibri" panose="020F0502020204030204" pitchFamily="34" charset="0"/>
                <a:cs typeface="Calibri" panose="020F0502020204030204" pitchFamily="34" charset="0"/>
              </a:rPr>
              <a:t>Dezembro de 2024, o</a:t>
            </a:r>
            <a:r>
              <a:rPr lang="en-MZ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MZ" sz="1800" b="1" dirty="0">
                <a:latin typeface="Calibri" panose="020F0502020204030204" pitchFamily="34" charset="0"/>
                <a:cs typeface="Calibri" panose="020F0502020204030204" pitchFamily="34" charset="0"/>
              </a:rPr>
              <a:t>SIS-H</a:t>
            </a:r>
            <a:r>
              <a:rPr lang="en-MZ" sz="1800" dirty="0">
                <a:latin typeface="Calibri" panose="020F0502020204030204" pitchFamily="34" charset="0"/>
                <a:cs typeface="Calibri" panose="020F0502020204030204" pitchFamily="34" charset="0"/>
              </a:rPr>
              <a:t> foi oficialmente inaugurado no Hospital Geral de Mavalane, em Maputo, tornando-se o primeiro Hospital digital de Moçambique</a:t>
            </a:r>
          </a:p>
          <a:p>
            <a:pPr algn="just"/>
            <a:endParaRPr lang="en-MZ" sz="1800" i="1" dirty="0">
              <a:solidFill>
                <a:srgbClr val="2F549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PT" sz="1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Em 2025, </a:t>
            </a:r>
            <a:r>
              <a:rPr lang="pt-PT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iniciou a melhoria e desenvolvimento, para </a:t>
            </a:r>
            <a:r>
              <a:rPr lang="pt-PT" sz="1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SIS-RME</a:t>
            </a:r>
            <a:r>
              <a:rPr lang="pt-PT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, que funciona como uma rede associada a um servidor local na US, permitindo funcionamento sem a necessidade de internet para a maior parte das funcionalidades (precisando de conectividade à internet apenas para sincronização com o servidor central – no MISAU), de modo a garantir a comunicação com o gerador de identificador único de utente e interoperabilidade com os demais sistemas.</a:t>
            </a:r>
          </a:p>
          <a:p>
            <a:pPr algn="just"/>
            <a:endParaRPr lang="pt-PT" sz="1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PT" sz="1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 sistema de informação em formato processável por dispositivo móvel, que colhe dados individuais do paciente, relevantes para a melhoria dos cuidados de saúde e qualidade dos dados, capaz de ser armazenado e comunicado de forma segura e de ser acessível por múltiplos utilizadores autorizados. </a:t>
            </a:r>
          </a:p>
          <a:p>
            <a:pPr marL="114300" indent="0" algn="just">
              <a:buNone/>
            </a:pPr>
            <a:endParaRPr lang="en-MZ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pt-PT" sz="1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14300" indent="0" algn="just">
              <a:buNone/>
            </a:pPr>
            <a:endParaRPr lang="pt-PT" sz="1600" dirty="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891" lvl="0" indent="-203191" algn="l" rtl="0">
              <a:spcBef>
                <a:spcPts val="440"/>
              </a:spcBef>
              <a:spcAft>
                <a:spcPts val="0"/>
              </a:spcAft>
              <a:buSzPts val="2200"/>
              <a:buFont typeface="Calibri"/>
              <a:buNone/>
            </a:pPr>
            <a:endParaRPr sz="1600" dirty="0"/>
          </a:p>
        </p:txBody>
      </p:sp>
      <p:sp>
        <p:nvSpPr>
          <p:cNvPr id="274" name="TextBox 273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5B6B73"/>
                </a:solidFill>
                <a:latin typeface="Calibri"/>
              </a:rPr>
              <a:t>LI Conselho Coordenador de Saúde · SIS-RME</a:t>
            </a:r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C2BD5A14-75BF-F367-AA17-414F576B1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263640"/>
            <a:ext cx="384048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3"/>
          <p:cNvSpPr txBox="1">
            <a:spLocks noGrp="1"/>
          </p:cNvSpPr>
          <p:nvPr>
            <p:ph type="title"/>
          </p:nvPr>
        </p:nvSpPr>
        <p:spPr>
          <a:xfrm>
            <a:off x="1521942" y="-42703"/>
            <a:ext cx="8737600" cy="96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200" dirty="0">
                <a:solidFill>
                  <a:srgbClr val="2129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Sistema de Informação de Saúde (SIS)</a:t>
            </a:r>
            <a:endParaRPr sz="3200" dirty="0">
              <a:solidFill>
                <a:srgbClr val="21295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95" name="Google Shape;495;p13"/>
          <p:cNvGrpSpPr/>
          <p:nvPr/>
        </p:nvGrpSpPr>
        <p:grpSpPr>
          <a:xfrm>
            <a:off x="888174" y="1634607"/>
            <a:ext cx="7394501" cy="4361810"/>
            <a:chOff x="443151" y="897030"/>
            <a:chExt cx="6147336" cy="3684338"/>
          </a:xfrm>
        </p:grpSpPr>
        <p:grpSp>
          <p:nvGrpSpPr>
            <p:cNvPr id="496" name="Google Shape;496;p13"/>
            <p:cNvGrpSpPr/>
            <p:nvPr/>
          </p:nvGrpSpPr>
          <p:grpSpPr>
            <a:xfrm>
              <a:off x="5059240" y="2143164"/>
              <a:ext cx="980477" cy="503903"/>
              <a:chOff x="6976472" y="3182171"/>
              <a:chExt cx="2175601" cy="646152"/>
            </a:xfrm>
          </p:grpSpPr>
          <p:sp>
            <p:nvSpPr>
              <p:cNvPr id="497" name="Google Shape;497;p13"/>
              <p:cNvSpPr txBox="1"/>
              <p:nvPr/>
            </p:nvSpPr>
            <p:spPr>
              <a:xfrm>
                <a:off x="6976472" y="3182171"/>
                <a:ext cx="2175599" cy="3693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3375" tIns="31675" rIns="63375" bIns="31675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B6B73"/>
                  </a:buClr>
                  <a:buSzPts val="1456"/>
                  <a:buFont typeface="Calibri"/>
                  <a:buNone/>
                </a:pPr>
                <a:r>
                  <a:rPr lang="pt-PT" sz="1800" b="1" i="0" u="none" dirty="0">
                    <a:solidFill>
                      <a:schemeClr val="tx1"/>
                    </a:solidFill>
                    <a:latin typeface="+mj-lt"/>
                    <a:ea typeface="Calibri"/>
                    <a:cs typeface="Calibri"/>
                    <a:sym typeface="Calibri"/>
                  </a:rPr>
                  <a:t>SIMAM</a:t>
                </a:r>
                <a:endParaRPr sz="1800" b="0" i="0" u="none" dirty="0">
                  <a:solidFill>
                    <a:schemeClr val="tx1"/>
                  </a:solidFill>
                  <a:latin typeface="+mj-lt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13"/>
              <p:cNvSpPr txBox="1"/>
              <p:nvPr/>
            </p:nvSpPr>
            <p:spPr>
              <a:xfrm>
                <a:off x="6976474" y="3525683"/>
                <a:ext cx="2175599" cy="302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3375" tIns="31675" rIns="63375" bIns="31675" anchor="t" anchorCtr="0">
                <a:spAutoFit/>
              </a:bodyPr>
              <a:lstStyle/>
              <a:p>
                <a:pPr marL="198078" marR="0" lvl="0" indent="-19807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B6B73"/>
                  </a:buClr>
                  <a:buSzPts val="1248"/>
                  <a:buFont typeface="Noto Sans Symbols"/>
                  <a:buChar char="❖"/>
                </a:pPr>
                <a:r>
                  <a:rPr lang="pt-PT" b="0" i="0" u="none" dirty="0" err="1">
                    <a:solidFill>
                      <a:srgbClr val="5B6B73"/>
                    </a:solidFill>
                    <a:latin typeface="+mj-lt"/>
                    <a:ea typeface="Calibri"/>
                    <a:cs typeface="Calibri"/>
                    <a:sym typeface="Calibri"/>
                  </a:rPr>
                  <a:t>Logistica</a:t>
                </a:r>
                <a:endParaRPr b="0" i="0" u="none" dirty="0">
                  <a:solidFill>
                    <a:srgbClr val="5B6B73"/>
                  </a:solidFill>
                  <a:latin typeface="+mj-lt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9" name="Google Shape;499;p13"/>
            <p:cNvGrpSpPr/>
            <p:nvPr/>
          </p:nvGrpSpPr>
          <p:grpSpPr>
            <a:xfrm>
              <a:off x="443151" y="3211291"/>
              <a:ext cx="1053752" cy="584621"/>
              <a:chOff x="-2604" y="2969590"/>
              <a:chExt cx="2175600" cy="863324"/>
            </a:xfrm>
          </p:grpSpPr>
          <p:sp>
            <p:nvSpPr>
              <p:cNvPr id="500" name="Google Shape;500;p13"/>
              <p:cNvSpPr txBox="1"/>
              <p:nvPr/>
            </p:nvSpPr>
            <p:spPr>
              <a:xfrm>
                <a:off x="-2604" y="2969590"/>
                <a:ext cx="2175600" cy="7708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3375" tIns="31675" rIns="63375" bIns="31675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64"/>
                  <a:buFont typeface="Calibri"/>
                  <a:buNone/>
                </a:pPr>
                <a:r>
                  <a:rPr lang="pt-PT" sz="1800" b="1" i="0" u="none" dirty="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rPr>
                  <a:t>SIR (PACS</a:t>
                </a:r>
                <a:r>
                  <a:rPr lang="pt-PT" sz="1663" b="1" i="0" u="none" dirty="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rPr>
                  <a:t>)</a:t>
                </a:r>
                <a:endParaRPr sz="1455" b="1" i="0" u="none" dirty="0">
                  <a:solidFill>
                    <a:srgbClr val="5B6B73"/>
                  </a:solidFill>
                  <a:latin typeface="+mj-lt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13"/>
              <p:cNvSpPr txBox="1"/>
              <p:nvPr/>
            </p:nvSpPr>
            <p:spPr>
              <a:xfrm>
                <a:off x="-2602" y="3513738"/>
                <a:ext cx="1590601" cy="3191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3375" tIns="31675" rIns="63375" bIns="31675" anchor="t" anchorCtr="0">
                <a:spAutoFit/>
              </a:bodyPr>
              <a:lstStyle/>
              <a:p>
                <a:pPr marL="198078" marR="0" lvl="0" indent="-11884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48"/>
                  <a:buFont typeface="Calibri"/>
                  <a:buNone/>
                </a:pPr>
                <a:endParaRPr sz="1247" b="0" i="0" u="none">
                  <a:solidFill>
                    <a:srgbClr val="5B6B73"/>
                  </a:solidFill>
                  <a:latin typeface="+mj-lt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2" name="Google Shape;502;p13"/>
            <p:cNvGrpSpPr/>
            <p:nvPr/>
          </p:nvGrpSpPr>
          <p:grpSpPr>
            <a:xfrm>
              <a:off x="3996152" y="1104100"/>
              <a:ext cx="2270675" cy="483984"/>
              <a:chOff x="6310076" y="1459391"/>
              <a:chExt cx="2175601" cy="620613"/>
            </a:xfrm>
          </p:grpSpPr>
          <p:sp>
            <p:nvSpPr>
              <p:cNvPr id="503" name="Google Shape;503;p13"/>
              <p:cNvSpPr txBox="1"/>
              <p:nvPr/>
            </p:nvSpPr>
            <p:spPr>
              <a:xfrm>
                <a:off x="6310076" y="1459391"/>
                <a:ext cx="2175600" cy="3693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3375" tIns="31675" rIns="63375" bIns="31675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64"/>
                  <a:buFont typeface="Calibri"/>
                  <a:buNone/>
                </a:pPr>
                <a:r>
                  <a:rPr lang="pt-PT" sz="1800" b="1" i="0" u="none" dirty="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rPr>
                  <a:t>Gestão de RH</a:t>
                </a:r>
                <a:endParaRPr sz="1800" b="0" i="0" u="none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13"/>
              <p:cNvSpPr txBox="1"/>
              <p:nvPr/>
            </p:nvSpPr>
            <p:spPr>
              <a:xfrm>
                <a:off x="6310077" y="1802850"/>
                <a:ext cx="2175600" cy="277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3375" tIns="31675" rIns="63375" bIns="31675" anchor="t" anchorCtr="0">
                <a:spAutoFit/>
              </a:bodyPr>
              <a:lstStyle/>
              <a:p>
                <a:pPr marL="198078" marR="0" lvl="0" indent="-11884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48"/>
                  <a:buFont typeface="Calibri"/>
                  <a:buNone/>
                </a:pPr>
                <a:endParaRPr sz="1247" b="0" i="0" u="none">
                  <a:solidFill>
                    <a:srgbClr val="5B6B73"/>
                  </a:solidFill>
                  <a:latin typeface="+mj-lt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5" name="Google Shape;505;p13"/>
            <p:cNvGrpSpPr/>
            <p:nvPr/>
          </p:nvGrpSpPr>
          <p:grpSpPr>
            <a:xfrm>
              <a:off x="4319812" y="4048964"/>
              <a:ext cx="2270675" cy="503913"/>
              <a:chOff x="6369928" y="4870930"/>
              <a:chExt cx="2175601" cy="646165"/>
            </a:xfrm>
          </p:grpSpPr>
          <p:sp>
            <p:nvSpPr>
              <p:cNvPr id="506" name="Google Shape;506;p13"/>
              <p:cNvSpPr txBox="1"/>
              <p:nvPr/>
            </p:nvSpPr>
            <p:spPr>
              <a:xfrm>
                <a:off x="6369928" y="4870930"/>
                <a:ext cx="2175600" cy="3693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3375" tIns="31675" rIns="63375" bIns="31675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B6B73"/>
                  </a:buClr>
                  <a:buSzPts val="1456"/>
                  <a:buFont typeface="Calibri"/>
                  <a:buNone/>
                </a:pPr>
                <a:r>
                  <a:rPr lang="pt-PT" sz="1800" b="1" i="0" u="none" dirty="0">
                    <a:solidFill>
                      <a:schemeClr val="tx1"/>
                    </a:solidFill>
                    <a:latin typeface="+mj-lt"/>
                    <a:ea typeface="Calibri"/>
                    <a:cs typeface="Calibri"/>
                    <a:sym typeface="Calibri"/>
                  </a:rPr>
                  <a:t>SIS – Campanhas</a:t>
                </a:r>
                <a:endParaRPr sz="1800" b="1" i="0" u="none" dirty="0">
                  <a:solidFill>
                    <a:schemeClr val="tx1"/>
                  </a:solidFill>
                  <a:latin typeface="+mj-lt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13"/>
              <p:cNvSpPr txBox="1"/>
              <p:nvPr/>
            </p:nvSpPr>
            <p:spPr>
              <a:xfrm>
                <a:off x="6369929" y="5214455"/>
                <a:ext cx="2175600" cy="302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3375" tIns="31675" rIns="63375" bIns="31675" anchor="t" anchorCtr="0">
                <a:spAutoFit/>
              </a:bodyPr>
              <a:lstStyle/>
              <a:p>
                <a:pPr marL="198078" marR="0" lvl="0" indent="-19807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48"/>
                  <a:buFont typeface="Noto Sans Symbols"/>
                  <a:buChar char="❖"/>
                </a:pPr>
                <a:r>
                  <a:rPr lang="pt-PT" b="0" i="0" u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rPr>
                  <a:t>Gestão de campanhas</a:t>
                </a:r>
                <a:endParaRPr b="0" i="0" u="none">
                  <a:solidFill>
                    <a:srgbClr val="5B6B73"/>
                  </a:solidFill>
                  <a:latin typeface="+mj-lt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8" name="Google Shape;508;p13"/>
            <p:cNvGrpSpPr/>
            <p:nvPr/>
          </p:nvGrpSpPr>
          <p:grpSpPr>
            <a:xfrm>
              <a:off x="616816" y="897030"/>
              <a:ext cx="2278680" cy="528811"/>
              <a:chOff x="351663" y="1477063"/>
              <a:chExt cx="2183271" cy="678094"/>
            </a:xfrm>
          </p:grpSpPr>
          <p:sp>
            <p:nvSpPr>
              <p:cNvPr id="509" name="Google Shape;509;p13"/>
              <p:cNvSpPr txBox="1"/>
              <p:nvPr/>
            </p:nvSpPr>
            <p:spPr>
              <a:xfrm>
                <a:off x="351663" y="1477063"/>
                <a:ext cx="2175600" cy="3693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3375" tIns="31675" rIns="63375" bIns="31675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64"/>
                  <a:buFont typeface="Calibri"/>
                  <a:buNone/>
                </a:pPr>
                <a:r>
                  <a:rPr lang="pt-PT" sz="1800" b="1" i="0" u="none" dirty="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rPr>
                  <a:t>SIS-H/RME</a:t>
                </a:r>
                <a:endParaRPr sz="1800" b="0" i="0" u="none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13"/>
              <p:cNvSpPr txBox="1"/>
              <p:nvPr/>
            </p:nvSpPr>
            <p:spPr>
              <a:xfrm>
                <a:off x="359334" y="1852516"/>
                <a:ext cx="2175600" cy="3026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3375" tIns="31675" rIns="63375" bIns="31675" anchor="t" anchorCtr="0">
                <a:spAutoFit/>
              </a:bodyPr>
              <a:lstStyle/>
              <a:p>
                <a:pPr marL="198078" marR="0" lvl="0" indent="-19807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48"/>
                  <a:buFont typeface="Noto Sans Symbols"/>
                  <a:buChar char="❖"/>
                </a:pPr>
                <a:r>
                  <a:rPr lang="pt-PT" b="0" i="0" u="none" dirty="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rPr>
                  <a:t>Gestão de pacientes </a:t>
                </a:r>
                <a:endParaRPr b="0" i="0" u="none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1" name="Google Shape;511;p13"/>
            <p:cNvGrpSpPr/>
            <p:nvPr/>
          </p:nvGrpSpPr>
          <p:grpSpPr>
            <a:xfrm>
              <a:off x="1080203" y="4053428"/>
              <a:ext cx="2270675" cy="503864"/>
              <a:chOff x="740351" y="4865630"/>
              <a:chExt cx="2175601" cy="646103"/>
            </a:xfrm>
          </p:grpSpPr>
          <p:sp>
            <p:nvSpPr>
              <p:cNvPr id="512" name="Google Shape;512;p13"/>
              <p:cNvSpPr txBox="1"/>
              <p:nvPr/>
            </p:nvSpPr>
            <p:spPr>
              <a:xfrm>
                <a:off x="740351" y="4865630"/>
                <a:ext cx="2175600" cy="3693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3375" tIns="31675" rIns="63375" bIns="31675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64"/>
                  <a:buFont typeface="Calibri"/>
                  <a:buNone/>
                </a:pPr>
                <a:r>
                  <a:rPr lang="pt-PT" sz="1800" b="1" i="0" u="none" dirty="0">
                    <a:solidFill>
                      <a:schemeClr val="tx1"/>
                    </a:solidFill>
                    <a:latin typeface="+mj-lt"/>
                    <a:ea typeface="Calibri"/>
                    <a:cs typeface="Calibri"/>
                    <a:sym typeface="Calibri"/>
                  </a:rPr>
                  <a:t>UPSCALE</a:t>
                </a:r>
                <a:endParaRPr sz="1800" b="1" i="0" u="none" dirty="0">
                  <a:solidFill>
                    <a:schemeClr val="tx1"/>
                  </a:solidFill>
                  <a:latin typeface="+mj-lt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13"/>
              <p:cNvSpPr txBox="1"/>
              <p:nvPr/>
            </p:nvSpPr>
            <p:spPr>
              <a:xfrm>
                <a:off x="740352" y="5209093"/>
                <a:ext cx="2175600" cy="302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3375" tIns="31675" rIns="63375" bIns="31675" anchor="t" anchorCtr="0">
                <a:spAutoFit/>
              </a:bodyPr>
              <a:lstStyle/>
              <a:p>
                <a:pPr marL="198078" marR="0" lvl="0" indent="-19807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B6B73"/>
                  </a:buClr>
                  <a:buSzPts val="1248"/>
                  <a:buFont typeface="Noto Sans Symbols"/>
                  <a:buChar char="❖"/>
                </a:pPr>
                <a:r>
                  <a:rPr lang="pt-PT" b="0" i="0" u="none" dirty="0">
                    <a:solidFill>
                      <a:srgbClr val="5B6B73"/>
                    </a:solidFill>
                    <a:latin typeface="+mj-lt"/>
                    <a:ea typeface="Calibri"/>
                    <a:cs typeface="Calibri"/>
                    <a:sym typeface="Calibri"/>
                  </a:rPr>
                  <a:t>Comunidade </a:t>
                </a:r>
                <a:endParaRPr b="0" i="0" u="none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4" name="Google Shape;514;p13"/>
            <p:cNvSpPr/>
            <p:nvPr/>
          </p:nvSpPr>
          <p:spPr>
            <a:xfrm>
              <a:off x="3237331" y="1169766"/>
              <a:ext cx="838350" cy="838350"/>
            </a:xfrm>
            <a:prstGeom prst="ellipse">
              <a:avLst/>
            </a:prstGeom>
            <a:solidFill>
              <a:srgbClr val="8064A2"/>
            </a:solidFill>
            <a:ln>
              <a:noFill/>
            </a:ln>
          </p:spPr>
          <p:txBody>
            <a:bodyPr spcFirstLastPara="1" wrap="square" lIns="63375" tIns="31675" rIns="63375" bIns="31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56"/>
                <a:buFont typeface="Calibri"/>
                <a:buNone/>
              </a:pPr>
              <a:endParaRPr sz="1455" b="0" i="0" u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3"/>
            <p:cNvSpPr/>
            <p:nvPr/>
          </p:nvSpPr>
          <p:spPr>
            <a:xfrm>
              <a:off x="4047190" y="2972182"/>
              <a:ext cx="838350" cy="838350"/>
            </a:xfrm>
            <a:prstGeom prst="ellipse">
              <a:avLst/>
            </a:prstGeom>
            <a:solidFill>
              <a:srgbClr val="9BBB59"/>
            </a:solidFill>
            <a:ln>
              <a:noFill/>
            </a:ln>
          </p:spPr>
          <p:txBody>
            <a:bodyPr spcFirstLastPara="1" wrap="square" lIns="63375" tIns="31675" rIns="63375" bIns="31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56"/>
                <a:buFont typeface="Calibri"/>
                <a:buNone/>
              </a:pPr>
              <a:endParaRPr sz="1455" b="0" i="0" u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3"/>
            <p:cNvSpPr/>
            <p:nvPr/>
          </p:nvSpPr>
          <p:spPr>
            <a:xfrm>
              <a:off x="3420818" y="3726336"/>
              <a:ext cx="838350" cy="838350"/>
            </a:xfrm>
            <a:prstGeom prst="ellipse">
              <a:avLst/>
            </a:prstGeom>
            <a:solidFill>
              <a:srgbClr val="C0504D"/>
            </a:solidFill>
            <a:ln>
              <a:noFill/>
            </a:ln>
          </p:spPr>
          <p:txBody>
            <a:bodyPr spcFirstLastPara="1" wrap="square" lIns="63375" tIns="31675" rIns="63375" bIns="31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56"/>
                <a:buFont typeface="Calibri"/>
                <a:buNone/>
              </a:pPr>
              <a:endParaRPr sz="1455" b="0" i="0" u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3"/>
            <p:cNvSpPr/>
            <p:nvPr/>
          </p:nvSpPr>
          <p:spPr>
            <a:xfrm>
              <a:off x="2049140" y="3743018"/>
              <a:ext cx="838350" cy="838350"/>
            </a:xfrm>
            <a:prstGeom prst="ellipse">
              <a:avLst/>
            </a:prstGeom>
            <a:solidFill>
              <a:srgbClr val="8064A2"/>
            </a:solidFill>
            <a:ln>
              <a:noFill/>
            </a:ln>
          </p:spPr>
          <p:txBody>
            <a:bodyPr spcFirstLastPara="1" wrap="square" lIns="63375" tIns="31675" rIns="63375" bIns="31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56"/>
                <a:buFont typeface="Calibri"/>
                <a:buNone/>
              </a:pPr>
              <a:endParaRPr sz="1455" b="0" i="0" u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3"/>
            <p:cNvSpPr/>
            <p:nvPr/>
          </p:nvSpPr>
          <p:spPr>
            <a:xfrm>
              <a:off x="1421135" y="1950743"/>
              <a:ext cx="838350" cy="838350"/>
            </a:xfrm>
            <a:prstGeom prst="ellipse">
              <a:avLst/>
            </a:prstGeom>
            <a:solidFill>
              <a:srgbClr val="9BBB59"/>
            </a:solidFill>
            <a:ln>
              <a:noFill/>
            </a:ln>
          </p:spPr>
          <p:txBody>
            <a:bodyPr spcFirstLastPara="1" wrap="square" lIns="63375" tIns="31675" rIns="63375" bIns="31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56"/>
                <a:buFont typeface="Calibri"/>
                <a:buNone/>
              </a:pPr>
              <a:endParaRPr sz="1455" b="0" i="0" u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13"/>
            <p:cNvSpPr/>
            <p:nvPr/>
          </p:nvSpPr>
          <p:spPr>
            <a:xfrm>
              <a:off x="2099182" y="1161425"/>
              <a:ext cx="838350" cy="838350"/>
            </a:xfrm>
            <a:prstGeom prst="ellipse">
              <a:avLst/>
            </a:prstGeom>
            <a:solidFill>
              <a:srgbClr val="C0504D"/>
            </a:solidFill>
            <a:ln>
              <a:noFill/>
            </a:ln>
          </p:spPr>
          <p:txBody>
            <a:bodyPr spcFirstLastPara="1" wrap="square" lIns="63375" tIns="31675" rIns="63375" bIns="31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56"/>
                <a:buFont typeface="Calibri"/>
                <a:buNone/>
              </a:pPr>
              <a:endParaRPr sz="1455" b="0" i="0" u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13"/>
            <p:cNvSpPr/>
            <p:nvPr/>
          </p:nvSpPr>
          <p:spPr>
            <a:xfrm>
              <a:off x="4069475" y="1945139"/>
              <a:ext cx="838350" cy="838350"/>
            </a:xfrm>
            <a:prstGeom prst="ellipse">
              <a:avLst/>
            </a:prstGeom>
            <a:solidFill>
              <a:srgbClr val="4F81BD"/>
            </a:solidFill>
            <a:ln>
              <a:noFill/>
            </a:ln>
          </p:spPr>
          <p:txBody>
            <a:bodyPr spcFirstLastPara="1" wrap="square" lIns="63375" tIns="31675" rIns="63375" bIns="31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56"/>
                <a:buFont typeface="Calibri"/>
                <a:buNone/>
              </a:pPr>
              <a:endParaRPr sz="1455" b="0" i="0" u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13"/>
            <p:cNvSpPr/>
            <p:nvPr/>
          </p:nvSpPr>
          <p:spPr>
            <a:xfrm>
              <a:off x="1387775" y="2913800"/>
              <a:ext cx="838350" cy="838350"/>
            </a:xfrm>
            <a:prstGeom prst="ellipse">
              <a:avLst/>
            </a:prstGeom>
            <a:solidFill>
              <a:srgbClr val="4F81BD"/>
            </a:solidFill>
            <a:ln>
              <a:noFill/>
            </a:ln>
          </p:spPr>
          <p:txBody>
            <a:bodyPr spcFirstLastPara="1" wrap="square" lIns="63375" tIns="31675" rIns="63375" bIns="31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56"/>
                <a:buFont typeface="Calibri"/>
                <a:buNone/>
              </a:pPr>
              <a:endParaRPr sz="1455" b="0" i="0" u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3"/>
            <p:cNvSpPr/>
            <p:nvPr/>
          </p:nvSpPr>
          <p:spPr>
            <a:xfrm>
              <a:off x="2277286" y="1982408"/>
              <a:ext cx="1735875" cy="1735875"/>
            </a:xfrm>
            <a:prstGeom prst="ellipse">
              <a:avLst/>
            </a:prstGeom>
            <a:solidFill>
              <a:srgbClr val="FFFFFF"/>
            </a:solidFill>
            <a:ln w="79225" cap="flat" cmpd="sng">
              <a:solidFill>
                <a:srgbClr val="92CC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3375" tIns="31675" rIns="63375" bIns="31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56"/>
                <a:buFont typeface="Calibri"/>
                <a:buNone/>
              </a:pPr>
              <a:endParaRPr sz="1455" b="0" i="0" u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3" name="Google Shape;523;p13"/>
            <p:cNvGrpSpPr/>
            <p:nvPr/>
          </p:nvGrpSpPr>
          <p:grpSpPr>
            <a:xfrm>
              <a:off x="5028105" y="3053076"/>
              <a:ext cx="1238721" cy="601023"/>
              <a:chOff x="6369928" y="4720919"/>
              <a:chExt cx="2175601" cy="770687"/>
            </a:xfrm>
          </p:grpSpPr>
          <p:sp>
            <p:nvSpPr>
              <p:cNvPr id="524" name="Google Shape;524;p13"/>
              <p:cNvSpPr txBox="1"/>
              <p:nvPr/>
            </p:nvSpPr>
            <p:spPr>
              <a:xfrm>
                <a:off x="6369928" y="4720919"/>
                <a:ext cx="2175600" cy="6693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3375" tIns="31675" rIns="63375" bIns="31675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B6B73"/>
                  </a:buClr>
                  <a:buSzPts val="1456"/>
                  <a:buFont typeface="Calibri"/>
                  <a:buNone/>
                </a:pPr>
                <a:r>
                  <a:rPr lang="pt-PT" sz="1800" b="1" i="0" u="none" dirty="0">
                    <a:solidFill>
                      <a:schemeClr val="tx1"/>
                    </a:solidFill>
                    <a:latin typeface="+mj-lt"/>
                    <a:ea typeface="Calibri"/>
                    <a:cs typeface="Calibri"/>
                    <a:sym typeface="Calibri"/>
                  </a:rPr>
                  <a:t>Gestão financeira</a:t>
                </a:r>
                <a:endParaRPr sz="1800" b="0" i="0" u="none" dirty="0">
                  <a:solidFill>
                    <a:schemeClr val="tx1"/>
                  </a:solidFill>
                  <a:latin typeface="+mj-lt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13"/>
              <p:cNvSpPr txBox="1"/>
              <p:nvPr/>
            </p:nvSpPr>
            <p:spPr>
              <a:xfrm>
                <a:off x="6369929" y="5214454"/>
                <a:ext cx="2175600" cy="2771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3375" tIns="31675" rIns="63375" bIns="3167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48"/>
                  <a:buFont typeface="Calibri"/>
                  <a:buNone/>
                </a:pPr>
                <a:r>
                  <a:rPr lang="pt-PT" sz="1247" b="0" i="0" u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rPr>
                  <a:t> </a:t>
                </a:r>
                <a:endParaRPr sz="1247" b="0" i="0" u="none">
                  <a:solidFill>
                    <a:srgbClr val="5B6B73"/>
                  </a:solidFill>
                  <a:latin typeface="+mj-lt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6" name="Google Shape;526;p13"/>
            <p:cNvGrpSpPr/>
            <p:nvPr/>
          </p:nvGrpSpPr>
          <p:grpSpPr>
            <a:xfrm>
              <a:off x="482836" y="2045881"/>
              <a:ext cx="2270675" cy="503880"/>
              <a:chOff x="-2604" y="3170254"/>
              <a:chExt cx="2175601" cy="646124"/>
            </a:xfrm>
          </p:grpSpPr>
          <p:sp>
            <p:nvSpPr>
              <p:cNvPr id="527" name="Google Shape;527;p13"/>
              <p:cNvSpPr txBox="1"/>
              <p:nvPr/>
            </p:nvSpPr>
            <p:spPr>
              <a:xfrm>
                <a:off x="-2604" y="3170254"/>
                <a:ext cx="2175600" cy="3693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3375" tIns="31675" rIns="63375" bIns="31675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773"/>
                  <a:buFont typeface="Calibri"/>
                  <a:buNone/>
                </a:pPr>
                <a:r>
                  <a:rPr lang="pt-PT" sz="1800" b="1" dirty="0">
                    <a:solidFill>
                      <a:schemeClr val="dk1"/>
                    </a:solidFill>
                    <a:latin typeface="+mj-lt"/>
                    <a:cs typeface="Calibri"/>
                    <a:sym typeface="Calibri"/>
                  </a:rPr>
                  <a:t>SIS- LAB</a:t>
                </a:r>
                <a:endParaRPr sz="1800" b="0" i="0" u="none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13"/>
              <p:cNvSpPr txBox="1"/>
              <p:nvPr/>
            </p:nvSpPr>
            <p:spPr>
              <a:xfrm>
                <a:off x="-2603" y="3513738"/>
                <a:ext cx="2175600" cy="302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3375" tIns="31675" rIns="63375" bIns="31675" anchor="t" anchorCtr="0">
                <a:spAutoFit/>
              </a:bodyPr>
              <a:lstStyle/>
              <a:p>
                <a:pPr marL="198078" marR="0" lvl="0" indent="-19807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48"/>
                  <a:buFont typeface="Noto Sans Symbols"/>
                  <a:buChar char="❖"/>
                </a:pPr>
                <a:r>
                  <a:rPr lang="pt-PT" b="0" i="0" u="none" dirty="0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rPr>
                  <a:t>Laboratório</a:t>
                </a:r>
                <a:endParaRPr b="0" i="0" u="none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529" name="Google Shape;529;p13"/>
            <p:cNvPicPr preferRelativeResize="0"/>
            <p:nvPr/>
          </p:nvPicPr>
          <p:blipFill rotWithShape="1">
            <a:blip r:embed="rId3">
              <a:alphaModFix/>
            </a:blip>
            <a:stretch/>
          </p:blipFill>
          <p:spPr>
            <a:xfrm>
              <a:off x="2159004" y="1230542"/>
              <a:ext cx="674514" cy="6745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0" name="Google Shape;530;p13" descr="Doctor female outlin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329528" y="1264492"/>
              <a:ext cx="645162" cy="6451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1" name="Google Shape;531;p13" descr="Medicine with solid fil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281543" y="2108554"/>
              <a:ext cx="475398" cy="4753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2" name="Google Shape;532;p13" descr="Money outline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214219" y="3136854"/>
              <a:ext cx="475398" cy="4753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3" name="Google Shape;533;p13" descr="Bar graph with upward trend with solid fill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215733" y="3955267"/>
              <a:ext cx="475398" cy="4753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4" name="Google Shape;534;p13" descr="Group with solid fill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600322" y="2287222"/>
              <a:ext cx="1112432" cy="11124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5" name="Google Shape;535;p13" descr="Beaker outline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497410" y="2028755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6" name="Google Shape;536;p13" descr="Camera with solid fill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464050" y="2956489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7" name="Google Shape;537;p13" descr="Shape  Description automatically generated with low confidence"/>
            <p:cNvPicPr preferRelativeResize="0"/>
            <p:nvPr/>
          </p:nvPicPr>
          <p:blipFill rotWithShape="1">
            <a:blip r:embed="rId11">
              <a:alphaModFix/>
            </a:blip>
            <a:srcRect b="15825"/>
            <a:stretch/>
          </p:blipFill>
          <p:spPr>
            <a:xfrm>
              <a:off x="3525115" y="3906815"/>
              <a:ext cx="606864" cy="436776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538" name="Google Shape;538;p13"/>
          <p:cNvGrpSpPr/>
          <p:nvPr/>
        </p:nvGrpSpPr>
        <p:grpSpPr>
          <a:xfrm>
            <a:off x="7620165" y="2320670"/>
            <a:ext cx="4571836" cy="2877158"/>
            <a:chOff x="5647465" y="550117"/>
            <a:chExt cx="3416012" cy="1737045"/>
          </a:xfrm>
        </p:grpSpPr>
        <p:pic>
          <p:nvPicPr>
            <p:cNvPr id="539" name="Google Shape;539;p13"/>
            <p:cNvPicPr preferRelativeResize="0"/>
            <p:nvPr/>
          </p:nvPicPr>
          <p:blipFill rotWithShape="1">
            <a:blip r:embed="rId12">
              <a:alphaModFix/>
            </a:blip>
            <a:stretch/>
          </p:blipFill>
          <p:spPr>
            <a:xfrm>
              <a:off x="5647465" y="550117"/>
              <a:ext cx="3416012" cy="16613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13"/>
            <p:cNvSpPr/>
            <p:nvPr/>
          </p:nvSpPr>
          <p:spPr>
            <a:xfrm>
              <a:off x="5647465" y="1905057"/>
              <a:ext cx="1068656" cy="382105"/>
            </a:xfrm>
            <a:prstGeom prst="frame">
              <a:avLst>
                <a:gd name="adj1" fmla="val 12500"/>
              </a:avLst>
            </a:prstGeom>
            <a:solidFill>
              <a:srgbClr val="FFFF00"/>
            </a:solidFill>
            <a:ln w="25400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2" name="TextBox 541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5B6B73"/>
                </a:solidFill>
                <a:latin typeface="Calibri"/>
              </a:rPr>
              <a:t>LI Conselho Coordenador de Saúde · SIS-RME</a:t>
            </a:r>
          </a:p>
        </p:txBody>
      </p:sp>
      <p:pic>
        <p:nvPicPr>
          <p:cNvPr id="541" name="Picture 540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600" y="6281994"/>
            <a:ext cx="384048" cy="37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19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6"/>
          <p:cNvSpPr txBox="1">
            <a:spLocks noGrp="1"/>
          </p:cNvSpPr>
          <p:nvPr>
            <p:ph type="title"/>
          </p:nvPr>
        </p:nvSpPr>
        <p:spPr>
          <a:xfrm>
            <a:off x="2754964" y="86890"/>
            <a:ext cx="87376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Quais são os Módulos do SIS-RME?</a:t>
            </a:r>
            <a:endParaRPr sz="3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8" name="Google Shape;278;p6"/>
          <p:cNvSpPr txBox="1">
            <a:spLocks noGrp="1"/>
          </p:cNvSpPr>
          <p:nvPr>
            <p:ph type="body" idx="1"/>
          </p:nvPr>
        </p:nvSpPr>
        <p:spPr>
          <a:xfrm>
            <a:off x="914400" y="1555750"/>
            <a:ext cx="10972800" cy="454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</a:pP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342891" lvl="0" indent="-215891" algn="l" rtl="0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</a:pPr>
            <a:endParaRPr sz="2000" dirty="0"/>
          </a:p>
        </p:txBody>
      </p:sp>
      <p:sp>
        <p:nvSpPr>
          <p:cNvPr id="279" name="Google Shape;279;p6"/>
          <p:cNvSpPr/>
          <p:nvPr/>
        </p:nvSpPr>
        <p:spPr>
          <a:xfrm>
            <a:off x="1882374" y="2300796"/>
            <a:ext cx="2729812" cy="490998"/>
          </a:xfrm>
          <a:custGeom>
            <a:avLst/>
            <a:gdLst/>
            <a:ahLst/>
            <a:cxnLst/>
            <a:rect l="l" t="t" r="r" b="b"/>
            <a:pathLst>
              <a:path w="2612260" h="490998" extrusionOk="0">
                <a:moveTo>
                  <a:pt x="2409060" y="0"/>
                </a:moveTo>
                <a:cubicBezTo>
                  <a:pt x="2521284" y="0"/>
                  <a:pt x="2612260" y="109914"/>
                  <a:pt x="2612260" y="245499"/>
                </a:cubicBezTo>
                <a:cubicBezTo>
                  <a:pt x="2612260" y="381085"/>
                  <a:pt x="2521284" y="490998"/>
                  <a:pt x="2409060" y="490998"/>
                </a:cubicBezTo>
                <a:lnTo>
                  <a:pt x="203200" y="490998"/>
                </a:lnTo>
                <a:cubicBezTo>
                  <a:pt x="90976" y="490998"/>
                  <a:pt x="0" y="381085"/>
                  <a:pt x="0" y="245499"/>
                </a:cubicBezTo>
                <a:cubicBezTo>
                  <a:pt x="0" y="109914"/>
                  <a:pt x="90976" y="0"/>
                  <a:pt x="203200" y="0"/>
                </a:cubicBezTo>
                <a:close/>
              </a:path>
            </a:pathLst>
          </a:custGeom>
          <a:gradFill>
            <a:gsLst>
              <a:gs pos="0">
                <a:srgbClr val="EAF3F7"/>
              </a:gs>
              <a:gs pos="100000">
                <a:srgbClr val="C9922E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 txBox="1"/>
          <p:nvPr/>
        </p:nvSpPr>
        <p:spPr>
          <a:xfrm>
            <a:off x="2224447" y="-146409"/>
            <a:ext cx="82560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400"/>
              <a:buFont typeface="Calibri"/>
              <a:buNone/>
            </a:pPr>
            <a:r>
              <a:rPr lang="pt-PT" sz="2800" b="1" i="0" u="none" strike="noStrike" cap="none" dirty="0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  <p:sp>
        <p:nvSpPr>
          <p:cNvPr id="283" name="Google Shape;283;p6"/>
          <p:cNvSpPr txBox="1"/>
          <p:nvPr/>
        </p:nvSpPr>
        <p:spPr>
          <a:xfrm>
            <a:off x="1925156" y="2258008"/>
            <a:ext cx="2612260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499"/>
              <a:buFont typeface="Calibri"/>
              <a:buNone/>
            </a:pPr>
            <a:r>
              <a:rPr lang="pt-PT" sz="2499" b="1" i="0" u="none" strike="noStrike" cap="none" dirty="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Gestão do utente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4853974" y="2300796"/>
            <a:ext cx="3428591" cy="490998"/>
          </a:xfrm>
          <a:custGeom>
            <a:avLst/>
            <a:gdLst/>
            <a:ahLst/>
            <a:cxnLst/>
            <a:rect l="l" t="t" r="r" b="b"/>
            <a:pathLst>
              <a:path w="2612260" h="490998" extrusionOk="0">
                <a:moveTo>
                  <a:pt x="2409060" y="0"/>
                </a:moveTo>
                <a:cubicBezTo>
                  <a:pt x="2521284" y="0"/>
                  <a:pt x="2612260" y="109914"/>
                  <a:pt x="2612260" y="245499"/>
                </a:cubicBezTo>
                <a:cubicBezTo>
                  <a:pt x="2612260" y="381085"/>
                  <a:pt x="2521284" y="490998"/>
                  <a:pt x="2409060" y="490998"/>
                </a:cubicBezTo>
                <a:lnTo>
                  <a:pt x="203200" y="490998"/>
                </a:lnTo>
                <a:cubicBezTo>
                  <a:pt x="90976" y="490998"/>
                  <a:pt x="0" y="381085"/>
                  <a:pt x="0" y="245499"/>
                </a:cubicBezTo>
                <a:cubicBezTo>
                  <a:pt x="0" y="109914"/>
                  <a:pt x="90976" y="0"/>
                  <a:pt x="203200" y="0"/>
                </a:cubicBezTo>
                <a:close/>
              </a:path>
            </a:pathLst>
          </a:cu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 txBox="1"/>
          <p:nvPr/>
        </p:nvSpPr>
        <p:spPr>
          <a:xfrm>
            <a:off x="4822803" y="2233379"/>
            <a:ext cx="3430200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499"/>
              <a:buFont typeface="Calibri"/>
              <a:buNone/>
            </a:pPr>
            <a:r>
              <a:rPr lang="pt-PT" sz="2499" b="1" i="0" u="none" strike="noStrike" cap="none" dirty="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Consultas Externas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6" name="Google Shape;286;p6"/>
          <p:cNvGrpSpPr/>
          <p:nvPr/>
        </p:nvGrpSpPr>
        <p:grpSpPr>
          <a:xfrm>
            <a:off x="2637552" y="5535614"/>
            <a:ext cx="2873486" cy="540407"/>
            <a:chOff x="1243250" y="2981041"/>
            <a:chExt cx="2873486" cy="540407"/>
          </a:xfrm>
        </p:grpSpPr>
        <p:sp>
          <p:nvSpPr>
            <p:cNvPr id="287" name="Google Shape;287;p6"/>
            <p:cNvSpPr/>
            <p:nvPr/>
          </p:nvSpPr>
          <p:spPr>
            <a:xfrm>
              <a:off x="1243250" y="3030450"/>
              <a:ext cx="2873486" cy="490998"/>
            </a:xfrm>
            <a:custGeom>
              <a:avLst/>
              <a:gdLst/>
              <a:ahLst/>
              <a:cxnLst/>
              <a:rect l="l" t="t" r="r" b="b"/>
              <a:pathLst>
                <a:path w="2612260" h="490998" extrusionOk="0">
                  <a:moveTo>
                    <a:pt x="2409060" y="0"/>
                  </a:moveTo>
                  <a:cubicBezTo>
                    <a:pt x="2521284" y="0"/>
                    <a:pt x="2612260" y="109914"/>
                    <a:pt x="2612260" y="245499"/>
                  </a:cubicBezTo>
                  <a:cubicBezTo>
                    <a:pt x="2612260" y="381085"/>
                    <a:pt x="2521284" y="490998"/>
                    <a:pt x="2409060" y="490998"/>
                  </a:cubicBezTo>
                  <a:lnTo>
                    <a:pt x="203200" y="490998"/>
                  </a:lnTo>
                  <a:cubicBezTo>
                    <a:pt x="90976" y="490998"/>
                    <a:pt x="0" y="381085"/>
                    <a:pt x="0" y="245499"/>
                  </a:cubicBezTo>
                  <a:cubicBezTo>
                    <a:pt x="0" y="109914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7EFFFF"/>
                </a:gs>
                <a:gs pos="50000">
                  <a:srgbClr val="B1FFFF"/>
                </a:gs>
                <a:gs pos="100000">
                  <a:srgbClr val="D9FFFF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6"/>
            <p:cNvSpPr txBox="1"/>
            <p:nvPr/>
          </p:nvSpPr>
          <p:spPr>
            <a:xfrm>
              <a:off x="1360662" y="2981041"/>
              <a:ext cx="2612400" cy="38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95C"/>
                </a:buClr>
                <a:buSzPts val="2499"/>
                <a:buFont typeface="Calibri"/>
                <a:buNone/>
              </a:pPr>
              <a:r>
                <a:rPr lang="pt-PT" sz="2499" b="1" i="0" u="none" strike="noStrike" cap="none" dirty="0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Interoperabilidade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p6"/>
          <p:cNvGrpSpPr/>
          <p:nvPr/>
        </p:nvGrpSpPr>
        <p:grpSpPr>
          <a:xfrm>
            <a:off x="1215643" y="3052852"/>
            <a:ext cx="2612260" cy="533939"/>
            <a:chOff x="565450" y="2349359"/>
            <a:chExt cx="2612260" cy="533939"/>
          </a:xfrm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sp>
          <p:nvSpPr>
            <p:cNvPr id="290" name="Google Shape;290;p6"/>
            <p:cNvSpPr/>
            <p:nvPr/>
          </p:nvSpPr>
          <p:spPr>
            <a:xfrm>
              <a:off x="565450" y="2392300"/>
              <a:ext cx="2612260" cy="490998"/>
            </a:xfrm>
            <a:custGeom>
              <a:avLst/>
              <a:gdLst/>
              <a:ahLst/>
              <a:cxnLst/>
              <a:rect l="l" t="t" r="r" b="b"/>
              <a:pathLst>
                <a:path w="2612260" h="490998" extrusionOk="0">
                  <a:moveTo>
                    <a:pt x="2409060" y="0"/>
                  </a:moveTo>
                  <a:cubicBezTo>
                    <a:pt x="2521284" y="0"/>
                    <a:pt x="2612260" y="109914"/>
                    <a:pt x="2612260" y="245499"/>
                  </a:cubicBezTo>
                  <a:cubicBezTo>
                    <a:pt x="2612260" y="381085"/>
                    <a:pt x="2521284" y="490998"/>
                    <a:pt x="2409060" y="490998"/>
                  </a:cubicBezTo>
                  <a:lnTo>
                    <a:pt x="203200" y="490998"/>
                  </a:lnTo>
                  <a:cubicBezTo>
                    <a:pt x="90976" y="490998"/>
                    <a:pt x="0" y="381085"/>
                    <a:pt x="0" y="245499"/>
                  </a:cubicBezTo>
                  <a:cubicBezTo>
                    <a:pt x="0" y="109914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ED9D8A"/>
                </a:gs>
                <a:gs pos="50000">
                  <a:srgbClr val="F1C3B8"/>
                </a:gs>
                <a:gs pos="100000">
                  <a:srgbClr val="F8E1DC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/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6"/>
            <p:cNvSpPr txBox="1"/>
            <p:nvPr/>
          </p:nvSpPr>
          <p:spPr>
            <a:xfrm>
              <a:off x="618425" y="2349359"/>
              <a:ext cx="2435700" cy="384600"/>
            </a:xfrm>
            <a:prstGeom prst="rect">
              <a:avLst/>
            </a:prstGeom>
            <a:noFill/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95C"/>
                </a:buClr>
                <a:buSzPts val="2499"/>
                <a:buFont typeface="Calibri"/>
                <a:buNone/>
              </a:pPr>
              <a:r>
                <a:rPr lang="pt-PT" sz="2499" b="1" i="0" u="none" strike="noStrike" cap="none" dirty="0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SMI-CPP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6"/>
          <p:cNvGrpSpPr/>
          <p:nvPr/>
        </p:nvGrpSpPr>
        <p:grpSpPr>
          <a:xfrm>
            <a:off x="7057967" y="3106748"/>
            <a:ext cx="2612260" cy="541148"/>
            <a:chOff x="6432550" y="2328846"/>
            <a:chExt cx="2612260" cy="541148"/>
          </a:xfrm>
        </p:grpSpPr>
        <p:sp>
          <p:nvSpPr>
            <p:cNvPr id="293" name="Google Shape;293;p6"/>
            <p:cNvSpPr/>
            <p:nvPr/>
          </p:nvSpPr>
          <p:spPr>
            <a:xfrm>
              <a:off x="6432550" y="2378996"/>
              <a:ext cx="2612260" cy="490998"/>
            </a:xfrm>
            <a:custGeom>
              <a:avLst/>
              <a:gdLst/>
              <a:ahLst/>
              <a:cxnLst/>
              <a:rect l="l" t="t" r="r" b="b"/>
              <a:pathLst>
                <a:path w="2612260" h="490998" extrusionOk="0">
                  <a:moveTo>
                    <a:pt x="2409060" y="0"/>
                  </a:moveTo>
                  <a:cubicBezTo>
                    <a:pt x="2521284" y="0"/>
                    <a:pt x="2612260" y="109914"/>
                    <a:pt x="2612260" y="245499"/>
                  </a:cubicBezTo>
                  <a:cubicBezTo>
                    <a:pt x="2612260" y="381085"/>
                    <a:pt x="2521284" y="490998"/>
                    <a:pt x="2409060" y="490998"/>
                  </a:cubicBezTo>
                  <a:lnTo>
                    <a:pt x="203200" y="490998"/>
                  </a:lnTo>
                  <a:cubicBezTo>
                    <a:pt x="90976" y="490998"/>
                    <a:pt x="0" y="381085"/>
                    <a:pt x="0" y="245499"/>
                  </a:cubicBezTo>
                  <a:cubicBezTo>
                    <a:pt x="0" y="109914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DFEAFB"/>
                </a:gs>
                <a:gs pos="100000">
                  <a:srgbClr val="6E9CE7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6"/>
            <p:cNvSpPr txBox="1"/>
            <p:nvPr/>
          </p:nvSpPr>
          <p:spPr>
            <a:xfrm>
              <a:off x="6568750" y="2328846"/>
              <a:ext cx="2299500" cy="38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95C"/>
                </a:buClr>
                <a:buSzPts val="2499"/>
                <a:buFont typeface="Calibri"/>
                <a:buNone/>
              </a:pPr>
              <a:r>
                <a:rPr lang="pt-PT" sz="2499" b="1" i="0" u="none" strike="noStrike" cap="none" dirty="0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Farmácia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5" name="Google Shape;295;p6"/>
          <p:cNvGrpSpPr/>
          <p:nvPr/>
        </p:nvGrpSpPr>
        <p:grpSpPr>
          <a:xfrm>
            <a:off x="4136899" y="3079985"/>
            <a:ext cx="2612071" cy="549850"/>
            <a:chOff x="3405525" y="2350161"/>
            <a:chExt cx="2612260" cy="538417"/>
          </a:xfrm>
        </p:grpSpPr>
        <p:sp>
          <p:nvSpPr>
            <p:cNvPr id="296" name="Google Shape;296;p6"/>
            <p:cNvSpPr/>
            <p:nvPr/>
          </p:nvSpPr>
          <p:spPr>
            <a:xfrm>
              <a:off x="3405525" y="2392300"/>
              <a:ext cx="2612260" cy="490998"/>
            </a:xfrm>
            <a:custGeom>
              <a:avLst/>
              <a:gdLst/>
              <a:ahLst/>
              <a:cxnLst/>
              <a:rect l="l" t="t" r="r" b="b"/>
              <a:pathLst>
                <a:path w="2612260" h="490998" extrusionOk="0">
                  <a:moveTo>
                    <a:pt x="2409060" y="0"/>
                  </a:moveTo>
                  <a:cubicBezTo>
                    <a:pt x="2521284" y="0"/>
                    <a:pt x="2612260" y="109914"/>
                    <a:pt x="2612260" y="245499"/>
                  </a:cubicBezTo>
                  <a:cubicBezTo>
                    <a:pt x="2612260" y="381085"/>
                    <a:pt x="2521284" y="490998"/>
                    <a:pt x="2409060" y="490998"/>
                  </a:cubicBezTo>
                  <a:lnTo>
                    <a:pt x="203200" y="490998"/>
                  </a:lnTo>
                  <a:cubicBezTo>
                    <a:pt x="90976" y="490998"/>
                    <a:pt x="0" y="381085"/>
                    <a:pt x="0" y="245499"/>
                  </a:cubicBezTo>
                  <a:cubicBezTo>
                    <a:pt x="0" y="109914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EAF3F7"/>
                </a:gs>
                <a:gs pos="100000">
                  <a:srgbClr val="C9922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6"/>
            <p:cNvSpPr txBox="1"/>
            <p:nvPr/>
          </p:nvSpPr>
          <p:spPr>
            <a:xfrm>
              <a:off x="3547950" y="2350161"/>
              <a:ext cx="2211300" cy="5384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95C"/>
                </a:buClr>
                <a:buSzPts val="2499"/>
                <a:buFont typeface="Calibri"/>
                <a:buNone/>
              </a:pPr>
              <a:r>
                <a:rPr lang="pt-PT" sz="2499" b="1" i="0" u="none" strike="noStrike" cap="none" dirty="0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SMI-CCS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p6"/>
          <p:cNvSpPr/>
          <p:nvPr/>
        </p:nvSpPr>
        <p:spPr>
          <a:xfrm>
            <a:off x="8428887" y="2300796"/>
            <a:ext cx="2612260" cy="490998"/>
          </a:xfrm>
          <a:custGeom>
            <a:avLst/>
            <a:gdLst/>
            <a:ahLst/>
            <a:cxnLst/>
            <a:rect l="l" t="t" r="r" b="b"/>
            <a:pathLst>
              <a:path w="2612260" h="490998" extrusionOk="0">
                <a:moveTo>
                  <a:pt x="2409060" y="0"/>
                </a:moveTo>
                <a:cubicBezTo>
                  <a:pt x="2521284" y="0"/>
                  <a:pt x="2612260" y="109914"/>
                  <a:pt x="2612260" y="245499"/>
                </a:cubicBezTo>
                <a:cubicBezTo>
                  <a:pt x="2612260" y="381085"/>
                  <a:pt x="2521284" y="490998"/>
                  <a:pt x="2409060" y="490998"/>
                </a:cubicBezTo>
                <a:lnTo>
                  <a:pt x="203200" y="490998"/>
                </a:lnTo>
                <a:cubicBezTo>
                  <a:pt x="90976" y="490998"/>
                  <a:pt x="0" y="381085"/>
                  <a:pt x="0" y="245499"/>
                </a:cubicBezTo>
                <a:cubicBezTo>
                  <a:pt x="0" y="109914"/>
                  <a:pt x="90976" y="0"/>
                  <a:pt x="203200" y="0"/>
                </a:cubicBezTo>
                <a:close/>
              </a:path>
            </a:pathLst>
          </a:custGeom>
          <a:gradFill>
            <a:gsLst>
              <a:gs pos="0">
                <a:srgbClr val="EAF3F7"/>
              </a:gs>
              <a:gs pos="100000">
                <a:srgbClr val="C9922E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 txBox="1"/>
          <p:nvPr/>
        </p:nvSpPr>
        <p:spPr>
          <a:xfrm>
            <a:off x="8571313" y="2269032"/>
            <a:ext cx="2211300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499"/>
              <a:buFont typeface="Calibri"/>
              <a:buNone/>
            </a:pPr>
            <a:r>
              <a:rPr lang="pt-PT" sz="2499" b="1" i="0" u="none" strike="noStrike" cap="none" dirty="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SMI-CPN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0" name="Google Shape;300;p6"/>
          <p:cNvGrpSpPr/>
          <p:nvPr/>
        </p:nvGrpSpPr>
        <p:grpSpPr>
          <a:xfrm>
            <a:off x="5765544" y="3947062"/>
            <a:ext cx="2612260" cy="507752"/>
            <a:chOff x="5452164" y="3013696"/>
            <a:chExt cx="2612260" cy="507752"/>
          </a:xfrm>
        </p:grpSpPr>
        <p:sp>
          <p:nvSpPr>
            <p:cNvPr id="301" name="Google Shape;301;p6"/>
            <p:cNvSpPr/>
            <p:nvPr/>
          </p:nvSpPr>
          <p:spPr>
            <a:xfrm>
              <a:off x="5452164" y="3030450"/>
              <a:ext cx="2612260" cy="490998"/>
            </a:xfrm>
            <a:custGeom>
              <a:avLst/>
              <a:gdLst/>
              <a:ahLst/>
              <a:cxnLst/>
              <a:rect l="l" t="t" r="r" b="b"/>
              <a:pathLst>
                <a:path w="2612260" h="490998" extrusionOk="0">
                  <a:moveTo>
                    <a:pt x="2409060" y="0"/>
                  </a:moveTo>
                  <a:cubicBezTo>
                    <a:pt x="2521284" y="0"/>
                    <a:pt x="2612260" y="109914"/>
                    <a:pt x="2612260" y="245499"/>
                  </a:cubicBezTo>
                  <a:cubicBezTo>
                    <a:pt x="2612260" y="381085"/>
                    <a:pt x="2521284" y="490998"/>
                    <a:pt x="2409060" y="490998"/>
                  </a:cubicBezTo>
                  <a:lnTo>
                    <a:pt x="203200" y="490998"/>
                  </a:lnTo>
                  <a:cubicBezTo>
                    <a:pt x="90976" y="490998"/>
                    <a:pt x="0" y="381085"/>
                    <a:pt x="0" y="245499"/>
                  </a:cubicBezTo>
                  <a:cubicBezTo>
                    <a:pt x="0" y="109914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DCECD5"/>
                </a:gs>
                <a:gs pos="100000">
                  <a:srgbClr val="92BC8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6"/>
            <p:cNvSpPr txBox="1"/>
            <p:nvPr/>
          </p:nvSpPr>
          <p:spPr>
            <a:xfrm>
              <a:off x="5569757" y="3013696"/>
              <a:ext cx="2435700" cy="38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95C"/>
                </a:buClr>
                <a:buSzPts val="2499"/>
                <a:buFont typeface="Calibri"/>
                <a:buNone/>
              </a:pPr>
              <a:r>
                <a:rPr lang="pt-PT" sz="2499" b="1" i="0" u="none" strike="noStrike" cap="none" dirty="0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PNCT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3" name="Google Shape;303;p6"/>
          <p:cNvGrpSpPr/>
          <p:nvPr/>
        </p:nvGrpSpPr>
        <p:grpSpPr>
          <a:xfrm>
            <a:off x="9392388" y="3928132"/>
            <a:ext cx="2612260" cy="515948"/>
            <a:chOff x="9399850" y="2952300"/>
            <a:chExt cx="2612260" cy="515948"/>
          </a:xfrm>
        </p:grpSpPr>
        <p:sp>
          <p:nvSpPr>
            <p:cNvPr id="304" name="Google Shape;304;p6"/>
            <p:cNvSpPr/>
            <p:nvPr/>
          </p:nvSpPr>
          <p:spPr>
            <a:xfrm>
              <a:off x="9399850" y="2977250"/>
              <a:ext cx="2612260" cy="490998"/>
            </a:xfrm>
            <a:custGeom>
              <a:avLst/>
              <a:gdLst/>
              <a:ahLst/>
              <a:cxnLst/>
              <a:rect l="l" t="t" r="r" b="b"/>
              <a:pathLst>
                <a:path w="2612260" h="490998" extrusionOk="0">
                  <a:moveTo>
                    <a:pt x="2409060" y="0"/>
                  </a:moveTo>
                  <a:cubicBezTo>
                    <a:pt x="2521284" y="0"/>
                    <a:pt x="2612260" y="109914"/>
                    <a:pt x="2612260" y="245499"/>
                  </a:cubicBezTo>
                  <a:cubicBezTo>
                    <a:pt x="2612260" y="381085"/>
                    <a:pt x="2521284" y="490998"/>
                    <a:pt x="2409060" y="490998"/>
                  </a:cubicBezTo>
                  <a:lnTo>
                    <a:pt x="203200" y="490998"/>
                  </a:lnTo>
                  <a:cubicBezTo>
                    <a:pt x="90976" y="490998"/>
                    <a:pt x="0" y="381085"/>
                    <a:pt x="0" y="245499"/>
                  </a:cubicBezTo>
                  <a:cubicBezTo>
                    <a:pt x="0" y="109914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B1C1D5"/>
                </a:gs>
                <a:gs pos="50000">
                  <a:srgbClr val="CFD7E3"/>
                </a:gs>
                <a:gs pos="100000">
                  <a:srgbClr val="E7EAF0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6"/>
            <p:cNvSpPr txBox="1"/>
            <p:nvPr/>
          </p:nvSpPr>
          <p:spPr>
            <a:xfrm>
              <a:off x="9537075" y="2952300"/>
              <a:ext cx="2299500" cy="38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95C"/>
                </a:buClr>
                <a:buSzPts val="2499"/>
                <a:buFont typeface="Calibri"/>
                <a:buNone/>
              </a:pPr>
              <a:r>
                <a:rPr lang="pt-PT" sz="2499" b="1" i="0" u="none" strike="noStrike" cap="none" dirty="0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HIV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6" name="Google Shape;306;p6"/>
          <p:cNvGrpSpPr/>
          <p:nvPr/>
        </p:nvGrpSpPr>
        <p:grpSpPr>
          <a:xfrm>
            <a:off x="1224723" y="4715029"/>
            <a:ext cx="2612260" cy="535345"/>
            <a:chOff x="3752093" y="3624265"/>
            <a:chExt cx="2612260" cy="535345"/>
          </a:xfrm>
        </p:grpSpPr>
        <p:sp>
          <p:nvSpPr>
            <p:cNvPr id="307" name="Google Shape;307;p6"/>
            <p:cNvSpPr/>
            <p:nvPr/>
          </p:nvSpPr>
          <p:spPr>
            <a:xfrm>
              <a:off x="3752093" y="3668612"/>
              <a:ext cx="2612260" cy="490998"/>
            </a:xfrm>
            <a:custGeom>
              <a:avLst/>
              <a:gdLst/>
              <a:ahLst/>
              <a:cxnLst/>
              <a:rect l="l" t="t" r="r" b="b"/>
              <a:pathLst>
                <a:path w="2612260" h="490998" extrusionOk="0">
                  <a:moveTo>
                    <a:pt x="2409060" y="0"/>
                  </a:moveTo>
                  <a:cubicBezTo>
                    <a:pt x="2521284" y="0"/>
                    <a:pt x="2612260" y="109914"/>
                    <a:pt x="2612260" y="245499"/>
                  </a:cubicBezTo>
                  <a:cubicBezTo>
                    <a:pt x="2612260" y="381085"/>
                    <a:pt x="2521284" y="490998"/>
                    <a:pt x="2409060" y="490998"/>
                  </a:cubicBezTo>
                  <a:lnTo>
                    <a:pt x="203200" y="490998"/>
                  </a:lnTo>
                  <a:cubicBezTo>
                    <a:pt x="90976" y="490998"/>
                    <a:pt x="0" y="381085"/>
                    <a:pt x="0" y="245499"/>
                  </a:cubicBezTo>
                  <a:cubicBezTo>
                    <a:pt x="0" y="109914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DBD4EB"/>
                </a:gs>
                <a:gs pos="100000">
                  <a:srgbClr val="9080BB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6"/>
            <p:cNvSpPr txBox="1"/>
            <p:nvPr/>
          </p:nvSpPr>
          <p:spPr>
            <a:xfrm>
              <a:off x="3944869" y="3624265"/>
              <a:ext cx="2299500" cy="38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95C"/>
                </a:buClr>
                <a:buSzPts val="2499"/>
                <a:buFont typeface="Calibri"/>
                <a:buNone/>
              </a:pPr>
              <a:r>
                <a:rPr lang="pt-PT" sz="2499" b="1" i="0" u="none" strike="noStrike" cap="none" dirty="0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Internamento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9" name="Google Shape;309;p6"/>
          <p:cNvGrpSpPr/>
          <p:nvPr/>
        </p:nvGrpSpPr>
        <p:grpSpPr>
          <a:xfrm>
            <a:off x="1999926" y="3922854"/>
            <a:ext cx="2612260" cy="551282"/>
            <a:chOff x="6699327" y="3645941"/>
            <a:chExt cx="2612260" cy="551282"/>
          </a:xfrm>
        </p:grpSpPr>
        <p:sp>
          <p:nvSpPr>
            <p:cNvPr id="310" name="Google Shape;310;p6"/>
            <p:cNvSpPr/>
            <p:nvPr/>
          </p:nvSpPr>
          <p:spPr>
            <a:xfrm>
              <a:off x="6699327" y="3706225"/>
              <a:ext cx="2612260" cy="490998"/>
            </a:xfrm>
            <a:custGeom>
              <a:avLst/>
              <a:gdLst/>
              <a:ahLst/>
              <a:cxnLst/>
              <a:rect l="l" t="t" r="r" b="b"/>
              <a:pathLst>
                <a:path w="2612260" h="490998" extrusionOk="0">
                  <a:moveTo>
                    <a:pt x="2409060" y="0"/>
                  </a:moveTo>
                  <a:cubicBezTo>
                    <a:pt x="2521284" y="0"/>
                    <a:pt x="2612260" y="109914"/>
                    <a:pt x="2612260" y="245499"/>
                  </a:cubicBezTo>
                  <a:cubicBezTo>
                    <a:pt x="2612260" y="381085"/>
                    <a:pt x="2521284" y="490998"/>
                    <a:pt x="2409060" y="490998"/>
                  </a:cubicBezTo>
                  <a:lnTo>
                    <a:pt x="203200" y="490998"/>
                  </a:lnTo>
                  <a:cubicBezTo>
                    <a:pt x="90976" y="490998"/>
                    <a:pt x="0" y="381085"/>
                    <a:pt x="0" y="245499"/>
                  </a:cubicBezTo>
                  <a:cubicBezTo>
                    <a:pt x="0" y="109914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DCECD5"/>
                </a:gs>
                <a:gs pos="100000">
                  <a:srgbClr val="92BC8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6"/>
            <p:cNvSpPr txBox="1"/>
            <p:nvPr/>
          </p:nvSpPr>
          <p:spPr>
            <a:xfrm>
              <a:off x="6809502" y="3645941"/>
              <a:ext cx="2435700" cy="38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95C"/>
                </a:buClr>
                <a:buSzPts val="2499"/>
                <a:buFont typeface="Calibri"/>
                <a:buNone/>
              </a:pPr>
              <a:r>
                <a:rPr lang="pt-PT" sz="2499" b="1" i="0" u="none" strike="noStrike" cap="none" dirty="0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Maternidade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6"/>
          <p:cNvGrpSpPr/>
          <p:nvPr/>
        </p:nvGrpSpPr>
        <p:grpSpPr>
          <a:xfrm>
            <a:off x="8492658" y="5571865"/>
            <a:ext cx="2612260" cy="504156"/>
            <a:chOff x="9537075" y="3746267"/>
            <a:chExt cx="2612260" cy="504156"/>
          </a:xfrm>
        </p:grpSpPr>
        <p:sp>
          <p:nvSpPr>
            <p:cNvPr id="313" name="Google Shape;313;p6"/>
            <p:cNvSpPr/>
            <p:nvPr/>
          </p:nvSpPr>
          <p:spPr>
            <a:xfrm>
              <a:off x="9537075" y="3759425"/>
              <a:ext cx="2612260" cy="490998"/>
            </a:xfrm>
            <a:custGeom>
              <a:avLst/>
              <a:gdLst/>
              <a:ahLst/>
              <a:cxnLst/>
              <a:rect l="l" t="t" r="r" b="b"/>
              <a:pathLst>
                <a:path w="2612260" h="490998" extrusionOk="0">
                  <a:moveTo>
                    <a:pt x="2409060" y="0"/>
                  </a:moveTo>
                  <a:cubicBezTo>
                    <a:pt x="2521284" y="0"/>
                    <a:pt x="2612260" y="109914"/>
                    <a:pt x="2612260" y="245499"/>
                  </a:cubicBezTo>
                  <a:cubicBezTo>
                    <a:pt x="2612260" y="381085"/>
                    <a:pt x="2521284" y="490998"/>
                    <a:pt x="2409060" y="490998"/>
                  </a:cubicBezTo>
                  <a:lnTo>
                    <a:pt x="203200" y="490998"/>
                  </a:lnTo>
                  <a:cubicBezTo>
                    <a:pt x="90976" y="490998"/>
                    <a:pt x="0" y="381085"/>
                    <a:pt x="0" y="245499"/>
                  </a:cubicBezTo>
                  <a:cubicBezTo>
                    <a:pt x="0" y="109914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7EFFFF"/>
                </a:gs>
                <a:gs pos="50000">
                  <a:srgbClr val="B1FFFF"/>
                </a:gs>
                <a:gs pos="100000">
                  <a:srgbClr val="D9FFFF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6"/>
            <p:cNvSpPr txBox="1"/>
            <p:nvPr/>
          </p:nvSpPr>
          <p:spPr>
            <a:xfrm>
              <a:off x="9677723" y="3746267"/>
              <a:ext cx="2299500" cy="38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95C"/>
                </a:buClr>
                <a:buSzPts val="2499"/>
                <a:buFont typeface="Calibri"/>
                <a:buNone/>
              </a:pPr>
              <a:r>
                <a:rPr lang="pt-PT" sz="2499" b="1" i="0" u="none" strike="noStrike" cap="none" dirty="0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Relatórios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6"/>
          <p:cNvGrpSpPr/>
          <p:nvPr/>
        </p:nvGrpSpPr>
        <p:grpSpPr>
          <a:xfrm>
            <a:off x="4044460" y="4669975"/>
            <a:ext cx="2612260" cy="538304"/>
            <a:chOff x="1122038" y="4415658"/>
            <a:chExt cx="2612260" cy="538304"/>
          </a:xfrm>
        </p:grpSpPr>
        <p:sp>
          <p:nvSpPr>
            <p:cNvPr id="316" name="Google Shape;316;p6"/>
            <p:cNvSpPr/>
            <p:nvPr/>
          </p:nvSpPr>
          <p:spPr>
            <a:xfrm>
              <a:off x="1122038" y="4462964"/>
              <a:ext cx="2612260" cy="490998"/>
            </a:xfrm>
            <a:custGeom>
              <a:avLst/>
              <a:gdLst/>
              <a:ahLst/>
              <a:cxnLst/>
              <a:rect l="l" t="t" r="r" b="b"/>
              <a:pathLst>
                <a:path w="2612260" h="490998" extrusionOk="0">
                  <a:moveTo>
                    <a:pt x="2409060" y="0"/>
                  </a:moveTo>
                  <a:cubicBezTo>
                    <a:pt x="2521284" y="0"/>
                    <a:pt x="2612260" y="109914"/>
                    <a:pt x="2612260" y="245499"/>
                  </a:cubicBezTo>
                  <a:cubicBezTo>
                    <a:pt x="2612260" y="381085"/>
                    <a:pt x="2521284" y="490998"/>
                    <a:pt x="2409060" y="490998"/>
                  </a:cubicBezTo>
                  <a:lnTo>
                    <a:pt x="203200" y="490998"/>
                  </a:lnTo>
                  <a:cubicBezTo>
                    <a:pt x="90976" y="490998"/>
                    <a:pt x="0" y="381085"/>
                    <a:pt x="0" y="245499"/>
                  </a:cubicBezTo>
                  <a:cubicBezTo>
                    <a:pt x="0" y="109914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FFAA87"/>
                </a:gs>
                <a:gs pos="50000">
                  <a:srgbClr val="FFC9B5"/>
                </a:gs>
                <a:gs pos="100000">
                  <a:srgbClr val="FFE3DB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6"/>
            <p:cNvSpPr txBox="1"/>
            <p:nvPr/>
          </p:nvSpPr>
          <p:spPr>
            <a:xfrm>
              <a:off x="1286032" y="4415658"/>
              <a:ext cx="2299500" cy="38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95C"/>
                </a:buClr>
                <a:buSzPts val="2499"/>
                <a:buFont typeface="Calibri"/>
                <a:buNone/>
              </a:pPr>
              <a:r>
                <a:rPr lang="pt-PT" sz="2499" b="1" i="0" u="none" strike="noStrike" cap="none" dirty="0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DNT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6"/>
          <p:cNvGrpSpPr/>
          <p:nvPr/>
        </p:nvGrpSpPr>
        <p:grpSpPr>
          <a:xfrm>
            <a:off x="7071674" y="4633006"/>
            <a:ext cx="2612260" cy="548197"/>
            <a:chOff x="4159741" y="4590797"/>
            <a:chExt cx="2612260" cy="548197"/>
          </a:xfrm>
        </p:grpSpPr>
        <p:sp>
          <p:nvSpPr>
            <p:cNvPr id="319" name="Google Shape;319;p6"/>
            <p:cNvSpPr/>
            <p:nvPr/>
          </p:nvSpPr>
          <p:spPr>
            <a:xfrm>
              <a:off x="4159741" y="4647996"/>
              <a:ext cx="2612260" cy="490998"/>
            </a:xfrm>
            <a:custGeom>
              <a:avLst/>
              <a:gdLst/>
              <a:ahLst/>
              <a:cxnLst/>
              <a:rect l="l" t="t" r="r" b="b"/>
              <a:pathLst>
                <a:path w="2612260" h="490998" extrusionOk="0">
                  <a:moveTo>
                    <a:pt x="2409060" y="0"/>
                  </a:moveTo>
                  <a:cubicBezTo>
                    <a:pt x="2521284" y="0"/>
                    <a:pt x="2612260" y="109914"/>
                    <a:pt x="2612260" y="245499"/>
                  </a:cubicBezTo>
                  <a:cubicBezTo>
                    <a:pt x="2612260" y="381085"/>
                    <a:pt x="2521284" y="490998"/>
                    <a:pt x="2409060" y="490998"/>
                  </a:cubicBezTo>
                  <a:lnTo>
                    <a:pt x="203200" y="490998"/>
                  </a:lnTo>
                  <a:cubicBezTo>
                    <a:pt x="90976" y="490998"/>
                    <a:pt x="0" y="381085"/>
                    <a:pt x="0" y="245499"/>
                  </a:cubicBezTo>
                  <a:cubicBezTo>
                    <a:pt x="0" y="109914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DBD4EB"/>
                </a:gs>
                <a:gs pos="100000">
                  <a:srgbClr val="9080BB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6"/>
            <p:cNvSpPr txBox="1"/>
            <p:nvPr/>
          </p:nvSpPr>
          <p:spPr>
            <a:xfrm>
              <a:off x="4302414" y="4590797"/>
              <a:ext cx="2299500" cy="38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95C"/>
                </a:buClr>
                <a:buSzPts val="2499"/>
                <a:buFont typeface="Calibri"/>
                <a:buNone/>
              </a:pPr>
              <a:r>
                <a:rPr lang="pt-PT" sz="2499" b="1" i="0" u="none" strike="noStrike" cap="none" dirty="0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CACUM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Google Shape;298;p6">
            <a:extLst>
              <a:ext uri="{FF2B5EF4-FFF2-40B4-BE49-F238E27FC236}">
                <a16:creationId xmlns:a16="http://schemas.microsoft.com/office/drawing/2014/main" id="{70963C53-22DB-14F3-B108-590D698B9F7C}"/>
              </a:ext>
            </a:extLst>
          </p:cNvPr>
          <p:cNvSpPr/>
          <p:nvPr/>
        </p:nvSpPr>
        <p:spPr>
          <a:xfrm>
            <a:off x="9806427" y="3018623"/>
            <a:ext cx="2198221" cy="553463"/>
          </a:xfrm>
          <a:custGeom>
            <a:avLst/>
            <a:gdLst/>
            <a:ahLst/>
            <a:cxnLst/>
            <a:rect l="l" t="t" r="r" b="b"/>
            <a:pathLst>
              <a:path w="2612260" h="490998" extrusionOk="0">
                <a:moveTo>
                  <a:pt x="2409060" y="0"/>
                </a:moveTo>
                <a:cubicBezTo>
                  <a:pt x="2521284" y="0"/>
                  <a:pt x="2612260" y="109914"/>
                  <a:pt x="2612260" y="245499"/>
                </a:cubicBezTo>
                <a:cubicBezTo>
                  <a:pt x="2612260" y="381085"/>
                  <a:pt x="2521284" y="490998"/>
                  <a:pt x="2409060" y="490998"/>
                </a:cubicBezTo>
                <a:lnTo>
                  <a:pt x="203200" y="490998"/>
                </a:lnTo>
                <a:cubicBezTo>
                  <a:pt x="90976" y="490998"/>
                  <a:pt x="0" y="381085"/>
                  <a:pt x="0" y="245499"/>
                </a:cubicBezTo>
                <a:cubicBezTo>
                  <a:pt x="0" y="109914"/>
                  <a:pt x="90976" y="0"/>
                  <a:pt x="203200" y="0"/>
                </a:cubicBezTo>
                <a:close/>
              </a:path>
            </a:pathLst>
          </a:custGeom>
          <a:solidFill>
            <a:srgbClr val="B326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 panose="02000000000000000000" pitchFamily="2" charset="0"/>
                <a:ea typeface="Calibri" panose="02000000000000000000" pitchFamily="2" charset="0"/>
                <a:cs typeface="Calibri" panose="02000000000000000000" pitchFamily="2" charset="0"/>
                <a:sym typeface="Calibri"/>
              </a:rPr>
              <a:t>SUR</a:t>
            </a:r>
            <a:endParaRPr sz="1800" b="1" i="0" u="none" strike="noStrike" cap="none" dirty="0">
              <a:solidFill>
                <a:schemeClr val="dk1"/>
              </a:solidFill>
              <a:latin typeface="Calibri" panose="02000000000000000000" pitchFamily="2" charset="0"/>
              <a:ea typeface="Calibri" panose="02000000000000000000" pitchFamily="2" charset="0"/>
              <a:cs typeface="Calibri" panose="02000000000000000000" pitchFamily="2" charset="0"/>
              <a:sym typeface="Calibri"/>
            </a:endParaRPr>
          </a:p>
        </p:txBody>
      </p:sp>
      <p:sp>
        <p:nvSpPr>
          <p:cNvPr id="322" name="TextBox 321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5B6B73"/>
                </a:solidFill>
                <a:latin typeface="Calibri"/>
              </a:rPr>
              <a:t>LI Conselho Coordenador de Saúde · SIS-RME</a:t>
            </a: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3239CEB4-FB0B-BD29-4D0D-E8416303B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263640"/>
            <a:ext cx="384048" cy="411480"/>
          </a:xfrm>
          <a:prstGeom prst="rect">
            <a:avLst/>
          </a:prstGeom>
        </p:spPr>
      </p:pic>
      <p:grpSp>
        <p:nvGrpSpPr>
          <p:cNvPr id="48" name="Google Shape;295;p6"/>
          <p:cNvGrpSpPr/>
          <p:nvPr/>
        </p:nvGrpSpPr>
        <p:grpSpPr>
          <a:xfrm>
            <a:off x="5184418" y="1514349"/>
            <a:ext cx="2612071" cy="549850"/>
            <a:chOff x="3405525" y="2350161"/>
            <a:chExt cx="2612260" cy="538417"/>
          </a:xfrm>
        </p:grpSpPr>
        <p:sp>
          <p:nvSpPr>
            <p:cNvPr id="49" name="Google Shape;296;p6"/>
            <p:cNvSpPr/>
            <p:nvPr/>
          </p:nvSpPr>
          <p:spPr>
            <a:xfrm>
              <a:off x="3405525" y="2392300"/>
              <a:ext cx="2612260" cy="490998"/>
            </a:xfrm>
            <a:custGeom>
              <a:avLst/>
              <a:gdLst/>
              <a:ahLst/>
              <a:cxnLst/>
              <a:rect l="l" t="t" r="r" b="b"/>
              <a:pathLst>
                <a:path w="2612260" h="490998" extrusionOk="0">
                  <a:moveTo>
                    <a:pt x="2409060" y="0"/>
                  </a:moveTo>
                  <a:cubicBezTo>
                    <a:pt x="2521284" y="0"/>
                    <a:pt x="2612260" y="109914"/>
                    <a:pt x="2612260" y="245499"/>
                  </a:cubicBezTo>
                  <a:cubicBezTo>
                    <a:pt x="2612260" y="381085"/>
                    <a:pt x="2521284" y="490998"/>
                    <a:pt x="2409060" y="490998"/>
                  </a:cubicBezTo>
                  <a:lnTo>
                    <a:pt x="203200" y="490998"/>
                  </a:lnTo>
                  <a:cubicBezTo>
                    <a:pt x="90976" y="490998"/>
                    <a:pt x="0" y="381085"/>
                    <a:pt x="0" y="245499"/>
                  </a:cubicBezTo>
                  <a:cubicBezTo>
                    <a:pt x="0" y="109914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EAF3F7"/>
                </a:gs>
                <a:gs pos="100000">
                  <a:srgbClr val="C9922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297;p6"/>
            <p:cNvSpPr txBox="1"/>
            <p:nvPr/>
          </p:nvSpPr>
          <p:spPr>
            <a:xfrm>
              <a:off x="3547950" y="2350161"/>
              <a:ext cx="2211300" cy="5384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95C"/>
                </a:buClr>
                <a:buSzPts val="2499"/>
                <a:buFont typeface="Calibri"/>
                <a:buNone/>
              </a:pPr>
              <a:r>
                <a:rPr lang="pt-PT" sz="2499" b="1" i="0" u="none" strike="noStrike" cap="none" dirty="0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SMI-CCR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295;p6"/>
          <p:cNvGrpSpPr/>
          <p:nvPr/>
        </p:nvGrpSpPr>
        <p:grpSpPr>
          <a:xfrm>
            <a:off x="1649723" y="1535311"/>
            <a:ext cx="2612071" cy="549850"/>
            <a:chOff x="3405525" y="2350161"/>
            <a:chExt cx="2612260" cy="538417"/>
          </a:xfrm>
        </p:grpSpPr>
        <p:sp>
          <p:nvSpPr>
            <p:cNvPr id="52" name="Google Shape;296;p6"/>
            <p:cNvSpPr/>
            <p:nvPr/>
          </p:nvSpPr>
          <p:spPr>
            <a:xfrm>
              <a:off x="3405525" y="2392300"/>
              <a:ext cx="2612260" cy="490998"/>
            </a:xfrm>
            <a:custGeom>
              <a:avLst/>
              <a:gdLst/>
              <a:ahLst/>
              <a:cxnLst/>
              <a:rect l="l" t="t" r="r" b="b"/>
              <a:pathLst>
                <a:path w="2612260" h="490998" extrusionOk="0">
                  <a:moveTo>
                    <a:pt x="2409060" y="0"/>
                  </a:moveTo>
                  <a:cubicBezTo>
                    <a:pt x="2521284" y="0"/>
                    <a:pt x="2612260" y="109914"/>
                    <a:pt x="2612260" y="245499"/>
                  </a:cubicBezTo>
                  <a:cubicBezTo>
                    <a:pt x="2612260" y="381085"/>
                    <a:pt x="2521284" y="490998"/>
                    <a:pt x="2409060" y="490998"/>
                  </a:cubicBezTo>
                  <a:lnTo>
                    <a:pt x="203200" y="490998"/>
                  </a:lnTo>
                  <a:cubicBezTo>
                    <a:pt x="90976" y="490998"/>
                    <a:pt x="0" y="381085"/>
                    <a:pt x="0" y="245499"/>
                  </a:cubicBezTo>
                  <a:cubicBezTo>
                    <a:pt x="0" y="109914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EAF3F7"/>
                </a:gs>
                <a:gs pos="100000">
                  <a:srgbClr val="C9922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297;p6"/>
            <p:cNvSpPr txBox="1"/>
            <p:nvPr/>
          </p:nvSpPr>
          <p:spPr>
            <a:xfrm>
              <a:off x="3547950" y="2350161"/>
              <a:ext cx="2211300" cy="5384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95C"/>
                </a:buClr>
                <a:buSzPts val="2499"/>
                <a:buFont typeface="Calibri"/>
                <a:buNone/>
              </a:pPr>
              <a:r>
                <a:rPr lang="pt-PT" sz="2499" b="1" dirty="0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ATS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" name="Google Shape;295;p6"/>
          <p:cNvGrpSpPr/>
          <p:nvPr/>
        </p:nvGrpSpPr>
        <p:grpSpPr>
          <a:xfrm>
            <a:off x="8514292" y="1504822"/>
            <a:ext cx="2612071" cy="544458"/>
            <a:chOff x="3405525" y="2350161"/>
            <a:chExt cx="2612260" cy="533137"/>
          </a:xfrm>
        </p:grpSpPr>
        <p:sp>
          <p:nvSpPr>
            <p:cNvPr id="55" name="Google Shape;296;p6"/>
            <p:cNvSpPr/>
            <p:nvPr/>
          </p:nvSpPr>
          <p:spPr>
            <a:xfrm>
              <a:off x="3405525" y="2392300"/>
              <a:ext cx="2612260" cy="490998"/>
            </a:xfrm>
            <a:custGeom>
              <a:avLst/>
              <a:gdLst/>
              <a:ahLst/>
              <a:cxnLst/>
              <a:rect l="l" t="t" r="r" b="b"/>
              <a:pathLst>
                <a:path w="2612260" h="490998" extrusionOk="0">
                  <a:moveTo>
                    <a:pt x="2409060" y="0"/>
                  </a:moveTo>
                  <a:cubicBezTo>
                    <a:pt x="2521284" y="0"/>
                    <a:pt x="2612260" y="109914"/>
                    <a:pt x="2612260" y="245499"/>
                  </a:cubicBezTo>
                  <a:cubicBezTo>
                    <a:pt x="2612260" y="381085"/>
                    <a:pt x="2521284" y="490998"/>
                    <a:pt x="2409060" y="490998"/>
                  </a:cubicBezTo>
                  <a:lnTo>
                    <a:pt x="203200" y="490998"/>
                  </a:lnTo>
                  <a:cubicBezTo>
                    <a:pt x="90976" y="490998"/>
                    <a:pt x="0" y="381085"/>
                    <a:pt x="0" y="245499"/>
                  </a:cubicBezTo>
                  <a:cubicBezTo>
                    <a:pt x="0" y="109914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EAF3F7"/>
                </a:gs>
                <a:gs pos="100000">
                  <a:srgbClr val="C9922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297;p6"/>
            <p:cNvSpPr txBox="1"/>
            <p:nvPr/>
          </p:nvSpPr>
          <p:spPr>
            <a:xfrm>
              <a:off x="3547950" y="2350161"/>
              <a:ext cx="2211300" cy="5272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95C"/>
                </a:buClr>
                <a:buSzPts val="2499"/>
                <a:buFont typeface="Calibri"/>
                <a:buNone/>
              </a:pPr>
              <a:r>
                <a:rPr lang="pt-PT" sz="2499" b="1" dirty="0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PREP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" name="Google Shape;298;p6">
            <a:extLst>
              <a:ext uri="{FF2B5EF4-FFF2-40B4-BE49-F238E27FC236}">
                <a16:creationId xmlns:a16="http://schemas.microsoft.com/office/drawing/2014/main" id="{70963C53-22DB-14F3-B108-590D698B9F7C}"/>
              </a:ext>
            </a:extLst>
          </p:cNvPr>
          <p:cNvSpPr/>
          <p:nvPr/>
        </p:nvSpPr>
        <p:spPr>
          <a:xfrm>
            <a:off x="5862855" y="5571517"/>
            <a:ext cx="2198221" cy="553463"/>
          </a:xfrm>
          <a:custGeom>
            <a:avLst/>
            <a:gdLst/>
            <a:ahLst/>
            <a:cxnLst/>
            <a:rect l="l" t="t" r="r" b="b"/>
            <a:pathLst>
              <a:path w="2612260" h="490998" extrusionOk="0">
                <a:moveTo>
                  <a:pt x="2409060" y="0"/>
                </a:moveTo>
                <a:cubicBezTo>
                  <a:pt x="2521284" y="0"/>
                  <a:pt x="2612260" y="109914"/>
                  <a:pt x="2612260" y="245499"/>
                </a:cubicBezTo>
                <a:cubicBezTo>
                  <a:pt x="2612260" y="381085"/>
                  <a:pt x="2521284" y="490998"/>
                  <a:pt x="2409060" y="490998"/>
                </a:cubicBezTo>
                <a:lnTo>
                  <a:pt x="203200" y="490998"/>
                </a:lnTo>
                <a:cubicBezTo>
                  <a:pt x="90976" y="490998"/>
                  <a:pt x="0" y="381085"/>
                  <a:pt x="0" y="245499"/>
                </a:cubicBezTo>
                <a:cubicBezTo>
                  <a:pt x="0" y="109914"/>
                  <a:pt x="90976" y="0"/>
                  <a:pt x="203200" y="0"/>
                </a:cubicBezTo>
                <a:close/>
              </a:path>
            </a:pathLst>
          </a:custGeom>
          <a:solidFill>
            <a:srgbClr val="B326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dirty="0">
                <a:solidFill>
                  <a:schemeClr val="dk1"/>
                </a:solidFill>
                <a:latin typeface="Calibri" panose="02000000000000000000" pitchFamily="2" charset="0"/>
                <a:ea typeface="Calibri" panose="02000000000000000000" pitchFamily="2" charset="0"/>
                <a:cs typeface="Calibri" panose="02000000000000000000" pitchFamily="2" charset="0"/>
                <a:sym typeface="Calibri"/>
              </a:rPr>
              <a:t>PAV</a:t>
            </a:r>
            <a:endParaRPr sz="1800" b="1" i="0" u="none" strike="noStrike" cap="none" dirty="0">
              <a:solidFill>
                <a:schemeClr val="dk1"/>
              </a:solidFill>
              <a:latin typeface="Calibri" panose="02000000000000000000" pitchFamily="2" charset="0"/>
              <a:ea typeface="Calibri" panose="02000000000000000000" pitchFamily="2" charset="0"/>
              <a:cs typeface="Calibri" panose="02000000000000000000" pitchFamily="2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8"/>
          <p:cNvSpPr txBox="1">
            <a:spLocks noGrp="1"/>
          </p:cNvSpPr>
          <p:nvPr>
            <p:ph type="title"/>
          </p:nvPr>
        </p:nvSpPr>
        <p:spPr>
          <a:xfrm>
            <a:off x="2224447" y="161925"/>
            <a:ext cx="87376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Perfis dos utilizadores</a:t>
            </a:r>
            <a:endParaRPr sz="3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7" name="Google Shape;357;p8"/>
          <p:cNvSpPr txBox="1">
            <a:spLocks noGrp="1"/>
          </p:cNvSpPr>
          <p:nvPr>
            <p:ph type="body" idx="1"/>
          </p:nvPr>
        </p:nvSpPr>
        <p:spPr>
          <a:xfrm>
            <a:off x="914400" y="1555750"/>
            <a:ext cx="10972800" cy="454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42891" lvl="0" indent="-215891" algn="l" rtl="0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</a:pPr>
            <a:endParaRPr sz="2000"/>
          </a:p>
        </p:txBody>
      </p:sp>
      <p:pic>
        <p:nvPicPr>
          <p:cNvPr id="358" name="Google Shape;35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304941" y="5656229"/>
            <a:ext cx="731460" cy="65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8"/>
          <p:cNvSpPr txBox="1"/>
          <p:nvPr/>
        </p:nvSpPr>
        <p:spPr>
          <a:xfrm>
            <a:off x="1059681" y="1420134"/>
            <a:ext cx="11762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PT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" name="Google Shape;36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88356" y="1552987"/>
            <a:ext cx="1848009" cy="1806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21423" y="3978912"/>
            <a:ext cx="2235200" cy="218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8"/>
          <p:cNvSpPr txBox="1"/>
          <p:nvPr/>
        </p:nvSpPr>
        <p:spPr>
          <a:xfrm>
            <a:off x="7921511" y="3429000"/>
            <a:ext cx="9553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PT"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Médico</a:t>
            </a:r>
            <a:endParaRPr/>
          </a:p>
        </p:txBody>
      </p:sp>
      <p:sp>
        <p:nvSpPr>
          <p:cNvPr id="363" name="Google Shape;363;p8"/>
          <p:cNvSpPr txBox="1"/>
          <p:nvPr/>
        </p:nvSpPr>
        <p:spPr>
          <a:xfrm>
            <a:off x="7670671" y="6258580"/>
            <a:ext cx="14001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PT" sz="1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Enfermeiro</a:t>
            </a:r>
            <a:endParaRPr dirty="0"/>
          </a:p>
        </p:txBody>
      </p:sp>
      <p:sp>
        <p:nvSpPr>
          <p:cNvPr id="364" name="Google Shape;364;p8"/>
          <p:cNvSpPr txBox="1"/>
          <p:nvPr/>
        </p:nvSpPr>
        <p:spPr>
          <a:xfrm>
            <a:off x="10034490" y="3418752"/>
            <a:ext cx="16444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PT" sz="1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Administrativo</a:t>
            </a:r>
            <a:endParaRPr dirty="0"/>
          </a:p>
        </p:txBody>
      </p:sp>
      <p:sp>
        <p:nvSpPr>
          <p:cNvPr id="365" name="Google Shape;365;p8"/>
          <p:cNvSpPr txBox="1"/>
          <p:nvPr/>
        </p:nvSpPr>
        <p:spPr>
          <a:xfrm>
            <a:off x="9988099" y="6258580"/>
            <a:ext cx="19086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PT" sz="1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Gestor de dados</a:t>
            </a:r>
            <a:endParaRPr dirty="0"/>
          </a:p>
        </p:txBody>
      </p:sp>
      <p:pic>
        <p:nvPicPr>
          <p:cNvPr id="366" name="Google Shape;366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74320" y="4184476"/>
            <a:ext cx="2235200" cy="22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61260" y="1481715"/>
            <a:ext cx="1839954" cy="1839954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8"/>
          <p:cNvSpPr txBox="1"/>
          <p:nvPr/>
        </p:nvSpPr>
        <p:spPr>
          <a:xfrm>
            <a:off x="382480" y="1552987"/>
            <a:ext cx="6919889" cy="466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PT" sz="2000" b="0" i="0" u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Diferentes profissionais podem ter diferentes níveis de acesso, dependendo das suas funções. </a:t>
            </a:r>
            <a:endParaRPr sz="2000" b="0" i="0" u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PT" sz="2000" b="0" i="0" u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Os perfis são atribuídos de acordo com a função:</a:t>
            </a:r>
            <a:endParaRPr sz="2000" dirty="0">
              <a:latin typeface="+mj-lt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pt-PT" sz="1800" b="0" i="0" u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Administradores</a:t>
            </a:r>
            <a:endParaRPr sz="1800" dirty="0">
              <a:latin typeface="+mj-lt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pt-PT" sz="1800" b="0" i="0" u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Gestor de dados </a:t>
            </a:r>
            <a:endParaRPr sz="1800" dirty="0">
              <a:latin typeface="+mj-lt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pt-PT" sz="1800" b="0" i="0" u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Médico</a:t>
            </a:r>
            <a:endParaRPr sz="1800" dirty="0">
              <a:latin typeface="+mj-lt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pt-PT" sz="1800" b="0" i="0" u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Enfermeiro</a:t>
            </a:r>
            <a:endParaRPr sz="1800" dirty="0">
              <a:latin typeface="+mj-lt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pt-PT" sz="1800" b="0" i="0" u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Especialista</a:t>
            </a:r>
            <a:endParaRPr sz="1800" dirty="0">
              <a:latin typeface="+mj-lt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pt-PT" sz="1800" b="0" i="0" u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Administrativo</a:t>
            </a:r>
            <a:endParaRPr sz="1800" dirty="0">
              <a:latin typeface="+mj-lt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pt-PT" sz="1800" b="0" i="0" u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Gestor de dados</a:t>
            </a:r>
            <a:endParaRPr sz="1800" dirty="0">
              <a:latin typeface="+mj-l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369" name="Google Shape;369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5400000">
            <a:off x="10942420" y="3468586"/>
            <a:ext cx="530600" cy="53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TextBox 370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5B6B73"/>
                </a:solidFill>
                <a:latin typeface="Calibri"/>
              </a:rPr>
              <a:t>LI Conselho Coordenador de Saúde · SIS-RME</a:t>
            </a:r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B3D483A0-FFAE-567E-E664-B6DED48B37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" y="6263640"/>
            <a:ext cx="384048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9"/>
          <p:cNvSpPr txBox="1">
            <a:spLocks noGrp="1"/>
          </p:cNvSpPr>
          <p:nvPr>
            <p:ph type="title"/>
          </p:nvPr>
        </p:nvSpPr>
        <p:spPr>
          <a:xfrm>
            <a:off x="2224447" y="161925"/>
            <a:ext cx="87376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Acesso ao sistema</a:t>
            </a:r>
            <a:endParaRPr sz="3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5" name="Google Shape;375;p9"/>
          <p:cNvSpPr txBox="1">
            <a:spLocks noGrp="1"/>
          </p:cNvSpPr>
          <p:nvPr>
            <p:ph type="body" idx="1"/>
          </p:nvPr>
        </p:nvSpPr>
        <p:spPr>
          <a:xfrm>
            <a:off x="914400" y="1555750"/>
            <a:ext cx="10972800" cy="454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42891" lvl="0" indent="-215891" algn="l" rtl="0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</a:pPr>
            <a:endParaRPr sz="2000"/>
          </a:p>
        </p:txBody>
      </p:sp>
      <p:sp>
        <p:nvSpPr>
          <p:cNvPr id="376" name="Google Shape;376;p9"/>
          <p:cNvSpPr txBox="1"/>
          <p:nvPr/>
        </p:nvSpPr>
        <p:spPr>
          <a:xfrm>
            <a:off x="304800" y="1555750"/>
            <a:ext cx="5775826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pt-PT" sz="2000" b="0" i="0" u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Cada profissional de saúde recebe um login e senha exclusivos, garantindo que apenas pessoal autorizado possa aceder aos dados do paciente a que está a atender.</a:t>
            </a:r>
            <a:endParaRPr sz="2000" dirty="0">
              <a:latin typeface="+mj-lt"/>
            </a:endParaRPr>
          </a:p>
          <a:p>
            <a:pPr marL="285750" marR="0" lvl="0" indent="-133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000" b="0" i="0" u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pt-PT" sz="2000" b="0" i="0" u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Acesso permitido apenas dentro das instalações da unidade de saúde.</a:t>
            </a:r>
            <a:endParaRPr sz="2000" dirty="0">
              <a:latin typeface="+mj-lt"/>
            </a:endParaRPr>
          </a:p>
          <a:p>
            <a:pPr marL="285750" marR="0" lvl="0" indent="-133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000" b="0" i="0" u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pt-PT" sz="2000" b="0" i="0" u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O sistema regista cada acesso ao processo clínico, incluindo quem acedeu, quando e quais informações foram visualizadas ou alteradas. Isso garante a rastreio e a responsabilidade.</a:t>
            </a:r>
            <a:endParaRPr sz="2000" b="0" i="0" u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10836021" y="2558554"/>
            <a:ext cx="1168400" cy="2360918"/>
          </a:xfrm>
          <a:custGeom>
            <a:avLst/>
            <a:gdLst/>
            <a:ahLst/>
            <a:cxnLst/>
            <a:rect l="l" t="t" r="r" b="b"/>
            <a:pathLst>
              <a:path w="1168400" h="2360918" extrusionOk="0">
                <a:moveTo>
                  <a:pt x="1168400" y="0"/>
                </a:moveTo>
                <a:lnTo>
                  <a:pt x="1168400" y="2360918"/>
                </a:lnTo>
                <a:lnTo>
                  <a:pt x="1060340" y="2355461"/>
                </a:lnTo>
                <a:cubicBezTo>
                  <a:pt x="464762" y="2294977"/>
                  <a:pt x="0" y="1791994"/>
                  <a:pt x="0" y="1180459"/>
                </a:cubicBezTo>
                <a:cubicBezTo>
                  <a:pt x="0" y="568924"/>
                  <a:pt x="464762" y="65941"/>
                  <a:pt x="1060340" y="5457"/>
                </a:cubicBezTo>
                <a:close/>
              </a:path>
            </a:pathLst>
          </a:custGeom>
          <a:solidFill>
            <a:srgbClr val="2129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8" name="Google Shape;37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10942420" y="3468586"/>
            <a:ext cx="530600" cy="53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9"/>
          <p:cNvSpPr txBox="1"/>
          <p:nvPr/>
        </p:nvSpPr>
        <p:spPr>
          <a:xfrm rot="-5400000">
            <a:off x="10593006" y="3508076"/>
            <a:ext cx="217650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3F7"/>
              </a:buClr>
              <a:buSzPts val="3600"/>
              <a:buFont typeface="Calibri"/>
              <a:buNone/>
            </a:pPr>
            <a:r>
              <a:rPr lang="pt-PT" sz="3600" b="1" i="0" u="none">
                <a:solidFill>
                  <a:srgbClr val="EAF3F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PT" sz="2800" b="1" i="0" u="none">
                <a:solidFill>
                  <a:srgbClr val="EAF3F7"/>
                </a:solidFill>
                <a:latin typeface="Calibri"/>
                <a:ea typeface="Calibri"/>
                <a:cs typeface="Calibri"/>
                <a:sym typeface="Calibri"/>
              </a:rPr>
              <a:t>Visão Geral</a:t>
            </a:r>
            <a:endParaRPr sz="2800" b="1" i="0" u="none">
              <a:solidFill>
                <a:srgbClr val="EAF3F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7831" y="1071859"/>
            <a:ext cx="4064209" cy="5321573"/>
          </a:xfrm>
          <a:prstGeom prst="roundRect">
            <a:avLst>
              <a:gd name="adj" fmla="val 3543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82" name="TextBox 381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5B6B73"/>
                </a:solidFill>
                <a:latin typeface="Calibri"/>
              </a:rPr>
              <a:t>LI Conselho Coordenador de Saúde · SIS-RME</a:t>
            </a:r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B4588A01-98BB-2E44-FC68-FD717AEB93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6263640"/>
            <a:ext cx="384048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0"/>
          <p:cNvSpPr txBox="1">
            <a:spLocks noGrp="1"/>
          </p:cNvSpPr>
          <p:nvPr>
            <p:ph type="title"/>
          </p:nvPr>
        </p:nvSpPr>
        <p:spPr>
          <a:xfrm>
            <a:off x="941788" y="76002"/>
            <a:ext cx="87376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Fluxo do paciente</a:t>
            </a:r>
            <a:endParaRPr sz="3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C33A125-334B-685C-1325-460364950250}"/>
              </a:ext>
            </a:extLst>
          </p:cNvPr>
          <p:cNvGrpSpPr/>
          <p:nvPr/>
        </p:nvGrpSpPr>
        <p:grpSpPr>
          <a:xfrm>
            <a:off x="873198" y="1362075"/>
            <a:ext cx="11231716" cy="4881971"/>
            <a:chOff x="1068750" y="1394475"/>
            <a:chExt cx="10567525" cy="4118948"/>
          </a:xfrm>
        </p:grpSpPr>
        <p:sp>
          <p:nvSpPr>
            <p:cNvPr id="3" name="Google Shape;566;g3865cc56d4a_1_622">
              <a:extLst>
                <a:ext uri="{FF2B5EF4-FFF2-40B4-BE49-F238E27FC236}">
                  <a16:creationId xmlns:a16="http://schemas.microsoft.com/office/drawing/2014/main" id="{1C606482-E57E-CB61-FE6A-85FBE7AF07E1}"/>
                </a:ext>
              </a:extLst>
            </p:cNvPr>
            <p:cNvSpPr txBox="1"/>
            <p:nvPr/>
          </p:nvSpPr>
          <p:spPr>
            <a:xfrm>
              <a:off x="2046419" y="5257523"/>
              <a:ext cx="10272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3375" tIns="31675" rIns="63375" bIns="316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198083" marR="0" lvl="0" indent="-1188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48"/>
                <a:buFont typeface="Noto Sans Symbols"/>
                <a:buNone/>
              </a:pPr>
              <a:endParaRPr sz="1247" b="0" i="0" u="none" strike="noStrike" cap="non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567;g3865cc56d4a_1_622">
              <a:extLst>
                <a:ext uri="{FF2B5EF4-FFF2-40B4-BE49-F238E27FC236}">
                  <a16:creationId xmlns:a16="http://schemas.microsoft.com/office/drawing/2014/main" id="{FD55728E-0047-AAFF-56FE-DCDF08B999D7}"/>
                </a:ext>
              </a:extLst>
            </p:cNvPr>
            <p:cNvSpPr txBox="1"/>
            <p:nvPr/>
          </p:nvSpPr>
          <p:spPr>
            <a:xfrm>
              <a:off x="8159949" y="5068419"/>
              <a:ext cx="16518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3375" tIns="31675" rIns="63375" bIns="316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48"/>
                <a:buFont typeface="Calibri"/>
                <a:buNone/>
              </a:pPr>
              <a:r>
                <a:rPr lang="en-US" sz="1247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247" b="0" i="0" u="none" strike="noStrike" cap="non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568;g3865cc56d4a_1_622">
              <a:extLst>
                <a:ext uri="{FF2B5EF4-FFF2-40B4-BE49-F238E27FC236}">
                  <a16:creationId xmlns:a16="http://schemas.microsoft.com/office/drawing/2014/main" id="{13675783-EF25-B17E-F0C6-EE6DC16480B9}"/>
                </a:ext>
              </a:extLst>
            </p:cNvPr>
            <p:cNvSpPr/>
            <p:nvPr/>
          </p:nvSpPr>
          <p:spPr>
            <a:xfrm>
              <a:off x="1068750" y="1425450"/>
              <a:ext cx="1950000" cy="1151400"/>
            </a:xfrm>
            <a:prstGeom prst="roundRect">
              <a:avLst>
                <a:gd name="adj" fmla="val 16667"/>
              </a:avLst>
            </a:prstGeom>
            <a:solidFill>
              <a:srgbClr val="EAF3F7"/>
            </a:solidFill>
            <a:ln w="8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2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" name="Google Shape;569;g3865cc56d4a_1_622">
              <a:extLst>
                <a:ext uri="{FF2B5EF4-FFF2-40B4-BE49-F238E27FC236}">
                  <a16:creationId xmlns:a16="http://schemas.microsoft.com/office/drawing/2014/main" id="{51F65FE0-F357-673D-935F-3E0980AE6B77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98575" y="1573775"/>
              <a:ext cx="690350" cy="690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570;g3865cc56d4a_1_622">
              <a:extLst>
                <a:ext uri="{FF2B5EF4-FFF2-40B4-BE49-F238E27FC236}">
                  <a16:creationId xmlns:a16="http://schemas.microsoft.com/office/drawing/2014/main" id="{B709CA42-33C7-9034-5F73-A6EFAEB9DBF7}"/>
                </a:ext>
              </a:extLst>
            </p:cNvPr>
            <p:cNvSpPr txBox="1"/>
            <p:nvPr/>
          </p:nvSpPr>
          <p:spPr>
            <a:xfrm>
              <a:off x="1170898" y="2170145"/>
              <a:ext cx="1500300" cy="3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dirty="0" err="1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Aceitação</a:t>
              </a:r>
              <a:endParaRPr sz="1100" b="1" dirty="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571;g3865cc56d4a_1_622">
              <a:extLst>
                <a:ext uri="{FF2B5EF4-FFF2-40B4-BE49-F238E27FC236}">
                  <a16:creationId xmlns:a16="http://schemas.microsoft.com/office/drawing/2014/main" id="{FF469053-6C17-BC18-DDD3-6FF1C668C5BE}"/>
                </a:ext>
              </a:extLst>
            </p:cNvPr>
            <p:cNvSpPr/>
            <p:nvPr/>
          </p:nvSpPr>
          <p:spPr>
            <a:xfrm>
              <a:off x="3841850" y="1434075"/>
              <a:ext cx="1950000" cy="1151400"/>
            </a:xfrm>
            <a:prstGeom prst="roundRect">
              <a:avLst>
                <a:gd name="adj" fmla="val 16667"/>
              </a:avLst>
            </a:prstGeom>
            <a:solidFill>
              <a:srgbClr val="EAF3F7"/>
            </a:solidFill>
            <a:ln w="8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050" tIns="85050" rIns="85050" bIns="8505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2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572;g3865cc56d4a_1_622">
              <a:extLst>
                <a:ext uri="{FF2B5EF4-FFF2-40B4-BE49-F238E27FC236}">
                  <a16:creationId xmlns:a16="http://schemas.microsoft.com/office/drawing/2014/main" id="{7BE11486-591E-01AC-4ED4-8D1AC03E0681}"/>
                </a:ext>
              </a:extLst>
            </p:cNvPr>
            <p:cNvSpPr txBox="1"/>
            <p:nvPr/>
          </p:nvSpPr>
          <p:spPr>
            <a:xfrm>
              <a:off x="4202825" y="2158198"/>
              <a:ext cx="13956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050" tIns="85050" rIns="85050" bIns="8505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16" b="1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Triagem/Consulta</a:t>
              </a:r>
              <a:endParaRPr sz="1116" b="1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" name="Google Shape;573;g3865cc56d4a_1_622">
              <a:extLst>
                <a:ext uri="{FF2B5EF4-FFF2-40B4-BE49-F238E27FC236}">
                  <a16:creationId xmlns:a16="http://schemas.microsoft.com/office/drawing/2014/main" id="{A551F324-857F-A4B8-9CBB-3B3C15996E24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57489" y="1575820"/>
              <a:ext cx="686244" cy="6862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574;g3865cc56d4a_1_622">
              <a:extLst>
                <a:ext uri="{FF2B5EF4-FFF2-40B4-BE49-F238E27FC236}">
                  <a16:creationId xmlns:a16="http://schemas.microsoft.com/office/drawing/2014/main" id="{85B6B1F4-28F0-D50D-9385-85F01770A3A8}"/>
                </a:ext>
              </a:extLst>
            </p:cNvPr>
            <p:cNvSpPr/>
            <p:nvPr/>
          </p:nvSpPr>
          <p:spPr>
            <a:xfrm>
              <a:off x="6662750" y="1445025"/>
              <a:ext cx="1884900" cy="1095300"/>
            </a:xfrm>
            <a:prstGeom prst="roundRect">
              <a:avLst>
                <a:gd name="adj" fmla="val 16667"/>
              </a:avLst>
            </a:prstGeom>
            <a:solidFill>
              <a:srgbClr val="EAF3F7"/>
            </a:solidFill>
            <a:ln w="8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050" tIns="85050" rIns="85050" bIns="8505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2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575;g3865cc56d4a_1_622">
              <a:extLst>
                <a:ext uri="{FF2B5EF4-FFF2-40B4-BE49-F238E27FC236}">
                  <a16:creationId xmlns:a16="http://schemas.microsoft.com/office/drawing/2014/main" id="{3DD11D43-2E14-CFCC-571B-4CAF2E1C9D65}"/>
                </a:ext>
              </a:extLst>
            </p:cNvPr>
            <p:cNvSpPr txBox="1"/>
            <p:nvPr/>
          </p:nvSpPr>
          <p:spPr>
            <a:xfrm>
              <a:off x="6720000" y="2076525"/>
              <a:ext cx="1728000" cy="2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050" tIns="85050" rIns="85050" bIns="8505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16" b="1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Sala de Observação</a:t>
              </a:r>
              <a:endParaRPr sz="1116" b="1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576;g3865cc56d4a_1_622">
              <a:extLst>
                <a:ext uri="{FF2B5EF4-FFF2-40B4-BE49-F238E27FC236}">
                  <a16:creationId xmlns:a16="http://schemas.microsoft.com/office/drawing/2014/main" id="{0C6D6965-7A0A-0317-5A57-D8AF8C7CF0FA}"/>
                </a:ext>
              </a:extLst>
            </p:cNvPr>
            <p:cNvSpPr/>
            <p:nvPr/>
          </p:nvSpPr>
          <p:spPr>
            <a:xfrm>
              <a:off x="2056225" y="4024450"/>
              <a:ext cx="1950000" cy="1095300"/>
            </a:xfrm>
            <a:prstGeom prst="roundRect">
              <a:avLst>
                <a:gd name="adj" fmla="val 16667"/>
              </a:avLst>
            </a:prstGeom>
            <a:solidFill>
              <a:srgbClr val="EAF3F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577;g3865cc56d4a_1_622">
              <a:extLst>
                <a:ext uri="{FF2B5EF4-FFF2-40B4-BE49-F238E27FC236}">
                  <a16:creationId xmlns:a16="http://schemas.microsoft.com/office/drawing/2014/main" id="{0A6AEB9E-3246-935F-1D0D-D76161F8F405}"/>
                </a:ext>
              </a:extLst>
            </p:cNvPr>
            <p:cNvSpPr txBox="1"/>
            <p:nvPr/>
          </p:nvSpPr>
          <p:spPr>
            <a:xfrm>
              <a:off x="2270100" y="4688238"/>
              <a:ext cx="1500300" cy="3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Farmácia</a:t>
              </a:r>
              <a:endParaRPr sz="1200" b="1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" name="Google Shape;578;g3865cc56d4a_1_622">
              <a:extLst>
                <a:ext uri="{FF2B5EF4-FFF2-40B4-BE49-F238E27FC236}">
                  <a16:creationId xmlns:a16="http://schemas.microsoft.com/office/drawing/2014/main" id="{FC9BD436-A3A3-A62B-EF26-94076E00619D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747804" y="4184650"/>
              <a:ext cx="544919" cy="544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579;g3865cc56d4a_1_622">
              <a:extLst>
                <a:ext uri="{FF2B5EF4-FFF2-40B4-BE49-F238E27FC236}">
                  <a16:creationId xmlns:a16="http://schemas.microsoft.com/office/drawing/2014/main" id="{370EF143-8A23-68E8-D842-482FADF001DE}"/>
                </a:ext>
              </a:extLst>
            </p:cNvPr>
            <p:cNvSpPr/>
            <p:nvPr/>
          </p:nvSpPr>
          <p:spPr>
            <a:xfrm>
              <a:off x="8547638" y="4047175"/>
              <a:ext cx="1825200" cy="1095300"/>
            </a:xfrm>
            <a:prstGeom prst="roundRect">
              <a:avLst>
                <a:gd name="adj" fmla="val 16667"/>
              </a:avLst>
            </a:prstGeom>
            <a:solidFill>
              <a:srgbClr val="EAF3F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580;g3865cc56d4a_1_622">
              <a:extLst>
                <a:ext uri="{FF2B5EF4-FFF2-40B4-BE49-F238E27FC236}">
                  <a16:creationId xmlns:a16="http://schemas.microsoft.com/office/drawing/2014/main" id="{B03BB339-7A4D-58C8-0929-94FB4E445182}"/>
                </a:ext>
              </a:extLst>
            </p:cNvPr>
            <p:cNvSpPr txBox="1"/>
            <p:nvPr/>
          </p:nvSpPr>
          <p:spPr>
            <a:xfrm>
              <a:off x="8739650" y="4688238"/>
              <a:ext cx="1500300" cy="3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Imagiologia</a:t>
              </a:r>
              <a:endParaRPr sz="1200" b="1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" name="Google Shape;581;g3865cc56d4a_1_622">
              <a:extLst>
                <a:ext uri="{FF2B5EF4-FFF2-40B4-BE49-F238E27FC236}">
                  <a16:creationId xmlns:a16="http://schemas.microsoft.com/office/drawing/2014/main" id="{73826835-ADE3-AA2D-B6E1-A663CA318230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202275" y="4216813"/>
              <a:ext cx="544925" cy="5449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582;g3865cc56d4a_1_622">
              <a:extLst>
                <a:ext uri="{FF2B5EF4-FFF2-40B4-BE49-F238E27FC236}">
                  <a16:creationId xmlns:a16="http://schemas.microsoft.com/office/drawing/2014/main" id="{A1DD98FF-34EB-82BA-101D-C24F4B4E3B38}"/>
                </a:ext>
              </a:extLst>
            </p:cNvPr>
            <p:cNvCxnSpPr/>
            <p:nvPr/>
          </p:nvCxnSpPr>
          <p:spPr>
            <a:xfrm>
              <a:off x="1179475" y="3278675"/>
              <a:ext cx="10456800" cy="357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583;g3865cc56d4a_1_622">
              <a:extLst>
                <a:ext uri="{FF2B5EF4-FFF2-40B4-BE49-F238E27FC236}">
                  <a16:creationId xmlns:a16="http://schemas.microsoft.com/office/drawing/2014/main" id="{5C8F94F9-FCB2-2434-9755-B820531430AC}"/>
                </a:ext>
              </a:extLst>
            </p:cNvPr>
            <p:cNvCxnSpPr/>
            <p:nvPr/>
          </p:nvCxnSpPr>
          <p:spPr>
            <a:xfrm flipH="1">
              <a:off x="4742325" y="2611788"/>
              <a:ext cx="9600" cy="675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stealth" w="med" len="med"/>
              <a:tailEnd type="triangle" w="med" len="med"/>
            </a:ln>
          </p:spPr>
        </p:cxnSp>
        <p:cxnSp>
          <p:nvCxnSpPr>
            <p:cNvPr id="21" name="Google Shape;584;g3865cc56d4a_1_622">
              <a:extLst>
                <a:ext uri="{FF2B5EF4-FFF2-40B4-BE49-F238E27FC236}">
                  <a16:creationId xmlns:a16="http://schemas.microsoft.com/office/drawing/2014/main" id="{231E0BE9-E54D-D283-CE09-D91F9F8E0054}"/>
                </a:ext>
              </a:extLst>
            </p:cNvPr>
            <p:cNvCxnSpPr>
              <a:stCxn id="11" idx="2"/>
            </p:cNvCxnSpPr>
            <p:nvPr/>
          </p:nvCxnSpPr>
          <p:spPr>
            <a:xfrm flipH="1">
              <a:off x="7599800" y="2540325"/>
              <a:ext cx="5400" cy="738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stealth" w="med" len="med"/>
              <a:tailEnd type="triangle" w="med" len="med"/>
            </a:ln>
          </p:spPr>
        </p:cxnSp>
        <p:cxnSp>
          <p:nvCxnSpPr>
            <p:cNvPr id="22" name="Google Shape;585;g3865cc56d4a_1_622">
              <a:extLst>
                <a:ext uri="{FF2B5EF4-FFF2-40B4-BE49-F238E27FC236}">
                  <a16:creationId xmlns:a16="http://schemas.microsoft.com/office/drawing/2014/main" id="{6FAEC5CD-68DD-7B8D-CEDE-C53E71BC10EE}"/>
                </a:ext>
              </a:extLst>
            </p:cNvPr>
            <p:cNvCxnSpPr>
              <a:endCxn id="13" idx="0"/>
            </p:cNvCxnSpPr>
            <p:nvPr/>
          </p:nvCxnSpPr>
          <p:spPr>
            <a:xfrm>
              <a:off x="3025225" y="3359050"/>
              <a:ext cx="6000" cy="665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stealth" w="med" len="med"/>
              <a:tailEnd type="triangle" w="med" len="med"/>
            </a:ln>
          </p:spPr>
        </p:cxnSp>
        <p:cxnSp>
          <p:nvCxnSpPr>
            <p:cNvPr id="23" name="Google Shape;586;g3865cc56d4a_1_622">
              <a:extLst>
                <a:ext uri="{FF2B5EF4-FFF2-40B4-BE49-F238E27FC236}">
                  <a16:creationId xmlns:a16="http://schemas.microsoft.com/office/drawing/2014/main" id="{B3731B37-272E-2174-68EE-1F856A19B37E}"/>
                </a:ext>
              </a:extLst>
            </p:cNvPr>
            <p:cNvCxnSpPr/>
            <p:nvPr/>
          </p:nvCxnSpPr>
          <p:spPr>
            <a:xfrm flipH="1">
              <a:off x="6493650" y="3308013"/>
              <a:ext cx="9000" cy="747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stealth" w="med" len="med"/>
              <a:tailEnd type="triangle" w="med" len="med"/>
            </a:ln>
          </p:spPr>
        </p:cxnSp>
        <p:sp>
          <p:nvSpPr>
            <p:cNvPr id="24" name="Google Shape;587;g3865cc56d4a_1_622">
              <a:extLst>
                <a:ext uri="{FF2B5EF4-FFF2-40B4-BE49-F238E27FC236}">
                  <a16:creationId xmlns:a16="http://schemas.microsoft.com/office/drawing/2014/main" id="{A1A8DC05-07DF-6F58-878E-CA173B301A7F}"/>
                </a:ext>
              </a:extLst>
            </p:cNvPr>
            <p:cNvSpPr/>
            <p:nvPr/>
          </p:nvSpPr>
          <p:spPr>
            <a:xfrm>
              <a:off x="9555275" y="1394475"/>
              <a:ext cx="1884900" cy="1151400"/>
            </a:xfrm>
            <a:prstGeom prst="roundRect">
              <a:avLst>
                <a:gd name="adj" fmla="val 16667"/>
              </a:avLst>
            </a:prstGeom>
            <a:solidFill>
              <a:srgbClr val="EAF3F7"/>
            </a:solidFill>
            <a:ln w="81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8000" tIns="78000" rIns="78000" bIns="780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94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" name="Google Shape;588;g3865cc56d4a_1_622">
              <a:extLst>
                <a:ext uri="{FF2B5EF4-FFF2-40B4-BE49-F238E27FC236}">
                  <a16:creationId xmlns:a16="http://schemas.microsoft.com/office/drawing/2014/main" id="{6BEB3650-9023-FFE8-8AC4-927C465BF90F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248" y="1573770"/>
              <a:ext cx="690360" cy="690360"/>
            </a:xfrm>
            <a:prstGeom prst="rect">
              <a:avLst/>
            </a:prstGeom>
            <a:solidFill>
              <a:srgbClr val="EAF3F7"/>
            </a:solidFill>
            <a:ln>
              <a:noFill/>
            </a:ln>
          </p:spPr>
        </p:pic>
        <p:sp>
          <p:nvSpPr>
            <p:cNvPr id="26" name="Google Shape;589;g3865cc56d4a_1_622">
              <a:extLst>
                <a:ext uri="{FF2B5EF4-FFF2-40B4-BE49-F238E27FC236}">
                  <a16:creationId xmlns:a16="http://schemas.microsoft.com/office/drawing/2014/main" id="{CFF84FCE-37D9-3B7E-C16C-A5523BABD5F7}"/>
                </a:ext>
              </a:extLst>
            </p:cNvPr>
            <p:cNvSpPr txBox="1"/>
            <p:nvPr/>
          </p:nvSpPr>
          <p:spPr>
            <a:xfrm>
              <a:off x="10061124" y="2158194"/>
              <a:ext cx="11907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2575" tIns="72575" rIns="72575" bIns="7257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2" b="1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Enfermaria</a:t>
              </a:r>
              <a:endParaRPr sz="1152" b="1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" name="Google Shape;590;g3865cc56d4a_1_622">
              <a:extLst>
                <a:ext uri="{FF2B5EF4-FFF2-40B4-BE49-F238E27FC236}">
                  <a16:creationId xmlns:a16="http://schemas.microsoft.com/office/drawing/2014/main" id="{11BDA67B-633E-B313-D6F4-A22AE3BDF8E0}"/>
                </a:ext>
              </a:extLst>
            </p:cNvPr>
            <p:cNvCxnSpPr>
              <a:stCxn id="24" idx="2"/>
            </p:cNvCxnSpPr>
            <p:nvPr/>
          </p:nvCxnSpPr>
          <p:spPr>
            <a:xfrm>
              <a:off x="10497725" y="2545875"/>
              <a:ext cx="13200" cy="732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stealth" w="med" len="med"/>
              <a:tailEnd type="triangle" w="med" len="med"/>
            </a:ln>
          </p:spPr>
        </p:cxnSp>
        <p:sp>
          <p:nvSpPr>
            <p:cNvPr id="28" name="Google Shape;591;g3865cc56d4a_1_622">
              <a:extLst>
                <a:ext uri="{FF2B5EF4-FFF2-40B4-BE49-F238E27FC236}">
                  <a16:creationId xmlns:a16="http://schemas.microsoft.com/office/drawing/2014/main" id="{D2C8F4A8-F872-CDC0-A0A6-257C8450CE32}"/>
                </a:ext>
              </a:extLst>
            </p:cNvPr>
            <p:cNvSpPr txBox="1"/>
            <p:nvPr/>
          </p:nvSpPr>
          <p:spPr>
            <a:xfrm>
              <a:off x="5167999" y="5071194"/>
              <a:ext cx="16518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3375" tIns="31675" rIns="63375" bIns="316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48"/>
                <a:buFont typeface="Calibri"/>
                <a:buNone/>
              </a:pPr>
              <a:r>
                <a:rPr lang="en-US" sz="1247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247" b="0" i="0" u="none" strike="noStrike" cap="non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592;g3865cc56d4a_1_622">
              <a:extLst>
                <a:ext uri="{FF2B5EF4-FFF2-40B4-BE49-F238E27FC236}">
                  <a16:creationId xmlns:a16="http://schemas.microsoft.com/office/drawing/2014/main" id="{D6D67B78-B703-DEFF-C3BA-805467AC37B5}"/>
                </a:ext>
              </a:extLst>
            </p:cNvPr>
            <p:cNvSpPr/>
            <p:nvPr/>
          </p:nvSpPr>
          <p:spPr>
            <a:xfrm>
              <a:off x="5555700" y="4049950"/>
              <a:ext cx="1884900" cy="1069800"/>
            </a:xfrm>
            <a:prstGeom prst="roundRect">
              <a:avLst>
                <a:gd name="adj" fmla="val 16667"/>
              </a:avLst>
            </a:prstGeom>
            <a:solidFill>
              <a:srgbClr val="EAF3F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593;g3865cc56d4a_1_622">
              <a:extLst>
                <a:ext uri="{FF2B5EF4-FFF2-40B4-BE49-F238E27FC236}">
                  <a16:creationId xmlns:a16="http://schemas.microsoft.com/office/drawing/2014/main" id="{D884C18C-3E5D-00B0-BF65-EC2ED2E9AC96}"/>
                </a:ext>
              </a:extLst>
            </p:cNvPr>
            <p:cNvSpPr txBox="1"/>
            <p:nvPr/>
          </p:nvSpPr>
          <p:spPr>
            <a:xfrm>
              <a:off x="5747700" y="4691013"/>
              <a:ext cx="1500300" cy="3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defRPr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Laboratório</a:t>
              </a:r>
              <a:endParaRPr sz="1200" b="1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" name="Google Shape;594;g3865cc56d4a_1_622">
              <a:extLst>
                <a:ext uri="{FF2B5EF4-FFF2-40B4-BE49-F238E27FC236}">
                  <a16:creationId xmlns:a16="http://schemas.microsoft.com/office/drawing/2014/main" id="{F6CEC03B-2AF2-340C-6612-97017B4EF59E}"/>
                </a:ext>
              </a:extLst>
            </p:cNvPr>
            <p:cNvCxnSpPr/>
            <p:nvPr/>
          </p:nvCxnSpPr>
          <p:spPr>
            <a:xfrm flipH="1">
              <a:off x="9387475" y="3308013"/>
              <a:ext cx="9000" cy="747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stealth" w="med" len="med"/>
              <a:tailEnd type="triangle" w="med" len="med"/>
            </a:ln>
          </p:spPr>
        </p:cxnSp>
        <p:pic>
          <p:nvPicPr>
            <p:cNvPr id="32" name="Google Shape;595;g3865cc56d4a_1_622">
              <a:extLst>
                <a:ext uri="{FF2B5EF4-FFF2-40B4-BE49-F238E27FC236}">
                  <a16:creationId xmlns:a16="http://schemas.microsoft.com/office/drawing/2014/main" id="{0B6B654B-8E4F-2B55-BE16-D6B74D15E66F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276300" y="4267437"/>
              <a:ext cx="443700" cy="443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3" name="Google Shape;596;g3865cc56d4a_1_622">
              <a:extLst>
                <a:ext uri="{FF2B5EF4-FFF2-40B4-BE49-F238E27FC236}">
                  <a16:creationId xmlns:a16="http://schemas.microsoft.com/office/drawing/2014/main" id="{4C3E266D-33A2-9780-3415-46DE00E88676}"/>
                </a:ext>
              </a:extLst>
            </p:cNvPr>
            <p:cNvCxnSpPr>
              <a:stCxn id="5" idx="3"/>
              <a:endCxn id="8" idx="1"/>
            </p:cNvCxnSpPr>
            <p:nvPr/>
          </p:nvCxnSpPr>
          <p:spPr>
            <a:xfrm>
              <a:off x="3018750" y="2001150"/>
              <a:ext cx="823200" cy="8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34" name="Google Shape;597;g3865cc56d4a_1_622">
              <a:extLst>
                <a:ext uri="{FF2B5EF4-FFF2-40B4-BE49-F238E27FC236}">
                  <a16:creationId xmlns:a16="http://schemas.microsoft.com/office/drawing/2014/main" id="{8BD091F5-C4A0-A1BB-6875-8D1E151010BE}"/>
                </a:ext>
              </a:extLst>
            </p:cNvPr>
            <p:cNvCxnSpPr>
              <a:stCxn id="8" idx="3"/>
              <a:endCxn id="11" idx="1"/>
            </p:cNvCxnSpPr>
            <p:nvPr/>
          </p:nvCxnSpPr>
          <p:spPr>
            <a:xfrm rot="10800000" flipH="1">
              <a:off x="5791850" y="1992675"/>
              <a:ext cx="870900" cy="17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35" name="Google Shape;598;g3865cc56d4a_1_622">
              <a:extLst>
                <a:ext uri="{FF2B5EF4-FFF2-40B4-BE49-F238E27FC236}">
                  <a16:creationId xmlns:a16="http://schemas.microsoft.com/office/drawing/2014/main" id="{64C67F10-6EE6-59B8-1946-9EBA79F474E6}"/>
                </a:ext>
              </a:extLst>
            </p:cNvPr>
            <p:cNvCxnSpPr/>
            <p:nvPr/>
          </p:nvCxnSpPr>
          <p:spPr>
            <a:xfrm rot="10800000" flipH="1">
              <a:off x="8579863" y="2032888"/>
              <a:ext cx="1007700" cy="22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triangle" w="med" len="med"/>
              <a:tailEnd type="triangle" w="med" len="med"/>
            </a:ln>
          </p:spPr>
        </p:cxnSp>
        <p:pic>
          <p:nvPicPr>
            <p:cNvPr id="36" name="Google Shape;599;g3865cc56d4a_1_622">
              <a:extLst>
                <a:ext uri="{FF2B5EF4-FFF2-40B4-BE49-F238E27FC236}">
                  <a16:creationId xmlns:a16="http://schemas.microsoft.com/office/drawing/2014/main" id="{8DA304A1-CB99-CD60-0CC6-2AFAAF112638}"/>
                </a:ext>
              </a:extLst>
            </p:cNvPr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380650" y="1531600"/>
              <a:ext cx="544925" cy="544925"/>
            </a:xfrm>
            <a:prstGeom prst="rect">
              <a:avLst/>
            </a:prstGeom>
            <a:solidFill>
              <a:srgbClr val="EAF3F7"/>
            </a:solidFill>
            <a:ln>
              <a:noFill/>
            </a:ln>
          </p:spPr>
        </p:pic>
      </p:grpSp>
      <p:sp>
        <p:nvSpPr>
          <p:cNvPr id="387" name="TextBox 386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5B6B73"/>
                </a:solidFill>
                <a:latin typeface="Calibri"/>
              </a:rPr>
              <a:t>LI Conselho Coordenador de Saúde · SIS-RME</a:t>
            </a:r>
          </a:p>
        </p:txBody>
      </p:sp>
      <p:pic>
        <p:nvPicPr>
          <p:cNvPr id="38" name="Picture 37" descr="image.png">
            <a:extLst>
              <a:ext uri="{FF2B5EF4-FFF2-40B4-BE49-F238E27FC236}">
                <a16:creationId xmlns:a16="http://schemas.microsoft.com/office/drawing/2014/main" id="{F7A359AB-5EA5-72A7-ACE5-F9B665877E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0" y="6263640"/>
            <a:ext cx="384048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1"/>
          <p:cNvSpPr txBox="1">
            <a:spLocks noGrp="1"/>
          </p:cNvSpPr>
          <p:nvPr>
            <p:ph type="sldNum" idx="12"/>
          </p:nvPr>
        </p:nvSpPr>
        <p:spPr>
          <a:xfrm>
            <a:off x="92329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pt-PT"/>
              <a:t>10</a:t>
            </a:fld>
            <a:endParaRPr/>
          </a:p>
        </p:txBody>
      </p:sp>
      <p:sp>
        <p:nvSpPr>
          <p:cNvPr id="436" name="Google Shape;436;p11"/>
          <p:cNvSpPr txBox="1">
            <a:spLocks noGrp="1"/>
          </p:cNvSpPr>
          <p:nvPr>
            <p:ph type="body" idx="1"/>
          </p:nvPr>
        </p:nvSpPr>
        <p:spPr>
          <a:xfrm>
            <a:off x="411223" y="1327355"/>
            <a:ext cx="6859307" cy="4716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91" lvl="0" indent="-228591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endParaRPr sz="2000" b="1" dirty="0">
              <a:solidFill>
                <a:srgbClr val="000000"/>
              </a:solidFill>
              <a:latin typeface="+mj-lt"/>
              <a:ea typeface="Quattrocento Sans"/>
              <a:cs typeface="Quattrocento Sans"/>
              <a:sym typeface="Quattrocento Sans"/>
            </a:endParaRPr>
          </a:p>
          <a:p>
            <a:pPr marL="342891" lvl="0" indent="-342891" algn="just" rtl="0">
              <a:spcBef>
                <a:spcPts val="96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pt-PT" sz="1800" b="1" dirty="0" err="1">
                <a:latin typeface="+mj-lt"/>
              </a:rPr>
              <a:t>Master</a:t>
            </a:r>
            <a:r>
              <a:rPr lang="pt-PT" sz="1800" b="1" dirty="0">
                <a:latin typeface="+mj-lt"/>
              </a:rPr>
              <a:t> </a:t>
            </a:r>
            <a:r>
              <a:rPr lang="pt-PT" sz="1800" b="1" dirty="0" err="1">
                <a:latin typeface="+mj-lt"/>
              </a:rPr>
              <a:t>Patient</a:t>
            </a:r>
            <a:r>
              <a:rPr lang="pt-PT" sz="1800" b="1" dirty="0">
                <a:latin typeface="+mj-lt"/>
              </a:rPr>
              <a:t> Index (MPI)</a:t>
            </a:r>
            <a:r>
              <a:rPr lang="pt-PT" sz="1800" dirty="0">
                <a:latin typeface="+mj-lt"/>
              </a:rPr>
              <a:t>, é um banco de dados abrangente que contém informações de identificação de cada paciente registado em um sistema de saúde (como um hospital, clínica ou rede de saúde). </a:t>
            </a:r>
            <a:endParaRPr sz="1800" dirty="0">
              <a:latin typeface="+mj-lt"/>
            </a:endParaRPr>
          </a:p>
          <a:p>
            <a:pPr marL="342891" lvl="0" indent="-228591" algn="l" rtl="0"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None/>
            </a:pPr>
            <a:endParaRPr sz="1800" dirty="0">
              <a:latin typeface="+mj-lt"/>
            </a:endParaRPr>
          </a:p>
          <a:p>
            <a:pPr marL="342891" lvl="0" indent="-342891" algn="just" rtl="0"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pt-PT" sz="1800" dirty="0">
                <a:latin typeface="+mj-lt"/>
              </a:rPr>
              <a:t>Seu principal objetivo é garantir a </a:t>
            </a:r>
            <a:r>
              <a:rPr lang="pt-PT" sz="1800" b="1" dirty="0">
                <a:latin typeface="+mj-lt"/>
              </a:rPr>
              <a:t>identificação única e precisa</a:t>
            </a:r>
            <a:r>
              <a:rPr lang="pt-PT" sz="1800" dirty="0">
                <a:latin typeface="+mj-lt"/>
              </a:rPr>
              <a:t> de cada paciente, independentemente do número de vezes que ele utilize os serviços ou das diferentes unidades em que seja atendido.</a:t>
            </a:r>
            <a:endParaRPr sz="1800" dirty="0">
              <a:latin typeface="+mj-lt"/>
            </a:endParaRPr>
          </a:p>
          <a:p>
            <a:pPr marL="342891" lvl="0" indent="-228591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Calibri"/>
              <a:buNone/>
            </a:pPr>
            <a:endParaRPr sz="2000" b="1" dirty="0">
              <a:solidFill>
                <a:srgbClr val="000000"/>
              </a:solidFill>
              <a:latin typeface="+mj-lt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1160"/>
              </a:spcBef>
              <a:spcAft>
                <a:spcPts val="0"/>
              </a:spcAft>
              <a:buSzPts val="2800"/>
              <a:buFont typeface="Calibri"/>
              <a:buNone/>
            </a:pPr>
            <a:endParaRPr sz="2000" dirty="0">
              <a:latin typeface="+mj-lt"/>
            </a:endParaRPr>
          </a:p>
        </p:txBody>
      </p:sp>
      <p:pic>
        <p:nvPicPr>
          <p:cNvPr id="437" name="Google Shape;437;p11" descr="ensure-enterprise-master-patient-index-efficiency-with-RightPatien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86446" y="1449117"/>
            <a:ext cx="4594331" cy="4594331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1"/>
          <p:cNvSpPr txBox="1">
            <a:spLocks noGrp="1"/>
          </p:cNvSpPr>
          <p:nvPr>
            <p:ph type="title"/>
          </p:nvPr>
        </p:nvSpPr>
        <p:spPr>
          <a:xfrm>
            <a:off x="2224447" y="161925"/>
            <a:ext cx="87376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rgbClr val="2129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Número Único do Utente</a:t>
            </a:r>
            <a:endParaRPr dirty="0">
              <a:solidFill>
                <a:srgbClr val="21295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" name="TextBox 439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5B6B73"/>
                </a:solidFill>
                <a:latin typeface="Calibri"/>
              </a:rPr>
              <a:t>LI Conselho Coordenador de Saúde · SIS-RME</a:t>
            </a:r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6851C59A-82D4-3F1C-31C8-3F31B8789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6263640"/>
            <a:ext cx="384048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9D62A-10BE-F8C9-8492-4451858C9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466" y="169889"/>
            <a:ext cx="8737600" cy="1200150"/>
          </a:xfrm>
        </p:spPr>
        <p:txBody>
          <a:bodyPr/>
          <a:lstStyle/>
          <a:p>
            <a:r>
              <a:rPr lang="pt-PT" sz="3200" dirty="0">
                <a:solidFill>
                  <a:srgbClr val="2129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SIS-RME: Linha temporal para 823 US </a:t>
            </a:r>
            <a:endParaRPr lang="en-MZ" sz="3200" dirty="0">
              <a:solidFill>
                <a:srgbClr val="21295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92445-F52F-BF20-2531-64D896B0C2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11</a:t>
            </a:fld>
            <a:endParaRPr lang="pt-PT"/>
          </a:p>
        </p:txBody>
      </p:sp>
      <p:cxnSp>
        <p:nvCxnSpPr>
          <p:cNvPr id="5" name="Google Shape;130;p5">
            <a:extLst>
              <a:ext uri="{FF2B5EF4-FFF2-40B4-BE49-F238E27FC236}">
                <a16:creationId xmlns:a16="http://schemas.microsoft.com/office/drawing/2014/main" id="{C86AB4CB-31AF-7F14-CB99-C35309DDD4FE}"/>
              </a:ext>
            </a:extLst>
          </p:cNvPr>
          <p:cNvCxnSpPr>
            <a:cxnSpLocks/>
          </p:cNvCxnSpPr>
          <p:nvPr/>
        </p:nvCxnSpPr>
        <p:spPr>
          <a:xfrm>
            <a:off x="692474" y="2469405"/>
            <a:ext cx="11499526" cy="24102"/>
          </a:xfrm>
          <a:prstGeom prst="straightConnector1">
            <a:avLst/>
          </a:prstGeom>
          <a:noFill/>
          <a:ln w="571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37;p5">
            <a:extLst>
              <a:ext uri="{FF2B5EF4-FFF2-40B4-BE49-F238E27FC236}">
                <a16:creationId xmlns:a16="http://schemas.microsoft.com/office/drawing/2014/main" id="{14979555-B72E-6A53-667E-167A85DDD2FB}"/>
              </a:ext>
            </a:extLst>
          </p:cNvPr>
          <p:cNvSpPr/>
          <p:nvPr/>
        </p:nvSpPr>
        <p:spPr>
          <a:xfrm>
            <a:off x="1341474" y="2383081"/>
            <a:ext cx="210400" cy="199600"/>
          </a:xfrm>
          <a:prstGeom prst="ellipse">
            <a:avLst/>
          </a:prstGeom>
          <a:solidFill>
            <a:srgbClr val="EAF3F7"/>
          </a:solidFill>
          <a:ln w="25400" cap="flat" cmpd="sng">
            <a:solidFill>
              <a:srgbClr val="C992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400"/>
            </a:pPr>
            <a:endParaRPr sz="1867"/>
          </a:p>
        </p:txBody>
      </p:sp>
      <p:sp>
        <p:nvSpPr>
          <p:cNvPr id="7" name="Google Shape;136;p5">
            <a:extLst>
              <a:ext uri="{FF2B5EF4-FFF2-40B4-BE49-F238E27FC236}">
                <a16:creationId xmlns:a16="http://schemas.microsoft.com/office/drawing/2014/main" id="{0A6F352D-4BC6-072A-5D26-451B69A1D3A7}"/>
              </a:ext>
            </a:extLst>
          </p:cNvPr>
          <p:cNvSpPr/>
          <p:nvPr/>
        </p:nvSpPr>
        <p:spPr>
          <a:xfrm>
            <a:off x="2369948" y="2383081"/>
            <a:ext cx="210400" cy="199600"/>
          </a:xfrm>
          <a:prstGeom prst="ellipse">
            <a:avLst/>
          </a:prstGeom>
          <a:solidFill>
            <a:srgbClr val="C9922E"/>
          </a:solidFill>
          <a:ln w="25400" cap="flat" cmpd="sng">
            <a:solidFill>
              <a:srgbClr val="C992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rgbClr val="FFFFFF"/>
              </a:solidFill>
            </a:endParaRPr>
          </a:p>
        </p:txBody>
      </p:sp>
      <p:sp>
        <p:nvSpPr>
          <p:cNvPr id="11" name="Google Shape;137;p5">
            <a:extLst>
              <a:ext uri="{FF2B5EF4-FFF2-40B4-BE49-F238E27FC236}">
                <a16:creationId xmlns:a16="http://schemas.microsoft.com/office/drawing/2014/main" id="{012585CA-4994-1DE0-7128-BA53AB528D04}"/>
              </a:ext>
            </a:extLst>
          </p:cNvPr>
          <p:cNvSpPr/>
          <p:nvPr/>
        </p:nvSpPr>
        <p:spPr>
          <a:xfrm>
            <a:off x="3398422" y="2383081"/>
            <a:ext cx="210400" cy="199600"/>
          </a:xfrm>
          <a:prstGeom prst="ellipse">
            <a:avLst/>
          </a:prstGeom>
          <a:solidFill>
            <a:srgbClr val="EAF3F7"/>
          </a:solidFill>
          <a:ln w="25400" cap="flat" cmpd="sng">
            <a:solidFill>
              <a:srgbClr val="C992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400"/>
            </a:pPr>
            <a:endParaRPr sz="1867"/>
          </a:p>
        </p:txBody>
      </p:sp>
      <p:sp>
        <p:nvSpPr>
          <p:cNvPr id="12" name="Google Shape;137;p5">
            <a:extLst>
              <a:ext uri="{FF2B5EF4-FFF2-40B4-BE49-F238E27FC236}">
                <a16:creationId xmlns:a16="http://schemas.microsoft.com/office/drawing/2014/main" id="{59AA352F-5A35-60A3-8B1E-3443D8032B2B}"/>
              </a:ext>
            </a:extLst>
          </p:cNvPr>
          <p:cNvSpPr/>
          <p:nvPr/>
        </p:nvSpPr>
        <p:spPr>
          <a:xfrm>
            <a:off x="6085136" y="2411754"/>
            <a:ext cx="210400" cy="199600"/>
          </a:xfrm>
          <a:prstGeom prst="ellipse">
            <a:avLst/>
          </a:prstGeom>
          <a:solidFill>
            <a:srgbClr val="EAF3F7"/>
          </a:solidFill>
          <a:ln w="25400" cap="flat" cmpd="sng">
            <a:solidFill>
              <a:srgbClr val="C992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400"/>
            </a:pPr>
            <a:endParaRPr sz="1867"/>
          </a:p>
        </p:txBody>
      </p:sp>
      <p:sp>
        <p:nvSpPr>
          <p:cNvPr id="13" name="Google Shape;137;p5">
            <a:extLst>
              <a:ext uri="{FF2B5EF4-FFF2-40B4-BE49-F238E27FC236}">
                <a16:creationId xmlns:a16="http://schemas.microsoft.com/office/drawing/2014/main" id="{23F6FCD3-32DA-4FE0-9760-F00859FD5B54}"/>
              </a:ext>
            </a:extLst>
          </p:cNvPr>
          <p:cNvSpPr/>
          <p:nvPr/>
        </p:nvSpPr>
        <p:spPr>
          <a:xfrm>
            <a:off x="8958132" y="2373533"/>
            <a:ext cx="210400" cy="199600"/>
          </a:xfrm>
          <a:prstGeom prst="ellipse">
            <a:avLst/>
          </a:prstGeom>
          <a:solidFill>
            <a:srgbClr val="EAF3F7"/>
          </a:solidFill>
          <a:ln w="25400" cap="flat" cmpd="sng">
            <a:solidFill>
              <a:srgbClr val="C992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400"/>
            </a:pPr>
            <a:endParaRPr sz="1867"/>
          </a:p>
        </p:txBody>
      </p:sp>
      <p:sp>
        <p:nvSpPr>
          <p:cNvPr id="14" name="Google Shape;137;p5">
            <a:extLst>
              <a:ext uri="{FF2B5EF4-FFF2-40B4-BE49-F238E27FC236}">
                <a16:creationId xmlns:a16="http://schemas.microsoft.com/office/drawing/2014/main" id="{3DC8D87D-8E47-FEE8-38EA-7B1FF791C1B7}"/>
              </a:ext>
            </a:extLst>
          </p:cNvPr>
          <p:cNvSpPr/>
          <p:nvPr/>
        </p:nvSpPr>
        <p:spPr>
          <a:xfrm>
            <a:off x="11394326" y="2388569"/>
            <a:ext cx="210400" cy="199600"/>
          </a:xfrm>
          <a:prstGeom prst="ellipse">
            <a:avLst/>
          </a:prstGeom>
          <a:solidFill>
            <a:srgbClr val="EAF3F7"/>
          </a:solidFill>
          <a:ln w="25400" cap="flat" cmpd="sng">
            <a:solidFill>
              <a:srgbClr val="C992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400"/>
            </a:pPr>
            <a:endParaRPr sz="1867"/>
          </a:p>
        </p:txBody>
      </p:sp>
      <p:sp>
        <p:nvSpPr>
          <p:cNvPr id="15" name="Google Shape;136;p5">
            <a:extLst>
              <a:ext uri="{FF2B5EF4-FFF2-40B4-BE49-F238E27FC236}">
                <a16:creationId xmlns:a16="http://schemas.microsoft.com/office/drawing/2014/main" id="{702AAE03-AAD7-B1CE-F997-98B6ABECE786}"/>
              </a:ext>
            </a:extLst>
          </p:cNvPr>
          <p:cNvSpPr/>
          <p:nvPr/>
        </p:nvSpPr>
        <p:spPr>
          <a:xfrm>
            <a:off x="4796851" y="2373533"/>
            <a:ext cx="210400" cy="199600"/>
          </a:xfrm>
          <a:prstGeom prst="ellipse">
            <a:avLst/>
          </a:prstGeom>
          <a:solidFill>
            <a:srgbClr val="C9922E"/>
          </a:solidFill>
          <a:ln w="25400" cap="flat" cmpd="sng">
            <a:solidFill>
              <a:srgbClr val="C992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rgbClr val="FFFFFF"/>
              </a:solidFill>
            </a:endParaRPr>
          </a:p>
        </p:txBody>
      </p:sp>
      <p:sp>
        <p:nvSpPr>
          <p:cNvPr id="17" name="Google Shape;136;p5">
            <a:extLst>
              <a:ext uri="{FF2B5EF4-FFF2-40B4-BE49-F238E27FC236}">
                <a16:creationId xmlns:a16="http://schemas.microsoft.com/office/drawing/2014/main" id="{434DAE93-EA4E-8325-4B4E-C9423193EA4D}"/>
              </a:ext>
            </a:extLst>
          </p:cNvPr>
          <p:cNvSpPr/>
          <p:nvPr/>
        </p:nvSpPr>
        <p:spPr>
          <a:xfrm>
            <a:off x="7454503" y="2361798"/>
            <a:ext cx="210400" cy="199600"/>
          </a:xfrm>
          <a:prstGeom prst="ellipse">
            <a:avLst/>
          </a:prstGeom>
          <a:solidFill>
            <a:srgbClr val="C9922E"/>
          </a:solidFill>
          <a:ln w="25400" cap="flat" cmpd="sng">
            <a:solidFill>
              <a:srgbClr val="C992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rgbClr val="FFFFFF"/>
              </a:solidFill>
            </a:endParaRPr>
          </a:p>
        </p:txBody>
      </p:sp>
      <p:sp>
        <p:nvSpPr>
          <p:cNvPr id="18" name="Google Shape;136;p5">
            <a:extLst>
              <a:ext uri="{FF2B5EF4-FFF2-40B4-BE49-F238E27FC236}">
                <a16:creationId xmlns:a16="http://schemas.microsoft.com/office/drawing/2014/main" id="{0B26620F-5E59-265D-4902-2447C5F2E4B8}"/>
              </a:ext>
            </a:extLst>
          </p:cNvPr>
          <p:cNvSpPr/>
          <p:nvPr/>
        </p:nvSpPr>
        <p:spPr>
          <a:xfrm>
            <a:off x="10155452" y="2388569"/>
            <a:ext cx="210400" cy="199600"/>
          </a:xfrm>
          <a:prstGeom prst="ellipse">
            <a:avLst/>
          </a:prstGeom>
          <a:solidFill>
            <a:srgbClr val="C9922E"/>
          </a:solidFill>
          <a:ln w="25400" cap="flat" cmpd="sng">
            <a:solidFill>
              <a:srgbClr val="C992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rgbClr val="FFFFFF"/>
              </a:solidFill>
            </a:endParaRPr>
          </a:p>
        </p:txBody>
      </p:sp>
      <p:sp>
        <p:nvSpPr>
          <p:cNvPr id="19" name="Google Shape;138;p5">
            <a:extLst>
              <a:ext uri="{FF2B5EF4-FFF2-40B4-BE49-F238E27FC236}">
                <a16:creationId xmlns:a16="http://schemas.microsoft.com/office/drawing/2014/main" id="{371E68C5-ECBE-9C69-39CF-CE2CA43962B5}"/>
              </a:ext>
            </a:extLst>
          </p:cNvPr>
          <p:cNvSpPr txBox="1"/>
          <p:nvPr/>
        </p:nvSpPr>
        <p:spPr>
          <a:xfrm>
            <a:off x="511213" y="2025541"/>
            <a:ext cx="1508400" cy="3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SzPts val="1050"/>
            </a:pPr>
            <a:r>
              <a:rPr lang="en" b="1" dirty="0">
                <a:solidFill>
                  <a:schemeClr val="dk1"/>
                </a:solidFill>
              </a:rPr>
              <a:t>Maio 2016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20" name="Google Shape;135;p5">
            <a:extLst>
              <a:ext uri="{FF2B5EF4-FFF2-40B4-BE49-F238E27FC236}">
                <a16:creationId xmlns:a16="http://schemas.microsoft.com/office/drawing/2014/main" id="{82CD19EB-6FF4-2753-89B5-5F7E10B12B5C}"/>
              </a:ext>
            </a:extLst>
          </p:cNvPr>
          <p:cNvSpPr txBox="1"/>
          <p:nvPr/>
        </p:nvSpPr>
        <p:spPr>
          <a:xfrm>
            <a:off x="1589098" y="2017994"/>
            <a:ext cx="1613600" cy="3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SzPts val="1050"/>
            </a:pPr>
            <a:r>
              <a:rPr lang="en" b="1" dirty="0">
                <a:solidFill>
                  <a:schemeClr val="dk1"/>
                </a:solidFill>
              </a:rPr>
              <a:t>Dez 2024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21" name="Google Shape;132;p5">
            <a:extLst>
              <a:ext uri="{FF2B5EF4-FFF2-40B4-BE49-F238E27FC236}">
                <a16:creationId xmlns:a16="http://schemas.microsoft.com/office/drawing/2014/main" id="{C67F7625-2472-EE08-E98F-48BA411ED825}"/>
              </a:ext>
            </a:extLst>
          </p:cNvPr>
          <p:cNvSpPr txBox="1"/>
          <p:nvPr/>
        </p:nvSpPr>
        <p:spPr>
          <a:xfrm>
            <a:off x="2755631" y="2033088"/>
            <a:ext cx="1613600" cy="3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SzPts val="1050"/>
            </a:pPr>
            <a:r>
              <a:rPr lang="en" b="1" dirty="0">
                <a:solidFill>
                  <a:schemeClr val="dk1"/>
                </a:solidFill>
              </a:rPr>
              <a:t>Abril 2025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2196D319-049F-7E06-40A9-592DEE0D4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030" y="1108813"/>
            <a:ext cx="10925011" cy="2605882"/>
          </a:xfrm>
        </p:spPr>
        <p:txBody>
          <a:bodyPr/>
          <a:lstStyle/>
          <a:p>
            <a:pPr marL="114300" indent="0">
              <a:buNone/>
            </a:pPr>
            <a:endParaRPr lang="pt-PT" dirty="0"/>
          </a:p>
          <a:p>
            <a:pPr marL="114300" indent="0">
              <a:buNone/>
            </a:pPr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pPr marL="114300" indent="0">
              <a:buNone/>
            </a:pPr>
            <a:endParaRPr lang="pt-PT" dirty="0"/>
          </a:p>
          <a:p>
            <a:pPr marL="114300" indent="0">
              <a:buNone/>
            </a:pPr>
            <a:endParaRPr lang="pt-PT" dirty="0"/>
          </a:p>
          <a:p>
            <a:pPr marL="114300" indent="0">
              <a:buNone/>
            </a:pPr>
            <a:endParaRPr lang="pt-PT" sz="2000" dirty="0"/>
          </a:p>
          <a:p>
            <a:pPr marL="114300" indent="0">
              <a:buNone/>
            </a:pPr>
            <a:r>
              <a:rPr lang="pt-PT" sz="2000" dirty="0"/>
              <a:t>     </a:t>
            </a:r>
          </a:p>
          <a:p>
            <a:pPr marL="114300" indent="0">
              <a:buNone/>
            </a:pPr>
            <a:r>
              <a:rPr lang="pt-PT" sz="2000" dirty="0"/>
              <a:t>Financiamento:</a:t>
            </a:r>
          </a:p>
          <a:p>
            <a:pPr lvl="1"/>
            <a:r>
              <a:rPr lang="pt-PT" sz="1800" dirty="0"/>
              <a:t>Banco Mundial</a:t>
            </a:r>
          </a:p>
          <a:p>
            <a:pPr lvl="1"/>
            <a:r>
              <a:rPr lang="pt-PT" sz="1800" dirty="0"/>
              <a:t>Governo Americano </a:t>
            </a:r>
          </a:p>
          <a:p>
            <a:pPr lvl="1"/>
            <a:r>
              <a:rPr lang="pt-PT" sz="1800" dirty="0"/>
              <a:t>Fundo Global</a:t>
            </a:r>
            <a:endParaRPr lang="en-MZ" sz="1800" dirty="0"/>
          </a:p>
        </p:txBody>
      </p:sp>
      <p:sp>
        <p:nvSpPr>
          <p:cNvPr id="25" name="Google Shape;150;p5">
            <a:extLst>
              <a:ext uri="{FF2B5EF4-FFF2-40B4-BE49-F238E27FC236}">
                <a16:creationId xmlns:a16="http://schemas.microsoft.com/office/drawing/2014/main" id="{D4A10A7F-78F3-189B-EE43-E8F28406DCE7}"/>
              </a:ext>
            </a:extLst>
          </p:cNvPr>
          <p:cNvSpPr txBox="1"/>
          <p:nvPr/>
        </p:nvSpPr>
        <p:spPr>
          <a:xfrm>
            <a:off x="4015237" y="2021854"/>
            <a:ext cx="1613600" cy="3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SzPts val="1050"/>
            </a:pPr>
            <a:r>
              <a:rPr lang="en" b="1" dirty="0">
                <a:solidFill>
                  <a:schemeClr val="dk1"/>
                </a:solidFill>
              </a:rPr>
              <a:t>Maio 2026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26" name="Google Shape;145;p5">
            <a:extLst>
              <a:ext uri="{FF2B5EF4-FFF2-40B4-BE49-F238E27FC236}">
                <a16:creationId xmlns:a16="http://schemas.microsoft.com/office/drawing/2014/main" id="{C7E476B0-46BF-138F-E392-3D089FA81739}"/>
              </a:ext>
            </a:extLst>
          </p:cNvPr>
          <p:cNvSpPr txBox="1"/>
          <p:nvPr/>
        </p:nvSpPr>
        <p:spPr>
          <a:xfrm>
            <a:off x="6836011" y="2013133"/>
            <a:ext cx="1613600" cy="3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SzPts val="1050"/>
            </a:pPr>
            <a:r>
              <a:rPr lang="en" b="1" dirty="0">
                <a:solidFill>
                  <a:schemeClr val="dk1"/>
                </a:solidFill>
              </a:rPr>
              <a:t>2027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27" name="Google Shape;153;p5">
            <a:extLst>
              <a:ext uri="{FF2B5EF4-FFF2-40B4-BE49-F238E27FC236}">
                <a16:creationId xmlns:a16="http://schemas.microsoft.com/office/drawing/2014/main" id="{32C5DF95-73D6-552C-004D-D227A4FAD3A0}"/>
              </a:ext>
            </a:extLst>
          </p:cNvPr>
          <p:cNvSpPr txBox="1"/>
          <p:nvPr/>
        </p:nvSpPr>
        <p:spPr>
          <a:xfrm>
            <a:off x="8151332" y="2011226"/>
            <a:ext cx="1613600" cy="3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SzPts val="1050"/>
            </a:pPr>
            <a:r>
              <a:rPr lang="en" b="1" dirty="0">
                <a:solidFill>
                  <a:schemeClr val="dk1"/>
                </a:solidFill>
              </a:rPr>
              <a:t>2028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28" name="Google Shape;153;p5">
            <a:extLst>
              <a:ext uri="{FF2B5EF4-FFF2-40B4-BE49-F238E27FC236}">
                <a16:creationId xmlns:a16="http://schemas.microsoft.com/office/drawing/2014/main" id="{4D7E5E13-C258-8D8F-EBDF-6EE47C6D67D6}"/>
              </a:ext>
            </a:extLst>
          </p:cNvPr>
          <p:cNvSpPr txBox="1"/>
          <p:nvPr/>
        </p:nvSpPr>
        <p:spPr>
          <a:xfrm>
            <a:off x="9451592" y="2034968"/>
            <a:ext cx="1613600" cy="3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SzPts val="1050"/>
            </a:pPr>
            <a:r>
              <a:rPr lang="en" b="1" dirty="0">
                <a:solidFill>
                  <a:schemeClr val="dk1"/>
                </a:solidFill>
              </a:rPr>
              <a:t>2029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29" name="Google Shape;156;p5">
            <a:extLst>
              <a:ext uri="{FF2B5EF4-FFF2-40B4-BE49-F238E27FC236}">
                <a16:creationId xmlns:a16="http://schemas.microsoft.com/office/drawing/2014/main" id="{96151A7A-A349-656F-287F-EDAF662E39D4}"/>
              </a:ext>
            </a:extLst>
          </p:cNvPr>
          <p:cNvSpPr txBox="1"/>
          <p:nvPr/>
        </p:nvSpPr>
        <p:spPr>
          <a:xfrm>
            <a:off x="10692726" y="2025570"/>
            <a:ext cx="1613600" cy="3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SzPts val="1050"/>
            </a:pPr>
            <a:r>
              <a:rPr lang="en" b="1" dirty="0">
                <a:solidFill>
                  <a:schemeClr val="dk1"/>
                </a:solidFill>
              </a:rPr>
              <a:t>2030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30" name="Google Shape;139;p5">
            <a:extLst>
              <a:ext uri="{FF2B5EF4-FFF2-40B4-BE49-F238E27FC236}">
                <a16:creationId xmlns:a16="http://schemas.microsoft.com/office/drawing/2014/main" id="{B283BEA6-5FA8-E05D-3D83-3197C5D42751}"/>
              </a:ext>
            </a:extLst>
          </p:cNvPr>
          <p:cNvSpPr/>
          <p:nvPr/>
        </p:nvSpPr>
        <p:spPr>
          <a:xfrm>
            <a:off x="629356" y="2690231"/>
            <a:ext cx="1122220" cy="244791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000"/>
            </a:pPr>
            <a:r>
              <a:rPr lang="en" sz="1333" b="1" dirty="0" err="1"/>
              <a:t>Introdução</a:t>
            </a:r>
            <a:r>
              <a:rPr lang="en" sz="1333" b="1" dirty="0"/>
              <a:t> do SIS-H</a:t>
            </a:r>
            <a:endParaRPr sz="1200" b="1" dirty="0"/>
          </a:p>
        </p:txBody>
      </p:sp>
      <p:sp>
        <p:nvSpPr>
          <p:cNvPr id="31" name="Google Shape;147;p5">
            <a:extLst>
              <a:ext uri="{FF2B5EF4-FFF2-40B4-BE49-F238E27FC236}">
                <a16:creationId xmlns:a16="http://schemas.microsoft.com/office/drawing/2014/main" id="{773E8220-88E2-B41F-F439-2594EAD04895}"/>
              </a:ext>
            </a:extLst>
          </p:cNvPr>
          <p:cNvSpPr/>
          <p:nvPr/>
        </p:nvSpPr>
        <p:spPr>
          <a:xfrm>
            <a:off x="1810818" y="2697560"/>
            <a:ext cx="1122220" cy="2447910"/>
          </a:xfrm>
          <a:prstGeom prst="rect">
            <a:avLst/>
          </a:prstGeom>
          <a:solidFill>
            <a:srgbClr val="3E7D5A"/>
          </a:solidFill>
          <a:ln w="25400" cap="flat" cmpd="sng">
            <a:solidFill>
              <a:srgbClr val="3E7D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SzPts val="1100"/>
            </a:pPr>
            <a:r>
              <a:rPr lang="pt-PT" b="1" dirty="0">
                <a:solidFill>
                  <a:schemeClr val="dk1"/>
                </a:solidFill>
              </a:rPr>
              <a:t>Lançamento da digitalização das US</a:t>
            </a:r>
            <a:endParaRPr sz="1600" b="1" dirty="0"/>
          </a:p>
        </p:txBody>
      </p:sp>
      <p:sp>
        <p:nvSpPr>
          <p:cNvPr id="38" name="Google Shape;139;p5">
            <a:extLst>
              <a:ext uri="{FF2B5EF4-FFF2-40B4-BE49-F238E27FC236}">
                <a16:creationId xmlns:a16="http://schemas.microsoft.com/office/drawing/2014/main" id="{05DAB4C8-DE8D-96CF-0CD2-CB7E7F611F08}"/>
              </a:ext>
            </a:extLst>
          </p:cNvPr>
          <p:cNvSpPr/>
          <p:nvPr/>
        </p:nvSpPr>
        <p:spPr>
          <a:xfrm>
            <a:off x="3009008" y="2697560"/>
            <a:ext cx="1248852" cy="244791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000"/>
            </a:pPr>
            <a:r>
              <a:rPr lang="pt-PT" sz="1200" b="1" dirty="0">
                <a:solidFill>
                  <a:schemeClr val="dk1"/>
                </a:solidFill>
              </a:rPr>
              <a:t>Início de Desenvolvimento do SIS-RME (cuidados primários)</a:t>
            </a:r>
            <a:endParaRPr sz="1200" b="1" dirty="0"/>
          </a:p>
        </p:txBody>
      </p:sp>
      <p:sp>
        <p:nvSpPr>
          <p:cNvPr id="39" name="Google Shape;139;p5">
            <a:extLst>
              <a:ext uri="{FF2B5EF4-FFF2-40B4-BE49-F238E27FC236}">
                <a16:creationId xmlns:a16="http://schemas.microsoft.com/office/drawing/2014/main" id="{5FD144AF-2C4D-C1A5-E9F3-D2138F08D28E}"/>
              </a:ext>
            </a:extLst>
          </p:cNvPr>
          <p:cNvSpPr/>
          <p:nvPr/>
        </p:nvSpPr>
        <p:spPr>
          <a:xfrm>
            <a:off x="5641541" y="2729201"/>
            <a:ext cx="1248852" cy="241978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000"/>
            </a:pPr>
            <a:r>
              <a:rPr lang="pt-PT" sz="1200" b="1" dirty="0">
                <a:solidFill>
                  <a:schemeClr val="dk1"/>
                </a:solidFill>
              </a:rPr>
              <a:t>Expansão para 30 US</a:t>
            </a:r>
            <a:endParaRPr sz="1200" b="1" dirty="0"/>
          </a:p>
        </p:txBody>
      </p:sp>
      <p:sp>
        <p:nvSpPr>
          <p:cNvPr id="40" name="Google Shape;139;p5">
            <a:extLst>
              <a:ext uri="{FF2B5EF4-FFF2-40B4-BE49-F238E27FC236}">
                <a16:creationId xmlns:a16="http://schemas.microsoft.com/office/drawing/2014/main" id="{4DD630BB-F670-4A42-F548-AE38AEA18D63}"/>
              </a:ext>
            </a:extLst>
          </p:cNvPr>
          <p:cNvSpPr/>
          <p:nvPr/>
        </p:nvSpPr>
        <p:spPr>
          <a:xfrm>
            <a:off x="8395229" y="2730910"/>
            <a:ext cx="1248852" cy="2437616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000"/>
            </a:pPr>
            <a:r>
              <a:rPr lang="pt-PT" sz="1200" b="1" dirty="0">
                <a:solidFill>
                  <a:schemeClr val="dk1"/>
                </a:solidFill>
              </a:rPr>
              <a:t>Expansão para 130 US</a:t>
            </a:r>
            <a:endParaRPr sz="1200" b="1" dirty="0"/>
          </a:p>
        </p:txBody>
      </p:sp>
      <p:sp>
        <p:nvSpPr>
          <p:cNvPr id="42" name="Google Shape;147;p5">
            <a:extLst>
              <a:ext uri="{FF2B5EF4-FFF2-40B4-BE49-F238E27FC236}">
                <a16:creationId xmlns:a16="http://schemas.microsoft.com/office/drawing/2014/main" id="{B1F63341-C468-A7D6-AA07-97DA6975FB11}"/>
              </a:ext>
            </a:extLst>
          </p:cNvPr>
          <p:cNvSpPr/>
          <p:nvPr/>
        </p:nvSpPr>
        <p:spPr>
          <a:xfrm>
            <a:off x="4347097" y="2713011"/>
            <a:ext cx="1213977" cy="2444818"/>
          </a:xfrm>
          <a:prstGeom prst="rect">
            <a:avLst/>
          </a:prstGeom>
          <a:solidFill>
            <a:srgbClr val="3E7D5A"/>
          </a:solidFill>
          <a:ln w="25400" cap="flat" cmpd="sng">
            <a:solidFill>
              <a:srgbClr val="3E7D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SzPts val="1100"/>
            </a:pPr>
            <a:r>
              <a:rPr lang="pt-PT" b="1" dirty="0">
                <a:solidFill>
                  <a:schemeClr val="dk1"/>
                </a:solidFill>
              </a:rPr>
              <a:t>Piloto no CS Polana Cimento</a:t>
            </a:r>
            <a:endParaRPr sz="1600" b="1" dirty="0"/>
          </a:p>
        </p:txBody>
      </p:sp>
      <p:sp>
        <p:nvSpPr>
          <p:cNvPr id="43" name="Google Shape;147;p5">
            <a:extLst>
              <a:ext uri="{FF2B5EF4-FFF2-40B4-BE49-F238E27FC236}">
                <a16:creationId xmlns:a16="http://schemas.microsoft.com/office/drawing/2014/main" id="{3D4DB92F-3F3F-D6AE-9556-43CF500F2E97}"/>
              </a:ext>
            </a:extLst>
          </p:cNvPr>
          <p:cNvSpPr/>
          <p:nvPr/>
        </p:nvSpPr>
        <p:spPr>
          <a:xfrm>
            <a:off x="6958011" y="2720213"/>
            <a:ext cx="1369600" cy="2437616"/>
          </a:xfrm>
          <a:prstGeom prst="rect">
            <a:avLst/>
          </a:prstGeom>
          <a:solidFill>
            <a:srgbClr val="3E7D5A"/>
          </a:solidFill>
          <a:ln w="25400" cap="flat" cmpd="sng">
            <a:solidFill>
              <a:srgbClr val="3E7D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SzPts val="1100"/>
            </a:pPr>
            <a:r>
              <a:rPr lang="pt-PT" b="1" dirty="0">
                <a:solidFill>
                  <a:schemeClr val="dk1"/>
                </a:solidFill>
              </a:rPr>
              <a:t>Expansão para 100 US</a:t>
            </a:r>
            <a:endParaRPr sz="1600" b="1" dirty="0"/>
          </a:p>
        </p:txBody>
      </p:sp>
      <p:sp>
        <p:nvSpPr>
          <p:cNvPr id="44" name="Google Shape;147;p5">
            <a:extLst>
              <a:ext uri="{FF2B5EF4-FFF2-40B4-BE49-F238E27FC236}">
                <a16:creationId xmlns:a16="http://schemas.microsoft.com/office/drawing/2014/main" id="{870BCAF6-44CF-4838-7512-776EC2CC560F}"/>
              </a:ext>
            </a:extLst>
          </p:cNvPr>
          <p:cNvSpPr/>
          <p:nvPr/>
        </p:nvSpPr>
        <p:spPr>
          <a:xfrm>
            <a:off x="9724548" y="2752117"/>
            <a:ext cx="1248852" cy="2407421"/>
          </a:xfrm>
          <a:prstGeom prst="rect">
            <a:avLst/>
          </a:prstGeom>
          <a:solidFill>
            <a:srgbClr val="3E7D5A"/>
          </a:solidFill>
          <a:ln w="25400" cap="flat" cmpd="sng">
            <a:solidFill>
              <a:srgbClr val="3E7D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SzPts val="1100"/>
            </a:pPr>
            <a:r>
              <a:rPr lang="pt-PT" b="1" dirty="0">
                <a:solidFill>
                  <a:schemeClr val="dk1"/>
                </a:solidFill>
              </a:rPr>
              <a:t>Expansão para 150 US</a:t>
            </a:r>
            <a:endParaRPr sz="1600" b="1" dirty="0"/>
          </a:p>
        </p:txBody>
      </p:sp>
      <p:sp>
        <p:nvSpPr>
          <p:cNvPr id="45" name="Google Shape;139;p5">
            <a:extLst>
              <a:ext uri="{FF2B5EF4-FFF2-40B4-BE49-F238E27FC236}">
                <a16:creationId xmlns:a16="http://schemas.microsoft.com/office/drawing/2014/main" id="{78813071-0646-5082-1E9E-DC56C6E54165}"/>
              </a:ext>
            </a:extLst>
          </p:cNvPr>
          <p:cNvSpPr/>
          <p:nvPr/>
        </p:nvSpPr>
        <p:spPr>
          <a:xfrm>
            <a:off x="11055012" y="2738587"/>
            <a:ext cx="1054114" cy="2399554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000"/>
            </a:pPr>
            <a:r>
              <a:rPr lang="pt-PT" sz="1200" b="1" dirty="0">
                <a:solidFill>
                  <a:schemeClr val="dk1"/>
                </a:solidFill>
              </a:rPr>
              <a:t>Expansão para 300 US</a:t>
            </a:r>
            <a:endParaRPr sz="1200" b="1" dirty="0"/>
          </a:p>
        </p:txBody>
      </p:sp>
      <p:sp>
        <p:nvSpPr>
          <p:cNvPr id="46" name="Google Shape;145;p5">
            <a:extLst>
              <a:ext uri="{FF2B5EF4-FFF2-40B4-BE49-F238E27FC236}">
                <a16:creationId xmlns:a16="http://schemas.microsoft.com/office/drawing/2014/main" id="{3125BA84-52FF-96A0-3D91-2E38B23D7A0F}"/>
              </a:ext>
            </a:extLst>
          </p:cNvPr>
          <p:cNvSpPr txBox="1"/>
          <p:nvPr/>
        </p:nvSpPr>
        <p:spPr>
          <a:xfrm>
            <a:off x="5369995" y="2014712"/>
            <a:ext cx="1613600" cy="3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SzPts val="1050"/>
            </a:pPr>
            <a:r>
              <a:rPr lang="en" b="1" dirty="0">
                <a:solidFill>
                  <a:schemeClr val="dk1"/>
                </a:solidFill>
              </a:rPr>
              <a:t>Dez 2026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5B6B73"/>
                </a:solidFill>
                <a:latin typeface="Calibri"/>
              </a:rPr>
              <a:t>LI Conselho Coordenador de Saúde · SIS-RME</a:t>
            </a:r>
          </a:p>
        </p:txBody>
      </p:sp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3B6024C9-2DFA-7B8C-A521-A0F79F5F1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263640"/>
            <a:ext cx="384048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275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2DE0D-3B62-FEB6-CB99-0CAAA4C41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1.png">
            <a:extLst>
              <a:ext uri="{FF2B5EF4-FFF2-40B4-BE49-F238E27FC236}">
                <a16:creationId xmlns:a16="http://schemas.microsoft.com/office/drawing/2014/main" id="{50E59DC9-66E4-C66E-6C41-7BAFA00298AF}"/>
              </a:ext>
            </a:extLst>
          </p:cNvPr>
          <p:cNvPicPr/>
          <p:nvPr/>
        </p:nvPicPr>
        <p:blipFill>
          <a:blip r:embed="rId3"/>
          <a:srcRect b="26583"/>
          <a:stretch>
            <a:fillRect/>
          </a:stretch>
        </p:blipFill>
        <p:spPr>
          <a:xfrm>
            <a:off x="914400" y="635726"/>
            <a:ext cx="11277600" cy="6222274"/>
          </a:xfrm>
          <a:prstGeom prst="rect">
            <a:avLst/>
          </a:prstGeom>
          <a:ln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8CBD75-35C9-23FC-F69C-CF1A6A3B6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100" y="-346077"/>
            <a:ext cx="10053800" cy="1200150"/>
          </a:xfrm>
        </p:spPr>
        <p:txBody>
          <a:bodyPr/>
          <a:lstStyle/>
          <a:p>
            <a:r>
              <a:rPr lang="en-MZ" sz="3200" dirty="0">
                <a:solidFill>
                  <a:srgbClr val="2129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Cronograma de implementação dos módulos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11B1F-84CF-F758-4544-177F7C803B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12</a:t>
            </a:fld>
            <a:endParaRPr lang="pt-PT"/>
          </a:p>
        </p:txBody>
      </p:sp>
      <p:sp>
        <p:nvSpPr>
          <p:cNvPr id="7" name="TextBox 6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5B6B73"/>
                </a:solidFill>
                <a:latin typeface="Calibri"/>
              </a:rPr>
              <a:t>LI Conselho Coordenador de Saúde · SIS-RME</a:t>
            </a:r>
          </a:p>
        </p:txBody>
      </p:sp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7ADA0BD7-FAB8-A54E-EF4A-8F0D8A4EC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6263640"/>
            <a:ext cx="384048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823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70DEA-A696-C8C9-0252-BA8D4EDF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479" y="-149299"/>
            <a:ext cx="9958107" cy="1200150"/>
          </a:xfrm>
        </p:spPr>
        <p:txBody>
          <a:bodyPr/>
          <a:lstStyle/>
          <a:p>
            <a:r>
              <a:rPr lang="en-MZ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Cronograma de implementação dos módulos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A3E82-4496-5828-9955-E59A57F779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13</a:t>
            </a:fld>
            <a:endParaRPr lang="pt-PT"/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A9BCD2E1-7C34-5C8B-28C3-853FCD081D32}"/>
              </a:ext>
            </a:extLst>
          </p:cNvPr>
          <p:cNvPicPr/>
          <p:nvPr/>
        </p:nvPicPr>
        <p:blipFill>
          <a:blip r:embed="rId3"/>
          <a:srcRect t="72271"/>
          <a:stretch>
            <a:fillRect/>
          </a:stretch>
        </p:blipFill>
        <p:spPr>
          <a:xfrm>
            <a:off x="1032414" y="1050851"/>
            <a:ext cx="11135868" cy="2890213"/>
          </a:xfrm>
          <a:prstGeom prst="rect">
            <a:avLst/>
          </a:prstGeom>
          <a:ln/>
        </p:spPr>
      </p:pic>
      <p:sp>
        <p:nvSpPr>
          <p:cNvPr id="7" name="TextBox 6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5B6B73"/>
                </a:solidFill>
                <a:latin typeface="Calibri"/>
              </a:rPr>
              <a:t>LI Conselho Coordenador de Saúde · SIS-RME</a:t>
            </a:r>
          </a:p>
        </p:txBody>
      </p:sp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BD8F2D41-18BB-708C-6073-38FE3E754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6263640"/>
            <a:ext cx="384048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418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>
          <a:extLst>
            <a:ext uri="{FF2B5EF4-FFF2-40B4-BE49-F238E27FC236}">
              <a16:creationId xmlns:a16="http://schemas.microsoft.com/office/drawing/2014/main" id="{BD81F9BE-FD01-8219-2877-ED87D4DAE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4">
            <a:extLst>
              <a:ext uri="{FF2B5EF4-FFF2-40B4-BE49-F238E27FC236}">
                <a16:creationId xmlns:a16="http://schemas.microsoft.com/office/drawing/2014/main" id="{D14B0C5D-E130-303D-3CBC-684672AB95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2329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14</a:t>
            </a:fld>
            <a:endParaRPr/>
          </a:p>
        </p:txBody>
      </p:sp>
      <p:pic>
        <p:nvPicPr>
          <p:cNvPr id="5" name="Tabel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217930"/>
            <a:ext cx="11226800" cy="49441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72CA0B-69FE-6E77-7649-0384327E5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5148" y="95250"/>
            <a:ext cx="8737600" cy="1200150"/>
          </a:xfrm>
        </p:spPr>
        <p:txBody>
          <a:bodyPr/>
          <a:lstStyle/>
          <a:p>
            <a:r>
              <a:rPr lang="pt-PT" sz="3200" dirty="0">
                <a:solidFill>
                  <a:srgbClr val="2129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SIS-RME: Cronograma de </a:t>
            </a:r>
            <a:r>
              <a:rPr lang="pt-PT" sz="3200" dirty="0" err="1">
                <a:solidFill>
                  <a:srgbClr val="2129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actividades</a:t>
            </a:r>
            <a:endParaRPr lang="pt-PT" sz="3200" dirty="0">
              <a:solidFill>
                <a:srgbClr val="21295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12C5F36D-CF6C-1DA6-F6A8-6D594C29E331}"/>
              </a:ext>
            </a:extLst>
          </p:cNvPr>
          <p:cNvSpPr/>
          <p:nvPr/>
        </p:nvSpPr>
        <p:spPr>
          <a:xfrm>
            <a:off x="5792724" y="1885188"/>
            <a:ext cx="2816352" cy="155448"/>
          </a:xfrm>
          <a:prstGeom prst="leftRightArrow">
            <a:avLst/>
          </a:prstGeom>
          <a:solidFill>
            <a:srgbClr val="3E7D5A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MZ"/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3C75ECD1-BF5D-FC02-E86D-A8D08306E83B}"/>
              </a:ext>
            </a:extLst>
          </p:cNvPr>
          <p:cNvSpPr/>
          <p:nvPr/>
        </p:nvSpPr>
        <p:spPr>
          <a:xfrm>
            <a:off x="6806692" y="2126488"/>
            <a:ext cx="394208" cy="155448"/>
          </a:xfrm>
          <a:prstGeom prst="leftRightArrow">
            <a:avLst/>
          </a:prstGeom>
          <a:solidFill>
            <a:srgbClr val="3E7D5A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MZ"/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A134CE88-D54B-1AB8-540E-ACBEE2F69239}"/>
              </a:ext>
            </a:extLst>
          </p:cNvPr>
          <p:cNvSpPr/>
          <p:nvPr/>
        </p:nvSpPr>
        <p:spPr>
          <a:xfrm>
            <a:off x="8022971" y="2583688"/>
            <a:ext cx="394208" cy="155448"/>
          </a:xfrm>
          <a:prstGeom prst="leftRightArrow">
            <a:avLst/>
          </a:prstGeom>
          <a:solidFill>
            <a:srgbClr val="3E7D5A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MZ"/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7B1D1914-7F88-96DA-A38F-836D0DB0043F}"/>
              </a:ext>
            </a:extLst>
          </p:cNvPr>
          <p:cNvSpPr/>
          <p:nvPr/>
        </p:nvSpPr>
        <p:spPr>
          <a:xfrm>
            <a:off x="8022970" y="3180588"/>
            <a:ext cx="586105" cy="155448"/>
          </a:xfrm>
          <a:prstGeom prst="leftRightArrow">
            <a:avLst/>
          </a:prstGeom>
          <a:solidFill>
            <a:srgbClr val="3E7D5A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MZ"/>
          </a:p>
        </p:txBody>
      </p:sp>
      <p:sp>
        <p:nvSpPr>
          <p:cNvPr id="373" name="TextBox 372"/>
          <p:cNvSpPr txBox="1"/>
          <p:nvPr/>
        </p:nvSpPr>
        <p:spPr>
          <a:xfrm>
            <a:off x="836613" y="644271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dirty="0">
                <a:solidFill>
                  <a:srgbClr val="5B6B73"/>
                </a:solidFill>
                <a:latin typeface="Calibri"/>
              </a:rPr>
              <a:t>LI </a:t>
            </a:r>
            <a:r>
              <a:rPr sz="900" dirty="0" err="1">
                <a:solidFill>
                  <a:srgbClr val="5B6B73"/>
                </a:solidFill>
                <a:latin typeface="Calibri"/>
              </a:rPr>
              <a:t>Conselho</a:t>
            </a:r>
            <a:r>
              <a:rPr sz="900" dirty="0">
                <a:solidFill>
                  <a:srgbClr val="5B6B73"/>
                </a:solidFill>
                <a:latin typeface="Calibri"/>
              </a:rPr>
              <a:t> </a:t>
            </a:r>
            <a:r>
              <a:rPr sz="900" dirty="0" err="1">
                <a:solidFill>
                  <a:srgbClr val="5B6B73"/>
                </a:solidFill>
                <a:latin typeface="Calibri"/>
              </a:rPr>
              <a:t>Coordenador</a:t>
            </a:r>
            <a:r>
              <a:rPr sz="900" dirty="0">
                <a:solidFill>
                  <a:srgbClr val="5B6B73"/>
                </a:solidFill>
                <a:latin typeface="Calibri"/>
              </a:rPr>
              <a:t> de </a:t>
            </a:r>
            <a:r>
              <a:rPr sz="900" dirty="0" err="1">
                <a:solidFill>
                  <a:srgbClr val="5B6B73"/>
                </a:solidFill>
                <a:latin typeface="Calibri"/>
              </a:rPr>
              <a:t>Saúde</a:t>
            </a:r>
            <a:r>
              <a:rPr sz="900" dirty="0">
                <a:solidFill>
                  <a:srgbClr val="5B6B73"/>
                </a:solidFill>
                <a:latin typeface="Calibri"/>
              </a:rPr>
              <a:t> · SIS-RME</a:t>
            </a:r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4530557B-915D-4C92-CC90-DC8F3E105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6263640"/>
            <a:ext cx="384048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829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5250"/>
            <a:ext cx="10298348" cy="605790"/>
          </a:xfrm>
        </p:spPr>
        <p:txBody>
          <a:bodyPr/>
          <a:lstStyle/>
          <a:p>
            <a:r>
              <a:rPr lang="pt-PT" dirty="0"/>
              <a:t>Expansão de SIS RME na Cidade de Maputo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654" y="904240"/>
            <a:ext cx="11419840" cy="5283200"/>
          </a:xfrm>
        </p:spPr>
        <p:txBody>
          <a:bodyPr/>
          <a:lstStyle/>
          <a:p>
            <a:r>
              <a:rPr lang="pt-PT" b="1" dirty="0"/>
              <a:t>Processo de Priorização de US</a:t>
            </a:r>
          </a:p>
          <a:p>
            <a:pPr marL="114300" indent="0">
              <a:buNone/>
            </a:pPr>
            <a:endParaRPr lang="pt-PT" dirty="0"/>
          </a:p>
          <a:p>
            <a:pPr marL="114300" indent="0">
              <a:buNone/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15</a:t>
            </a:fld>
            <a:endParaRPr lang="pt-PT"/>
          </a:p>
        </p:txBody>
      </p:sp>
      <p:sp>
        <p:nvSpPr>
          <p:cNvPr id="5" name="Rounded Rectangle 4"/>
          <p:cNvSpPr/>
          <p:nvPr/>
        </p:nvSpPr>
        <p:spPr>
          <a:xfrm>
            <a:off x="655320" y="1463040"/>
            <a:ext cx="5166360" cy="1691640"/>
          </a:xfrm>
          <a:prstGeom prst="roundRect">
            <a:avLst/>
          </a:prstGeom>
          <a:solidFill>
            <a:srgbClr val="E7F3FA"/>
          </a:solidFill>
          <a:ln>
            <a:solidFill>
              <a:srgbClr val="C8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3920" y="1645920"/>
            <a:ext cx="731520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500" b="1">
                <a:solidFill>
                  <a:srgbClr val="009196"/>
                </a:solidFill>
                <a:latin typeface="Aptos"/>
              </a:defRPr>
            </a:pPr>
            <a:r>
              <a:rPr dirty="0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5440" y="1645920"/>
            <a:ext cx="3840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 b="1">
                <a:solidFill>
                  <a:srgbClr val="0A3D69"/>
                </a:solidFill>
                <a:latin typeface="Aptos"/>
              </a:defRPr>
            </a:pPr>
            <a:r>
              <a:t>Avaliação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5440" y="2121408"/>
            <a:ext cx="3886200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500" b="0">
                <a:solidFill>
                  <a:srgbClr val="23313C"/>
                </a:solidFill>
                <a:latin typeface="Aptos"/>
              </a:defRPr>
            </a:pPr>
            <a:r>
              <a:rPr dirty="0" err="1"/>
              <a:t>Análise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detalhada</a:t>
            </a:r>
            <a:r>
              <a:rPr dirty="0"/>
              <a:t> das 7 US </a:t>
            </a:r>
            <a:r>
              <a:rPr lang="pt-PT" dirty="0"/>
              <a:t>inicialmente</a:t>
            </a:r>
            <a:r>
              <a:rPr dirty="0"/>
              <a:t> </a:t>
            </a:r>
            <a:r>
              <a:rPr dirty="0" err="1"/>
              <a:t>seleccionadas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320" y="1463040"/>
            <a:ext cx="5166360" cy="1691640"/>
          </a:xfrm>
          <a:prstGeom prst="roundRect">
            <a:avLst/>
          </a:prstGeom>
          <a:solidFill>
            <a:srgbClr val="F6F9FB"/>
          </a:solidFill>
          <a:ln>
            <a:solidFill>
              <a:srgbClr val="C8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98920" y="1645920"/>
            <a:ext cx="731520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500" b="1">
                <a:solidFill>
                  <a:srgbClr val="009196"/>
                </a:solidFill>
                <a:latin typeface="Aptos"/>
              </a:defRPr>
            </a:pPr>
            <a:r>
              <a:rPr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440" y="1645920"/>
            <a:ext cx="3840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 b="1">
                <a:solidFill>
                  <a:srgbClr val="0A3D69"/>
                </a:solidFill>
                <a:latin typeface="Aptos"/>
              </a:defRPr>
            </a:pPr>
            <a:r>
              <a:t>Limpeza da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440" y="2121408"/>
            <a:ext cx="38862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500" b="0">
                <a:solidFill>
                  <a:srgbClr val="23313C"/>
                </a:solidFill>
                <a:latin typeface="Aptos"/>
              </a:defRPr>
            </a:pPr>
            <a:r>
              <a:t>Revisão e limpeza dos dados disponíveis na base de dados.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5320" y="3844160"/>
            <a:ext cx="5166360" cy="1451739"/>
          </a:xfrm>
          <a:prstGeom prst="roundRect">
            <a:avLst/>
          </a:prstGeom>
          <a:solidFill>
            <a:srgbClr val="E7F3FA"/>
          </a:solidFill>
          <a:ln>
            <a:solidFill>
              <a:srgbClr val="C8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3920" y="3886200"/>
            <a:ext cx="731520" cy="477054"/>
          </a:xfrm>
          <a:prstGeom prst="rect">
            <a:avLst/>
          </a:prstGeom>
          <a:solidFill>
            <a:schemeClr val="bg2"/>
          </a:solidFill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500" b="1">
                <a:solidFill>
                  <a:srgbClr val="009196"/>
                </a:solidFill>
                <a:latin typeface="Aptos"/>
              </a:defRPr>
            </a:pPr>
            <a:r>
              <a:rPr dirty="0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8300" y="3844161"/>
            <a:ext cx="3840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 b="1">
                <a:solidFill>
                  <a:srgbClr val="0A3D69"/>
                </a:solidFill>
                <a:latin typeface="Aptos"/>
              </a:defRPr>
            </a:pPr>
            <a:r>
              <a:rPr dirty="0" err="1"/>
              <a:t>Reclassificação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615440" y="4361688"/>
            <a:ext cx="38862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500" b="0">
                <a:solidFill>
                  <a:srgbClr val="23313C"/>
                </a:solidFill>
                <a:latin typeface="Aptos"/>
              </a:defRPr>
            </a:pPr>
            <a:r>
              <a:t>Actualização da classificação das US com base nos achados recolhidos.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61760" y="3775456"/>
            <a:ext cx="5074920" cy="1508760"/>
          </a:xfrm>
          <a:prstGeom prst="roundRect">
            <a:avLst/>
          </a:prstGeom>
          <a:solidFill>
            <a:srgbClr val="F6F9FB"/>
          </a:solidFill>
          <a:ln>
            <a:solidFill>
              <a:srgbClr val="C8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98920" y="3886200"/>
            <a:ext cx="731520" cy="477054"/>
          </a:xfrm>
          <a:prstGeom prst="rect">
            <a:avLst/>
          </a:prstGeom>
          <a:solidFill>
            <a:schemeClr val="bg2"/>
          </a:solidFill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500" b="1">
                <a:solidFill>
                  <a:srgbClr val="009196"/>
                </a:solidFill>
                <a:latin typeface="Aptos"/>
              </a:defRPr>
            </a:pPr>
            <a:r>
              <a:rPr dirty="0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0440" y="3886200"/>
            <a:ext cx="3840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 b="1">
                <a:solidFill>
                  <a:srgbClr val="0A3D69"/>
                </a:solidFill>
                <a:latin typeface="Aptos"/>
              </a:defRPr>
            </a:pPr>
            <a:r>
              <a:t>Priorização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0440" y="4361688"/>
            <a:ext cx="38862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500" b="0">
                <a:solidFill>
                  <a:srgbClr val="23313C"/>
                </a:solidFill>
                <a:latin typeface="Aptos"/>
              </a:defRPr>
            </a:pPr>
            <a:r>
              <a:t>Definição das US a considerar na fase actual do piloto.</a:t>
            </a:r>
          </a:p>
        </p:txBody>
      </p:sp>
    </p:spTree>
    <p:extLst>
      <p:ext uri="{BB962C8B-B14F-4D97-AF65-F5344CB8AC3E}">
        <p14:creationId xmlns:p14="http://schemas.microsoft.com/office/powerpoint/2010/main" val="2900447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5250"/>
            <a:ext cx="10298348" cy="758823"/>
          </a:xfrm>
        </p:spPr>
        <p:txBody>
          <a:bodyPr/>
          <a:lstStyle/>
          <a:p>
            <a:br>
              <a:rPr lang="pt-PT" dirty="0"/>
            </a:br>
            <a:r>
              <a:rPr lang="pt-PT" dirty="0"/>
              <a:t>Unidades Sanitárias priorizadas</a:t>
            </a:r>
            <a:br>
              <a:rPr lang="pt-PT" dirty="0"/>
            </a:br>
            <a:endParaRPr lang="pt-PT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854073"/>
            <a:ext cx="10972800" cy="6003927"/>
          </a:xfrm>
        </p:spPr>
        <p:txBody>
          <a:bodyPr/>
          <a:lstStyle/>
          <a:p>
            <a:pPr marL="114300" indent="0">
              <a:buNone/>
            </a:pPr>
            <a:r>
              <a:rPr lang="pt-PT" sz="2000" dirty="0">
                <a:latin typeface="+mn-lt"/>
              </a:rPr>
              <a:t>Para a presente fase, foram priorizadas as seguintes cinco Unidades Sanitárias:</a:t>
            </a:r>
          </a:p>
          <a:p>
            <a:pPr marL="114300" indent="0">
              <a:buNone/>
            </a:pPr>
            <a:r>
              <a:rPr lang="pt-PT" dirty="0"/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16</a:t>
            </a:fld>
            <a:endParaRPr lang="pt-PT"/>
          </a:p>
        </p:txBody>
      </p:sp>
      <p:sp>
        <p:nvSpPr>
          <p:cNvPr id="5" name="Oval 4"/>
          <p:cNvSpPr/>
          <p:nvPr/>
        </p:nvSpPr>
        <p:spPr>
          <a:xfrm>
            <a:off x="1277112" y="1495044"/>
            <a:ext cx="457200" cy="457200"/>
          </a:xfrm>
          <a:prstGeom prst="ellipse">
            <a:avLst/>
          </a:prstGeom>
          <a:solidFill>
            <a:srgbClr val="18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1752599" y="2296095"/>
            <a:ext cx="4572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chemeClr val="tx2">
                    <a:lumMod val="25000"/>
                  </a:schemeClr>
                </a:solidFill>
              </a:rPr>
              <a:t>1</a:t>
            </a:r>
          </a:p>
        </p:txBody>
      </p:sp>
      <p:sp>
        <p:nvSpPr>
          <p:cNvPr id="7" name="TextBox 8"/>
          <p:cNvSpPr txBox="1"/>
          <p:nvPr/>
        </p:nvSpPr>
        <p:spPr>
          <a:xfrm>
            <a:off x="1734312" y="1547627"/>
            <a:ext cx="8503920" cy="4001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 b="1">
                <a:solidFill>
                  <a:srgbClr val="0A3D69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25000"/>
                  </a:schemeClr>
                </a:solidFill>
              </a:rPr>
              <a:t>CS de </a:t>
            </a:r>
            <a:r>
              <a:rPr dirty="0" err="1">
                <a:solidFill>
                  <a:schemeClr val="tx2">
                    <a:lumMod val="25000"/>
                  </a:schemeClr>
                </a:solidFill>
              </a:rPr>
              <a:t>Xipamanine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12520" y="2244852"/>
            <a:ext cx="99669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0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277112" y="2327148"/>
            <a:ext cx="457200" cy="457200"/>
          </a:xfrm>
          <a:prstGeom prst="ellipse">
            <a:avLst/>
          </a:prstGeom>
          <a:solidFill>
            <a:srgbClr val="399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1277112" y="2428065"/>
            <a:ext cx="4572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chemeClr val="tx2">
                    <a:lumMod val="25000"/>
                  </a:schemeClr>
                </a:solidFill>
              </a:rPr>
              <a:t>2</a:t>
            </a:r>
          </a:p>
        </p:txBody>
      </p:sp>
      <p:sp>
        <p:nvSpPr>
          <p:cNvPr id="11" name="TextBox 12"/>
          <p:cNvSpPr txBox="1"/>
          <p:nvPr/>
        </p:nvSpPr>
        <p:spPr>
          <a:xfrm>
            <a:off x="1981199" y="2346549"/>
            <a:ext cx="8503920" cy="4001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 b="1">
                <a:solidFill>
                  <a:srgbClr val="0A3D69"/>
                </a:solidFill>
                <a:latin typeface="Aptos"/>
              </a:defRPr>
            </a:pPr>
            <a:r>
              <a:rPr>
                <a:solidFill>
                  <a:schemeClr val="tx2">
                    <a:lumMod val="25000"/>
                  </a:schemeClr>
                </a:solidFill>
              </a:rPr>
              <a:t>CS de 1 de Junho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0094" y="3107470"/>
            <a:ext cx="99669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0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1277112" y="3159251"/>
            <a:ext cx="457200" cy="457200"/>
          </a:xfrm>
          <a:prstGeom prst="ellipse">
            <a:avLst/>
          </a:prstGeom>
          <a:solidFill>
            <a:srgbClr val="73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14" name="TextBox 15"/>
          <p:cNvSpPr txBox="1"/>
          <p:nvPr/>
        </p:nvSpPr>
        <p:spPr>
          <a:xfrm>
            <a:off x="1277112" y="3260168"/>
            <a:ext cx="4572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chemeClr val="tx2">
                    <a:lumMod val="25000"/>
                  </a:schemeClr>
                </a:solidFill>
              </a:rPr>
              <a:t>3</a:t>
            </a:r>
          </a:p>
        </p:txBody>
      </p:sp>
      <p:sp>
        <p:nvSpPr>
          <p:cNvPr id="15" name="TextBox 16"/>
          <p:cNvSpPr txBox="1"/>
          <p:nvPr/>
        </p:nvSpPr>
        <p:spPr>
          <a:xfrm>
            <a:off x="1981199" y="3178653"/>
            <a:ext cx="8503920" cy="4001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 b="1">
                <a:solidFill>
                  <a:srgbClr val="0A3D69"/>
                </a:solidFill>
                <a:latin typeface="Aptos"/>
              </a:defRPr>
            </a:pPr>
            <a:r>
              <a:rPr>
                <a:solidFill>
                  <a:schemeClr val="tx2">
                    <a:lumMod val="25000"/>
                  </a:schemeClr>
                </a:solidFill>
              </a:rPr>
              <a:t>CS de Bagamoyo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2520" y="3909060"/>
            <a:ext cx="99669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0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1277112" y="3991356"/>
            <a:ext cx="457200" cy="457200"/>
          </a:xfrm>
          <a:prstGeom prst="ellipse">
            <a:avLst/>
          </a:prstGeom>
          <a:solidFill>
            <a:srgbClr val="DD8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18" name="TextBox 19"/>
          <p:cNvSpPr txBox="1"/>
          <p:nvPr/>
        </p:nvSpPr>
        <p:spPr>
          <a:xfrm>
            <a:off x="1277112" y="4092273"/>
            <a:ext cx="4572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chemeClr val="tx2">
                    <a:lumMod val="25000"/>
                  </a:schemeClr>
                </a:solidFill>
              </a:rPr>
              <a:t>4</a:t>
            </a:r>
          </a:p>
        </p:txBody>
      </p:sp>
      <p:sp>
        <p:nvSpPr>
          <p:cNvPr id="19" name="TextBox 20"/>
          <p:cNvSpPr txBox="1"/>
          <p:nvPr/>
        </p:nvSpPr>
        <p:spPr>
          <a:xfrm>
            <a:off x="1981199" y="4010757"/>
            <a:ext cx="8503920" cy="4001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 b="1">
                <a:solidFill>
                  <a:srgbClr val="0A3D69"/>
                </a:solidFill>
                <a:latin typeface="Aptos"/>
              </a:defRPr>
            </a:pPr>
            <a:r>
              <a:rPr>
                <a:solidFill>
                  <a:schemeClr val="tx2">
                    <a:lumMod val="25000"/>
                  </a:schemeClr>
                </a:solidFill>
              </a:rPr>
              <a:t>CS de José Macamo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12520" y="4741164"/>
            <a:ext cx="99669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0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1277112" y="4823460"/>
            <a:ext cx="457200" cy="457200"/>
          </a:xfrm>
          <a:prstGeom prst="ellipse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22" name="TextBox 23"/>
          <p:cNvSpPr txBox="1"/>
          <p:nvPr/>
        </p:nvSpPr>
        <p:spPr>
          <a:xfrm>
            <a:off x="1277112" y="4924377"/>
            <a:ext cx="4572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chemeClr val="tx2">
                    <a:lumMod val="25000"/>
                  </a:schemeClr>
                </a:solidFill>
              </a:rPr>
              <a:t>5</a:t>
            </a:r>
          </a:p>
        </p:txBody>
      </p:sp>
      <p:sp>
        <p:nvSpPr>
          <p:cNvPr id="23" name="TextBox 24"/>
          <p:cNvSpPr txBox="1"/>
          <p:nvPr/>
        </p:nvSpPr>
        <p:spPr>
          <a:xfrm>
            <a:off x="1981199" y="4842861"/>
            <a:ext cx="8503920" cy="4001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 b="1">
                <a:solidFill>
                  <a:srgbClr val="0A3D69"/>
                </a:solidFill>
                <a:latin typeface="Aptos"/>
              </a:defRPr>
            </a:pPr>
            <a:r>
              <a:rPr>
                <a:solidFill>
                  <a:schemeClr val="tx2">
                    <a:lumMod val="25000"/>
                  </a:schemeClr>
                </a:solidFill>
              </a:rPr>
              <a:t>CS de Malhangalene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12520" y="1362581"/>
            <a:ext cx="99669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0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256792" y="1432687"/>
            <a:ext cx="457200" cy="457200"/>
          </a:xfrm>
          <a:prstGeom prst="ellipse">
            <a:avLst/>
          </a:prstGeom>
          <a:solidFill>
            <a:srgbClr val="18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7" name="TextBox 7"/>
          <p:cNvSpPr txBox="1"/>
          <p:nvPr/>
        </p:nvSpPr>
        <p:spPr>
          <a:xfrm>
            <a:off x="1236471" y="1524762"/>
            <a:ext cx="457200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dirty="0"/>
              <a:t>1</a:t>
            </a:r>
          </a:p>
        </p:txBody>
      </p:sp>
      <p:sp>
        <p:nvSpPr>
          <p:cNvPr id="28" name="TextBox 8"/>
          <p:cNvSpPr txBox="1"/>
          <p:nvPr/>
        </p:nvSpPr>
        <p:spPr>
          <a:xfrm>
            <a:off x="1734312" y="1461232"/>
            <a:ext cx="8503920" cy="4001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 b="1">
                <a:solidFill>
                  <a:srgbClr val="0A3D69"/>
                </a:solidFill>
                <a:latin typeface="Aptos"/>
              </a:defRPr>
            </a:pPr>
            <a:r>
              <a:rPr lang="pt-PT" dirty="0"/>
              <a:t>   </a:t>
            </a:r>
            <a:r>
              <a:rPr dirty="0">
                <a:solidFill>
                  <a:schemeClr val="tx2">
                    <a:lumMod val="25000"/>
                  </a:schemeClr>
                </a:solidFill>
              </a:rPr>
              <a:t>CS de </a:t>
            </a:r>
            <a:r>
              <a:rPr dirty="0" err="1">
                <a:solidFill>
                  <a:schemeClr val="tx2">
                    <a:lumMod val="25000"/>
                  </a:schemeClr>
                </a:solidFill>
              </a:rPr>
              <a:t>Xipamanine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112520" y="5468108"/>
            <a:ext cx="99345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PT" sz="1800" dirty="0"/>
              <a:t>Foi considerado para a escolha de Unidades Sanitárias, as condições mínimas para a realização do piloto </a:t>
            </a:r>
            <a:r>
              <a:rPr lang="pt-PT" sz="1800" dirty="0" err="1"/>
              <a:t>perspectivando</a:t>
            </a:r>
            <a:r>
              <a:rPr lang="pt-PT" sz="1800" dirty="0"/>
              <a:t> a  consolidação e validação do sistema em si e também pelo facto de estar se a  implementar uma abordagem de teste do sistema em paralelo ao seu desenvolvimento).</a:t>
            </a:r>
          </a:p>
        </p:txBody>
      </p:sp>
    </p:spTree>
    <p:extLst>
      <p:ext uri="{BB962C8B-B14F-4D97-AF65-F5344CB8AC3E}">
        <p14:creationId xmlns:p14="http://schemas.microsoft.com/office/powerpoint/2010/main" val="412801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>
          <a:extLst>
            <a:ext uri="{FF2B5EF4-FFF2-40B4-BE49-F238E27FC236}">
              <a16:creationId xmlns:a16="http://schemas.microsoft.com/office/drawing/2014/main" id="{00A77897-B6C8-EB2A-2532-99AABC30D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4">
            <a:extLst>
              <a:ext uri="{FF2B5EF4-FFF2-40B4-BE49-F238E27FC236}">
                <a16:creationId xmlns:a16="http://schemas.microsoft.com/office/drawing/2014/main" id="{96E5D06E-8952-91DE-E24C-E7F2DC6944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2329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17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E73256-BD2D-3E29-023B-DB582C1A7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1352" y="-167583"/>
            <a:ext cx="8737600" cy="1200150"/>
          </a:xfrm>
        </p:spPr>
        <p:txBody>
          <a:bodyPr/>
          <a:lstStyle/>
          <a:p>
            <a:r>
              <a:rPr lang="pt-PT" sz="3200" dirty="0" err="1">
                <a:solidFill>
                  <a:srgbClr val="2129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Actividades</a:t>
            </a:r>
            <a:r>
              <a:rPr lang="pt-PT" sz="3200" dirty="0">
                <a:solidFill>
                  <a:srgbClr val="2129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realizadas/em curso</a:t>
            </a: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D6F1D299-2C49-CE9B-B199-4408A6D0921A}"/>
              </a:ext>
            </a:extLst>
          </p:cNvPr>
          <p:cNvSpPr txBox="1"/>
          <p:nvPr/>
        </p:nvSpPr>
        <p:spPr>
          <a:xfrm>
            <a:off x="765556" y="6631901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dirty="0">
                <a:solidFill>
                  <a:srgbClr val="5B6B73"/>
                </a:solidFill>
                <a:latin typeface="Calibri"/>
              </a:rPr>
              <a:t>LI </a:t>
            </a:r>
            <a:r>
              <a:rPr sz="900" dirty="0" err="1">
                <a:solidFill>
                  <a:srgbClr val="5B6B73"/>
                </a:solidFill>
                <a:latin typeface="Calibri"/>
              </a:rPr>
              <a:t>Conselho</a:t>
            </a:r>
            <a:r>
              <a:rPr sz="900" dirty="0">
                <a:solidFill>
                  <a:srgbClr val="5B6B73"/>
                </a:solidFill>
                <a:latin typeface="Calibri"/>
              </a:rPr>
              <a:t> </a:t>
            </a:r>
            <a:r>
              <a:rPr sz="900" dirty="0" err="1">
                <a:solidFill>
                  <a:srgbClr val="5B6B73"/>
                </a:solidFill>
                <a:latin typeface="Calibri"/>
              </a:rPr>
              <a:t>Coordenador</a:t>
            </a:r>
            <a:r>
              <a:rPr sz="900" dirty="0">
                <a:solidFill>
                  <a:srgbClr val="5B6B73"/>
                </a:solidFill>
                <a:latin typeface="Calibri"/>
              </a:rPr>
              <a:t> de </a:t>
            </a:r>
            <a:r>
              <a:rPr sz="900" dirty="0" err="1">
                <a:solidFill>
                  <a:srgbClr val="5B6B73"/>
                </a:solidFill>
                <a:latin typeface="Calibri"/>
              </a:rPr>
              <a:t>Saúde</a:t>
            </a:r>
            <a:r>
              <a:rPr sz="900" dirty="0">
                <a:solidFill>
                  <a:srgbClr val="5B6B73"/>
                </a:solidFill>
                <a:latin typeface="Calibri"/>
              </a:rPr>
              <a:t> · SIS-RME</a:t>
            </a:r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D6598EC3-7042-6B3B-633B-E11A24AED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263640"/>
            <a:ext cx="384048" cy="4114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35FAC9-93BE-6B02-647A-34D5BCDAD352}"/>
              </a:ext>
            </a:extLst>
          </p:cNvPr>
          <p:cNvSpPr txBox="1"/>
          <p:nvPr/>
        </p:nvSpPr>
        <p:spPr>
          <a:xfrm>
            <a:off x="314064" y="997687"/>
            <a:ext cx="5969778" cy="45858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Actividades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curso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3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Estabelecimento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do Departamento 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Saúde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Digital,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deve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ser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alinhado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processo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reformas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curso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285750" lvl="3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SIS-RME: </a:t>
            </a:r>
          </a:p>
          <a:p>
            <a:pPr lvl="8" algn="just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   Em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curso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finalização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do teste 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usuário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no CS de Polana Cimento; </a:t>
            </a:r>
          </a:p>
          <a:p>
            <a:pPr lvl="3" algn="just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Até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final do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ano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de 2026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5 US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iniciarão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piloto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(CS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Xipamanine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, Bagamoyo, José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Macamo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Mavalane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Malhangalene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pPr lvl="3" algn="just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Expansão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para 100 US no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ano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2027;</a:t>
            </a:r>
          </a:p>
          <a:p>
            <a:pPr marL="285750" lvl="3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latin typeface="Calibri" panose="020F0502020204030204" pitchFamily="34" charset="0"/>
                <a:cs typeface="Calibri" panose="020F0502020204030204" pitchFamily="34" charset="0"/>
              </a:rPr>
              <a:t>SIS-H (Sistema eletrônico de registo Hospitalar): </a:t>
            </a:r>
          </a:p>
          <a:p>
            <a:pPr marL="285750" lvl="3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latin typeface="Calibri" panose="020F0502020204030204" pitchFamily="34" charset="0"/>
                <a:cs typeface="Calibri" panose="020F0502020204030204" pitchFamily="34" charset="0"/>
              </a:rPr>
              <a:t>Em desenvolvimento o piloto para registo e marcação de consultas externas de Cirurgia no HC Maputo;</a:t>
            </a:r>
          </a:p>
          <a:p>
            <a:pPr marL="285750" lvl="3" indent="-285750" algn="just">
              <a:buFont typeface="Arial" panose="020B0604020202020204" pitchFamily="34" charset="0"/>
              <a:buChar char="•"/>
            </a:pPr>
            <a:r>
              <a:rPr lang="pt-BR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SIS-Lab</a:t>
            </a:r>
            <a:r>
              <a:rPr lang="pt-BR" sz="1600" dirty="0">
                <a:latin typeface="Calibri" panose="020F0502020204030204" pitchFamily="34" charset="0"/>
                <a:cs typeface="Calibri" panose="020F0502020204030204" pitchFamily="34" charset="0"/>
              </a:rPr>
              <a:t> (sistema eletrônico de gestão de laboratório): está sendo ainda desenvolvido e testado no HCM. Quando finalizado será implementado em todos os laboratórios do país a interoperar com outros sistemas como o SIS-RME para completar o ciclo de atendimento ao utente;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3B1557-86CE-D1EA-5A49-12887EF7ED5B}"/>
              </a:ext>
            </a:extLst>
          </p:cNvPr>
          <p:cNvSpPr txBox="1"/>
          <p:nvPr/>
        </p:nvSpPr>
        <p:spPr>
          <a:xfrm>
            <a:off x="6531993" y="2518144"/>
            <a:ext cx="5450899" cy="29392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Implementação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no Hospital Central de Maputo: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Em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curso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avaliação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da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prontidão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levantamento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das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necessidades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infraestrutura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de rede,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dispositivos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respeitando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fluxo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funcionamento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do Hospital (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Levantamento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faseado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serviços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blocos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Planificado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teste do Sistema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eletrónico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nas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consultas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externas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do HCM.</a:t>
            </a:r>
            <a:endParaRPr lang="pt-B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3" indent="-285750">
              <a:buFont typeface="Arial" panose="020B0604020202020204" pitchFamily="34" charset="0"/>
              <a:buChar char="•"/>
            </a:pPr>
            <a:endParaRPr lang="pt-MZ" dirty="0"/>
          </a:p>
        </p:txBody>
      </p:sp>
    </p:spTree>
    <p:extLst>
      <p:ext uri="{BB962C8B-B14F-4D97-AF65-F5344CB8AC3E}">
        <p14:creationId xmlns:p14="http://schemas.microsoft.com/office/powerpoint/2010/main" val="2661367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39D32-3A2D-957F-C693-D82532C9F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8F551-738F-FEA8-A9CC-932FD0F4A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645" y="182880"/>
            <a:ext cx="8737600" cy="1200150"/>
          </a:xfrm>
        </p:spPr>
        <p:txBody>
          <a:bodyPr/>
          <a:lstStyle/>
          <a:p>
            <a:r>
              <a:rPr lang="en-MZ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Transição do SESP para o SIS-RME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F2D2E77-9FFD-6B65-2DF9-F50688433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005924"/>
              </p:ext>
            </p:extLst>
          </p:nvPr>
        </p:nvGraphicFramePr>
        <p:xfrm>
          <a:off x="749808" y="1583378"/>
          <a:ext cx="10824261" cy="25304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04062">
                  <a:extLst>
                    <a:ext uri="{9D8B030D-6E8A-4147-A177-3AD203B41FA5}">
                      <a16:colId xmlns:a16="http://schemas.microsoft.com/office/drawing/2014/main" val="3943366084"/>
                    </a:ext>
                  </a:extLst>
                </a:gridCol>
                <a:gridCol w="1819158">
                  <a:extLst>
                    <a:ext uri="{9D8B030D-6E8A-4147-A177-3AD203B41FA5}">
                      <a16:colId xmlns:a16="http://schemas.microsoft.com/office/drawing/2014/main" val="4254644533"/>
                    </a:ext>
                  </a:extLst>
                </a:gridCol>
                <a:gridCol w="1474996">
                  <a:extLst>
                    <a:ext uri="{9D8B030D-6E8A-4147-A177-3AD203B41FA5}">
                      <a16:colId xmlns:a16="http://schemas.microsoft.com/office/drawing/2014/main" val="4032932973"/>
                    </a:ext>
                  </a:extLst>
                </a:gridCol>
                <a:gridCol w="1263862">
                  <a:extLst>
                    <a:ext uri="{9D8B030D-6E8A-4147-A177-3AD203B41FA5}">
                      <a16:colId xmlns:a16="http://schemas.microsoft.com/office/drawing/2014/main" val="3516577555"/>
                    </a:ext>
                  </a:extLst>
                </a:gridCol>
                <a:gridCol w="1254061">
                  <a:extLst>
                    <a:ext uri="{9D8B030D-6E8A-4147-A177-3AD203B41FA5}">
                      <a16:colId xmlns:a16="http://schemas.microsoft.com/office/drawing/2014/main" val="964433039"/>
                    </a:ext>
                  </a:extLst>
                </a:gridCol>
                <a:gridCol w="1254061">
                  <a:extLst>
                    <a:ext uri="{9D8B030D-6E8A-4147-A177-3AD203B41FA5}">
                      <a16:colId xmlns:a16="http://schemas.microsoft.com/office/drawing/2014/main" val="3450368840"/>
                    </a:ext>
                  </a:extLst>
                </a:gridCol>
                <a:gridCol w="1254061">
                  <a:extLst>
                    <a:ext uri="{9D8B030D-6E8A-4147-A177-3AD203B41FA5}">
                      <a16:colId xmlns:a16="http://schemas.microsoft.com/office/drawing/2014/main" val="3774166328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b="1" cap="small" dirty="0">
                          <a:effectLst/>
                          <a:latin typeface="Calibri" panose="020F0502020204030204" pitchFamily="34" charset="0"/>
                          <a:ea typeface="Calibri" panose="02020603050405020304" pitchFamily="18" charset="0"/>
                          <a:cs typeface="Calibri" panose="020F0502020204030204" pitchFamily="34" charset="0"/>
                        </a:rPr>
                        <a:t>SIS-RME</a:t>
                      </a:r>
                      <a:endParaRPr lang="en-MZ" sz="1400" b="1" dirty="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180975" indent="-180975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b="1" cap="small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2025</a:t>
                      </a:r>
                      <a:endParaRPr lang="en-MZ" sz="1400" b="1" dirty="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b="1" cap="small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2026</a:t>
                      </a:r>
                      <a:endParaRPr lang="en-MZ" sz="1400" b="1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b="1" cap="small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2027</a:t>
                      </a:r>
                      <a:endParaRPr lang="en-MZ" sz="1400" b="1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b="1" cap="small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2028</a:t>
                      </a:r>
                      <a:endParaRPr lang="en-MZ" sz="1400" b="1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b="1" cap="small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2029</a:t>
                      </a:r>
                      <a:endParaRPr lang="en-MZ" sz="1400" b="1" dirty="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b="1" cap="small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2030</a:t>
                      </a:r>
                      <a:endParaRPr lang="en-MZ" sz="1400" b="1" dirty="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extLst>
                  <a:ext uri="{0D108BD9-81ED-4DB2-BD59-A6C34878D82A}">
                    <a16:rowId xmlns:a16="http://schemas.microsoft.com/office/drawing/2014/main" val="292784512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457200" indent="-27432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cap="small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SIS-RME</a:t>
                      </a:r>
                      <a:endParaRPr lang="en-MZ" sz="14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457200" indent="-27432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cap="small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SIS-H </a:t>
                      </a:r>
                      <a:endParaRPr lang="en-MZ" sz="1400" dirty="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ea typeface="Calibri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36</a:t>
                      </a: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156</a:t>
                      </a:r>
                    </a:p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200" dirty="0">
                          <a:effectLst/>
                          <a:latin typeface="Calibri" panose="020F0502020204030204" pitchFamily="34" charset="0"/>
                          <a:ea typeface="Calibri" panose="02020603050405020304" pitchFamily="18" charset="0"/>
                          <a:cs typeface="Calibri" panose="020F0502020204030204" pitchFamily="34" charset="0"/>
                        </a:rPr>
                        <a:t>(120)</a:t>
                      </a: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ea typeface="Calibri" panose="02020603050405020304" pitchFamily="18" charset="0"/>
                          <a:cs typeface="Calibri" panose="020F0502020204030204" pitchFamily="34" charset="0"/>
                        </a:rPr>
                        <a:t>323</a:t>
                      </a:r>
                    </a:p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200" dirty="0">
                          <a:effectLst/>
                          <a:latin typeface="Calibri" panose="020F0502020204030204" pitchFamily="34" charset="0"/>
                          <a:ea typeface="Calibri" panose="02020603050405020304" pitchFamily="18" charset="0"/>
                          <a:cs typeface="Calibri" panose="020F0502020204030204" pitchFamily="34" charset="0"/>
                        </a:rPr>
                        <a:t>(167)</a:t>
                      </a: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ea typeface="Calibri" panose="02020603050405020304" pitchFamily="18" charset="0"/>
                          <a:cs typeface="Calibri" panose="020F0502020204030204" pitchFamily="34" charset="0"/>
                        </a:rPr>
                        <a:t>523</a:t>
                      </a:r>
                    </a:p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200" dirty="0">
                          <a:effectLst/>
                          <a:latin typeface="Calibri" panose="020F0502020204030204" pitchFamily="34" charset="0"/>
                          <a:ea typeface="Calibri" panose="02020603050405020304" pitchFamily="18" charset="0"/>
                          <a:cs typeface="Calibri" panose="020F0502020204030204" pitchFamily="34" charset="0"/>
                        </a:rPr>
                        <a:t>(200)</a:t>
                      </a: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ea typeface="Calibri" panose="02020603050405020304" pitchFamily="18" charset="0"/>
                          <a:cs typeface="Calibri" panose="020F0502020204030204" pitchFamily="34" charset="0"/>
                        </a:rPr>
                        <a:t>823</a:t>
                      </a:r>
                    </a:p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200" dirty="0">
                          <a:effectLst/>
                          <a:latin typeface="Calibri" panose="020F0502020204030204" pitchFamily="34" charset="0"/>
                          <a:ea typeface="Calibri" panose="02020603050405020304" pitchFamily="18" charset="0"/>
                          <a:cs typeface="Calibri" panose="020F0502020204030204" pitchFamily="34" charset="0"/>
                        </a:rPr>
                        <a:t>(300)</a:t>
                      </a:r>
                    </a:p>
                  </a:txBody>
                  <a:tcPr marL="73025" marR="73025" marT="0" marB="0" anchor="ctr"/>
                </a:tc>
                <a:extLst>
                  <a:ext uri="{0D108BD9-81ED-4DB2-BD59-A6C34878D82A}">
                    <a16:rowId xmlns:a16="http://schemas.microsoft.com/office/drawing/2014/main" val="2027086952"/>
                  </a:ext>
                </a:extLst>
              </a:tr>
              <a:tr h="591291">
                <a:tc>
                  <a:txBody>
                    <a:bodyPr/>
                    <a:lstStyle/>
                    <a:p>
                      <a:pPr marL="17145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cap="small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Retrospetiva SIS-RME</a:t>
                      </a:r>
                      <a:endParaRPr lang="en-MZ" sz="1400" dirty="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MZ" sz="1400" dirty="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220</a:t>
                      </a:r>
                      <a:endParaRPr lang="en-MZ" sz="1400" dirty="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544</a:t>
                      </a:r>
                      <a:endParaRPr lang="en-MZ" sz="140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414</a:t>
                      </a:r>
                      <a:endParaRPr lang="en-MZ" sz="1400" dirty="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214</a:t>
                      </a:r>
                      <a:endParaRPr lang="en-MZ" sz="1400" dirty="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MZ" sz="1400" dirty="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extLst>
                  <a:ext uri="{0D108BD9-81ED-4DB2-BD59-A6C34878D82A}">
                    <a16:rowId xmlns:a16="http://schemas.microsoft.com/office/drawing/2014/main" val="4036164459"/>
                  </a:ext>
                </a:extLst>
              </a:tr>
              <a:tr h="418699">
                <a:tc>
                  <a:txBody>
                    <a:bodyPr/>
                    <a:lstStyle/>
                    <a:p>
                      <a:pPr marL="457200" indent="-27432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cap="small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SESP </a:t>
                      </a:r>
                      <a:r>
                        <a:rPr lang="en-MZ" sz="1400" cap="non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MZ" sz="1400" cap="small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(Apenas HIV)</a:t>
                      </a:r>
                      <a:endParaRPr lang="en-MZ" sz="1400" dirty="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674</a:t>
                      </a:r>
                      <a:endParaRPr lang="en-MZ" sz="1400" dirty="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424</a:t>
                      </a:r>
                      <a:endParaRPr lang="en-MZ" sz="1400" dirty="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MZ" sz="1400" dirty="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MZ" sz="1400" dirty="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MZ" sz="140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MZ" sz="1400" dirty="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extLst>
                  <a:ext uri="{0D108BD9-81ED-4DB2-BD59-A6C34878D82A}">
                    <a16:rowId xmlns:a16="http://schemas.microsoft.com/office/drawing/2014/main" val="2150832747"/>
                  </a:ext>
                </a:extLst>
              </a:tr>
              <a:tr h="548864">
                <a:tc>
                  <a:txBody>
                    <a:bodyPr/>
                    <a:lstStyle/>
                    <a:p>
                      <a:pPr marL="171450" indent="-11430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cap="small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 de locais com RME</a:t>
                      </a:r>
                      <a:endParaRPr lang="en-MZ" sz="1400" dirty="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679</a:t>
                      </a:r>
                      <a:endParaRPr lang="en-MZ" sz="1400" dirty="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680</a:t>
                      </a:r>
                      <a:endParaRPr lang="en-MZ" sz="1400" dirty="0">
                        <a:effectLst/>
                        <a:latin typeface="Calibri" panose="020F0502020204030204" pitchFamily="34" charset="0"/>
                        <a:ea typeface="Calibri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ea typeface="Calibri" panose="02020603050405020304" pitchFamily="18" charset="0"/>
                          <a:cs typeface="Calibri" panose="020F0502020204030204" pitchFamily="34" charset="0"/>
                        </a:rPr>
                        <a:t>700</a:t>
                      </a: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ea typeface="Calibri" panose="02020603050405020304" pitchFamily="18" charset="0"/>
                          <a:cs typeface="Calibri" panose="020F0502020204030204" pitchFamily="34" charset="0"/>
                        </a:rPr>
                        <a:t>737</a:t>
                      </a: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ea typeface="Calibri" panose="02020603050405020304" pitchFamily="18" charset="0"/>
                          <a:cs typeface="Calibri" panose="020F0502020204030204" pitchFamily="34" charset="0"/>
                        </a:rPr>
                        <a:t>737</a:t>
                      </a: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457200" indent="-27432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MZ" sz="1400" dirty="0">
                          <a:effectLst/>
                          <a:latin typeface="Calibri" panose="020F0502020204030204" pitchFamily="34" charset="0"/>
                          <a:ea typeface="Calibri" panose="02020603050405020304" pitchFamily="18" charset="0"/>
                          <a:cs typeface="Calibri" panose="020F0502020204030204" pitchFamily="34" charset="0"/>
                        </a:rPr>
                        <a:t>823</a:t>
                      </a:r>
                    </a:p>
                  </a:txBody>
                  <a:tcPr marL="73025" marR="73025" marT="0" marB="0" anchor="ctr"/>
                </a:tc>
                <a:extLst>
                  <a:ext uri="{0D108BD9-81ED-4DB2-BD59-A6C34878D82A}">
                    <a16:rowId xmlns:a16="http://schemas.microsoft.com/office/drawing/2014/main" val="12264974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8D693A-7847-45A0-9FEE-99BB1382BCFB}"/>
              </a:ext>
            </a:extLst>
          </p:cNvPr>
          <p:cNvSpPr txBox="1"/>
          <p:nvPr/>
        </p:nvSpPr>
        <p:spPr>
          <a:xfrm>
            <a:off x="1085912" y="4630888"/>
            <a:ext cx="11106088" cy="128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alibri" panose="020B0604020202020204" pitchFamily="34" charset="0"/>
              <a:buChar char="•"/>
            </a:pPr>
            <a:r>
              <a:rPr lang="pt-PT" sz="1800" dirty="0">
                <a:latin typeface="Calibri" panose="020F0502020204030204" pitchFamily="34" charset="0"/>
                <a:cs typeface="Calibri" panose="020F0502020204030204" pitchFamily="34" charset="0"/>
              </a:rPr>
              <a:t>Expansão faseada do SIS – RME para 823 unidades sanitárias até 2030 (Centros de saúde e hospitais).</a:t>
            </a:r>
          </a:p>
          <a:p>
            <a:pPr marL="285750" indent="-285750">
              <a:lnSpc>
                <a:spcPct val="150000"/>
              </a:lnSpc>
              <a:buFont typeface="Calibri" panose="020B0604020202020204" pitchFamily="34" charset="0"/>
              <a:buChar char="•"/>
            </a:pPr>
            <a:r>
              <a:rPr lang="pt-PT" sz="1800" dirty="0">
                <a:latin typeface="Calibri" panose="020F0502020204030204" pitchFamily="34" charset="0"/>
                <a:cs typeface="Calibri" panose="020F0502020204030204" pitchFamily="34" charset="0"/>
              </a:rPr>
              <a:t>Transição da governança do SESP para o MISAU até o final de 2026.</a:t>
            </a:r>
          </a:p>
          <a:p>
            <a:pPr marL="285750" indent="-285750">
              <a:lnSpc>
                <a:spcPct val="150000"/>
              </a:lnSpc>
              <a:buFont typeface="Calibri" panose="020B0604020202020204" pitchFamily="34" charset="0"/>
              <a:buChar char="•"/>
            </a:pPr>
            <a:r>
              <a:rPr lang="pt-PT" sz="1800" dirty="0">
                <a:latin typeface="Calibri" panose="020F0502020204030204" pitchFamily="34" charset="0"/>
                <a:cs typeface="Calibri" panose="020F0502020204030204" pitchFamily="34" charset="0"/>
              </a:rPr>
              <a:t>Substituição completa do  SESP até 2027.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5B6B73"/>
                </a:solidFill>
                <a:latin typeface="Calibri"/>
              </a:rPr>
              <a:t>LI Conselho Coordenador de Saúde · SIS-RME</a:t>
            </a: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A2200FE0-0D56-2DA8-C81D-DE8CA8C8F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263640"/>
            <a:ext cx="384048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258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FF47E496-2EF7-9AC2-79C6-294F2BA26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7">
            <a:extLst>
              <a:ext uri="{FF2B5EF4-FFF2-40B4-BE49-F238E27FC236}">
                <a16:creationId xmlns:a16="http://schemas.microsoft.com/office/drawing/2014/main" id="{5B779C48-89FB-77B5-951A-2BCF15B03D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972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432" name="Google Shape;432;p37">
            <a:extLst>
              <a:ext uri="{FF2B5EF4-FFF2-40B4-BE49-F238E27FC236}">
                <a16:creationId xmlns:a16="http://schemas.microsoft.com/office/drawing/2014/main" id="{6C4B58DE-6FF9-56C5-5171-10050687A8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2329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PT"/>
              <a:t>19</a:t>
            </a:fld>
            <a:endParaRPr/>
          </a:p>
        </p:txBody>
      </p:sp>
      <p:sp>
        <p:nvSpPr>
          <p:cNvPr id="6" name="Google Shape;218;p3">
            <a:extLst>
              <a:ext uri="{FF2B5EF4-FFF2-40B4-BE49-F238E27FC236}">
                <a16:creationId xmlns:a16="http://schemas.microsoft.com/office/drawing/2014/main" id="{B5AC0D63-3442-57F6-7CAB-54C0692DD58B}"/>
              </a:ext>
            </a:extLst>
          </p:cNvPr>
          <p:cNvSpPr txBox="1">
            <a:spLocks/>
          </p:cNvSpPr>
          <p:nvPr/>
        </p:nvSpPr>
        <p:spPr>
          <a:xfrm>
            <a:off x="861236" y="1158874"/>
            <a:ext cx="11111024" cy="5348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1295C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1295C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1295C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libri"/>
              <a:buChar char="•"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libri"/>
              <a:buChar char="•"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libri"/>
              <a:buChar char="•"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libri"/>
              <a:buChar char="•"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marR="0" lvl="0" indent="0" algn="just" defTabSz="914400" rtl="0" eaLnBrk="1" fontAlgn="auto" latinLnBrk="0" hangingPunct="1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libri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Modelo de </a:t>
            </a: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retenção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de </a:t>
            </a: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recursos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</a:t>
            </a: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humanos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</a:t>
            </a: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na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</a:t>
            </a: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área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de </a:t>
            </a: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saúde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digital</a:t>
            </a:r>
          </a:p>
          <a:p>
            <a:pPr marL="4572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libri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Reforço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da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capacidade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institucional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  <a:p>
            <a:pPr marL="914400" marR="0" lvl="1" indent="-342900" algn="just" defTabSz="914400" rtl="0" eaLnBrk="1" fontAlgn="auto" latinLnBrk="0" hangingPunct="1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libri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Fonte Interna: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Capacitação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dos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recursos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humanos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já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existentes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no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quadro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do MISAU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em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matérias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de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saúde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digital;</a:t>
            </a:r>
          </a:p>
          <a:p>
            <a:pPr marL="914400" marR="0" lvl="1" indent="-342900" algn="just" defTabSz="914400" rtl="0" eaLnBrk="1" fontAlgn="auto" latinLnBrk="0" hangingPunct="1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libri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Fonte externa: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Mobilidade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de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pessoal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do SNS de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outras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entidades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capacitação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em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matérias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de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saúde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digital;</a:t>
            </a:r>
          </a:p>
          <a:p>
            <a:pPr marL="914400" marR="0" lvl="1" indent="-342900" algn="just" defTabSz="914400" rtl="0" eaLnBrk="1" fontAlgn="auto" latinLnBrk="0" hangingPunct="1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libri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Contratação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de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recursos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humanos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especializados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em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saúde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digital,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incorporando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um plano de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absorsão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para o Quadro de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pessoal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do MISAU.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312F9AD-A1A2-96B2-BDD8-2545B0D86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5148" y="95250"/>
            <a:ext cx="8737600" cy="1200150"/>
          </a:xfrm>
        </p:spPr>
        <p:txBody>
          <a:bodyPr/>
          <a:lstStyle/>
          <a:p>
            <a:r>
              <a:rPr lang="pt-BR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Retenção de RH na área de Saúde Digital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5B6B73"/>
                </a:solidFill>
                <a:latin typeface="Calibri"/>
              </a:rPr>
              <a:t>LI Conselho Coordenador de Saúde · SIS-RME</a:t>
            </a: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5C719A24-AFDA-9E13-A761-1DA7EAFEA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263640"/>
            <a:ext cx="384048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934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5368-191B-57E0-068B-96A63F217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95250"/>
            <a:ext cx="9993549" cy="1200150"/>
          </a:xfrm>
        </p:spPr>
        <p:txBody>
          <a:bodyPr/>
          <a:lstStyle/>
          <a:p>
            <a:r>
              <a:rPr lang="en-MZ" sz="3200" dirty="0">
                <a:solidFill>
                  <a:srgbClr val="2129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Desafios e Oportunidades</a:t>
            </a:r>
            <a:endParaRPr lang="en-MZ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5CDE6-FFD1-C14B-ACC8-3C3BD53A25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20</a:t>
            </a:fld>
            <a:endParaRPr lang="pt-PT"/>
          </a:p>
        </p:txBody>
      </p:sp>
      <p:sp>
        <p:nvSpPr>
          <p:cNvPr id="5" name="Google Shape;139;p5">
            <a:extLst>
              <a:ext uri="{FF2B5EF4-FFF2-40B4-BE49-F238E27FC236}">
                <a16:creationId xmlns:a16="http://schemas.microsoft.com/office/drawing/2014/main" id="{AA149B5A-845B-E7DB-B60D-159C7D783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199" y="1813560"/>
            <a:ext cx="4941249" cy="48031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Calibri" panose="020B0604020202020204" pitchFamily="34" charset="0"/>
              <a:buChar char="•"/>
            </a:pPr>
            <a:r>
              <a:rPr lang="pt-PT" sz="1400" dirty="0">
                <a:solidFill>
                  <a:schemeClr val="tx1"/>
                </a:solidFill>
              </a:rPr>
              <a:t>Atraso na aprovação das </a:t>
            </a:r>
            <a:r>
              <a:rPr lang="pt-PT" sz="1400" dirty="0" err="1">
                <a:solidFill>
                  <a:schemeClr val="tx1"/>
                </a:solidFill>
              </a:rPr>
              <a:t>actividades</a:t>
            </a:r>
            <a:r>
              <a:rPr lang="pt-PT" sz="1400" dirty="0">
                <a:solidFill>
                  <a:schemeClr val="tx1"/>
                </a:solidFill>
              </a:rPr>
              <a:t> (BM, USG e MISAU);</a:t>
            </a:r>
          </a:p>
          <a:p>
            <a:pPr marL="285750" indent="-285750">
              <a:lnSpc>
                <a:spcPct val="150000"/>
              </a:lnSpc>
              <a:buFont typeface="Calibri" panose="020B0604020202020204" pitchFamily="34" charset="0"/>
              <a:buChar char="•"/>
            </a:pPr>
            <a:r>
              <a:rPr lang="pt-PT" sz="1400" dirty="0">
                <a:solidFill>
                  <a:schemeClr val="tx1"/>
                </a:solidFill>
              </a:rPr>
              <a:t>Atraso no desembolso dos fundos:</a:t>
            </a:r>
          </a:p>
          <a:p>
            <a:pPr marL="742950" lvl="1" indent="-285750">
              <a:lnSpc>
                <a:spcPct val="150000"/>
              </a:lnSpc>
              <a:buFont typeface="Calibri" panose="020B0604020202020204" pitchFamily="34" charset="0"/>
              <a:buChar char="•"/>
            </a:pPr>
            <a:r>
              <a:rPr lang="pt-PT" sz="1200" dirty="0">
                <a:solidFill>
                  <a:schemeClr val="tx1"/>
                </a:solidFill>
              </a:rPr>
              <a:t>Contratação de RH</a:t>
            </a:r>
          </a:p>
          <a:p>
            <a:pPr marL="742950" lvl="1" indent="-285750">
              <a:lnSpc>
                <a:spcPct val="150000"/>
              </a:lnSpc>
              <a:buFont typeface="Calibri" panose="020B0604020202020204" pitchFamily="34" charset="0"/>
              <a:buChar char="•"/>
            </a:pPr>
            <a:r>
              <a:rPr lang="pt-PT" sz="1200" dirty="0">
                <a:solidFill>
                  <a:schemeClr val="tx1"/>
                </a:solidFill>
              </a:rPr>
              <a:t> Desenvolvimento de módulos</a:t>
            </a:r>
          </a:p>
          <a:p>
            <a:pPr marL="742950" lvl="1" indent="-285750">
              <a:lnSpc>
                <a:spcPct val="150000"/>
              </a:lnSpc>
              <a:buFont typeface="Calibri" panose="020B0604020202020204" pitchFamily="34" charset="0"/>
              <a:buChar char="•"/>
            </a:pPr>
            <a:r>
              <a:rPr lang="pt-PT" sz="1200" dirty="0">
                <a:solidFill>
                  <a:schemeClr val="tx1"/>
                </a:solidFill>
              </a:rPr>
              <a:t> Implementação do SIS-RME</a:t>
            </a:r>
          </a:p>
          <a:p>
            <a:pPr marL="285750" indent="-285750">
              <a:lnSpc>
                <a:spcPct val="150000"/>
              </a:lnSpc>
              <a:buFont typeface="Calibri" panose="020B0604020202020204" pitchFamily="34" charset="0"/>
              <a:buChar char="•"/>
            </a:pPr>
            <a:r>
              <a:rPr lang="pt-PT" sz="1400" dirty="0">
                <a:solidFill>
                  <a:schemeClr val="tx1"/>
                </a:solidFill>
              </a:rPr>
              <a:t>Celeridade na celebração dos concursos;</a:t>
            </a:r>
          </a:p>
          <a:p>
            <a:pPr marL="285750" indent="-285750">
              <a:lnSpc>
                <a:spcPct val="150000"/>
              </a:lnSpc>
              <a:buFont typeface="Calibri" panose="020B0604020202020204" pitchFamily="34" charset="0"/>
              <a:buChar char="•"/>
            </a:pPr>
            <a:r>
              <a:rPr lang="pt-PT" sz="1400" dirty="0">
                <a:solidFill>
                  <a:schemeClr val="tx1"/>
                </a:solidFill>
              </a:rPr>
              <a:t>Literacia digital dos profissionais de saúde;</a:t>
            </a:r>
          </a:p>
          <a:p>
            <a:pPr marL="285750" lvl="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Tx/>
              <a:buFont typeface="Calibri" panose="020B0604020202020204" pitchFamily="34" charset="0"/>
              <a:buChar char="•"/>
              <a:defRPr/>
            </a:pPr>
            <a:r>
              <a:rPr lang="pt-PT" sz="1400" dirty="0">
                <a:solidFill>
                  <a:schemeClr val="tx1"/>
                </a:solidFill>
              </a:rPr>
              <a:t>Ausência de recursos humanos capacitados;</a:t>
            </a:r>
          </a:p>
          <a:p>
            <a:pPr marL="285750" indent="-285750">
              <a:lnSpc>
                <a:spcPct val="150000"/>
              </a:lnSpc>
              <a:buFont typeface="Calibri" panose="020B0604020202020204" pitchFamily="34" charset="0"/>
              <a:buChar char="•"/>
            </a:pPr>
            <a:r>
              <a:rPr lang="pt-PT" sz="1400" dirty="0">
                <a:solidFill>
                  <a:schemeClr val="tx1"/>
                </a:solidFill>
              </a:rPr>
              <a:t>Pressão para implementação de outros sistemas (RME) apresentados por várias empresas ao MISAU com risco de duplicação.</a:t>
            </a:r>
          </a:p>
          <a:p>
            <a:pPr marL="285750" lvl="0" indent="-285750">
              <a:spcBef>
                <a:spcPts val="0"/>
              </a:spcBef>
              <a:buClr>
                <a:srgbClr val="000000"/>
              </a:buClr>
              <a:buSzTx/>
              <a:buFont typeface="Calibri" panose="020B0604020202020204" pitchFamily="34" charset="0"/>
              <a:buChar char="•"/>
              <a:defRPr/>
            </a:pPr>
            <a:r>
              <a:rPr lang="pt-BR" sz="1400" dirty="0">
                <a:solidFill>
                  <a:schemeClr val="tx1"/>
                </a:solidFill>
              </a:rPr>
              <a:t>Retenção de Recursos Humanos na área de saúde digital.</a:t>
            </a:r>
            <a:endParaRPr lang="pt-PT" sz="1400" dirty="0">
              <a:solidFill>
                <a:schemeClr val="tx1"/>
              </a:solidFill>
            </a:endParaRPr>
          </a:p>
          <a:p>
            <a:pPr marL="114300" indent="0" algn="ctr">
              <a:buSzPts val="1000"/>
              <a:buNone/>
            </a:pPr>
            <a:endParaRPr sz="1200" b="1" dirty="0"/>
          </a:p>
        </p:txBody>
      </p:sp>
      <p:sp>
        <p:nvSpPr>
          <p:cNvPr id="6" name="Google Shape;147;p5">
            <a:extLst>
              <a:ext uri="{FF2B5EF4-FFF2-40B4-BE49-F238E27FC236}">
                <a16:creationId xmlns:a16="http://schemas.microsoft.com/office/drawing/2014/main" id="{2369DF48-20B6-AD46-DEF7-597C85B1E975}"/>
              </a:ext>
            </a:extLst>
          </p:cNvPr>
          <p:cNvSpPr/>
          <p:nvPr/>
        </p:nvSpPr>
        <p:spPr>
          <a:xfrm>
            <a:off x="6160449" y="1816737"/>
            <a:ext cx="4941249" cy="47967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solidFill>
              <a:srgbClr val="3E7D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noProof="1">
                <a:latin typeface="Calibri" panose="020F0502020204030204" pitchFamily="34" charset="0"/>
                <a:cs typeface="Calibri" panose="020F0502020204030204" pitchFamily="34" charset="0"/>
              </a:rPr>
              <a:t>Aprovação de S. Excia Ministro</a:t>
            </a:r>
          </a:p>
          <a:p>
            <a:pPr marL="285750" indent="-285750">
              <a:lnSpc>
                <a:spcPct val="150000"/>
              </a:lnSpc>
              <a:buFont typeface="Calibri" panose="020B0604020202020204" pitchFamily="34" charset="0"/>
              <a:buChar char="•"/>
            </a:pPr>
            <a:r>
              <a:rPr lang="pt-PT" dirty="0">
                <a:latin typeface="Calibri" panose="020F0502020204030204" pitchFamily="34" charset="0"/>
                <a:cs typeface="Calibri" panose="020F0502020204030204" pitchFamily="34" charset="0"/>
              </a:rPr>
              <a:t>Aprovação pelo MCTD;</a:t>
            </a:r>
            <a:endParaRPr lang="pt-PT" noProof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Calibri" panose="020B0604020202020204" pitchFamily="34" charset="0"/>
              <a:buChar char="•"/>
            </a:pPr>
            <a:r>
              <a:rPr lang="pt-PT" noProof="1">
                <a:latin typeface="Calibri" panose="020F0502020204030204" pitchFamily="34" charset="0"/>
                <a:cs typeface="Calibri" panose="020F0502020204030204" pitchFamily="34" charset="0"/>
              </a:rPr>
              <a:t>No Objection dos doadores</a:t>
            </a:r>
          </a:p>
          <a:p>
            <a:pPr marL="285750" indent="-285750">
              <a:lnSpc>
                <a:spcPct val="150000"/>
              </a:lnSpc>
              <a:buFont typeface="Calibri" panose="020B0604020202020204" pitchFamily="34" charset="0"/>
              <a:buChar char="•"/>
            </a:pPr>
            <a:r>
              <a:rPr lang="pt-PT" noProof="1">
                <a:latin typeface="Calibri" panose="020F0502020204030204" pitchFamily="34" charset="0"/>
                <a:cs typeface="Calibri" panose="020F0502020204030204" pitchFamily="34" charset="0"/>
              </a:rPr>
              <a:t>Existência de financiamento </a:t>
            </a:r>
          </a:p>
          <a:p>
            <a:pPr marL="285750" lvl="8" indent="-285750">
              <a:lnSpc>
                <a:spcPct val="150000"/>
              </a:lnSpc>
              <a:buFont typeface="Calibri" panose="020B0604020202020204" pitchFamily="34" charset="0"/>
              <a:buChar char="•"/>
            </a:pPr>
            <a:r>
              <a:rPr lang="pt-PT" dirty="0">
                <a:latin typeface="Calibri" panose="020F0502020204030204" pitchFamily="34" charset="0"/>
                <a:cs typeface="Calibri" panose="020F0502020204030204" pitchFamily="34" charset="0"/>
              </a:rPr>
              <a:t>       Banco Mundial, </a:t>
            </a:r>
          </a:p>
          <a:p>
            <a:pPr marL="285750" lvl="8" indent="-285750">
              <a:lnSpc>
                <a:spcPct val="150000"/>
              </a:lnSpc>
              <a:buFont typeface="Calibri" panose="020B0604020202020204" pitchFamily="34" charset="0"/>
              <a:buChar char="•"/>
            </a:pPr>
            <a:r>
              <a:rPr lang="pt-PT" dirty="0">
                <a:latin typeface="Calibri" panose="020F0502020204030204" pitchFamily="34" charset="0"/>
                <a:cs typeface="Calibri" panose="020F0502020204030204" pitchFamily="34" charset="0"/>
              </a:rPr>
              <a:t>       Governo Americano, </a:t>
            </a:r>
          </a:p>
          <a:p>
            <a:pPr marL="285750" lvl="8" indent="-285750">
              <a:lnSpc>
                <a:spcPct val="150000"/>
              </a:lnSpc>
              <a:buFont typeface="Calibri" panose="020B0604020202020204" pitchFamily="34" charset="0"/>
              <a:buChar char="•"/>
            </a:pPr>
            <a:r>
              <a:rPr lang="pt-PT" dirty="0">
                <a:latin typeface="Calibri" panose="020F0502020204030204" pitchFamily="34" charset="0"/>
                <a:cs typeface="Calibri" panose="020F0502020204030204" pitchFamily="34" charset="0"/>
              </a:rPr>
              <a:t>       Fundo Global, </a:t>
            </a:r>
          </a:p>
          <a:p>
            <a:pPr marL="285750" lvl="8" indent="-285750">
              <a:lnSpc>
                <a:spcPct val="150000"/>
              </a:lnSpc>
              <a:buFont typeface="Calibri" panose="020B0604020202020204" pitchFamily="34" charset="0"/>
              <a:buChar char="•"/>
            </a:pPr>
            <a:r>
              <a:rPr lang="pt-PT" dirty="0">
                <a:latin typeface="Calibri" panose="020F0502020204030204" pitchFamily="34" charset="0"/>
                <a:cs typeface="Calibri" panose="020F0502020204030204" pitchFamily="34" charset="0"/>
              </a:rPr>
              <a:t>       Gates Foundation)</a:t>
            </a:r>
          </a:p>
          <a:p>
            <a:pPr marL="285750" indent="-285750">
              <a:lnSpc>
                <a:spcPct val="150000"/>
              </a:lnSpc>
              <a:buFont typeface="Calibri" panose="020B0604020202020204" pitchFamily="34" charset="0"/>
              <a:buChar char="•"/>
            </a:pPr>
            <a:r>
              <a:rPr lang="pt-PT" dirty="0" err="1">
                <a:latin typeface="Calibri" panose="020F0502020204030204" pitchFamily="34" charset="0"/>
                <a:cs typeface="Calibri" panose="020F0502020204030204" pitchFamily="34" charset="0"/>
              </a:rPr>
              <a:t>MoU</a:t>
            </a:r>
            <a:r>
              <a:rPr lang="pt-PT" dirty="0">
                <a:latin typeface="Calibri" panose="020F0502020204030204" pitchFamily="34" charset="0"/>
                <a:cs typeface="Calibri" panose="020F0502020204030204" pitchFamily="34" charset="0"/>
              </a:rPr>
              <a:t> entre MISAU e AGTDI;</a:t>
            </a:r>
          </a:p>
          <a:p>
            <a:pPr marL="285750" indent="-285750">
              <a:lnSpc>
                <a:spcPct val="150000"/>
              </a:lnSpc>
              <a:buFont typeface="Calibri" panose="020B0604020202020204" pitchFamily="34" charset="0"/>
              <a:buChar char="•"/>
            </a:pPr>
            <a:r>
              <a:rPr lang="pt-PT" dirty="0">
                <a:latin typeface="Calibri" panose="020F0502020204030204" pitchFamily="34" charset="0"/>
                <a:cs typeface="Calibri" panose="020F0502020204030204" pitchFamily="34" charset="0"/>
              </a:rPr>
              <a:t>Existência de organizações e parceiros com expertise para complementaridade do SIS-RME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50AAD38-8288-7B3A-B99B-C81CF65CE4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377358"/>
              </p:ext>
            </p:extLst>
          </p:nvPr>
        </p:nvGraphicFramePr>
        <p:xfrm>
          <a:off x="1219200" y="1447800"/>
          <a:ext cx="988249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1249">
                  <a:extLst>
                    <a:ext uri="{9D8B030D-6E8A-4147-A177-3AD203B41FA5}">
                      <a16:colId xmlns:a16="http://schemas.microsoft.com/office/drawing/2014/main" val="1524489836"/>
                    </a:ext>
                  </a:extLst>
                </a:gridCol>
                <a:gridCol w="4941249">
                  <a:extLst>
                    <a:ext uri="{9D8B030D-6E8A-4147-A177-3AD203B41FA5}">
                      <a16:colId xmlns:a16="http://schemas.microsoft.com/office/drawing/2014/main" val="1609448274"/>
                    </a:ext>
                  </a:extLst>
                </a:gridCol>
              </a:tblGrid>
              <a:tr h="337769">
                <a:tc>
                  <a:txBody>
                    <a:bodyPr/>
                    <a:lstStyle/>
                    <a:p>
                      <a:pPr algn="ctr"/>
                      <a:r>
                        <a:rPr lang="pt-PT" sz="1800" dirty="0"/>
                        <a:t>Desafios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dirty="0"/>
                        <a:t>Oportunidades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155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8967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37538-7458-37CC-F3B7-4C1A57FE3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298" y="2747962"/>
            <a:ext cx="4136362" cy="1362075"/>
          </a:xfrm>
        </p:spPr>
        <p:txBody>
          <a:bodyPr/>
          <a:lstStyle/>
          <a:p>
            <a:r>
              <a:rPr lang="pt-PT" sz="6000" dirty="0"/>
              <a:t>Obrigado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B04A3-81D6-0C36-00CC-8CC6EA965D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21</a:t>
            </a:fld>
            <a:endParaRPr lang="pt-PT"/>
          </a:p>
        </p:txBody>
      </p:sp>
      <p:sp>
        <p:nvSpPr>
          <p:cNvPr id="8" name="TextBox 7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5B6B73"/>
                </a:solidFill>
                <a:latin typeface="Calibri"/>
              </a:rPr>
              <a:t>LI Conselho Coordenador de Saúde · SIS-RME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" y="0"/>
            <a:ext cx="0" cy="68580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5448" y="0"/>
            <a:ext cx="0" cy="6858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6888" y="0"/>
            <a:ext cx="0" cy="685800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38328" y="0"/>
            <a:ext cx="0" cy="6858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3113E52-C382-12EF-FBD6-E7679FEF7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494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387588"/>
      </p:ext>
    </p:extLst>
  </p:cSld>
  <p:clrMapOvr>
    <a:masterClrMapping/>
  </p:clrMapOvr>
</p:sld>
</file>

<file path=ppt/theme/theme1.xml><?xml version="1.0" encoding="utf-8"?>
<a:theme xmlns:a="http://schemas.openxmlformats.org/drawingml/2006/main" name="MISAU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1316</TotalTime>
  <Words>1617</Words>
  <Application>Microsoft Office PowerPoint</Application>
  <PresentationFormat>Widescreen</PresentationFormat>
  <Paragraphs>300</Paragraphs>
  <Slides>21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MISAU1</vt:lpstr>
      <vt:lpstr>PowerPoint Presentation</vt:lpstr>
      <vt:lpstr>Conteúdo da apresentação</vt:lpstr>
      <vt:lpstr>Justificativa</vt:lpstr>
      <vt:lpstr>Trajectória do Registo Médico Electrónico</vt:lpstr>
      <vt:lpstr>O Sistema de Informação de Saúde (SIS)</vt:lpstr>
      <vt:lpstr>Quais são os Módulos do SIS-RME?</vt:lpstr>
      <vt:lpstr>Perfis dos utilizadores</vt:lpstr>
      <vt:lpstr>Acesso ao sistema</vt:lpstr>
      <vt:lpstr>Fluxo do paciente</vt:lpstr>
      <vt:lpstr>Número Único do Utente</vt:lpstr>
      <vt:lpstr>SIS-RME: Linha temporal para 823 US </vt:lpstr>
      <vt:lpstr>Cronograma de implementação dos módulos</vt:lpstr>
      <vt:lpstr>Cronograma de implementação dos módulos</vt:lpstr>
      <vt:lpstr>SIS-RME: Cronograma de actividades</vt:lpstr>
      <vt:lpstr>Expansão de SIS RME na Cidade de Maputo</vt:lpstr>
      <vt:lpstr> Unidades Sanitárias priorizadas </vt:lpstr>
      <vt:lpstr>Actividades realizadas/em curso</vt:lpstr>
      <vt:lpstr>Transição do SESP para o SIS-RME</vt:lpstr>
      <vt:lpstr>Retenção de RH na área de Saúde Digital</vt:lpstr>
      <vt:lpstr>Desafios e Oportunidades</vt:lpstr>
      <vt:lpstr>Obrigado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SIS-RME Team</dc:creator>
  <cp:keywords>RDMSIS</cp:keywords>
  <cp:lastModifiedBy>Carlos da Silva Alberto</cp:lastModifiedBy>
  <cp:revision>46</cp:revision>
  <dcterms:created xsi:type="dcterms:W3CDTF">2014-11-10T07:31:39Z</dcterms:created>
  <dcterms:modified xsi:type="dcterms:W3CDTF">2026-10-12T17:12:14Z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2057-11.2.0.8641</vt:lpwstr>
  </property>
</Properties>
</file>