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8" r:id="rId3"/>
    <p:sldId id="345" r:id="rId4"/>
    <p:sldId id="259" r:id="rId5"/>
    <p:sldId id="260" r:id="rId6"/>
    <p:sldId id="980" r:id="rId7"/>
    <p:sldId id="261" r:id="rId8"/>
    <p:sldId id="262" r:id="rId9"/>
    <p:sldId id="283" r:id="rId10"/>
    <p:sldId id="263" r:id="rId11"/>
    <p:sldId id="264" r:id="rId12"/>
    <p:sldId id="265" r:id="rId13"/>
    <p:sldId id="266" r:id="rId14"/>
    <p:sldId id="977" r:id="rId15"/>
    <p:sldId id="975" r:id="rId16"/>
    <p:sldId id="267" r:id="rId17"/>
    <p:sldId id="268" r:id="rId18"/>
    <p:sldId id="981" r:id="rId19"/>
    <p:sldId id="984" r:id="rId20"/>
    <p:sldId id="270" r:id="rId21"/>
    <p:sldId id="1347" r:id="rId22"/>
    <p:sldId id="987" r:id="rId23"/>
    <p:sldId id="988" r:id="rId24"/>
    <p:sldId id="271" r:id="rId25"/>
    <p:sldId id="272" r:id="rId26"/>
    <p:sldId id="273" r:id="rId27"/>
    <p:sldId id="274" r:id="rId28"/>
    <p:sldId id="275" r:id="rId29"/>
    <p:sldId id="276" r:id="rId30"/>
    <p:sldId id="278" r:id="rId31"/>
    <p:sldId id="277" r:id="rId32"/>
    <p:sldId id="279" r:id="rId33"/>
    <p:sldId id="280" r:id="rId34"/>
    <p:sldId id="983" r:id="rId35"/>
    <p:sldId id="979" r:id="rId36"/>
    <p:sldId id="989" r:id="rId37"/>
    <p:sldId id="281" r:id="rId38"/>
    <p:sldId id="343" r:id="rId39"/>
  </p:sldIdLst>
  <p:sldSz cx="12192000" cy="6858000"/>
  <p:notesSz cx="6858000" cy="9144000"/>
  <p:custDataLst>
    <p:tags r:id="rId42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18061-57EE-423A-BDB2-C579F79A9B92}" v="7" dt="2026-09-29T19:40:27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2998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6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28;p26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29;p26"/>
          <p:cNvCxnSpPr/>
          <p:nvPr/>
        </p:nvCxnSpPr>
        <p:spPr>
          <a:xfrm>
            <a:off x="586317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26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" name="Google Shape;31;p26"/>
          <p:cNvSpPr txBox="1"/>
          <p:nvPr/>
        </p:nvSpPr>
        <p:spPr>
          <a:xfrm>
            <a:off x="3119968" y="6378575"/>
            <a:ext cx="5856817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 panose="020B0604020202020204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MISAU: O nosso maior valor é a vida</a:t>
            </a:r>
            <a:endParaRPr sz="1400"/>
          </a:p>
        </p:txBody>
      </p:sp>
      <p:pic>
        <p:nvPicPr>
          <p:cNvPr id="32" name="Google Shape;32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600" y="76201"/>
            <a:ext cx="892068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6"/>
          <p:cNvSpPr txBox="1"/>
          <p:nvPr/>
        </p:nvSpPr>
        <p:spPr>
          <a:xfrm>
            <a:off x="977900" y="847726"/>
            <a:ext cx="1320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pt-PT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MISAU</a:t>
            </a:r>
            <a:endParaRPr sz="1400"/>
          </a:p>
        </p:txBody>
      </p:sp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3149600" y="95250"/>
            <a:ext cx="87376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914400" y="1371600"/>
            <a:ext cx="10972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9pPr>
          </a:lstStyle>
          <a:p>
            <a:fld id="{00000000-1234-1234-1234-123412341234}" type="slidenum">
              <a:rPr lang="pt-PT" smtClean="0"/>
              <a:t>‹nº›</a:t>
            </a:fld>
            <a:endParaRPr lang="pt-PT"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787400" y="6562726"/>
            <a:ext cx="21590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4165600" y="6613526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53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30"/>
          <p:cNvCxnSpPr/>
          <p:nvPr/>
        </p:nvCxnSpPr>
        <p:spPr>
          <a:xfrm>
            <a:off x="2032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79;p30"/>
          <p:cNvCxnSpPr/>
          <p:nvPr/>
        </p:nvCxnSpPr>
        <p:spPr>
          <a:xfrm>
            <a:off x="406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" name="Google Shape;80;p30"/>
          <p:cNvCxnSpPr/>
          <p:nvPr/>
        </p:nvCxnSpPr>
        <p:spPr>
          <a:xfrm>
            <a:off x="586317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1" name="Google Shape;81;p30"/>
          <p:cNvCxnSpPr/>
          <p:nvPr/>
        </p:nvCxnSpPr>
        <p:spPr>
          <a:xfrm>
            <a:off x="787400" y="0"/>
            <a:ext cx="0" cy="68580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30"/>
          <p:cNvSpPr txBox="1"/>
          <p:nvPr/>
        </p:nvSpPr>
        <p:spPr>
          <a:xfrm>
            <a:off x="3119968" y="6488113"/>
            <a:ext cx="5856817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 panose="020B0604020202020204"/>
              <a:buNone/>
            </a:pPr>
            <a:r>
              <a:rPr lang="pt-PT" sz="1800" b="0" i="0" u="none" strike="noStrike" cap="none">
                <a:solidFill>
                  <a:srgbClr val="CCCC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MISAU: O nosso maior valor é a vida</a:t>
            </a:r>
            <a:endParaRPr sz="1400"/>
          </a:p>
        </p:txBody>
      </p:sp>
      <p:pic>
        <p:nvPicPr>
          <p:cNvPr id="83" name="Google Shape;83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7600" y="76201"/>
            <a:ext cx="10414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0"/>
          <p:cNvSpPr txBox="1"/>
          <p:nvPr/>
        </p:nvSpPr>
        <p:spPr>
          <a:xfrm>
            <a:off x="977900" y="847726"/>
            <a:ext cx="13208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pt-PT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MISAU</a:t>
            </a:r>
            <a:endParaRPr sz="1400"/>
          </a:p>
        </p:txBody>
      </p:sp>
      <p:sp>
        <p:nvSpPr>
          <p:cNvPr id="85" name="Google Shape;85;p30"/>
          <p:cNvSpPr txBox="1">
            <a:spLocks noGrp="1"/>
          </p:cNvSpPr>
          <p:nvPr>
            <p:ph type="title"/>
          </p:nvPr>
        </p:nvSpPr>
        <p:spPr>
          <a:xfrm>
            <a:off x="3119669" y="274638"/>
            <a:ext cx="84627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Arial" panose="020B060402020202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Arial" panose="020B060402020202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Arial" panose="020B060402020202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Font typeface="Arial" panose="020B060402020202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 panose="020B0604020202020204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 panose="020B060402020202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9pPr>
          </a:lstStyle>
          <a:p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Font typeface="Arial" panose="020B060402020202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Arial" panose="020B060402020202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Arial" panose="020B060402020202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30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Font typeface="Arial" panose="020B060402020202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Arial" panose="020B0604020202020204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Arial" panose="020B060402020202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Arial" panose="020B0604020202020204"/>
              <a:buChar char="•"/>
              <a:defRPr sz="1600"/>
            </a:lvl9pPr>
          </a:lstStyle>
          <a:p>
            <a:endParaRPr/>
          </a:p>
        </p:txBody>
      </p:sp>
      <p:sp>
        <p:nvSpPr>
          <p:cNvPr id="90" name="Google Shape;90;p30"/>
          <p:cNvSpPr txBox="1">
            <a:spLocks noGrp="1"/>
          </p:cNvSpPr>
          <p:nvPr>
            <p:ph type="dt" idx="10"/>
          </p:nvPr>
        </p:nvSpPr>
        <p:spPr>
          <a:xfrm>
            <a:off x="787400" y="6613526"/>
            <a:ext cx="2159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0"/>
          <p:cNvSpPr txBox="1"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9pPr>
          </a:lstStyle>
          <a:p>
            <a:fld id="{00000000-1234-1234-1234-123412341234}" type="slidenum">
              <a:rPr lang="pt-PT" smtClean="0"/>
              <a:t>‹nº›</a:t>
            </a:fld>
            <a:endParaRPr lang="pt-PT"/>
          </a:p>
        </p:txBody>
      </p:sp>
      <p:sp>
        <p:nvSpPr>
          <p:cNvPr id="92" name="Google Shape;92;p30"/>
          <p:cNvSpPr txBox="1">
            <a:spLocks noGrp="1"/>
          </p:cNvSpPr>
          <p:nvPr>
            <p:ph type="ftr" idx="11"/>
          </p:nvPr>
        </p:nvSpPr>
        <p:spPr>
          <a:xfrm>
            <a:off x="4165600" y="6613526"/>
            <a:ext cx="3860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429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  <p:sldLayoutId id="2147483706" r:id="rId4"/>
    <p:sldLayoutId id="2147483707" r:id="rId5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08" y="5678419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52923" y="3408680"/>
            <a:ext cx="10705672" cy="188199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Proposta de Regulamento da Lei do Sistema Nacional de Saúde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909A80-0900-824F-12D1-85F0EC86DE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3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D0AD89-6B23-1370-E73A-A1608AD82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76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E2D1-D51C-EE14-1AFC-22BC5BB24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3443BE-E539-ACEF-8E34-E5F51B47BC7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4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EEB09-0010-6610-6730-EE5E63220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639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4CFA-4E29-0A48-C063-81AF258C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C27745-0708-5131-8F8B-54B7263CF9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5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A08A6-0337-B029-1AE1-5F453A630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1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4CB08-846F-44DD-BE26-F71D785E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50F9A4-A0C9-651D-F6A9-D66083A76D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tabLst/>
              <a:defRPr/>
            </a:pPr>
            <a:fld id="{00000000-1234-1234-1234-123412341234}" type="slidenum">
              <a:rPr lang="pt-PT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 panose="020B0604020202020204"/>
                <a:buNone/>
                <a:tabLst/>
                <a:defRPr/>
              </a:pPr>
              <a:t>6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1580E-6002-6B8E-6743-617B8BC3B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6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DED3-BE1D-B092-0CB3-E82DBB01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E8F2A2-A4AE-1350-290A-73BB802AFB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7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2ED073-8461-2A64-D181-2926B5592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5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FA05F-9620-1874-8A40-8E077D40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3AF47D-2AFE-430B-B660-FF209C894A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8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7B39C6-99D4-BFA6-D329-06B017E10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7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808A-D927-E930-2CAE-271C70AA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D23269-2117-3D59-22A5-ED21BD5C83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tabLst/>
              <a:defRPr/>
            </a:pPr>
            <a:fld id="{00000000-1234-1234-1234-123412341234}" type="slidenum">
              <a:rPr lang="pt-PT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 panose="020B0604020202020204"/>
                <a:buNone/>
                <a:tabLst/>
                <a:defRPr/>
              </a:pPr>
              <a:t>9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6EE5D-6095-36D9-3F0C-6B0B0364D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91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6D63A-CF64-3CB0-0C57-F6994775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689DD6-0CEA-1EC1-0B0E-F18CF6F337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10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3BBA04-27FE-B335-F740-5DF51D1AD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36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83FDB-A84B-19A5-BCD0-3AB99B78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D8B54-FEE7-0A18-6D66-6EE2046C12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11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75F1DA-E4EA-7930-9703-E9D3CE4C5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50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46886-7415-189C-CA85-07992A44D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EA3F7E-E49B-7AF8-F6CE-51B88E1688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12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3220E3-9679-C071-15BE-EE5320415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1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C48DB-48D9-55C2-57F6-5EEF3682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59E3AC-7116-21C6-0267-0CFEEA4DA3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13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9096F-61F9-6D0B-283C-4CBE0C0A4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81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C099C-3901-B316-CC33-8B183FEEDE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14</a:t>
            </a:fld>
            <a:endParaRPr lang="pt-PT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ACAF349-D0E3-EE01-5D52-E52AF5910195}"/>
              </a:ext>
            </a:extLst>
          </p:cNvPr>
          <p:cNvSpPr/>
          <p:nvPr/>
        </p:nvSpPr>
        <p:spPr>
          <a:xfrm>
            <a:off x="2969443" y="2083324"/>
            <a:ext cx="6768446" cy="2997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2800" b="1" dirty="0">
                <a:solidFill>
                  <a:sysClr val="windowText" lastClr="000000"/>
                </a:solidFill>
              </a:rPr>
              <a:t>Em curso a elaboração do Estatuto do APS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F4EE8-AB58-BC96-B558-669263DD0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3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9" y="1371600"/>
            <a:ext cx="10928733" cy="5486400"/>
          </a:xfrm>
        </p:spPr>
        <p:txBody>
          <a:bodyPr/>
          <a:lstStyle/>
          <a:p>
            <a:pPr marL="0" indent="0">
              <a:buNone/>
            </a:pPr>
            <a:endParaRPr lang="pt-PT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pt-PT" dirty="0">
              <a:solidFill>
                <a:srgbClr val="C00000"/>
              </a:solidFill>
            </a:endParaRPr>
          </a:p>
          <a:p>
            <a:endParaRPr lang="pt-PT" dirty="0">
              <a:solidFill>
                <a:srgbClr val="C00000"/>
              </a:solidFill>
            </a:endParaRPr>
          </a:p>
          <a:p>
            <a:endParaRPr lang="en-GB" dirty="0"/>
          </a:p>
        </p:txBody>
      </p:sp>
      <p:sp>
        <p:nvSpPr>
          <p:cNvPr id="4" name="Content Placeholder 1"/>
          <p:cNvSpPr txBox="1">
            <a:spLocks noGrp="1"/>
          </p:cNvSpPr>
          <p:nvPr>
            <p:ph type="title"/>
          </p:nvPr>
        </p:nvSpPr>
        <p:spPr bwMode="auto">
          <a:xfrm>
            <a:off x="2423592" y="116632"/>
            <a:ext cx="9643805" cy="10104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0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4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 b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 b="1">
                <a:solidFill>
                  <a:srgbClr val="FFFFF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 b="1">
                <a:solidFill>
                  <a:srgbClr val="FFFFF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 b="1">
                <a:solidFill>
                  <a:srgbClr val="FFFFF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 b="1">
                <a:solidFill>
                  <a:srgbClr val="FFFFFF"/>
                </a:solidFill>
                <a:latin typeface="+mn-lt"/>
              </a:defRPr>
            </a:lvl9pPr>
          </a:lstStyle>
          <a:p>
            <a:pPr marL="0" indent="0" algn="ctr">
              <a:buFontTx/>
              <a:buNone/>
            </a:pPr>
            <a:r>
              <a:rPr lang="en-US" sz="3600" dirty="0">
                <a:solidFill>
                  <a:schemeClr val="accent4"/>
                </a:solidFill>
              </a:rPr>
              <a:t>CRITÉRIOS DE ELEGIBILIDADE</a:t>
            </a:r>
            <a:r>
              <a:rPr lang="pt-PT" altLang="en-US" sz="3600" dirty="0">
                <a:solidFill>
                  <a:schemeClr val="accent4"/>
                </a:solidFill>
              </a:rPr>
              <a:t> DOS</a:t>
            </a:r>
            <a:r>
              <a:rPr lang="en-US" sz="3600" dirty="0">
                <a:solidFill>
                  <a:schemeClr val="accent4"/>
                </a:solidFill>
              </a:rPr>
              <a:t>  APS</a:t>
            </a:r>
            <a:endParaRPr lang="pt-PT" sz="3600" kern="0" dirty="0"/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923053" y="1127100"/>
            <a:ext cx="11124688" cy="40300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rgbClr val="FFFFF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rgbClr val="FFFFF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rgbClr val="FFFFF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rgbClr val="FFFFFF"/>
                </a:solidFill>
                <a:latin typeface="+mn-lt"/>
              </a:defRPr>
            </a:lvl9pPr>
          </a:lstStyle>
          <a:p>
            <a:pPr algn="just">
              <a:lnSpc>
                <a:spcPct val="150000"/>
              </a:lnSpc>
            </a:pPr>
            <a:endParaRPr lang="pt-B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/>
          <p:nvPr/>
        </p:nvSpPr>
        <p:spPr bwMode="auto">
          <a:xfrm>
            <a:off x="914399" y="1628800"/>
            <a:ext cx="10515600" cy="43924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rgbClr val="FFFFFF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rgbClr val="FFFFFF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rgbClr val="FFFFFF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66C1FC"/>
              </a:buClr>
              <a:buChar char="•"/>
              <a:defRPr sz="1600">
                <a:solidFill>
                  <a:srgbClr val="FFFFFF"/>
                </a:solidFill>
                <a:latin typeface="+mn-lt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altLang="en-US" sz="2400" dirty="0">
                <a:solidFill>
                  <a:schemeClr val="tx1"/>
                </a:solidFill>
                <a:sym typeface="+mn-ea"/>
              </a:rPr>
              <a:t>Nível de escolaridade mínima 9ª Classe, podendo privilegiar-se o sexo feminino;</a:t>
            </a:r>
            <a:endParaRPr lang="pt-PT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altLang="en-US" sz="2400" dirty="0">
                <a:solidFill>
                  <a:schemeClr val="tx1"/>
                </a:solidFill>
                <a:sym typeface="+mn-ea"/>
              </a:rPr>
              <a:t>Capaz de comunicar, escrever e ler português e línguas mais faladas nas respectivas comunidades</a:t>
            </a:r>
            <a:endParaRPr lang="pt-PT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altLang="en-US" sz="2400" dirty="0">
                <a:solidFill>
                  <a:schemeClr val="tx1"/>
                </a:solidFill>
                <a:sym typeface="+mn-ea"/>
              </a:rPr>
              <a:t>Conhecimento da cultura, crenças, preconceitos e atitudes da comunidade</a:t>
            </a:r>
            <a:endParaRPr lang="pt-PT" alt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altLang="en-US" sz="2400" dirty="0">
                <a:solidFill>
                  <a:schemeClr val="tx1"/>
                </a:solidFill>
                <a:sym typeface="+mn-ea"/>
              </a:rPr>
              <a:t>Considerada vantagem a experiência prévia na promoção,   prevenção ou prestação de cuidados de saúde</a:t>
            </a:r>
            <a:endParaRPr lang="pt-PT" altLang="en-US" dirty="0">
              <a:sym typeface="+mn-ea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 err="1">
                <a:ea typeface="Times New Roman" panose="02020603050405020304" pitchFamily="18" charset="0"/>
              </a:rPr>
              <a:t>Disponíbilidade</a:t>
            </a:r>
            <a:r>
              <a:rPr lang="pt-PT" dirty="0">
                <a:ea typeface="Times New Roman" panose="02020603050405020304" pitchFamily="18" charset="0"/>
              </a:rPr>
              <a:t> para participar numa qualificação com duração de 6 meses.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dirty="0">
                <a:ea typeface="Times New Roman" panose="02020603050405020304" pitchFamily="18" charset="0"/>
              </a:rPr>
              <a:t>Prestação de exames de admissão de carácter </a:t>
            </a:r>
            <a:r>
              <a:rPr lang="pt-PT" dirty="0" err="1">
                <a:ea typeface="Times New Roman" panose="02020603050405020304" pitchFamily="18" charset="0"/>
              </a:rPr>
              <a:t>selectivo</a:t>
            </a:r>
            <a:r>
              <a:rPr lang="pt-PT" dirty="0"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pt-PT" altLang="en-US" sz="2400" dirty="0">
              <a:solidFill>
                <a:schemeClr val="tx1"/>
              </a:solidFill>
            </a:endParaRPr>
          </a:p>
          <a:p>
            <a:pPr marL="0" indent="0" algn="just">
              <a:spcAft>
                <a:spcPts val="0"/>
              </a:spcAft>
              <a:buNone/>
              <a:tabLst>
                <a:tab pos="1896745" algn="l"/>
              </a:tabLst>
            </a:pPr>
            <a:endParaRPr lang="pt-BR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B4820-90D9-C078-B87F-EB5653C1A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862C-27FB-F112-DB0E-BE579B26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A22E70-87B2-D90F-F01C-EABFB4175B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16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324CC-6E7F-9259-42E8-3E6C4312E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13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28EDD-BCB5-C1A4-EC94-49CE93A1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F4819A-8B67-D35E-5BBD-D9D806ECEF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17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45EFF-4F84-7026-B6AB-4CEDC2D21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01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21328-8C90-F510-00EA-C158438CB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3DD4E7-893B-60B8-6C19-71D7E57E27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18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330BF-D756-9232-1B82-D23D9EE81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67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AE17-149A-7089-D2D4-F8A3203D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A4AC55-182A-29C5-AD62-E42C7FD68E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19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E37EE-05FA-9560-439A-6C221D4BB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37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09FC9-BE69-AAEE-B46C-474473FC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97FFAD-57D0-D2EC-1709-970603E1F37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20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93EB7-5ED9-6013-64ED-7FB00ED7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63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1279" y="82456"/>
            <a:ext cx="10884362" cy="906667"/>
          </a:xfrm>
          <a:solidFill>
            <a:srgbClr val="48599F"/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pt-PT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Redefinição dos níveis </a:t>
            </a:r>
            <a:r>
              <a:rPr lang="pt-PT" sz="28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 atenção-CSP</a:t>
            </a:r>
            <a:endParaRPr lang="en-US" sz="28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PT" smtClean="0"/>
              <a:t>21</a:t>
            </a:fld>
            <a:endParaRPr lang="pt-PT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42" y="949343"/>
            <a:ext cx="9611513" cy="5786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439-1449-1533-A754-43F6238F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AE5589-4519-1ED5-6098-72EB250667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22</a:t>
            </a:fld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A65DA-0D19-C7A2-6B5F-D928B6D4B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46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8E2F-8F11-6388-90FF-2BC4CB4F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D2AF1D-86AE-09D0-04A0-6F784DFFDD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23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28F2D-4FA7-E0C1-1931-8655C8F74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91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A97F-3140-38B9-A9DD-1E565D9E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D6B868-FC18-73B8-5864-A6B21D425C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24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15338-1BB5-2284-12FD-ADAE07ADD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04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BD7A-FA28-689D-9AD1-94C7855E9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6AEB7E-215D-9A18-920F-F10BCEA44E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25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76476C-2281-4D14-6178-255B85AE8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80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764B3-0CBF-F0C6-931D-7AF09DA84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DE6DB4-3163-4664-956F-53D20286A6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26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0C356D-AED6-D497-D295-E98E37596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67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EDB8-57D4-B86E-4F98-5329B0F1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EC7E1-233A-72F0-0609-1D54268F7F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27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C1632F-BF11-C1F3-64A3-FF9A46E02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38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FC86-030E-CDC9-00A0-5D8FA67C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78959-2E89-B213-EF38-DB8F345A345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28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B72C8-2879-50A8-E41E-E17033295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81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0840-1A3F-C6D3-98A6-5D0C1828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D1FE7B-C74E-0D8C-4E2C-626380A5D6E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29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4B45A4-E4A7-D0AB-9035-4110CD093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69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2CF11-A73C-4183-3407-82C5EC98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0F509-1298-D013-D37F-AA61F0B4C4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30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0ADC6-11A0-5F7B-EA13-39C36BD75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13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C966-E944-5CB1-1F49-21A4DBAEB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4BB8F6-06D7-3847-2183-DDC2CD8D20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31</a:t>
            </a:fld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935FCC-7A8F-CFCB-9075-53CBD5BA3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57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F2EF-2BB5-040E-2BA0-9F3C9AEAA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E8B91E-D018-7F7B-169D-7BAD3F28335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32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2F58D-FDC7-BB60-A507-A244D36E8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14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F4EA-DEBA-A289-F969-13EA5C91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CF565-5DFF-31A0-A1AB-294970B0C1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33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CF146-D78D-3166-F573-C0E5C1C88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20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29F61-3270-5772-E1C0-380AEAC0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D67591-E163-708D-44C2-F21E85C039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34</a:t>
            </a:fld>
            <a:endParaRPr lang="pt-P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1F46A-6FC5-9DF6-0108-758F20BF4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59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4B91-93C9-C624-EC2D-C1503B5E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534" y="72232"/>
            <a:ext cx="10887959" cy="1143000"/>
          </a:xfrm>
          <a:solidFill>
            <a:srgbClr val="AAE571"/>
          </a:solidFill>
        </p:spPr>
        <p:txBody>
          <a:bodyPr/>
          <a:lstStyle/>
          <a:p>
            <a:r>
              <a:rPr lang="pt-PT" dirty="0"/>
              <a:t>Contribuições recebidas na auscultação aos parceiros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DDACE-64B0-6399-DD44-4BBF15957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Regulamento do SSP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0CCBF-BC22-5EB2-5CE9-3C96E4BBBA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2174875"/>
            <a:ext cx="5486400" cy="3951288"/>
          </a:xfrm>
        </p:spPr>
        <p:txBody>
          <a:bodyPr/>
          <a:lstStyle/>
          <a:p>
            <a:pPr lvl="0"/>
            <a:r>
              <a:rPr lang="pt-PT" sz="1800" dirty="0"/>
              <a:t>Reforçar o papel do Estado em </a:t>
            </a:r>
            <a:r>
              <a:rPr lang="pt-PT" sz="1800" b="1" dirty="0"/>
              <a:t>garantir saúde </a:t>
            </a:r>
          </a:p>
          <a:p>
            <a:pPr lvl="0"/>
            <a:r>
              <a:rPr lang="pt-PT" sz="1800" dirty="0"/>
              <a:t>Incluir no RSSP a necessidade de </a:t>
            </a:r>
            <a:r>
              <a:rPr lang="pt-PT" sz="1800" b="1" dirty="0"/>
              <a:t>institucionalização do PECS  </a:t>
            </a:r>
            <a:r>
              <a:rPr lang="pt-PT" sz="1800" dirty="0"/>
              <a:t>para os diferentes níveis de atenção</a:t>
            </a:r>
          </a:p>
          <a:p>
            <a:pPr lvl="0"/>
            <a:r>
              <a:rPr lang="pt-PT" sz="1800" dirty="0"/>
              <a:t>Incluir no regulamento o </a:t>
            </a:r>
            <a:r>
              <a:rPr lang="pt-PT" sz="1800" b="1" dirty="0"/>
              <a:t>princípio de gestão e planificação </a:t>
            </a:r>
            <a:r>
              <a:rPr lang="pt-PT" sz="1800" dirty="0"/>
              <a:t>baseadas em evidência científica.</a:t>
            </a:r>
          </a:p>
          <a:p>
            <a:pPr lvl="0"/>
            <a:r>
              <a:rPr lang="pt-PT" sz="1800" dirty="0"/>
              <a:t>Separar claramente a  </a:t>
            </a:r>
            <a:r>
              <a:rPr lang="pt-PT" sz="1800" b="1" dirty="0"/>
              <a:t>Monitoria da Avaliação </a:t>
            </a:r>
          </a:p>
          <a:p>
            <a:pPr lvl="0"/>
            <a:r>
              <a:rPr lang="pt-PT" sz="1800" dirty="0"/>
              <a:t>O RSSP deve estabelecer obrigação legal de garantir a </a:t>
            </a:r>
            <a:r>
              <a:rPr lang="pt-PT" sz="1800" dirty="0" err="1"/>
              <a:t>protecção</a:t>
            </a:r>
            <a:r>
              <a:rPr lang="pt-PT" sz="1800" dirty="0"/>
              <a:t> e qualidade dos dados para </a:t>
            </a:r>
            <a:r>
              <a:rPr lang="pt-PT" sz="1800" b="1" dirty="0"/>
              <a:t>evitar falsificações.</a:t>
            </a:r>
          </a:p>
          <a:p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B53C-4FC2-C3D3-DAFE-0ABF20411CC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pt-PT" dirty="0"/>
              <a:t>Regulamento do SSC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EC6530-516C-7014-A135-CD9B01732BE6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pt-PT" sz="1800" dirty="0"/>
              <a:t>Evitar </a:t>
            </a:r>
            <a:r>
              <a:rPr lang="pt-PT" sz="1800" b="1" dirty="0"/>
              <a:t>duplicidade entre subsistema público e comunitário</a:t>
            </a:r>
            <a:r>
              <a:rPr lang="pt-PT" sz="1800" dirty="0"/>
              <a:t>.</a:t>
            </a:r>
          </a:p>
          <a:p>
            <a:pPr lvl="0"/>
            <a:r>
              <a:rPr lang="pt-PT" sz="1800" dirty="0"/>
              <a:t>Descriminar no Regulamento do SSC </a:t>
            </a:r>
            <a:r>
              <a:rPr lang="pt-PT" sz="1800" b="1" dirty="0"/>
              <a:t>os tipos de ACS</a:t>
            </a:r>
          </a:p>
          <a:p>
            <a:r>
              <a:rPr lang="pt-PT" sz="1800" dirty="0"/>
              <a:t>Garantir a participação das </a:t>
            </a:r>
            <a:r>
              <a:rPr lang="pt-PT" sz="1800" b="1" dirty="0"/>
              <a:t>delegações distritais de saúde </a:t>
            </a:r>
            <a:r>
              <a:rPr lang="pt-PT" sz="1800" dirty="0"/>
              <a:t>nos conselhos de saúde comunitária. </a:t>
            </a:r>
          </a:p>
          <a:p>
            <a:r>
              <a:rPr lang="pt-PT" sz="1800" b="1" dirty="0"/>
              <a:t>A supervisão funcional </a:t>
            </a:r>
            <a:r>
              <a:rPr lang="pt-PT" sz="1800" dirty="0"/>
              <a:t>deve ser feita ao nível distrital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AEBE4-800B-F6F6-3E42-2C52F6F303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PT" smtClean="0"/>
              <a:t>35</a:t>
            </a:fld>
            <a:endParaRPr lang="pt-P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8D5A1A-4AF5-26E7-E882-13A0419A7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2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C384A-07A1-52BE-16ED-B0D32142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1936-A3BA-7FBC-91F1-774EDA110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534" y="72232"/>
            <a:ext cx="10887959" cy="1143000"/>
          </a:xfrm>
          <a:solidFill>
            <a:srgbClr val="AAE571"/>
          </a:solidFill>
        </p:spPr>
        <p:txBody>
          <a:bodyPr/>
          <a:lstStyle/>
          <a:p>
            <a:r>
              <a:rPr lang="pt-PT" dirty="0"/>
              <a:t>Contribuições recebidas na auscultação aos parceiros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050A7-EAFE-E644-266F-054D94001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Regulamento do SSP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50DD7-0FF9-EC0E-52C0-2C0E5565D43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2174875"/>
            <a:ext cx="5486400" cy="3951288"/>
          </a:xfrm>
        </p:spPr>
        <p:txBody>
          <a:bodyPr/>
          <a:lstStyle/>
          <a:p>
            <a:pPr lvl="0"/>
            <a:r>
              <a:rPr lang="pt-PT" sz="1800" dirty="0"/>
              <a:t>Reforçar o papel do Estado em </a:t>
            </a:r>
            <a:r>
              <a:rPr lang="pt-PT" sz="1800" b="1" dirty="0"/>
              <a:t>garantir saúde </a:t>
            </a:r>
          </a:p>
          <a:p>
            <a:pPr lvl="0"/>
            <a:r>
              <a:rPr lang="pt-PT" sz="1800" dirty="0"/>
              <a:t>Incluir no RSSP a necessidade de </a:t>
            </a:r>
            <a:r>
              <a:rPr lang="pt-PT" sz="1800" b="1" dirty="0"/>
              <a:t>institucionalização do PECS  </a:t>
            </a:r>
            <a:r>
              <a:rPr lang="pt-PT" sz="1800" dirty="0"/>
              <a:t>para os diferentes níveis de atenção</a:t>
            </a:r>
          </a:p>
          <a:p>
            <a:pPr lvl="0"/>
            <a:r>
              <a:rPr lang="pt-PT" sz="1800" dirty="0"/>
              <a:t>Incluir no regulamento o </a:t>
            </a:r>
            <a:r>
              <a:rPr lang="pt-PT" sz="1800" b="1" dirty="0"/>
              <a:t>princípio de gestão e planificação </a:t>
            </a:r>
            <a:r>
              <a:rPr lang="pt-PT" sz="1800" dirty="0"/>
              <a:t>baseadas em evidência científica.</a:t>
            </a:r>
          </a:p>
          <a:p>
            <a:pPr lvl="0"/>
            <a:r>
              <a:rPr lang="pt-PT" sz="1800" dirty="0"/>
              <a:t>Separar claramente a  </a:t>
            </a:r>
            <a:r>
              <a:rPr lang="pt-PT" sz="1800" b="1" dirty="0"/>
              <a:t>Monitoria da Avaliação </a:t>
            </a:r>
          </a:p>
          <a:p>
            <a:pPr lvl="0"/>
            <a:r>
              <a:rPr lang="pt-PT" sz="1800" dirty="0"/>
              <a:t>O RSSP deve estabelecer obrigação legal de garantir a </a:t>
            </a:r>
            <a:r>
              <a:rPr lang="pt-PT" sz="1800" dirty="0" err="1"/>
              <a:t>protecção</a:t>
            </a:r>
            <a:r>
              <a:rPr lang="pt-PT" sz="1800" dirty="0"/>
              <a:t> e qualidade dos dados para </a:t>
            </a:r>
            <a:r>
              <a:rPr lang="pt-PT" sz="1800" b="1" dirty="0"/>
              <a:t>evitar falsificações.</a:t>
            </a:r>
          </a:p>
          <a:p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B0AFC-FF9C-E06F-1EFF-9A23018FFF6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pt-PT" dirty="0"/>
              <a:t>Regulamento do SSC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D875DF-7999-0D33-32E6-6282A5CAAA0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pt-PT" sz="1800" dirty="0"/>
              <a:t>Evitar </a:t>
            </a:r>
            <a:r>
              <a:rPr lang="pt-PT" sz="1800" b="1" dirty="0"/>
              <a:t>duplicidade entre subsistema público e comunitário</a:t>
            </a:r>
            <a:r>
              <a:rPr lang="pt-PT" sz="1800" dirty="0"/>
              <a:t>.</a:t>
            </a:r>
          </a:p>
          <a:p>
            <a:pPr lvl="0"/>
            <a:r>
              <a:rPr lang="pt-PT" sz="1800" dirty="0"/>
              <a:t>Descriminar no Regulamento do SSC </a:t>
            </a:r>
            <a:r>
              <a:rPr lang="pt-PT" sz="1800" b="1" dirty="0"/>
              <a:t>os tipos de ACS</a:t>
            </a:r>
          </a:p>
          <a:p>
            <a:r>
              <a:rPr lang="pt-PT" sz="1800" dirty="0"/>
              <a:t>Garantir a participação das </a:t>
            </a:r>
            <a:r>
              <a:rPr lang="pt-PT" sz="1800" b="1" dirty="0"/>
              <a:t>delegações distritais de saúde </a:t>
            </a:r>
            <a:r>
              <a:rPr lang="pt-PT" sz="1800" dirty="0"/>
              <a:t>nos conselhos de saúde comunitária. </a:t>
            </a:r>
          </a:p>
          <a:p>
            <a:r>
              <a:rPr lang="pt-PT" sz="1800" b="1" dirty="0"/>
              <a:t>A supervisão funcional </a:t>
            </a:r>
            <a:r>
              <a:rPr lang="pt-PT" sz="1800" dirty="0"/>
              <a:t>deve ser feita ao nível distrital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07BD8-C5EB-3C42-CC99-A9D4D83D73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PT" smtClean="0"/>
              <a:t>36</a:t>
            </a:fld>
            <a:endParaRPr lang="pt-P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A0FEAD-06A7-ED43-A157-C08882263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A14CBC-4FB5-10DC-9B19-7E286F9FC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4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push dir="u"/>
      </p:transition>
    </mc:Choice>
    <mc:Fallback xmlns="">
      <p:transition spd="slow">
        <p:push dir="u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AE35-6D6C-68EA-BE3C-99FE2E2B5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983BE-FAE6-98BC-87D8-A05403B9A4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232900" y="6613526"/>
            <a:ext cx="28448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  <a:defRPr sz="1000" b="0" i="0" u="none" strike="noStrike" kern="1200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pt-PT" smtClean="0"/>
              <a:pPr/>
              <a:t>37</a:t>
            </a:fld>
            <a:endParaRPr lang="pt-P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0DACF-451F-A389-091C-9270D8945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594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Muito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pela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atenção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dispensada</a:t>
            </a: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9471</TotalTime>
  <Words>399</Words>
  <Application>Microsoft Office PowerPoint</Application>
  <PresentationFormat>Ecrã Panorâmico</PresentationFormat>
  <Paragraphs>78</Paragraphs>
  <Slides>38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38</vt:i4>
      </vt:variant>
    </vt:vector>
  </HeadingPairs>
  <TitlesOfParts>
    <vt:vector size="51" baseType="lpstr">
      <vt:lpstr>MS PGothic</vt:lpstr>
      <vt:lpstr>Aptos</vt:lpstr>
      <vt:lpstr>Arial</vt:lpstr>
      <vt:lpstr>Arial Narrow</vt:lpstr>
      <vt:lpstr>Calibri</vt:lpstr>
      <vt:lpstr>Century Gothic</vt:lpstr>
      <vt:lpstr>Comic Sans MS</vt:lpstr>
      <vt:lpstr>Garet Bold</vt:lpstr>
      <vt:lpstr>Garet Bold Italics</vt:lpstr>
      <vt:lpstr>Times New Roman</vt:lpstr>
      <vt:lpstr>Wingdings</vt:lpstr>
      <vt:lpstr>Wingdings 3</vt:lpstr>
      <vt:lpstr>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CRITÉRIOS DE ELEGIBILIDADE DOS  APS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Redefinição dos níveis de atenção-CSP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Contribuições recebidas na auscultação aos parceiros</vt:lpstr>
      <vt:lpstr>Contribuições recebidas na auscultação aos parceiros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zacariasjoao13@hotmail.com</cp:lastModifiedBy>
  <cp:revision>130</cp:revision>
  <dcterms:created xsi:type="dcterms:W3CDTF">2025-07-14T08:03:00Z</dcterms:created>
  <dcterms:modified xsi:type="dcterms:W3CDTF">2026-10-11T12:57:28Z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