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ommentAuthors.xml" ContentType="application/vnd.openxmlformats-officedocument.presentationml.commentAuthors+xml"/>
  <Override PartName="/ppt/drawings/drawing1.xml" ContentType="application/vnd.openxmlformats-officedocument.drawingml.chartshapes+xml"/>
  <Override PartName="/ppt/drawings/drawing2.xml" ContentType="application/vnd.openxmlformats-officedocument.drawingml.chartshapes+xml"/>
  <Override PartName="/ppt/drawings/drawing3.xml" ContentType="application/vnd.openxmlformats-officedocument.drawingml.chartshap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8"/>
  </p:handoutMasterIdLst>
  <p:sldIdLst>
    <p:sldId id="256" r:id="rId3"/>
    <p:sldId id="258" r:id="rId4"/>
    <p:sldId id="333" r:id="rId6"/>
    <p:sldId id="392" r:id="rId7"/>
    <p:sldId id="382" r:id="rId8"/>
    <p:sldId id="391" r:id="rId9"/>
    <p:sldId id="397" r:id="rId10"/>
    <p:sldId id="345" r:id="rId11"/>
    <p:sldId id="347" r:id="rId12"/>
    <p:sldId id="348" r:id="rId13"/>
    <p:sldId id="383" r:id="rId14"/>
    <p:sldId id="356" r:id="rId15"/>
    <p:sldId id="346" r:id="rId16"/>
    <p:sldId id="353" r:id="rId17"/>
    <p:sldId id="385" r:id="rId18"/>
    <p:sldId id="393" r:id="rId19"/>
    <p:sldId id="349" r:id="rId20"/>
    <p:sldId id="354" r:id="rId21"/>
    <p:sldId id="352" r:id="rId22"/>
    <p:sldId id="384" r:id="rId23"/>
    <p:sldId id="359" r:id="rId24"/>
    <p:sldId id="344" r:id="rId25"/>
    <p:sldId id="394" r:id="rId26"/>
    <p:sldId id="355" r:id="rId27"/>
    <p:sldId id="388" r:id="rId28"/>
    <p:sldId id="387" r:id="rId29"/>
    <p:sldId id="357" r:id="rId30"/>
    <p:sldId id="389" r:id="rId31"/>
    <p:sldId id="358" r:id="rId32"/>
    <p:sldId id="390" r:id="rId33"/>
    <p:sldId id="360" r:id="rId34"/>
    <p:sldId id="395" r:id="rId35"/>
    <p:sldId id="396" r:id="rId36"/>
    <p:sldId id="343" r:id="rId37"/>
  </p:sldIdLst>
  <p:sldSz cx="12192000" cy="6858000"/>
  <p:notesSz cx="6858000" cy="9144000"/>
  <p:custDataLst>
    <p:tags r:id="rId43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  <p:cmAuthor id="4" name="Windows User" initials="WU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3" Type="http://schemas.openxmlformats.org/officeDocument/2006/relationships/tags" Target="tags/tag1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ospital\Downloads\data.xls" TargetMode="External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chartUserShapes" Target="../drawings/drawing1.xml"/><Relationship Id="rId1" Type="http://schemas.openxmlformats.org/officeDocument/2006/relationships/oleObject" Target="Livro1" TargetMode="External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chartUserShapes" Target="../drawings/drawing2.xml"/><Relationship Id="rId1" Type="http://schemas.openxmlformats.org/officeDocument/2006/relationships/oleObject" Target="Livro1" TargetMode="External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chartUserShapes" Target="../drawings/drawing3.xml"/><Relationship Id="rId1" Type="http://schemas.openxmlformats.org/officeDocument/2006/relationships/oleObject" Target="Livro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578947368421"/>
          <c:y val="0.135416666666667"/>
          <c:w val="0.937473684210526"/>
          <c:h val="0.4819047619047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'[data.xls]Janeiro - Junho 2026'!$B$21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0.0171052631578947"/>
                  <c:y val="-0.0115740740740741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'[data.xls]Janeiro - Junho 2026'!$A$22:$A$29</c:f>
              <c:strCache>
                <c:ptCount val="8"/>
                <c:pt idx="0">
                  <c:v>Diarreia</c:v>
                </c:pt>
                <c:pt idx="1">
                  <c:v>Sindrome Febril</c:v>
                </c:pt>
                <c:pt idx="2">
                  <c:v>Malaria</c:v>
                </c:pt>
                <c:pt idx="3">
                  <c:v>Disenteria</c:v>
                </c:pt>
                <c:pt idx="4">
                  <c:v>Mordedura Animal</c:v>
                </c:pt>
                <c:pt idx="5">
                  <c:v>PFA</c:v>
                </c:pt>
                <c:pt idx="6">
                  <c:v>Sarampo</c:v>
                </c:pt>
                <c:pt idx="7">
                  <c:v>TNN</c:v>
                </c:pt>
              </c:strCache>
            </c:strRef>
          </c:cat>
          <c:val>
            <c:numRef>
              <c:f>'[data.xls]Janeiro - Junho 2026'!$B$22:$B$29</c:f>
              <c:numCache>
                <c:formatCode>General</c:formatCode>
                <c:ptCount val="8"/>
                <c:pt idx="0">
                  <c:v>1714</c:v>
                </c:pt>
                <c:pt idx="1">
                  <c:v>5304</c:v>
                </c:pt>
                <c:pt idx="2">
                  <c:v>4448</c:v>
                </c:pt>
                <c:pt idx="3">
                  <c:v>160</c:v>
                </c:pt>
                <c:pt idx="4">
                  <c:v>69</c:v>
                </c:pt>
                <c:pt idx="5">
                  <c:v>1</c:v>
                </c:pt>
                <c:pt idx="6">
                  <c:v>31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'[data.xls]Janeiro - Junho 2026'!$C$21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0.00789473684210526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144736842105263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289473684210526"/>
                  <c:y val="0.0138888888888889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'[data.xls]Janeiro - Junho 2026'!$A$22:$A$29</c:f>
              <c:strCache>
                <c:ptCount val="8"/>
                <c:pt idx="0">
                  <c:v>Diarreia</c:v>
                </c:pt>
                <c:pt idx="1">
                  <c:v>Sindrome Febril</c:v>
                </c:pt>
                <c:pt idx="2">
                  <c:v>Malaria</c:v>
                </c:pt>
                <c:pt idx="3">
                  <c:v>Disenteria</c:v>
                </c:pt>
                <c:pt idx="4">
                  <c:v>Mordedura Animal</c:v>
                </c:pt>
                <c:pt idx="5">
                  <c:v>PFA</c:v>
                </c:pt>
                <c:pt idx="6">
                  <c:v>Sarampo</c:v>
                </c:pt>
                <c:pt idx="7">
                  <c:v>TNN</c:v>
                </c:pt>
              </c:strCache>
            </c:strRef>
          </c:cat>
          <c:val>
            <c:numRef>
              <c:f>'[data.xls]Janeiro - Junho 2026'!$C$22:$C$29</c:f>
              <c:numCache>
                <c:formatCode>General</c:formatCode>
                <c:ptCount val="8"/>
                <c:pt idx="0">
                  <c:v>2207</c:v>
                </c:pt>
                <c:pt idx="1">
                  <c:v>4307</c:v>
                </c:pt>
                <c:pt idx="2">
                  <c:v>1498</c:v>
                </c:pt>
                <c:pt idx="3">
                  <c:v>236</c:v>
                </c:pt>
                <c:pt idx="4">
                  <c:v>54</c:v>
                </c:pt>
                <c:pt idx="5">
                  <c:v>1</c:v>
                </c:pt>
                <c:pt idx="6">
                  <c:v>36</c:v>
                </c:pt>
                <c:pt idx="7">
                  <c:v>1</c:v>
                </c:pt>
              </c:numCache>
            </c:numRef>
          </c:val>
        </c:ser>
        <c:ser>
          <c:idx val="2"/>
          <c:order val="2"/>
          <c:tx>
            <c:strRef>
              <c:f>'[data.xls]Janeiro - Junho 2026'!$D$21</c:f>
              <c:strCache>
                <c:ptCount val="1"/>
                <c:pt idx="0">
                  <c:v>EV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0315789473684211"/>
                  <c:y val="0.0810185185185185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342105263157895"/>
                  <c:y val="0.034722222222222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407894736842105"/>
                  <c:y val="0.0185185185185185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407894736842105"/>
                  <c:y val="0.0810185185185185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197368421052632"/>
                  <c:y val="0.046296296296296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308029939270185"/>
                  <c:y val="0.041539036134219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302631578947368"/>
                  <c:y val="0.0763888888888889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460526315789474"/>
                  <c:y val="0.0324074074074074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pt-PT"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'[data.xls]Janeiro - Junho 2026'!$A$22:$A$29</c:f>
              <c:strCache>
                <c:ptCount val="8"/>
                <c:pt idx="0">
                  <c:v>Diarreia</c:v>
                </c:pt>
                <c:pt idx="1">
                  <c:v>Sindrome Febril</c:v>
                </c:pt>
                <c:pt idx="2">
                  <c:v>Malaria</c:v>
                </c:pt>
                <c:pt idx="3">
                  <c:v>Disenteria</c:v>
                </c:pt>
                <c:pt idx="4">
                  <c:v>Mordedura Animal</c:v>
                </c:pt>
                <c:pt idx="5">
                  <c:v>PFA</c:v>
                </c:pt>
                <c:pt idx="6">
                  <c:v>Sarampo</c:v>
                </c:pt>
                <c:pt idx="7">
                  <c:v>TNN</c:v>
                </c:pt>
              </c:strCache>
            </c:strRef>
          </c:cat>
          <c:val>
            <c:numRef>
              <c:f>'[data.xls]Janeiro - Junho 2026'!$D$22:$D$29</c:f>
              <c:numCache>
                <c:formatCode>0%</c:formatCode>
                <c:ptCount val="8"/>
                <c:pt idx="0">
                  <c:v>0.287631271878646</c:v>
                </c:pt>
                <c:pt idx="1">
                  <c:v>-0.187971342383107</c:v>
                </c:pt>
                <c:pt idx="2">
                  <c:v>-0.663219424460432</c:v>
                </c:pt>
                <c:pt idx="3">
                  <c:v>0.475</c:v>
                </c:pt>
                <c:pt idx="4">
                  <c:v>-0.217391304347826</c:v>
                </c:pt>
                <c:pt idx="5">
                  <c:v>0</c:v>
                </c:pt>
                <c:pt idx="6">
                  <c:v>0.161290322580645</c:v>
                </c:pt>
                <c:pt idx="7">
                  <c:v>-0.5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71088816"/>
        <c:axId val="922242211"/>
      </c:barChart>
      <c:catAx>
        <c:axId val="5710888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pt-PT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922242211"/>
        <c:crosses val="autoZero"/>
        <c:auto val="1"/>
        <c:lblAlgn val="ctr"/>
        <c:lblOffset val="100"/>
        <c:noMultiLvlLbl val="0"/>
      </c:catAx>
      <c:valAx>
        <c:axId val="9222422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PT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571088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pt-PT"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pt-PT"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pt-PT"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pt-PT" sz="16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3b4c78d-3b14-4b51-a433-b5ff0cccef4c}"/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 wrap="square"/>
    <a:lstStyle/>
    <a:p>
      <a:pPr>
        <a:defRPr lang="pt-PT">
          <a:solidFill>
            <a:schemeClr val="bg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9473684210526"/>
          <c:y val="0.326388888888889"/>
          <c:w val="0.942105263157895"/>
          <c:h val="0.6056481481481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[Livro1]Folha1!$I$4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[Livro1]Folha1!$H$5:$H$8</c:f>
              <c:strCache>
                <c:ptCount val="4"/>
                <c:pt idx="0">
                  <c:v>US</c:v>
                </c:pt>
                <c:pt idx="1">
                  <c:v>Escola</c:v>
                </c:pt>
                <c:pt idx="2">
                  <c:v>Comunidade</c:v>
                </c:pt>
                <c:pt idx="3">
                  <c:v>Total</c:v>
                </c:pt>
              </c:strCache>
            </c:strRef>
          </c:cat>
          <c:val>
            <c:numRef>
              <c:f>[Livro1]Folha1!$I$5:$I$8</c:f>
              <c:numCache>
                <c:formatCode>General</c:formatCode>
                <c:ptCount val="4"/>
                <c:pt idx="0">
                  <c:v>53</c:v>
                </c:pt>
                <c:pt idx="1">
                  <c:v>2228</c:v>
                </c:pt>
                <c:pt idx="2">
                  <c:v>11</c:v>
                </c:pt>
                <c:pt idx="3">
                  <c:v>4317</c:v>
                </c:pt>
              </c:numCache>
            </c:numRef>
          </c:val>
        </c:ser>
        <c:ser>
          <c:idx val="1"/>
          <c:order val="1"/>
          <c:tx>
            <c:strRef>
              <c:f>[Livro1]Folha1!$J$4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[Livro1]Folha1!$H$5:$H$8</c:f>
              <c:strCache>
                <c:ptCount val="4"/>
                <c:pt idx="0">
                  <c:v>US</c:v>
                </c:pt>
                <c:pt idx="1">
                  <c:v>Escola</c:v>
                </c:pt>
                <c:pt idx="2">
                  <c:v>Comunidade</c:v>
                </c:pt>
                <c:pt idx="3">
                  <c:v>Total</c:v>
                </c:pt>
              </c:strCache>
            </c:strRef>
          </c:cat>
          <c:val>
            <c:numRef>
              <c:f>[Livro1]Folha1!$J$5:$J$8</c:f>
              <c:numCache>
                <c:formatCode>General</c:formatCode>
                <c:ptCount val="4"/>
                <c:pt idx="0">
                  <c:v>38</c:v>
                </c:pt>
                <c:pt idx="1">
                  <c:v>2914</c:v>
                </c:pt>
                <c:pt idx="2">
                  <c:v>8</c:v>
                </c:pt>
                <c:pt idx="3">
                  <c:v>4986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-32"/>
        <c:axId val="926981679"/>
        <c:axId val="891862671"/>
      </c:barChart>
      <c:catAx>
        <c:axId val="92698167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pt-PT" sz="2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891862671"/>
        <c:crosses val="autoZero"/>
        <c:auto val="1"/>
        <c:lblAlgn val="ctr"/>
        <c:lblOffset val="100"/>
        <c:noMultiLvlLbl val="0"/>
      </c:catAx>
      <c:valAx>
        <c:axId val="891862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PT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926981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pt-PT"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pt-PT"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pt-PT" sz="16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54090e5-e6f0-464f-b82a-07e21e0f899d}"/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pt-PT">
          <a:solidFill>
            <a:schemeClr val="bg1"/>
          </a:solidFill>
        </a:defRPr>
      </a:pPr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[Livro1]Folha1!$B$12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[Livro1]Folha1!$A$13:$A$15</c:f>
              <c:strCache>
                <c:ptCount val="3"/>
                <c:pt idx="0">
                  <c:v>1º Consultas</c:v>
                </c:pt>
                <c:pt idx="1">
                  <c:v>Suple com Vit A</c:v>
                </c:pt>
                <c:pt idx="2">
                  <c:v>Desparasitação</c:v>
                </c:pt>
              </c:strCache>
            </c:strRef>
          </c:cat>
          <c:val>
            <c:numRef>
              <c:f>[Livro1]Folha1!$B$13:$B$15</c:f>
              <c:numCache>
                <c:formatCode>General</c:formatCode>
                <c:ptCount val="3"/>
                <c:pt idx="0">
                  <c:v>37603</c:v>
                </c:pt>
                <c:pt idx="1">
                  <c:v>16386</c:v>
                </c:pt>
                <c:pt idx="2">
                  <c:v>11424</c:v>
                </c:pt>
              </c:numCache>
            </c:numRef>
          </c:val>
        </c:ser>
        <c:ser>
          <c:idx val="1"/>
          <c:order val="1"/>
          <c:tx>
            <c:strRef>
              <c:f>[Livro1]Folha1!$C$12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[Livro1]Folha1!$A$13:$A$15</c:f>
              <c:strCache>
                <c:ptCount val="3"/>
                <c:pt idx="0">
                  <c:v>1º Consultas</c:v>
                </c:pt>
                <c:pt idx="1">
                  <c:v>Suple com Vit A</c:v>
                </c:pt>
                <c:pt idx="2">
                  <c:v>Desparasitação</c:v>
                </c:pt>
              </c:strCache>
            </c:strRef>
          </c:cat>
          <c:val>
            <c:numRef>
              <c:f>[Livro1]Folha1!$C$13:$C$15</c:f>
              <c:numCache>
                <c:formatCode>General</c:formatCode>
                <c:ptCount val="3"/>
                <c:pt idx="0">
                  <c:v>53212</c:v>
                </c:pt>
                <c:pt idx="1">
                  <c:v>19809</c:v>
                </c:pt>
                <c:pt idx="2">
                  <c:v>13607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-32"/>
        <c:axId val="858939697"/>
        <c:axId val="670242932"/>
      </c:barChart>
      <c:catAx>
        <c:axId val="85893969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pt-PT"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670242932"/>
        <c:crosses val="autoZero"/>
        <c:auto val="1"/>
        <c:lblAlgn val="ctr"/>
        <c:lblOffset val="100"/>
        <c:noMultiLvlLbl val="0"/>
      </c:catAx>
      <c:valAx>
        <c:axId val="6702429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PT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85893969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pt-PT"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pt-PT"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pt-PT" sz="14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9ffa2d5-ba79-4bb9-9048-db2c6f452f4e}"/>
      </c:ext>
    </c:extLst>
  </c:chart>
  <c:spPr>
    <a:noFill/>
    <a:ln>
      <a:noFill/>
    </a:ln>
    <a:effectLst/>
  </c:spPr>
  <c:txPr>
    <a:bodyPr/>
    <a:lstStyle/>
    <a:p>
      <a:pPr>
        <a:defRPr lang="pt-PT">
          <a:solidFill>
            <a:schemeClr val="bg1"/>
          </a:solidFill>
        </a:defRPr>
      </a:pPr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pt-PT" sz="216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altLang="pt-PT" sz="2160">
                <a:solidFill>
                  <a:schemeClr val="bg1"/>
                </a:solidFill>
              </a:rPr>
              <a:t>Rastreio TB</a:t>
            </a:r>
            <a:endParaRPr lang="en-US" altLang="pt-PT" sz="2160">
              <a:solidFill>
                <a:schemeClr val="bg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23976361333896"/>
          <c:y val="0.178710821998817"/>
          <c:w val="0.942116926973407"/>
          <c:h val="0.6708929627439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[Livro1]Folha1!$B$3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[Livro1]Folha1!$A$4:$A$6</c:f>
              <c:strCache>
                <c:ptCount val="3"/>
                <c:pt idx="0">
                  <c:v>T.de Rastreiados</c:v>
                </c:pt>
                <c:pt idx="1">
                  <c:v>Nº de presuntivos</c:v>
                </c:pt>
                <c:pt idx="2">
                  <c:v>Nº de presuntivos 
com amostra</c:v>
                </c:pt>
              </c:strCache>
            </c:strRef>
          </c:cat>
          <c:val>
            <c:numRef>
              <c:f>[Livro1]Folha1!$B$4:$B$6</c:f>
              <c:numCache>
                <c:formatCode>General</c:formatCode>
                <c:ptCount val="3"/>
                <c:pt idx="0">
                  <c:v>11054</c:v>
                </c:pt>
                <c:pt idx="1">
                  <c:v>3990</c:v>
                </c:pt>
                <c:pt idx="2">
                  <c:v>3811</c:v>
                </c:pt>
              </c:numCache>
            </c:numRef>
          </c:val>
        </c:ser>
        <c:ser>
          <c:idx val="1"/>
          <c:order val="1"/>
          <c:tx>
            <c:strRef>
              <c:f>[Livro1]Folha1!$C$3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PT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[Livro1]Folha1!$A$4:$A$6</c:f>
              <c:strCache>
                <c:ptCount val="3"/>
                <c:pt idx="0">
                  <c:v>T.de Rastreiados</c:v>
                </c:pt>
                <c:pt idx="1">
                  <c:v>Nº de presuntivos</c:v>
                </c:pt>
                <c:pt idx="2">
                  <c:v>Nº de presuntivos 
com amostra</c:v>
                </c:pt>
              </c:strCache>
            </c:strRef>
          </c:cat>
          <c:val>
            <c:numRef>
              <c:f>[Livro1]Folha1!$C$4:$C$6</c:f>
              <c:numCache>
                <c:formatCode>General</c:formatCode>
                <c:ptCount val="3"/>
                <c:pt idx="0">
                  <c:v>27137</c:v>
                </c:pt>
                <c:pt idx="1">
                  <c:v>4899</c:v>
                </c:pt>
                <c:pt idx="2">
                  <c:v>4698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-32"/>
        <c:axId val="820093162"/>
        <c:axId val="358086672"/>
      </c:barChart>
      <c:catAx>
        <c:axId val="82009316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pt-PT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358086672"/>
        <c:crosses val="autoZero"/>
        <c:auto val="1"/>
        <c:lblAlgn val="ctr"/>
        <c:lblOffset val="100"/>
        <c:noMultiLvlLbl val="0"/>
      </c:catAx>
      <c:valAx>
        <c:axId val="3580866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PT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82009316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pt-PT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pt-PT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pt-PT" sz="18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98dabf5-bb98-49c6-969f-e2e9af782de1}"/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pt-PT" sz="1800">
          <a:solidFill>
            <a:schemeClr val="bg1"/>
          </a:solidFill>
        </a:defRPr>
      </a:pPr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0.859379188334316</cdr:x>
      <cdr:y>0.0300012000480019</cdr:y>
    </cdr:from>
    <cdr:to>
      <cdr:x>0.983380689433335</cdr:x>
      <cdr:y>0.242529701188048</cdr:y>
    </cdr:to>
    <cdr:sp>
      <cdr:nvSpPr>
        <cdr:cNvPr id="2" name="Rectangle 1"/>
        <cdr:cNvSpPr/>
      </cdr:nvSpPr>
      <cdr:spPr xmlns:a="http://schemas.openxmlformats.org/drawingml/2006/main">
        <a:xfrm xmlns:a="http://schemas.openxmlformats.org/drawingml/2006/main">
          <a:off x="10179050" y="158750"/>
          <a:ext cx="1468755" cy="1124585"/>
        </a:xfrm>
        <a:prstGeom xmlns:a="http://schemas.openxmlformats.org/drawingml/2006/main" prst="rect">
          <a:avLst/>
        </a:prstGeom>
        <a:noFill/>
        <a:ln>
          <a:noFill/>
        </a:ln>
      </cdr:spPr>
      <cdr:style>
        <a:lnRef xmlns:a="http://schemas.openxmlformats.org/drawingml/2006/main" idx="2">
          <a:schemeClr val="accent1">
            <a:lumMod val="7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 vertOverflow="clip"/>
        <a:p>
          <a:pPr algn="l"/>
          <a:r>
            <a:rPr lang="en-US" sz="1800" b="1">
              <a:solidFill>
                <a:schemeClr val="bg1"/>
              </a:solidFill>
            </a:rPr>
            <a:t>EV : 15%</a:t>
          </a:r>
          <a:endParaRPr lang="en-US" sz="1800" b="1">
            <a:solidFill>
              <a:schemeClr val="bg1"/>
            </a:solidFill>
          </a:endParaRPr>
        </a:p>
        <a:p>
          <a:pPr algn="l"/>
          <a:endParaRPr lang="en-US" sz="1800" b="1">
            <a:solidFill>
              <a:schemeClr val="bg1"/>
            </a:solidFill>
          </a:endParaRPr>
        </a:p>
        <a:p>
          <a:pPr algn="l"/>
          <a:r>
            <a:rPr lang="en-US" sz="1800" b="1">
              <a:solidFill>
                <a:schemeClr val="bg1"/>
              </a:solidFill>
            </a:rPr>
            <a:t>IC : +100%</a:t>
          </a:r>
          <a:endParaRPr lang="en-US" sz="1800" b="1">
            <a:solidFill>
              <a:schemeClr val="bg1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0.0671246525774818</cdr:x>
      <cdr:y>0.264591896652965</cdr:y>
    </cdr:from>
    <cdr:to>
      <cdr:x>0.197388431485657</cdr:x>
      <cdr:y>0.375924838520258</cdr:y>
    </cdr:to>
    <cdr:sp>
      <cdr:nvSpPr>
        <cdr:cNvPr id="2" name="Oval 1"/>
        <cdr:cNvSpPr/>
      </cdr:nvSpPr>
      <cdr:spPr xmlns:a="http://schemas.openxmlformats.org/drawingml/2006/main">
        <a:xfrm xmlns:a="http://schemas.openxmlformats.org/drawingml/2006/main">
          <a:off x="812800" y="1430655"/>
          <a:ext cx="1577340" cy="601980"/>
        </a:xfrm>
        <a:prstGeom xmlns:a="http://schemas.openxmlformats.org/drawingml/2006/main" prst="ellipse">
          <a:avLst/>
        </a:prstGeom>
        <a:noFill/>
        <a:ln>
          <a:noFill/>
        </a:ln>
      </cdr:spPr>
      <cdr:style>
        <a:lnRef xmlns:a="http://schemas.openxmlformats.org/drawingml/2006/main" idx="2">
          <a:schemeClr val="accent1">
            <a:lumMod val="7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 vertOverflow="clip"/>
        <a:p>
          <a:pPr algn="l"/>
          <a:r>
            <a:rPr lang="en-US" altLang="pt-PT" sz="1400">
              <a:solidFill>
                <a:schemeClr val="bg1"/>
              </a:solidFill>
            </a:rPr>
            <a:t>Ev:</a:t>
          </a:r>
          <a:r>
            <a:rPr lang="en-US" altLang="en-US" sz="1400">
              <a:solidFill>
                <a:schemeClr val="bg1"/>
              </a:solidFill>
            </a:rPr>
            <a:t> </a:t>
          </a:r>
          <a:r>
            <a:rPr lang="en-US" altLang="pt-PT" sz="1400">
              <a:solidFill>
                <a:schemeClr val="bg1"/>
              </a:solidFill>
            </a:rPr>
            <a:t>42</a:t>
          </a:r>
          <a:r>
            <a:rPr lang="en-US" altLang="en-US" sz="1400">
              <a:solidFill>
                <a:schemeClr val="bg1"/>
              </a:solidFill>
            </a:rPr>
            <a:t>%</a:t>
          </a:r>
          <a:endParaRPr lang="en-US" altLang="en-US" sz="140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0.443232471550684</cdr:x>
      <cdr:y>0.516382853787434</cdr:y>
    </cdr:from>
    <cdr:to>
      <cdr:x>0.557449263202056</cdr:x>
      <cdr:y>0.634174985320023</cdr:y>
    </cdr:to>
    <cdr:sp>
      <cdr:nvSpPr>
        <cdr:cNvPr id="3" name="Oval 2"/>
        <cdr:cNvSpPr/>
      </cdr:nvSpPr>
      <cdr:spPr xmlns:a="http://schemas.openxmlformats.org/drawingml/2006/main">
        <a:xfrm xmlns:a="http://schemas.openxmlformats.org/drawingml/2006/main">
          <a:off x="5367020" y="2792095"/>
          <a:ext cx="1383030" cy="636905"/>
        </a:xfrm>
        <a:prstGeom xmlns:a="http://schemas.openxmlformats.org/drawingml/2006/main" prst="ellipse">
          <a:avLst/>
        </a:prstGeom>
        <a:noFill/>
        <a:ln>
          <a:noFill/>
        </a:ln>
      </cdr:spPr>
      <cdr:style>
        <a:lnRef xmlns:a="http://schemas.openxmlformats.org/drawingml/2006/main" idx="2">
          <a:schemeClr val="accent1">
            <a:lumMod val="7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 vertOverflow="clip"/>
        <a:p>
          <a:pPr algn="l"/>
          <a:r>
            <a:rPr lang="en-US" sz="1400">
              <a:solidFill>
                <a:schemeClr val="bg1"/>
              </a:solidFill>
            </a:rPr>
            <a:t>Ev: 21%</a:t>
          </a:r>
          <a:r>
            <a:rPr lang="en-US" sz="1100"/>
            <a:t> </a:t>
          </a:r>
          <a:endParaRPr lang="en-US" sz="1100"/>
        </a:p>
      </cdr:txBody>
    </cdr:sp>
  </cdr:relSizeAnchor>
  <cdr:relSizeAnchor xmlns:cdr="http://schemas.openxmlformats.org/drawingml/2006/chartDrawing">
    <cdr:from>
      <cdr:x>0.767580890450469</cdr:x>
      <cdr:y>0.559718144450969</cdr:y>
    </cdr:from>
    <cdr:to>
      <cdr:x>0.881745240967015</cdr:x>
      <cdr:y>0.700176159718144</cdr:y>
    </cdr:to>
    <cdr:sp>
      <cdr:nvSpPr>
        <cdr:cNvPr id="4" name="Oval 3"/>
        <cdr:cNvSpPr/>
      </cdr:nvSpPr>
      <cdr:spPr xmlns:a="http://schemas.openxmlformats.org/drawingml/2006/main">
        <a:xfrm xmlns:a="http://schemas.openxmlformats.org/drawingml/2006/main">
          <a:off x="9294495" y="3026410"/>
          <a:ext cx="1382395" cy="759460"/>
        </a:xfrm>
        <a:prstGeom xmlns:a="http://schemas.openxmlformats.org/drawingml/2006/main" prst="ellipse">
          <a:avLst/>
        </a:prstGeom>
        <a:noFill/>
        <a:ln>
          <a:noFill/>
        </a:ln>
      </cdr:spPr>
      <cdr:style>
        <a:lnRef xmlns:a="http://schemas.openxmlformats.org/drawingml/2006/main" idx="2">
          <a:schemeClr val="accent1">
            <a:lumMod val="7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 vertOverflow="clip"/>
        <a:p>
          <a:pPr algn="l"/>
          <a:r>
            <a:rPr lang="en-US" sz="1400">
              <a:solidFill>
                <a:schemeClr val="bg1"/>
              </a:solidFill>
            </a:rPr>
            <a:t>EV:19%</a:t>
          </a:r>
          <a:endParaRPr lang="en-US" sz="1400">
            <a:solidFill>
              <a:schemeClr val="bg1"/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0.0423684210526316</cdr:x>
      <cdr:y>0.393518518518519</cdr:y>
    </cdr:from>
    <cdr:to>
      <cdr:x>0.222368421052632</cdr:x>
      <cdr:y>0.534722222222222</cdr:y>
    </cdr:to>
    <cdr:sp>
      <cdr:nvSpPr>
        <cdr:cNvPr id="2" name="Oval 1"/>
        <cdr:cNvSpPr/>
      </cdr:nvSpPr>
      <cdr:spPr xmlns:a="http://schemas.openxmlformats.org/drawingml/2006/main">
        <a:xfrm xmlns:a="http://schemas.openxmlformats.org/drawingml/2006/main">
          <a:off x="204470" y="1079500"/>
          <a:ext cx="868680" cy="387350"/>
        </a:xfrm>
        <a:prstGeom xmlns:a="http://schemas.openxmlformats.org/drawingml/2006/main" prst="ellipse">
          <a:avLst/>
        </a:prstGeom>
        <a:ln>
          <a:solidFill>
            <a:schemeClr val="tx1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rgbClr val="FFFFFF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tx1"/>
        </a:fontRef>
      </cdr:style>
      <cdr:txBody xmlns:a="http://schemas.openxmlformats.org/drawingml/2006/main">
        <a:bodyPr vertOverflow="clip"/>
        <a:p>
          <a:pPr algn="l"/>
          <a:r>
            <a:rPr lang="en-US" altLang="pt-PT" sz="1400">
              <a:solidFill>
                <a:schemeClr val="bg1"/>
              </a:solidFill>
            </a:rPr>
            <a:t>Ev:+100</a:t>
          </a:r>
          <a:r>
            <a:rPr lang="en-US" altLang="pt-PT" sz="1200">
              <a:solidFill>
                <a:schemeClr val="bg1"/>
              </a:solidFill>
            </a:rPr>
            <a:t>%</a:t>
          </a:r>
          <a:endParaRPr lang="en-US" altLang="pt-PT" sz="120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0.448501477416631</cdr:x>
      <cdr:y>0.558131283264341</cdr:y>
    </cdr:from>
    <cdr:to>
      <cdr:x>0.568647108484593</cdr:x>
      <cdr:y>0.685393258426966</cdr:y>
    </cdr:to>
    <cdr:sp>
      <cdr:nvSpPr>
        <cdr:cNvPr id="3" name="Oval 2"/>
        <cdr:cNvSpPr/>
      </cdr:nvSpPr>
      <cdr:spPr xmlns:a="http://schemas.openxmlformats.org/drawingml/2006/main">
        <a:xfrm xmlns:a="http://schemas.openxmlformats.org/drawingml/2006/main">
          <a:off x="5397500" y="2996565"/>
          <a:ext cx="1445895" cy="683260"/>
        </a:xfrm>
        <a:prstGeom xmlns:a="http://schemas.openxmlformats.org/drawingml/2006/main" prst="ellipse">
          <a:avLst/>
        </a:prstGeom>
        <a:ln>
          <a:solidFill>
            <a:schemeClr val="tx1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rgbClr val="FFFFFF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tx1"/>
        </a:fontRef>
      </cdr:style>
      <cdr:txBody xmlns:a="http://schemas.openxmlformats.org/drawingml/2006/main">
        <a:bodyPr vertOverflow="clip"/>
        <a:p>
          <a:pPr algn="l"/>
          <a:r>
            <a:rPr lang="en-US" sz="1400">
              <a:solidFill>
                <a:schemeClr val="bg1"/>
              </a:solidFill>
            </a:rPr>
            <a:t>EV:</a:t>
          </a:r>
          <a:r>
            <a:rPr lang="en-US" altLang="pt-PT" sz="1400">
              <a:solidFill>
                <a:schemeClr val="bg1"/>
              </a:solidFill>
            </a:rPr>
            <a:t>23</a:t>
          </a:r>
          <a:r>
            <a:rPr lang="en-US" altLang="en-US" sz="1400">
              <a:solidFill>
                <a:schemeClr val="bg1"/>
              </a:solidFill>
            </a:rPr>
            <a:t>%</a:t>
          </a:r>
          <a:r>
            <a:rPr lang="en-US" altLang="pt-PT" sz="800">
              <a:solidFill>
                <a:schemeClr val="tx1"/>
              </a:solidFill>
            </a:rPr>
            <a:t>%</a:t>
          </a:r>
          <a:endParaRPr lang="en-US" altLang="pt-PT" sz="80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0.784666525960321</cdr:x>
      <cdr:y>0.592193968066233</cdr:y>
    </cdr:from>
    <cdr:to>
      <cdr:x>0.885183621781342</cdr:x>
      <cdr:y>0.702779420461266</cdr:y>
    </cdr:to>
    <cdr:sp>
      <cdr:nvSpPr>
        <cdr:cNvPr id="4" name="Oval 3"/>
        <cdr:cNvSpPr/>
      </cdr:nvSpPr>
      <cdr:spPr xmlns:a="http://schemas.openxmlformats.org/drawingml/2006/main">
        <a:xfrm xmlns:a="http://schemas.openxmlformats.org/drawingml/2006/main">
          <a:off x="9443085" y="3179445"/>
          <a:ext cx="1209675" cy="593725"/>
        </a:xfrm>
        <a:prstGeom xmlns:a="http://schemas.openxmlformats.org/drawingml/2006/main" prst="ellipse">
          <a:avLst/>
        </a:prstGeom>
        <a:noFill/>
        <a:ln>
          <a:solidFill>
            <a:schemeClr val="tx1"/>
          </a:solidFill>
        </a:ln>
      </cdr:spPr>
      <cdr:style>
        <a:lnRef xmlns:a="http://schemas.openxmlformats.org/drawingml/2006/main" idx="2">
          <a:schemeClr val="accent1">
            <a:lumMod val="7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 vertOverflow="clip"/>
        <a:p>
          <a:pPr algn="l"/>
          <a:r>
            <a:rPr lang="en-US" sz="1400">
              <a:solidFill>
                <a:schemeClr val="bg1"/>
              </a:solidFill>
            </a:rPr>
            <a:t>EV:23%</a:t>
          </a:r>
          <a:endParaRPr lang="en-US" sz="140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ção da Imagem do Diapositivo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Marcador de Posição de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PT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/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  <a:endParaRPr lang="pt-PT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11" name="Title 1"/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/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/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  <a:endParaRPr lang="en-US" sz="2000" b="1" i="1" dirty="0" err="1">
              <a:solidFill>
                <a:schemeClr val="bg1"/>
              </a:solidFill>
              <a:latin typeface="Garet Bold Italics"/>
              <a:ea typeface="Garet Bold Italics"/>
              <a:cs typeface="Garet Bold Italics"/>
              <a:sym typeface="Garet Bold Italics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40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  <a:endParaRPr lang="en-US" altLang="en-US" b="1" dirty="0">
              <a:solidFill>
                <a:srgbClr val="050A3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  <a:endParaRPr lang="pt-PT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  <a:endParaRPr lang="pt-PT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8"/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</a:fld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 hasCustomPrompt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  <a:endParaRPr lang="pt-BR"/>
          </a:p>
          <a:p>
            <a:pPr lvl="1" eaLnBrk="1" latinLnBrk="0" hangingPunct="1"/>
            <a:r>
              <a:rPr lang="pt-BR"/>
              <a:t>Segundo nível</a:t>
            </a:r>
            <a:endParaRPr lang="pt-BR"/>
          </a:p>
          <a:p>
            <a:pPr lvl="2" eaLnBrk="1" latinLnBrk="0" hangingPunct="1"/>
            <a:r>
              <a:rPr lang="pt-BR"/>
              <a:t>Terceiro nível</a:t>
            </a:r>
            <a:endParaRPr lang="pt-BR"/>
          </a:p>
          <a:p>
            <a:pPr lvl="3" eaLnBrk="1" latinLnBrk="0" hangingPunct="1"/>
            <a:r>
              <a:rPr lang="pt-BR"/>
              <a:t>Quarto nível</a:t>
            </a:r>
            <a:endParaRPr lang="pt-BR"/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lvl="0"/>
            <a:fld id="{566ABCEB-ACFC-4714-9973-3DA970169C29}" type="datetime1">
              <a:rPr lang="pt-PT" altLang="zh-CN" sz="1200" smtClean="0">
                <a:solidFill>
                  <a:srgbClr val="FFFFFF"/>
                </a:solidFill>
                <a:ea typeface="隶书"/>
              </a:rPr>
            </a:fld>
            <a:endParaRPr lang="pt-PT" altLang="zh-CN" sz="1200">
              <a:solidFill>
                <a:srgbClr val="FFFFFF"/>
              </a:solidFill>
              <a:ea typeface="隶书"/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lvl="0" algn="ctr"/>
            <a:fld id="{566ABCEB-ACFC-4714-9973-3DA970169C29}" type="slidenum">
              <a:rPr lang="pt-PT" altLang="en-US" sz="1600" smtClean="0">
                <a:solidFill>
                  <a:srgbClr val="FFFFFF"/>
                </a:solidFill>
              </a:rPr>
            </a:fld>
            <a:endParaRPr lang="pt-PT" altLang="en-US" sz="1600">
              <a:solidFill>
                <a:srgbClr val="FFFFFF"/>
              </a:solidFill>
            </a:endParaRPr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lvl="0" algn="r"/>
            <a:r>
              <a:rPr lang="pt-PT" altLang="en-US" sz="1000">
                <a:solidFill>
                  <a:srgbClr val="FFFFFF"/>
                </a:solidFill>
              </a:rPr>
              <a:t>POR UM MUNICIPIO PROVEDOR DE MAIS E MELHORES SERVIÇOS SOCIAS E DE SAUDE</a:t>
            </a:r>
            <a:endParaRPr lang="pt-PT" altLang="en-US" sz="1000">
              <a:solidFill>
                <a:srgbClr val="FFFFFF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1295403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2" name="Text Placeholder 2"/>
          <p:cNvSpPr>
            <a:spLocks noGrp="1"/>
          </p:cNvSpPr>
          <p:nvPr>
            <p:ph type="body" idx="1"/>
          </p:nvPr>
        </p:nvSpPr>
        <p:spPr>
          <a:xfrm>
            <a:off x="1295402" y="4777381"/>
            <a:ext cx="9609668" cy="8604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68287" y="5870575"/>
            <a:ext cx="2901951" cy="2016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5pPr>
          </a:lstStyle>
          <a:p>
            <a:pPr lvl="0"/>
            <a:fld id="{566ABCEB-ACFC-4714-9973-3DA970169C29}" type="datetime1">
              <a:rPr lang="pt-PT" altLang="zh-CN" sz="1200">
                <a:solidFill>
                  <a:srgbClr val="FFFFFF"/>
                </a:solidFill>
                <a:ea typeface="隶书"/>
              </a:rPr>
            </a:fld>
            <a:endParaRPr lang="pt-PT" altLang="zh-CN" sz="1200">
              <a:solidFill>
                <a:srgbClr val="FFFFFF"/>
              </a:solidFill>
              <a:ea typeface="隶书"/>
            </a:endParaRPr>
          </a:p>
        </p:txBody>
      </p:sp>
      <p:sp>
        <p:nvSpPr>
          <p:cNvPr id="104860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400" y="6170614"/>
            <a:ext cx="669925" cy="503237"/>
          </a:xfrm>
          <a:prstGeom prst="ellipse">
            <a:avLst/>
          </a:prstGeom>
          <a:noFill/>
          <a:ln w="1905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lIns="9144" tIns="9144" rIns="9144" bIns="9144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5pPr>
          </a:lstStyle>
          <a:p>
            <a:pPr lvl="0" algn="ctr"/>
            <a:fld id="{566ABCEB-ACFC-4714-9973-3DA970169C29}" type="slidenum">
              <a:rPr lang="pt-PT" altLang="en-US" sz="1600">
                <a:solidFill>
                  <a:srgbClr val="FFFFFF"/>
                </a:solidFill>
              </a:rPr>
            </a:fld>
            <a:endParaRPr lang="pt-PT" altLang="en-US" sz="1600">
              <a:solidFill>
                <a:srgbClr val="FFFFFF"/>
              </a:solidFill>
            </a:endParaRPr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9475" y="6284914"/>
            <a:ext cx="62992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Franklin Gothic Book" panose="020B0503020102020204" pitchFamily="34" charset="0"/>
                <a:sym typeface="Arial" panose="020B0604020202020204" pitchFamily="34" charset="0"/>
              </a:defRPr>
            </a:lvl5pPr>
          </a:lstStyle>
          <a:p>
            <a:pPr lvl="0" algn="r"/>
            <a:r>
              <a:rPr lang="pt-PT" altLang="en-US" sz="1000">
                <a:solidFill>
                  <a:srgbClr val="FFFFFF"/>
                </a:solidFill>
              </a:rPr>
              <a:t>POR UM MUNICIPIO PROVEDOR DE MAIS E MELHORES SERVIÇOS SOCIAS E DE SAUDE</a:t>
            </a:r>
            <a:endParaRPr lang="pt-PT" altLang="en-US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</a:fld>
            <a:endParaRPr lang="en-GB"/>
          </a:p>
        </p:txBody>
      </p:sp>
      <p:grpSp>
        <p:nvGrpSpPr>
          <p:cNvPr id="1031" name="Group 12"/>
          <p:cNvGrpSpPr/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 txBox="1">
            <a:spLocks noChangeArrowheads="1"/>
          </p:cNvSpPr>
          <p:nvPr/>
        </p:nvSpPr>
        <p:spPr bwMode="auto">
          <a:xfrm>
            <a:off x="1025650" y="5972175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/>
          <p:cNvSpPr>
            <a:spLocks noChangeArrowheads="1"/>
          </p:cNvSpPr>
          <p:nvPr/>
        </p:nvSpPr>
        <p:spPr bwMode="auto">
          <a:xfrm>
            <a:off x="1299939" y="920744"/>
            <a:ext cx="9029700" cy="239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  <a:endParaRPr lang="pt-PT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  <a:endParaRPr lang="pt-PT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  <a:endParaRPr lang="pt-PT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PT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</a:t>
            </a:r>
            <a:r>
              <a:rPr lang="en-US" altLang="pt-PT" b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çã</a:t>
            </a:r>
            <a:r>
              <a:rPr lang="en-US" altLang="pt-PT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Distrital KaMavota</a:t>
            </a:r>
            <a:endParaRPr lang="en-US" altLang="pt-PT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698500" y="3575685"/>
            <a:ext cx="10705465" cy="1508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Tema: “</a:t>
            </a:r>
            <a:r>
              <a:rPr lang="en-US" altLang="pt-BR" sz="3200" b="1" dirty="0">
                <a:latin typeface="Century Gothic" panose="020B0502020202020204" pitchFamily="34" charset="0"/>
                <a:ea typeface="MS PGothic" panose="020B0600070205080204" pitchFamily="34" charset="-128"/>
                <a:cs typeface="Century Gothic" panose="020B0502020202020204" pitchFamily="34" charset="0"/>
              </a:rPr>
              <a:t>Prevenç</a:t>
            </a:r>
            <a:r>
              <a:rPr lang="en-US" altLang="pt-BR" sz="3200" b="1" dirty="0">
                <a:latin typeface="Century Gothic" panose="020B0502020202020204" pitchFamily="34" charset="0"/>
                <a:ea typeface="MS PGothic" panose="020B0600070205080204" pitchFamily="34" charset="-128"/>
                <a:cs typeface="Century Gothic" panose="020B0502020202020204" pitchFamily="34" charset="0"/>
              </a:rPr>
              <a:t>ão e Controle de Doen</a:t>
            </a:r>
            <a:r>
              <a:rPr lang="en-US" altLang="pt-BR" sz="3200" b="1" dirty="0">
                <a:latin typeface="Century Gothic" panose="020B0502020202020204" pitchFamily="34" charset="0"/>
                <a:ea typeface="MS PGothic" panose="020B0600070205080204" pitchFamily="34" charset="-128"/>
                <a:cs typeface="Century Gothic" panose="020B0502020202020204" pitchFamily="34" charset="0"/>
              </a:rPr>
              <a:t>ças</a:t>
            </a:r>
            <a:r>
              <a:rPr lang="en-US" altLang="en-US" sz="3200" b="1" dirty="0">
                <a:ea typeface="MS PGothic" panose="020B0600070205080204" pitchFamily="34" charset="-128"/>
              </a:rPr>
              <a:t>”</a:t>
            </a:r>
            <a:endParaRPr lang="en-US" altLang="en-US" sz="3200" b="1" dirty="0">
              <a:ea typeface="MS PGothic" panose="020B0600070205080204" pitchFamily="34" charset="-128"/>
            </a:endParaRPr>
          </a:p>
          <a:p>
            <a:pPr algn="ctr" eaLnBrk="1" hangingPunct="1">
              <a:defRPr/>
            </a:pPr>
            <a:r>
              <a:rPr lang="en-US" altLang="en-US" sz="2400" b="1" dirty="0">
                <a:latin typeface="Century Gothic" panose="020B0502020202020204" pitchFamily="34" charset="0"/>
                <a:ea typeface="MS PGothic" panose="020B0600070205080204" pitchFamily="34" charset="-128"/>
                <a:cs typeface="Century Gothic" panose="020B0502020202020204" pitchFamily="34" charset="0"/>
              </a:rPr>
              <a:t>Cobertura, Integraç</a:t>
            </a:r>
            <a:r>
              <a:rPr lang="en-US" altLang="en-US" sz="2400" b="1" dirty="0">
                <a:latin typeface="Century Gothic" panose="020B0502020202020204" pitchFamily="34" charset="0"/>
                <a:ea typeface="MS PGothic" panose="020B0600070205080204" pitchFamily="34" charset="-128"/>
                <a:cs typeface="Century Gothic" panose="020B0502020202020204" pitchFamily="34" charset="0"/>
              </a:rPr>
              <a:t>ão dos serviços e resposta as prioridades do </a:t>
            </a:r>
            <a:r>
              <a:rPr lang="en-US" altLang="en-US" sz="2400" b="1" dirty="0">
                <a:latin typeface="Century Gothic" panose="020B0502020202020204" pitchFamily="34" charset="0"/>
                <a:ea typeface="MS PGothic" panose="020B0600070205080204" pitchFamily="34" charset="-128"/>
                <a:cs typeface="Century Gothic" panose="020B0502020202020204" pitchFamily="34" charset="0"/>
              </a:rPr>
              <a:t>D</a:t>
            </a:r>
            <a:r>
              <a:rPr lang="en-US" altLang="en-US" sz="2400" b="1" dirty="0">
                <a:latin typeface="Century Gothic" panose="020B0502020202020204" pitchFamily="34" charset="0"/>
                <a:ea typeface="MS PGothic" panose="020B0600070205080204" pitchFamily="34" charset="-128"/>
                <a:cs typeface="Century Gothic" panose="020B0502020202020204" pitchFamily="34" charset="0"/>
              </a:rPr>
              <a:t>istrito</a:t>
            </a:r>
            <a:endParaRPr lang="en-US" altLang="en-US" sz="2400" b="1" dirty="0">
              <a:solidFill>
                <a:srgbClr val="DBEFF9">
                  <a:lumMod val="25000"/>
                </a:srgbClr>
              </a:solidFill>
              <a:latin typeface="Century Gothic" panose="020B0502020202020204" pitchFamily="34" charset="0"/>
              <a:ea typeface="MS PGothic" panose="020B0600070205080204" pitchFamily="34" charset="-128"/>
              <a:cs typeface="Century Gothic" panose="020B0502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2660" y="0"/>
            <a:ext cx="10989310" cy="74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Perfil do Distrito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pic>
        <p:nvPicPr>
          <p:cNvPr id="21508" name="Picture 1" descr="Mapa cidade de Maputo Kamavhot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690" y="915670"/>
            <a:ext cx="5422265" cy="561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" name="Google Shape;101;g2ecad8d5e86_0_414"/>
          <p:cNvSpPr txBox="1">
            <a:spLocks noGrp="1"/>
          </p:cNvSpPr>
          <p:nvPr>
            <p:ph type="body" sz="half" idx="2"/>
          </p:nvPr>
        </p:nvSpPr>
        <p:spPr>
          <a:xfrm>
            <a:off x="231775" y="1165225"/>
            <a:ext cx="6109335" cy="52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/>
          </a:bodyPr>
          <a:lstStyle/>
          <a:p>
            <a:pPr marL="635000" indent="-4572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pt-PT" sz="7200" b="1" dirty="0">
                <a:solidFill>
                  <a:schemeClr val="bg1"/>
                </a:solidFill>
              </a:rPr>
              <a:t>P</a:t>
            </a:r>
            <a:r>
              <a:rPr lang="en-US" altLang="pt-PT" sz="7200" b="1" dirty="0">
                <a:solidFill>
                  <a:schemeClr val="bg1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opulação</a:t>
            </a:r>
            <a:r>
              <a:rPr lang="pt-PT" sz="7200" dirty="0">
                <a:solidFill>
                  <a:schemeClr val="bg1"/>
                </a:solidFill>
              </a:rPr>
              <a:t>:</a:t>
            </a:r>
            <a:r>
              <a:rPr lang="en-US" altLang="pt-PT" sz="7200" dirty="0">
                <a:solidFill>
                  <a:schemeClr val="bg1"/>
                </a:solidFill>
              </a:rPr>
              <a:t> 3</a:t>
            </a:r>
            <a:r>
              <a:rPr lang="en-US" altLang="en-US" sz="7200" dirty="0">
                <a:solidFill>
                  <a:schemeClr val="bg1"/>
                </a:solidFill>
              </a:rPr>
              <a:t>45.673</a:t>
            </a:r>
            <a:r>
              <a:rPr lang="en-US" altLang="pt-PT" sz="7200" dirty="0">
                <a:solidFill>
                  <a:schemeClr val="bg1"/>
                </a:solidFill>
              </a:rPr>
              <a:t>	Habitantes</a:t>
            </a:r>
            <a:endParaRPr lang="pt-PT" sz="7200" dirty="0">
              <a:solidFill>
                <a:schemeClr val="bg1"/>
              </a:solidFill>
            </a:endParaRPr>
          </a:p>
          <a:p>
            <a:pPr marL="635000" indent="-4572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pt-PT" sz="7200" b="1" dirty="0">
                <a:solidFill>
                  <a:schemeClr val="bg1"/>
                </a:solidFill>
              </a:rPr>
              <a:t>Limites</a:t>
            </a:r>
            <a:r>
              <a:rPr lang="pt-PT" sz="7200" dirty="0">
                <a:solidFill>
                  <a:schemeClr val="bg1"/>
                </a:solidFill>
              </a:rPr>
              <a:t>:</a:t>
            </a:r>
            <a:endParaRPr lang="pt-PT" sz="7200" dirty="0">
              <a:solidFill>
                <a:schemeClr val="bg1"/>
              </a:solidFill>
            </a:endParaRPr>
          </a:p>
          <a:p>
            <a:pPr marL="635000" indent="-4572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pt-PT" sz="7200" b="1" dirty="0">
                <a:solidFill>
                  <a:schemeClr val="bg1"/>
                </a:solidFill>
              </a:rPr>
              <a:t>Norte</a:t>
            </a:r>
            <a:r>
              <a:rPr lang="en-US" altLang="pt-PT" sz="7200" dirty="0">
                <a:solidFill>
                  <a:schemeClr val="bg1"/>
                </a:solidFill>
              </a:rPr>
              <a:t>: Distrito Municipal de Marracuene,</a:t>
            </a:r>
            <a:endParaRPr lang="en-US" altLang="pt-PT" sz="7200" dirty="0">
              <a:solidFill>
                <a:schemeClr val="bg1"/>
              </a:solidFill>
            </a:endParaRPr>
          </a:p>
          <a:p>
            <a:pPr marL="635000" indent="-4572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pt-PT" sz="7200" b="1" dirty="0">
                <a:solidFill>
                  <a:schemeClr val="bg1"/>
                </a:solidFill>
              </a:rPr>
              <a:t>Sul</a:t>
            </a:r>
            <a:r>
              <a:rPr lang="en-US" altLang="pt-PT" sz="7200" dirty="0">
                <a:solidFill>
                  <a:schemeClr val="bg1"/>
                </a:solidFill>
              </a:rPr>
              <a:t>: Aeroporto Internacional de Maputo e Distrito Municipal KaMubukwane,</a:t>
            </a:r>
            <a:endParaRPr lang="en-US" altLang="pt-PT" sz="7200" dirty="0">
              <a:solidFill>
                <a:schemeClr val="bg1"/>
              </a:solidFill>
            </a:endParaRPr>
          </a:p>
          <a:p>
            <a:pPr marL="635000" indent="-4572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pt-PT" sz="7200" b="1" dirty="0">
                <a:solidFill>
                  <a:schemeClr val="bg1"/>
                </a:solidFill>
              </a:rPr>
              <a:t>Este</a:t>
            </a:r>
            <a:r>
              <a:rPr lang="en-US" altLang="pt-PT" sz="7200" dirty="0">
                <a:solidFill>
                  <a:schemeClr val="bg1"/>
                </a:solidFill>
              </a:rPr>
              <a:t>: Distrito Municipal KaMaxaquene</a:t>
            </a:r>
            <a:endParaRPr lang="en-US" altLang="pt-PT" sz="7200" dirty="0">
              <a:solidFill>
                <a:schemeClr val="bg1"/>
              </a:solidFill>
            </a:endParaRPr>
          </a:p>
          <a:p>
            <a:pPr marL="635000" indent="-4572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pt-PT" sz="7200" b="1" dirty="0">
                <a:solidFill>
                  <a:schemeClr val="bg1"/>
                </a:solidFill>
              </a:rPr>
              <a:t>Oeste</a:t>
            </a:r>
            <a:r>
              <a:rPr lang="en-US" altLang="pt-PT" sz="7200" dirty="0">
                <a:solidFill>
                  <a:schemeClr val="bg1"/>
                </a:solidFill>
              </a:rPr>
              <a:t>: Baia de Maputo</a:t>
            </a:r>
            <a:endParaRPr lang="pt-PT" sz="7200" dirty="0">
              <a:solidFill>
                <a:schemeClr val="bg1"/>
              </a:solidFill>
            </a:endParaRPr>
          </a:p>
          <a:p>
            <a:pPr marL="635000" indent="-457200" algn="just"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altLang="pt-PT" sz="7200" b="1" dirty="0">
              <a:solidFill>
                <a:schemeClr val="bg1"/>
              </a:solidFill>
            </a:endParaRPr>
          </a:p>
          <a:p>
            <a:pPr marL="635000" indent="-457200" algn="just"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pt-PT" sz="7200" b="1" dirty="0">
                <a:solidFill>
                  <a:schemeClr val="bg1"/>
                </a:solidFill>
              </a:rPr>
              <a:t>Rede Sanitaria:</a:t>
            </a:r>
            <a:endParaRPr lang="pt-PT" sz="7200" b="1" dirty="0">
              <a:solidFill>
                <a:schemeClr val="bg1"/>
              </a:solidFill>
            </a:endParaRPr>
          </a:p>
          <a:p>
            <a:pPr marL="1435100" lvl="2" indent="-342900" algn="just">
              <a:spcBef>
                <a:spcPts val="0"/>
              </a:spcBef>
              <a:buClr>
                <a:schemeClr val="dk1"/>
              </a:buClr>
              <a:buSzPct val="97000"/>
              <a:buFont typeface="Arial" panose="020B0604020202020204" pitchFamily="34" charset="0"/>
              <a:buChar char="•"/>
            </a:pPr>
            <a:r>
              <a:rPr lang="en-US" altLang="pt-PT" sz="7200" dirty="0">
                <a:solidFill>
                  <a:schemeClr val="bg1"/>
                </a:solidFill>
              </a:rPr>
              <a:t>C s 1 de Junho</a:t>
            </a:r>
            <a:endParaRPr lang="pt-PT" sz="7200" dirty="0">
              <a:solidFill>
                <a:schemeClr val="bg1"/>
              </a:solidFill>
            </a:endParaRPr>
          </a:p>
          <a:p>
            <a:pPr marL="1435100" lvl="2" indent="-342900" algn="just">
              <a:spcBef>
                <a:spcPts val="0"/>
              </a:spcBef>
              <a:buClr>
                <a:schemeClr val="dk1"/>
              </a:buClr>
              <a:buSzPct val="97000"/>
              <a:buFont typeface="Arial" panose="020B0604020202020204" pitchFamily="34" charset="0"/>
              <a:buChar char="•"/>
            </a:pPr>
            <a:r>
              <a:rPr lang="en-US" altLang="pt-PT" sz="7200" dirty="0">
                <a:solidFill>
                  <a:schemeClr val="bg1"/>
                </a:solidFill>
              </a:rPr>
              <a:t>Cs Albazine</a:t>
            </a:r>
            <a:endParaRPr lang="pt-PT" sz="7200" dirty="0">
              <a:solidFill>
                <a:schemeClr val="bg1"/>
              </a:solidFill>
            </a:endParaRPr>
          </a:p>
          <a:p>
            <a:pPr marL="1435100" lvl="2" indent="-342900" algn="just">
              <a:spcBef>
                <a:spcPts val="0"/>
              </a:spcBef>
              <a:buClr>
                <a:schemeClr val="dk1"/>
              </a:buClr>
              <a:buSzPct val="97000"/>
              <a:buFont typeface="Arial" panose="020B0604020202020204" pitchFamily="34" charset="0"/>
              <a:buChar char="•"/>
            </a:pPr>
            <a:r>
              <a:rPr lang="en-US" altLang="pt-PT" sz="7200" dirty="0">
                <a:solidFill>
                  <a:schemeClr val="bg1"/>
                </a:solidFill>
              </a:rPr>
              <a:t>CS Mavalane</a:t>
            </a:r>
            <a:endParaRPr lang="pt-PT" sz="7200" dirty="0">
              <a:solidFill>
                <a:schemeClr val="bg1"/>
              </a:solidFill>
            </a:endParaRPr>
          </a:p>
          <a:p>
            <a:pPr marL="1435100" lvl="2" indent="-342900" algn="just">
              <a:spcBef>
                <a:spcPts val="0"/>
              </a:spcBef>
              <a:buClr>
                <a:schemeClr val="dk1"/>
              </a:buClr>
              <a:buSzPct val="97000"/>
              <a:buFont typeface="Arial" panose="020B0604020202020204" pitchFamily="34" charset="0"/>
              <a:buChar char="•"/>
            </a:pPr>
            <a:r>
              <a:rPr lang="en-US" altLang="pt-PT" sz="7200" dirty="0">
                <a:solidFill>
                  <a:schemeClr val="bg1"/>
                </a:solidFill>
              </a:rPr>
              <a:t>Cs Pescadores</a:t>
            </a:r>
            <a:endParaRPr lang="pt-PT" sz="7200" dirty="0">
              <a:solidFill>
                <a:schemeClr val="bg1"/>
              </a:solidFill>
            </a:endParaRPr>
          </a:p>
          <a:p>
            <a:pPr marL="1435100" lvl="2" indent="-342900" algn="just">
              <a:spcBef>
                <a:spcPts val="0"/>
              </a:spcBef>
              <a:buClr>
                <a:schemeClr val="dk1"/>
              </a:buClr>
              <a:buSzPct val="97000"/>
              <a:buFont typeface="Arial" panose="020B0604020202020204" pitchFamily="34" charset="0"/>
              <a:buChar char="•"/>
            </a:pPr>
            <a:r>
              <a:rPr lang="en-US" altLang="pt-PT" sz="7200" dirty="0">
                <a:solidFill>
                  <a:schemeClr val="bg1"/>
                </a:solidFill>
              </a:rPr>
              <a:t>Cs Hulene</a:t>
            </a:r>
            <a:endParaRPr lang="en-US" altLang="pt-PT" sz="7200" dirty="0">
              <a:solidFill>
                <a:schemeClr val="bg1"/>
              </a:solidFill>
            </a:endParaRPr>
          </a:p>
          <a:p>
            <a:pPr marL="1435100" lvl="2" indent="-342900" algn="just">
              <a:spcBef>
                <a:spcPts val="0"/>
              </a:spcBef>
              <a:buClr>
                <a:schemeClr val="dk1"/>
              </a:buClr>
              <a:buSzPct val="97000"/>
              <a:buFont typeface="Arial" panose="020B0604020202020204" pitchFamily="34" charset="0"/>
              <a:buChar char="•"/>
            </a:pPr>
            <a:r>
              <a:rPr lang="en-US" altLang="pt-PT" sz="7200" dirty="0">
                <a:solidFill>
                  <a:schemeClr val="bg1"/>
                </a:solidFill>
              </a:rPr>
              <a:t>Cs Romao</a:t>
            </a:r>
            <a:endParaRPr lang="en-US" altLang="pt-PT" sz="7200" dirty="0">
              <a:solidFill>
                <a:schemeClr val="bg1"/>
              </a:solidFill>
            </a:endParaRPr>
          </a:p>
          <a:p>
            <a:pPr marL="1377950" lvl="2" algn="just">
              <a:spcBef>
                <a:spcPts val="0"/>
              </a:spcBef>
              <a:buClr>
                <a:schemeClr val="dk1"/>
              </a:buClr>
              <a:buSzPct val="97000"/>
              <a:buFont typeface="Arial" panose="020B0604020202020204" pitchFamily="34" charset="0"/>
              <a:buChar char="•"/>
            </a:pPr>
            <a:r>
              <a:rPr lang="en-US" altLang="pt-PT" sz="7200" dirty="0">
                <a:solidFill>
                  <a:schemeClr val="bg1"/>
                </a:solidFill>
              </a:rPr>
              <a:t>HGM</a:t>
            </a:r>
            <a:endParaRPr lang="pt-PT" sz="7200" dirty="0">
              <a:solidFill>
                <a:schemeClr val="bg1"/>
              </a:solidFill>
            </a:endParaRPr>
          </a:p>
          <a:p>
            <a:pPr marL="635000" indent="-457200" algn="just"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77800" indent="0" algn="just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5" name="Caixa de Texto 4"/>
          <p:cNvSpPr txBox="1"/>
          <p:nvPr/>
        </p:nvSpPr>
        <p:spPr>
          <a:xfrm>
            <a:off x="1145540" y="-87630"/>
            <a:ext cx="110464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en-US" altLang="pt-PT" sz="280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algn="ctr"/>
            <a:r>
              <a:rPr lang="en-US" altLang="pt-PT" sz="2800" b="1">
                <a:solidFill>
                  <a:schemeClr val="bg1"/>
                </a:solidFill>
                <a:cs typeface="Century Gothic" panose="020B0502020202020204" pitchFamily="34" charset="0"/>
              </a:rPr>
              <a:t>Conte</a:t>
            </a:r>
            <a:r>
              <a:rPr lang="en-US" altLang="pt-PT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ú</a:t>
            </a:r>
            <a:r>
              <a:rPr lang="en-US" altLang="pt-PT" sz="2800" b="1">
                <a:solidFill>
                  <a:schemeClr val="bg1"/>
                </a:solidFill>
                <a:cs typeface="Century Gothic" panose="020B0502020202020204" pitchFamily="34" charset="0"/>
              </a:rPr>
              <a:t>dos da apresenta</a:t>
            </a:r>
            <a:r>
              <a:rPr lang="en-US" altLang="pt-PT" sz="2800" b="1">
                <a:solidFill>
                  <a:schemeClr val="bg1"/>
                </a:solidFill>
                <a:cs typeface="Century Gothic" panose="020B0502020202020204" pitchFamily="34" charset="0"/>
              </a:rPr>
              <a:t>ção</a:t>
            </a:r>
            <a:endParaRPr lang="en-US" altLang="pt-PT" sz="2800" b="1">
              <a:solidFill>
                <a:schemeClr val="bg1"/>
              </a:solidFill>
              <a:cs typeface="Century Gothic" panose="020B0502020202020204" pitchFamily="34" charset="0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212090" y="1168400"/>
            <a:ext cx="11768455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pt-PT" sz="2000">
                <a:solidFill>
                  <a:schemeClr val="bg1"/>
                </a:solidFill>
              </a:rPr>
              <a:t>Perfil do Distrito</a:t>
            </a:r>
            <a:endParaRPr lang="en-US" altLang="pt-PT" sz="200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pt-PT" sz="2000">
                <a:solidFill>
                  <a:schemeClr val="bg1"/>
                </a:solidFill>
              </a:rPr>
              <a:t>Recursos Humanos</a:t>
            </a:r>
            <a:endParaRPr lang="en-US" altLang="pt-PT" sz="200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pt-PT" sz="2000">
                <a:solidFill>
                  <a:schemeClr val="bg1"/>
                </a:solidFill>
              </a:rPr>
              <a:t>Actividades Densenvolvidas para Preve</a:t>
            </a:r>
            <a:r>
              <a:rPr lang="en-US" altLang="pt-PT" sz="2000">
                <a:solidFill>
                  <a:schemeClr val="bg1"/>
                </a:solidFill>
                <a:cs typeface="Century Gothic" panose="020B0502020202020204" pitchFamily="34" charset="0"/>
              </a:rPr>
              <a:t>n</a:t>
            </a:r>
            <a:r>
              <a:rPr lang="en-US" altLang="pt-PT" sz="2000">
                <a:solidFill>
                  <a:schemeClr val="bg1"/>
                </a:solidFill>
                <a:cs typeface="Century Gothic" panose="020B0502020202020204" pitchFamily="34" charset="0"/>
              </a:rPr>
              <a:t>ção </a:t>
            </a:r>
            <a:r>
              <a:rPr lang="en-US" altLang="pt-PT" sz="2000">
                <a:solidFill>
                  <a:schemeClr val="bg1"/>
                </a:solidFill>
              </a:rPr>
              <a:t>e controle de </a:t>
            </a:r>
            <a:r>
              <a:rPr lang="en-US" altLang="pt-PT" sz="2000">
                <a:solidFill>
                  <a:schemeClr val="bg1"/>
                </a:solidFill>
                <a:cs typeface="Century Gothic" panose="020B0502020202020204" pitchFamily="34" charset="0"/>
              </a:rPr>
              <a:t>doenças </a:t>
            </a:r>
            <a:endParaRPr lang="en-US" altLang="pt-PT" sz="200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pt-PT" sz="2000">
                <a:solidFill>
                  <a:schemeClr val="bg1"/>
                </a:solidFill>
              </a:rPr>
              <a:t>Prioridades do distrito</a:t>
            </a:r>
            <a:endParaRPr lang="en-US" altLang="pt-PT" sz="200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pt-PT" sz="2000">
                <a:solidFill>
                  <a:schemeClr val="bg1"/>
                </a:solidFill>
              </a:rPr>
              <a:t>Desafios </a:t>
            </a:r>
            <a:endParaRPr lang="en-US" altLang="pt-PT" sz="200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pt-PT" sz="2000">
                <a:solidFill>
                  <a:schemeClr val="bg1"/>
                </a:solidFill>
              </a:rPr>
              <a:t>Prespectivas </a:t>
            </a:r>
            <a:endParaRPr lang="en-US" altLang="pt-PT" sz="200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pt-PT" sz="2000">
                <a:solidFill>
                  <a:schemeClr val="bg1"/>
                </a:solidFill>
                <a:cs typeface="Century Gothic" panose="020B0502020202020204" pitchFamily="34" charset="0"/>
              </a:rPr>
              <a:t>Evidências</a:t>
            </a:r>
            <a:endParaRPr lang="en-US" altLang="pt-PT" sz="200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pt-PT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4" name="Tabela 3"/>
          <p:cNvGraphicFramePr/>
          <p:nvPr/>
        </p:nvGraphicFramePr>
        <p:xfrm>
          <a:off x="90170" y="1020445"/>
          <a:ext cx="12068175" cy="5125085"/>
        </p:xfrm>
        <a:graphic>
          <a:graphicData uri="http://schemas.openxmlformats.org/drawingml/2006/table">
            <a:tbl>
              <a:tblPr/>
              <a:tblGrid>
                <a:gridCol w="6123305"/>
                <a:gridCol w="2680335"/>
                <a:gridCol w="3264535"/>
              </a:tblGrid>
              <a:tr h="1372235">
                <a:tc rowSpan="3"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Distrito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Funcionarios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Sexo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M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F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27559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Medicos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30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Medicos Dentistas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49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Tec. Sup.    Saude N1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25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90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 Médios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73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31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Basicos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9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Aux.tec saude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2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Total do R.Especial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104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78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Outros R. Geral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70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Total 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44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280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Caixa de Texto 4"/>
          <p:cNvSpPr txBox="1"/>
          <p:nvPr/>
        </p:nvSpPr>
        <p:spPr>
          <a:xfrm>
            <a:off x="1042035" y="85725"/>
            <a:ext cx="10925810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pt-PT" sz="2800" b="1">
                <a:solidFill>
                  <a:schemeClr val="bg1"/>
                </a:solidFill>
              </a:rPr>
              <a:t>Recursos Humanos</a:t>
            </a:r>
            <a:endParaRPr lang="en-US" altLang="pt-PT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5" name="Caixa de Texto 4"/>
          <p:cNvSpPr txBox="1"/>
          <p:nvPr/>
        </p:nvSpPr>
        <p:spPr>
          <a:xfrm>
            <a:off x="222885" y="1120140"/>
            <a:ext cx="119697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Prevenção e controle de doenças  e um conjunto de acções  multisectoriais com vista a presta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çã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o de cuidados seguros ao paciente, comunidade,  para diminuir incid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ê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ncia de 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doença e factores de risco.</a:t>
            </a: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1073150" y="245110"/>
            <a:ext cx="10842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PT" sz="2800" b="1">
                <a:solidFill>
                  <a:schemeClr val="bg1"/>
                </a:solidFill>
              </a:rPr>
              <a:t>Contextua</a:t>
            </a:r>
            <a:r>
              <a:rPr lang="en-US" altLang="pt-PT" sz="2800" b="1">
                <a:solidFill>
                  <a:schemeClr val="bg1"/>
                </a:solidFill>
                <a:cs typeface="Century Gothic" panose="020B0502020202020204" pitchFamily="34" charset="0"/>
              </a:rPr>
              <a:t>liza</a:t>
            </a:r>
            <a:r>
              <a:rPr lang="en-US" altLang="pt-PT" sz="2800" b="1">
                <a:solidFill>
                  <a:schemeClr val="bg1"/>
                </a:solidFill>
                <a:cs typeface="Century Gothic" panose="020B0502020202020204" pitchFamily="34" charset="0"/>
              </a:rPr>
              <a:t>ção</a:t>
            </a:r>
            <a:endParaRPr lang="en-US" altLang="pt-PT" sz="2800" b="1">
              <a:solidFill>
                <a:schemeClr val="bg1"/>
              </a:solidFill>
              <a:cs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833120" y="986790"/>
            <a:ext cx="9753600" cy="54051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11275" y="207645"/>
            <a:ext cx="9464675" cy="63627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sz="2800" b="1" i="0">
                <a:solidFill>
                  <a:srgbClr val="222222"/>
                </a:solidFill>
                <a:latin typeface="Times New Roman" panose="02020603050405020304" pitchFamily="18" charset="0"/>
                <a:ea typeface="Verdana" panose="020B0604030504040204"/>
                <a:cs typeface="Times New Roman" panose="02020603050405020304" pitchFamily="18" charset="0"/>
              </a:rPr>
              <a:t>História Natural da Doença</a:t>
            </a:r>
            <a:r>
              <a:rPr lang="pt-PT" sz="2800" b="1" i="0">
                <a:solidFill>
                  <a:srgbClr val="222222"/>
                </a:solidFill>
                <a:latin typeface="Times New Roman" panose="02020603050405020304" pitchFamily="18" charset="0"/>
                <a:ea typeface="Verdana" panose="020B0604030504040204"/>
                <a:cs typeface="Times New Roman" panose="02020603050405020304" pitchFamily="18" charset="0"/>
              </a:rPr>
              <a:t>, </a:t>
            </a:r>
            <a:r>
              <a:rPr sz="2800" b="1" i="0">
                <a:solidFill>
                  <a:srgbClr val="222222"/>
                </a:solidFill>
                <a:latin typeface="Times New Roman" panose="02020603050405020304" pitchFamily="18" charset="0"/>
                <a:ea typeface="Verdana" panose="020B0604030504040204"/>
                <a:cs typeface="Times New Roman" panose="02020603050405020304" pitchFamily="18" charset="0"/>
              </a:rPr>
              <a:t>Leavell e Clark em 1976</a:t>
            </a:r>
            <a:endParaRPr sz="2800" b="1" i="0">
              <a:solidFill>
                <a:srgbClr val="222222"/>
              </a:solidFill>
              <a:latin typeface="Times New Roman" panose="02020603050405020304" pitchFamily="18" charset="0"/>
              <a:ea typeface="Verdana" panose="020B0604030504040204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4" name="Caixa de Texto 3"/>
          <p:cNvSpPr txBox="1"/>
          <p:nvPr/>
        </p:nvSpPr>
        <p:spPr>
          <a:xfrm>
            <a:off x="0" y="935355"/>
            <a:ext cx="12193270" cy="536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en-US" altLang="pt-PT" sz="2800" b="1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algn="ctr"/>
            <a:endParaRPr lang="en-US" altLang="pt-PT" sz="2800" b="1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algn="ctr"/>
            <a:endParaRPr lang="en-US" altLang="pt-PT" sz="2800" b="1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algn="ctr"/>
            <a:endParaRPr lang="en-US" altLang="pt-PT" sz="2800" b="1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algn="ctr"/>
            <a:endParaRPr lang="en-US" altLang="pt-PT" sz="2800" b="1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algn="ctr"/>
            <a:r>
              <a:rPr lang="en-US" altLang="pt-PT" sz="3600" b="1">
                <a:solidFill>
                  <a:schemeClr val="bg1"/>
                </a:solidFill>
                <a:cs typeface="Century Gothic" panose="020B0502020202020204" pitchFamily="34" charset="0"/>
              </a:rPr>
              <a:t>Actividades densevolvidas por programa no ambito da </a:t>
            </a:r>
            <a:r>
              <a:rPr lang="en-US" altLang="en-US" sz="3600" b="1">
                <a:solidFill>
                  <a:schemeClr val="bg1"/>
                </a:solidFill>
                <a:cs typeface="Century Gothic" panose="020B0502020202020204" pitchFamily="34" charset="0"/>
              </a:rPr>
              <a:t>P</a:t>
            </a:r>
            <a:r>
              <a:rPr lang="en-US" altLang="pt-PT" sz="3600" b="1">
                <a:solidFill>
                  <a:schemeClr val="bg1"/>
                </a:solidFill>
                <a:cs typeface="Century Gothic" panose="020B0502020202020204" pitchFamily="34" charset="0"/>
              </a:rPr>
              <a:t>revenção e </a:t>
            </a:r>
            <a:r>
              <a:rPr lang="en-US" altLang="en-US" sz="3600" b="1">
                <a:solidFill>
                  <a:schemeClr val="bg1"/>
                </a:solidFill>
                <a:cs typeface="Century Gothic" panose="020B0502020202020204" pitchFamily="34" charset="0"/>
              </a:rPr>
              <a:t>C</a:t>
            </a:r>
            <a:r>
              <a:rPr lang="en-US" altLang="pt-PT" sz="3600" b="1">
                <a:solidFill>
                  <a:schemeClr val="bg1"/>
                </a:solidFill>
                <a:cs typeface="Century Gothic" panose="020B0502020202020204" pitchFamily="34" charset="0"/>
              </a:rPr>
              <a:t>ontrole de doenças</a:t>
            </a:r>
            <a:endParaRPr lang="en-US" altLang="pt-PT" sz="3600" b="1">
              <a:solidFill>
                <a:schemeClr val="bg1"/>
              </a:solidFill>
              <a:cs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16995" y="221163"/>
            <a:ext cx="61696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        </a:t>
            </a:r>
            <a:r>
              <a:rPr lang="en-US" alt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T</a:t>
            </a:r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axa</a:t>
            </a:r>
            <a:r>
              <a:rPr lang="en-US" alt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de</a:t>
            </a:r>
            <a:r>
              <a:rPr lang="en-US" alt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 R</a:t>
            </a:r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eportagem de</a:t>
            </a:r>
            <a:r>
              <a:rPr lang="en-US" alt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 B.E.S</a:t>
            </a:r>
            <a:endParaRPr lang="en-US" altLang="pt-PT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4" name="Tabela 3"/>
          <p:cNvGraphicFramePr/>
          <p:nvPr/>
        </p:nvGraphicFramePr>
        <p:xfrm>
          <a:off x="-635" y="888365"/>
          <a:ext cx="12118340" cy="5407025"/>
        </p:xfrm>
        <a:graphic>
          <a:graphicData uri="http://schemas.openxmlformats.org/drawingml/2006/table">
            <a:tbl>
              <a:tblPr/>
              <a:tblGrid>
                <a:gridCol w="3495849"/>
                <a:gridCol w="3013005"/>
                <a:gridCol w="3013006"/>
                <a:gridCol w="2596480"/>
              </a:tblGrid>
              <a:tr h="419735">
                <a:tc gridSpan="4"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Janeiro - Junho 2026</a:t>
                      </a:r>
                      <a:endParaRPr lang="en-US" sz="2000" b="1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83715">
                <a:tc>
                  <a:txBody>
                    <a:bodyPr/>
                    <a:p>
                      <a:pPr algn="ctr" fontAlgn="ctr"/>
                      <a:r>
                        <a:rPr lang="en-US"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KaMavota</a:t>
                      </a:r>
                      <a:endParaRPr lang="en-US" sz="2000" b="1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BES - </a:t>
                      </a:r>
                      <a:r>
                        <a:rPr lang="en-US"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Boletim</a:t>
                      </a:r>
                      <a:r>
                        <a:rPr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 E</a:t>
                      </a:r>
                      <a:r>
                        <a:rPr lang="en-US"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pidemiologico</a:t>
                      </a:r>
                      <a:r>
                        <a:rPr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 </a:t>
                      </a:r>
                      <a:r>
                        <a:rPr lang="en-US"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Semanal </a:t>
                      </a:r>
                      <a:r>
                        <a:rPr lang="en-US" altLang="en-US"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Esperado</a:t>
                      </a:r>
                      <a:endParaRPr lang="en-US" altLang="en-US" sz="2000" b="1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BES - </a:t>
                      </a:r>
                      <a:r>
                        <a:rPr lang="en-US"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Boletim</a:t>
                      </a:r>
                      <a:r>
                        <a:rPr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 E</a:t>
                      </a:r>
                      <a:r>
                        <a:rPr lang="en-US"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pidemiologico</a:t>
                      </a:r>
                      <a:r>
                        <a:rPr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 </a:t>
                      </a:r>
                      <a:r>
                        <a:rPr lang="en-US"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Semanal Reportado</a:t>
                      </a:r>
                      <a:endParaRPr sz="2000" b="1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BES -</a:t>
                      </a:r>
                      <a:r>
                        <a:rPr lang="en-US"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Boletim</a:t>
                      </a:r>
                      <a:r>
                        <a:rPr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 E</a:t>
                      </a:r>
                      <a:r>
                        <a:rPr lang="en-US"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pidemiologico</a:t>
                      </a:r>
                      <a:r>
                        <a:rPr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 </a:t>
                      </a:r>
                      <a:r>
                        <a:rPr lang="en-US"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Semanal </a:t>
                      </a:r>
                      <a:r>
                        <a:rPr lang="en-US" altLang="en-US" sz="2000" b="1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- taxa de reportagem</a:t>
                      </a:r>
                      <a:endParaRPr sz="2000" b="1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  <a:p>
                      <a:pPr algn="ctr" fontAlgn="ctr"/>
                      <a:endParaRPr sz="2000" b="1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41973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CS 1 de Junho</a:t>
                      </a:r>
                      <a:endParaRPr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altLang="pt-PT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100</a:t>
                      </a:r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CS Albazine</a:t>
                      </a:r>
                      <a:endParaRPr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altLang="pt-PT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100</a:t>
                      </a:r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73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CS Hulene</a:t>
                      </a:r>
                      <a:endParaRPr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altLang="pt-PT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100</a:t>
                      </a:r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73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CS Pescadores</a:t>
                      </a:r>
                      <a:endParaRPr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altLang="pt-PT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10</a:t>
                      </a:r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0%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73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CS Mavalane</a:t>
                      </a:r>
                      <a:endParaRPr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altLang="pt-PT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100</a:t>
                      </a:r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CS Rom茫o</a:t>
                      </a:r>
                      <a:endParaRPr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altLang="pt-PT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100</a:t>
                      </a:r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73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HG Mavalane</a:t>
                      </a:r>
                      <a:endParaRPr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26</a:t>
                      </a:r>
                      <a:endParaRPr lang="en-US" altLang="pt-PT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25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96.2</a:t>
                      </a:r>
                      <a:r>
                        <a:rPr lang="en-US" sz="2000" b="0" i="0">
                          <a:solidFill>
                            <a:srgbClr val="212934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en-US" sz="2000" b="0" i="0">
                        <a:solidFill>
                          <a:srgbClr val="212934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Caixa de Texto 1"/>
          <p:cNvSpPr txBox="1"/>
          <p:nvPr/>
        </p:nvSpPr>
        <p:spPr>
          <a:xfrm>
            <a:off x="-635" y="6440805"/>
            <a:ext cx="29286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97915" y="233045"/>
            <a:ext cx="10916285" cy="701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BES 2026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1028" name="Gráfico 5"/>
          <p:cNvGraphicFramePr/>
          <p:nvPr/>
        </p:nvGraphicFramePr>
        <p:xfrm>
          <a:off x="635" y="921385"/>
          <a:ext cx="12013565" cy="547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Caixa de Texto 1"/>
          <p:cNvSpPr txBox="1"/>
          <p:nvPr/>
        </p:nvSpPr>
        <p:spPr>
          <a:xfrm>
            <a:off x="635" y="639191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43940" y="-66675"/>
            <a:ext cx="10642600" cy="8153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Prevenção e controle  de doenças</a:t>
            </a:r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 (SMI</a:t>
            </a:r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 - 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Mal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ària</a:t>
            </a:r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) 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4" name="Tabela 3"/>
          <p:cNvGraphicFramePr/>
          <p:nvPr/>
        </p:nvGraphicFramePr>
        <p:xfrm>
          <a:off x="222250" y="902335"/>
          <a:ext cx="11859895" cy="5489575"/>
        </p:xfrm>
        <a:graphic>
          <a:graphicData uri="http://schemas.openxmlformats.org/drawingml/2006/table">
            <a:tbl>
              <a:tblPr/>
              <a:tblGrid>
                <a:gridCol w="2310130"/>
                <a:gridCol w="1760015"/>
                <a:gridCol w="1582839"/>
                <a:gridCol w="1344827"/>
                <a:gridCol w="1410335"/>
                <a:gridCol w="1624063"/>
                <a:gridCol w="1827530"/>
              </a:tblGrid>
              <a:tr h="1077595">
                <a:tc rowSpan="2"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Unidades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Sanitárias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1ºs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Consultas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1ºs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Consultas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ª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Dose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TIP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de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Cobertura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Meta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83%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</a:t>
                      </a:r>
                      <a:r>
                        <a:rPr lang="en-US" altLang="pt-PT" sz="24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voluç</a:t>
                      </a:r>
                      <a:r>
                        <a:rPr lang="en-US" altLang="pt-PT" sz="24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ão</a:t>
                      </a:r>
                      <a:endParaRPr lang="en-US" altLang="pt-PT" sz="24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1078230"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2025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2026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2025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2026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1 de Junho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1855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1626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1068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1260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77%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18%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Albazine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1187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1346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963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961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71%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688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Mavalane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1672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1567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755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972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62%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29%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688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Pescadores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683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748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609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643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86%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6%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Romao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915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990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721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688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69%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-5%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Hulene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KaMavota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6333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6292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4116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4524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72%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" name="Caixa de Texto 1"/>
          <p:cNvSpPr txBox="1"/>
          <p:nvPr/>
        </p:nvSpPr>
        <p:spPr>
          <a:xfrm>
            <a:off x="0" y="649351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98855" y="635"/>
            <a:ext cx="11115675" cy="7423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Sesp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19050" y="678181"/>
          <a:ext cx="12172950" cy="6231255"/>
        </p:xfrm>
        <a:graphic>
          <a:graphicData uri="http://schemas.openxmlformats.org/drawingml/2006/table">
            <a:tbl>
              <a:tblPr firstRow="1" firstCol="1" bandRow="1"/>
              <a:tblGrid>
                <a:gridCol w="3415545"/>
                <a:gridCol w="1751481"/>
                <a:gridCol w="1751481"/>
                <a:gridCol w="1751481"/>
                <a:gridCol w="1751481"/>
                <a:gridCol w="1751481"/>
              </a:tblGrid>
              <a:tr h="617855">
                <a:tc rowSpan="2">
                  <a:txBody>
                    <a:bodyPr/>
                    <a:lstStyle/>
                    <a:p>
                      <a:pPr marL="0" marR="88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Distrito</a:t>
                      </a:r>
                      <a:endParaRPr lang="en-US" sz="1900" b="1" dirty="0" err="1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698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Palestras Realizadas </a:t>
                      </a:r>
                      <a:endParaRPr lang="en-US" sz="1900" b="1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21627">
                <a:tc vMerge="1">
                  <a:tcPr/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U.S </a:t>
                      </a:r>
                      <a:endParaRPr lang="en-US" sz="1900" b="1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2865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Comunidade </a:t>
                      </a:r>
                      <a:endParaRPr lang="en-US" sz="1900" b="1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13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Mercados </a:t>
                      </a:r>
                      <a:endParaRPr lang="en-US" sz="1900" b="1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Escolas </a:t>
                      </a:r>
                      <a:endParaRPr lang="en-US" sz="1900" b="1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Total </a:t>
                      </a:r>
                      <a:endParaRPr lang="en-US" sz="1900" b="1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5070">
                <a:tc>
                  <a:txBody>
                    <a:bodyPr/>
                    <a:lstStyle/>
                    <a:p>
                      <a:pPr marL="381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CS 1 de Junho  </a:t>
                      </a:r>
                      <a:endParaRPr lang="en-US" sz="22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2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2143</a:t>
                      </a:r>
                      <a:endParaRPr lang="pt-PT" sz="22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191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48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97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2479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70">
                <a:tc>
                  <a:txBody>
                    <a:bodyPr/>
                    <a:lstStyle/>
                    <a:p>
                      <a:pPr marL="381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CS Mavalane </a:t>
                      </a:r>
                      <a:endParaRPr lang="en-US" sz="22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6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1191</a:t>
                      </a:r>
                      <a:endParaRPr lang="pt-PT" sz="26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162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34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49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1439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085">
                <a:tc>
                  <a:txBody>
                    <a:bodyPr/>
                    <a:lstStyle/>
                    <a:p>
                      <a:pPr marL="381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C S </a:t>
                      </a:r>
                      <a:r>
                        <a:rPr lang="en-US" sz="2200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Hulene</a:t>
                      </a:r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 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963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206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44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54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1264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647">
                <a:tc>
                  <a:txBody>
                    <a:bodyPr/>
                    <a:lstStyle/>
                    <a:p>
                      <a:pPr marL="381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CS 3 de Fevereiro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789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67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22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27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905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70">
                <a:tc>
                  <a:txBody>
                    <a:bodyPr/>
                    <a:lstStyle/>
                    <a:p>
                      <a:pPr marL="381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CS </a:t>
                      </a:r>
                      <a:r>
                        <a:rPr lang="en-US" sz="2200" dirty="0" err="1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Romão</a:t>
                      </a:r>
                      <a:r>
                        <a:rPr lang="en-US" sz="22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 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1241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84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38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40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1403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70">
                <a:tc>
                  <a:txBody>
                    <a:bodyPr/>
                    <a:lstStyle/>
                    <a:p>
                      <a:pPr marL="381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CS Pescadores </a:t>
                      </a:r>
                      <a:endParaRPr lang="en-US" sz="22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2033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93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46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 </a:t>
                      </a:r>
                      <a:r>
                        <a:rPr lang="en-US" sz="22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49</a:t>
                      </a:r>
                      <a:endParaRPr lang="en-US" sz="22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2221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70">
                <a:tc>
                  <a:txBody>
                    <a:bodyPr/>
                    <a:lstStyle/>
                    <a:p>
                      <a:pPr marL="381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CS Albazine </a:t>
                      </a:r>
                      <a:endParaRPr lang="en-US" sz="22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1658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153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41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 92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1944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70">
                <a:tc>
                  <a:txBody>
                    <a:bodyPr/>
                    <a:lstStyle/>
                    <a:p>
                      <a:pPr marL="6858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KaMavota</a:t>
                      </a: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 - </a:t>
                      </a:r>
                      <a:r>
                        <a:rPr lang="en-US" sz="2200" b="1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2025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8772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44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796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337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 </a:t>
                      </a:r>
                      <a:r>
                        <a:rPr lang="en-US" sz="2200" b="1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390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9017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10295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5070">
                <a:tc>
                  <a:txBody>
                    <a:bodyPr/>
                    <a:lstStyle/>
                    <a:p>
                      <a:pPr marL="109855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KaMavota</a:t>
                      </a: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- </a:t>
                      </a:r>
                      <a:r>
                        <a:rPr lang="en-US" sz="2200" b="1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2026 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9226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956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273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71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408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11655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7338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Evol. %  </a:t>
                      </a:r>
                      <a:endParaRPr lang="en-US" sz="2200" b="1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44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5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 17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-23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4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12</a:t>
                      </a:r>
                      <a:endParaRPr lang="pt-PT" sz="2400" dirty="0" smtClean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4929" marR="0" marT="60138" marB="936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43940" y="-66675"/>
            <a:ext cx="10642600" cy="8153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Prevenção e controle  de doenças</a:t>
            </a:r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 (SMI</a:t>
            </a:r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 - 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Mal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ária</a:t>
            </a:r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) 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4" name="Tabela 3"/>
          <p:cNvGraphicFramePr/>
          <p:nvPr/>
        </p:nvGraphicFramePr>
        <p:xfrm>
          <a:off x="95885" y="902335"/>
          <a:ext cx="12087860" cy="5489575"/>
        </p:xfrm>
        <a:graphic>
          <a:graphicData uri="http://schemas.openxmlformats.org/drawingml/2006/table">
            <a:tbl>
              <a:tblPr/>
              <a:tblGrid>
                <a:gridCol w="2524125"/>
                <a:gridCol w="1744345"/>
                <a:gridCol w="1567815"/>
                <a:gridCol w="1332865"/>
                <a:gridCol w="1397635"/>
                <a:gridCol w="1609725"/>
                <a:gridCol w="1911350"/>
              </a:tblGrid>
              <a:tr h="1077595">
                <a:tc rowSpan="2"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Unidades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Sanitárias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1ºs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Consultas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1ºs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Consultas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2ª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Dose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TIP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de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Cobertura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Meta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83%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</a:t>
                      </a:r>
                      <a:r>
                        <a:rPr lang="en-US" altLang="pt-PT" sz="24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voluç</a:t>
                      </a:r>
                      <a:r>
                        <a:rPr lang="en-US" altLang="pt-PT" sz="24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ão</a:t>
                      </a:r>
                      <a:endParaRPr lang="en-US" altLang="pt-PT" sz="24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1078230"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2025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2026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2025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2026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1 de Junho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1855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1626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1398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1574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97%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-12%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Albazine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1187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1346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1017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1021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76%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13%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688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Mavalane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1672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1567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1035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1149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73%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-6%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688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Pescadores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683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748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655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692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93%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Romao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915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990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693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757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76%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-1%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Hulene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KaMavota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6333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6292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4798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5193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83%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-1%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5" name="Caixa de Texto 4"/>
          <p:cNvSpPr txBox="1"/>
          <p:nvPr/>
        </p:nvSpPr>
        <p:spPr>
          <a:xfrm>
            <a:off x="140335" y="652780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58545" y="220980"/>
            <a:ext cx="10949305" cy="593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Prevenção e controle  de doenças</a:t>
            </a:r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  <a:sym typeface="+mn-ea"/>
              </a:rPr>
              <a:t> (SMI</a:t>
            </a:r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  <a:sym typeface="+mn-ea"/>
              </a:rPr>
              <a:t> - 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M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alá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ria</a:t>
            </a:r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  <a:sym typeface="+mn-ea"/>
              </a:rPr>
              <a:t>)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2" name="Tabela 1"/>
          <p:cNvGraphicFramePr/>
          <p:nvPr/>
        </p:nvGraphicFramePr>
        <p:xfrm>
          <a:off x="140335" y="987425"/>
          <a:ext cx="11868150" cy="5412105"/>
        </p:xfrm>
        <a:graphic>
          <a:graphicData uri="http://schemas.openxmlformats.org/drawingml/2006/table">
            <a:tbl>
              <a:tblPr/>
              <a:tblGrid>
                <a:gridCol w="2317115"/>
                <a:gridCol w="2314575"/>
                <a:gridCol w="2067560"/>
                <a:gridCol w="2179955"/>
                <a:gridCol w="1572895"/>
                <a:gridCol w="1416050"/>
              </a:tblGrid>
              <a:tr h="1055370">
                <a:tc rowSpan="2"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Unidades Sanitárias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 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Total 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de 1ºs 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Consultas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Total 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de 1ºs 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Consultas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Redes 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Distribuídas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Redes 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Distribuidas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% de 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Cobertura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31115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2025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2026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2025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2026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Meta 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95%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78485">
                <a:tc>
                  <a:txBody>
                    <a:bodyPr/>
                    <a:p>
                      <a:pPr algn="just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C.S 1 de </a:t>
                      </a:r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Junho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1661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1845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1661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1845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100%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7850">
                <a:tc>
                  <a:txBody>
                    <a:bodyPr/>
                    <a:p>
                      <a:pPr algn="just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C.S </a:t>
                      </a:r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Albazine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1294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1348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1294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1348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100%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7215">
                <a:tc>
                  <a:txBody>
                    <a:bodyPr/>
                    <a:p>
                      <a:pPr algn="just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C.S </a:t>
                      </a:r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Romão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883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985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883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985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100%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8485">
                <a:tc>
                  <a:txBody>
                    <a:bodyPr/>
                    <a:p>
                      <a:pPr algn="just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C.S </a:t>
                      </a:r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Pescadores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718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747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718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747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100%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7850">
                <a:tc>
                  <a:txBody>
                    <a:bodyPr/>
                    <a:p>
                      <a:pPr algn="just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C.S </a:t>
                      </a:r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Hulene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8485">
                <a:tc>
                  <a:txBody>
                    <a:bodyPr/>
                    <a:p>
                      <a:pPr algn="just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C.S </a:t>
                      </a:r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Mavalane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1722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1797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1722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1797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100%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7215">
                <a:tc>
                  <a:txBody>
                    <a:bodyPr/>
                    <a:p>
                      <a:pPr algn="just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</a:rPr>
                        <a:t>KaMavota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Times New Roman" panose="020206030504050203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6299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12796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6299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6755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100%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Caixa de Texto 3"/>
          <p:cNvSpPr txBox="1"/>
          <p:nvPr/>
        </p:nvSpPr>
        <p:spPr>
          <a:xfrm>
            <a:off x="140335" y="652780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4" name="Tabela 3"/>
          <p:cNvGraphicFramePr/>
          <p:nvPr/>
        </p:nvGraphicFramePr>
        <p:xfrm>
          <a:off x="231775" y="1046480"/>
          <a:ext cx="11847195" cy="5139690"/>
        </p:xfrm>
        <a:graphic>
          <a:graphicData uri="http://schemas.openxmlformats.org/drawingml/2006/table">
            <a:tbl>
              <a:tblPr/>
              <a:tblGrid>
                <a:gridCol w="2299335"/>
                <a:gridCol w="1771015"/>
                <a:gridCol w="1705610"/>
                <a:gridCol w="2188845"/>
                <a:gridCol w="2040890"/>
                <a:gridCol w="1841500"/>
              </a:tblGrid>
              <a:tr h="544195">
                <a:tc rowSpan="2">
                  <a:txBody>
                    <a:bodyPr/>
                    <a:p>
                      <a:pPr algn="ctr" fontAlgn="b"/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b"/>
                      <a:r>
                        <a:rPr sz="2000" b="1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1</a:t>
                      </a:r>
                      <a:r>
                        <a:rPr sz="2000" b="1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Times New Roman" panose="02020603050405020304"/>
                          <a:cs typeface="Century Gothic" panose="020B0502020202020204" pitchFamily="34" charset="0"/>
                          <a:sym typeface="+mn-ea"/>
                        </a:rPr>
                        <a:t>ª</a:t>
                      </a:r>
                      <a:r>
                        <a:rPr sz="2000" b="1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s Consultas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  <a:p>
                      <a:pPr algn="ctr" fontAlgn="b"/>
                      <a:endParaRPr lang="en-US"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Meta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I.C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Ev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266065">
                <a:tc vMerge="1"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2025</a:t>
                      </a:r>
                      <a:endParaRPr lang="en-US" altLang="pt-PT"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2026</a:t>
                      </a:r>
                      <a:endParaRPr lang="en-US" altLang="pt-PT"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1 de Junho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478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315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3359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-34%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Albazine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440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349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4582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8%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-21%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Mavalane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418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339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3799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-19%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Pescadores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301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286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1598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18%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-5%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Romao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155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77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1205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-50%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Hulene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0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0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0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/>
                    <a:p>
                      <a:pPr algn="l" fontAlgn="b"/>
                      <a:r>
                        <a:rPr sz="2000" b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  <a:sym typeface="+mn-ea"/>
                        </a:rPr>
                        <a:t>KaMavota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1792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1310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14544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-27%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Caixa de Texto 4"/>
          <p:cNvSpPr txBox="1"/>
          <p:nvPr/>
        </p:nvSpPr>
        <p:spPr>
          <a:xfrm>
            <a:off x="1092200" y="183515"/>
            <a:ext cx="10826115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pt-PT" sz="2800" b="1">
                <a:solidFill>
                  <a:schemeClr val="bg1"/>
                </a:solidFill>
              </a:rPr>
              <a:t>CACUM</a:t>
            </a:r>
            <a:endParaRPr lang="en-US" altLang="pt-PT" sz="2800" b="1">
              <a:solidFill>
                <a:schemeClr val="bg1"/>
              </a:solidFill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0" y="63861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5" name="Caixa de Texto 4"/>
          <p:cNvSpPr txBox="1"/>
          <p:nvPr/>
        </p:nvSpPr>
        <p:spPr>
          <a:xfrm>
            <a:off x="1060450" y="164465"/>
            <a:ext cx="11018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PT" sz="2800" b="1">
                <a:solidFill>
                  <a:schemeClr val="bg1"/>
                </a:solidFill>
              </a:rPr>
              <a:t>Vacina contra HPV</a:t>
            </a:r>
            <a:endParaRPr lang="en-US" altLang="pt-PT" sz="2800" b="1">
              <a:solidFill>
                <a:schemeClr val="bg1"/>
              </a:solidFill>
            </a:endParaRPr>
          </a:p>
        </p:txBody>
      </p:sp>
      <p:graphicFrame>
        <p:nvGraphicFramePr>
          <p:cNvPr id="6" name="Gráfico 5"/>
          <p:cNvGraphicFramePr/>
          <p:nvPr/>
        </p:nvGraphicFramePr>
        <p:xfrm>
          <a:off x="100965" y="1022985"/>
          <a:ext cx="11844655" cy="5291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Caixa de Texto 6"/>
          <p:cNvSpPr txBox="1"/>
          <p:nvPr/>
        </p:nvSpPr>
        <p:spPr>
          <a:xfrm>
            <a:off x="100965" y="639191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6000"/>
              </a:srgbClr>
            </a:gs>
            <a:gs pos="97000">
              <a:srgbClr val="FFFFFF">
                <a:alpha val="97000"/>
              </a:srgbClr>
            </a:gs>
            <a:gs pos="100000">
              <a:schemeClr val="tx1"/>
            </a:gs>
          </a:gsLst>
          <a:lin ang="61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23415" y="220980"/>
            <a:ext cx="90043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C</a:t>
            </a:r>
            <a:r>
              <a:rPr lang="en-US" altLang="pt-PT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rianças</a:t>
            </a:r>
            <a:r>
              <a:rPr lang="en-US" altLang="pt-PT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 C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ompletamente</a:t>
            </a:r>
            <a:r>
              <a:rPr lang="en-US" altLang="pt-PT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 V</a:t>
            </a:r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acinadas</a:t>
            </a:r>
            <a:endParaRPr lang="en-US" altLang="en-US" sz="2800" b="1" dirty="0">
              <a:solidFill>
                <a:schemeClr val="bg1"/>
              </a:solidFill>
              <a:cs typeface="Century Gothic" panose="020B0502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/>
        </p:nvGraphicFramePr>
        <p:xfrm>
          <a:off x="137795" y="930910"/>
          <a:ext cx="11967210" cy="5281930"/>
        </p:xfrm>
        <a:graphic>
          <a:graphicData uri="http://schemas.openxmlformats.org/drawingml/2006/table">
            <a:tbl>
              <a:tblPr/>
              <a:tblGrid>
                <a:gridCol w="2183765"/>
                <a:gridCol w="1219200"/>
                <a:gridCol w="1336040"/>
                <a:gridCol w="1204595"/>
                <a:gridCol w="1203960"/>
                <a:gridCol w="1610360"/>
                <a:gridCol w="1496060"/>
                <a:gridCol w="1713230"/>
              </a:tblGrid>
              <a:tr h="5842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Unidades Sanitárias </a:t>
                      </a:r>
                      <a:endParaRPr kumimoji="0" lang="pt-PT" altLang="zh-CN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202</a:t>
                      </a:r>
                      <a:r>
                        <a:rPr kumimoji="0" lang="en-US" altLang="pt-PT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5</a:t>
                      </a:r>
                      <a:endParaRPr kumimoji="0" lang="en-US" altLang="pt-PT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/>
                </a:tc>
                <a:tc hMerge="1"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202</a:t>
                      </a:r>
                      <a:r>
                        <a:rPr kumimoji="0" lang="en-US" altLang="pt-PT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6</a:t>
                      </a:r>
                      <a:endParaRPr kumimoji="0" lang="en-US" altLang="pt-PT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Evolução </a:t>
                      </a:r>
                      <a:endParaRPr kumimoji="0" lang="pt-PT" altLang="zh-CN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608330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GA</a:t>
                      </a:r>
                      <a:endParaRPr kumimoji="0" lang="pt-PT" altLang="zh-CN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Realizado </a:t>
                      </a:r>
                      <a:endParaRPr kumimoji="0" lang="pt-PT" altLang="zh-CN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PT" sz="18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I.C </a:t>
                      </a:r>
                      <a:r>
                        <a:rPr lang="pt-PT" sz="1800" b="1" baseline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 </a:t>
                      </a:r>
                      <a:r>
                        <a:rPr lang="pt-PT" sz="18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(%)</a:t>
                      </a:r>
                      <a:endParaRPr lang="pt-PT" sz="18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GA</a:t>
                      </a:r>
                      <a:endParaRPr kumimoji="0" lang="pt-PT" altLang="zh-CN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Realizado</a:t>
                      </a:r>
                      <a:endParaRPr kumimoji="0" lang="pt-PT" altLang="zh-CN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PT" altLang="zh-CN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charset="0"/>
                          <a:cs typeface="Century Gothic" panose="020B0502020202020204" pitchFamily="34" charset="0"/>
                        </a:rPr>
                        <a:t>I.C (%)</a:t>
                      </a:r>
                      <a:endParaRPr kumimoji="0" lang="pt-PT" altLang="zh-CN" sz="18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 vMerge="1"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1 de Junho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1.772</a:t>
                      </a:r>
                      <a:endParaRPr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986</a:t>
                      </a:r>
                      <a:endParaRPr 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56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1405</a:t>
                      </a:r>
                      <a:endParaRPr lang="en-US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966</a:t>
                      </a:r>
                      <a:endParaRPr lang="en-US" alt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69%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-2%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5835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Albazine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1.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524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819</a:t>
                      </a:r>
                      <a:endParaRPr 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54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887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870</a:t>
                      </a:r>
                      <a:endParaRPr lang="en-US" alt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98%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6%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5848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Mavalane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204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19</a:t>
                      </a:r>
                      <a:endParaRPr 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9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1109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19</a:t>
                      </a:r>
                      <a:endParaRPr lang="en-US" alt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1.71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0%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Pescadores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7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73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316</a:t>
                      </a:r>
                      <a:endParaRPr 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41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887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426</a:t>
                      </a:r>
                      <a:endParaRPr lang="en-US" alt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48%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35%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Romao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7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35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341</a:t>
                      </a:r>
                      <a:endParaRPr 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46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813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320</a:t>
                      </a:r>
                      <a:endParaRPr lang="en-US" alt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20%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-6%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Hulene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1104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445</a:t>
                      </a:r>
                      <a:endParaRPr 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40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Cambria" panose="02040503050406030204"/>
                          <a:cs typeface="Century Gothic" panose="020B0502020202020204" pitchFamily="34" charset="0"/>
                        </a:rPr>
                        <a:t>1627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Cambria" panose="02040503050406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796</a:t>
                      </a:r>
                      <a:endParaRPr lang="en-US" alt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49%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79%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9pPr>
                    </a:lstStyle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KaMavota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altLang="en-US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6112</a:t>
                      </a:r>
                      <a:endParaRPr lang="pt-PT" altLang="en-US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2926</a:t>
                      </a:r>
                      <a:endParaRPr 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48</a:t>
                      </a:r>
                      <a:r>
                        <a:rPr 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%</a:t>
                      </a:r>
                      <a:endParaRPr 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7395</a:t>
                      </a:r>
                      <a:endParaRPr lang="en-US" alt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pt-PT" sz="18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cs typeface="Century Gothic" panose="020B0502020202020204" pitchFamily="34" charset="0"/>
                        </a:rPr>
                        <a:t>3397</a:t>
                      </a:r>
                      <a:endParaRPr lang="en-US" altLang="pt-PT" sz="18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46%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pt-PT" sz="1800" b="0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Arial" panose="020B0604020202020204"/>
                          <a:cs typeface="Century Gothic" panose="020B0502020202020204" pitchFamily="34" charset="0"/>
                        </a:rPr>
                        <a:t>16%</a:t>
                      </a:r>
                      <a:endParaRPr lang="en-US" altLang="pt-PT" sz="1800" b="0" i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Arial" panose="020B0604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" name="Caixa de Texto 1"/>
          <p:cNvSpPr txBox="1"/>
          <p:nvPr/>
        </p:nvSpPr>
        <p:spPr>
          <a:xfrm>
            <a:off x="137795" y="640080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70610" y="220980"/>
            <a:ext cx="10804525" cy="7639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Consulta </a:t>
            </a:r>
            <a:r>
              <a:rPr lang="en-US" altLang="pt-BR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Crian</a:t>
            </a:r>
            <a:r>
              <a:rPr lang="en-US" altLang="pt-BR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ça</a:t>
            </a:r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 Sadia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4" name="Caixa de Texto 3"/>
          <p:cNvSpPr txBox="1"/>
          <p:nvPr/>
        </p:nvSpPr>
        <p:spPr>
          <a:xfrm>
            <a:off x="475615" y="-6997065"/>
            <a:ext cx="10891520" cy="3448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638300" lvl="1" indent="-457200" algn="just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bg1"/>
              </a:solidFill>
              <a:sym typeface="+mn-ea"/>
            </a:endParaRPr>
          </a:p>
        </p:txBody>
      </p:sp>
      <p:graphicFrame>
        <p:nvGraphicFramePr>
          <p:cNvPr id="5" name="Gráfico 4"/>
          <p:cNvGraphicFramePr/>
          <p:nvPr/>
        </p:nvGraphicFramePr>
        <p:xfrm>
          <a:off x="0" y="984885"/>
          <a:ext cx="12108815" cy="540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Caixa de Texto 1"/>
          <p:cNvSpPr txBox="1"/>
          <p:nvPr/>
        </p:nvSpPr>
        <p:spPr>
          <a:xfrm>
            <a:off x="0" y="652780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83310" y="0"/>
            <a:ext cx="10951210" cy="8813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Rastreio e Presuntivos TB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2" name="Gráfico 1"/>
          <p:cNvGraphicFramePr/>
          <p:nvPr/>
        </p:nvGraphicFramePr>
        <p:xfrm>
          <a:off x="0" y="1022985"/>
          <a:ext cx="12034520" cy="5368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Caixa de Texto 3"/>
          <p:cNvSpPr txBox="1"/>
          <p:nvPr/>
        </p:nvSpPr>
        <p:spPr>
          <a:xfrm>
            <a:off x="0" y="639191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4" name="Tabela 3"/>
          <p:cNvGraphicFramePr/>
          <p:nvPr/>
        </p:nvGraphicFramePr>
        <p:xfrm>
          <a:off x="184785" y="902970"/>
          <a:ext cx="11581765" cy="4524375"/>
        </p:xfrm>
        <a:graphic>
          <a:graphicData uri="http://schemas.openxmlformats.org/drawingml/2006/table">
            <a:tbl>
              <a:tblPr/>
              <a:tblGrid>
                <a:gridCol w="1872615"/>
                <a:gridCol w="1460500"/>
                <a:gridCol w="1460500"/>
                <a:gridCol w="1352550"/>
                <a:gridCol w="1282700"/>
                <a:gridCol w="1282700"/>
                <a:gridCol w="1409700"/>
                <a:gridCol w="1460500"/>
              </a:tblGrid>
              <a:tr h="1383665">
                <a:tc>
                  <a:txBody>
                    <a:bodyPr/>
                    <a:p>
                      <a:pPr algn="ctr" fontAlgn="ctr"/>
                      <a:r>
                        <a:rPr lang="en-US"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K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aMavota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10 a14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15 a 24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Mais 25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Gravida 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Lactante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AJM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Outros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86995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Novos Inicios em</a:t>
                      </a:r>
                      <a:b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</a:br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 Prep pela 1 vez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188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442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212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117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164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93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Utentes que Continua em 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19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186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22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823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Total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0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207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628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234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entury Gothic" panose="020B0502020202020204"/>
                          <a:cs typeface="Century Gothic" panose="020B0502020202020204" pitchFamily="34" charset="0"/>
                        </a:rPr>
                        <a:t>4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entury Gothic" panose="020B050202020202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128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pt-PT"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238</a:t>
                      </a:r>
                      <a:endParaRPr lang="en-US" altLang="pt-PT"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Caixa de Texto 4"/>
          <p:cNvSpPr txBox="1"/>
          <p:nvPr/>
        </p:nvSpPr>
        <p:spPr>
          <a:xfrm>
            <a:off x="1089660" y="124460"/>
            <a:ext cx="10597515" cy="778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pt-PT" sz="2400" b="1">
                <a:solidFill>
                  <a:schemeClr val="bg1"/>
                </a:solidFill>
              </a:rPr>
              <a:t> Prep 1</a:t>
            </a:r>
            <a:r>
              <a:rPr lang="en-US" altLang="pt-PT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lang="en-US" altLang="pt-PT" sz="2400" b="1">
                <a:solidFill>
                  <a:schemeClr val="bg1"/>
                </a:solidFill>
              </a:rPr>
              <a:t> Semestre 2026</a:t>
            </a:r>
            <a:endParaRPr lang="en-US" altLang="pt-PT" sz="2400" b="1">
              <a:solidFill>
                <a:schemeClr val="bg1"/>
              </a:solidFill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0" y="5728970"/>
            <a:ext cx="32238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PT" sz="1400" b="1">
                <a:solidFill>
                  <a:schemeClr val="bg1"/>
                </a:solidFill>
                <a:sym typeface="+mn-ea"/>
              </a:rPr>
              <a:t>Fonte Sisma</a:t>
            </a:r>
            <a:endParaRPr lang="en-US" altLang="pt-PT" sz="1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47445" y="233045"/>
            <a:ext cx="10928985" cy="442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en-US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   </a:t>
            </a:r>
            <a:r>
              <a:rPr lang="en-US" altLang="pt-PT" sz="2800" b="1" dirty="0">
                <a:solidFill>
                  <a:schemeClr val="bg1"/>
                </a:solidFill>
                <a:cs typeface="Century Gothic" panose="020B0502020202020204" pitchFamily="34" charset="0"/>
              </a:rPr>
              <a:t>H.T.A</a:t>
            </a:r>
            <a:endParaRPr lang="en-US" altLang="pt-PT" sz="2800" b="1" dirty="0">
              <a:solidFill>
                <a:schemeClr val="bg1"/>
              </a:solidFill>
              <a:cs typeface="Century Gothic" panose="020B0502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graphicFrame>
        <p:nvGraphicFramePr>
          <p:cNvPr id="2" name="Tabela 1"/>
          <p:cNvGraphicFramePr/>
          <p:nvPr/>
        </p:nvGraphicFramePr>
        <p:xfrm>
          <a:off x="21590" y="1005840"/>
          <a:ext cx="12054840" cy="5264150"/>
        </p:xfrm>
        <a:graphic>
          <a:graphicData uri="http://schemas.openxmlformats.org/drawingml/2006/table">
            <a:tbl>
              <a:tblPr/>
              <a:tblGrid>
                <a:gridCol w="3283585"/>
                <a:gridCol w="1659890"/>
                <a:gridCol w="1658620"/>
                <a:gridCol w="1658620"/>
                <a:gridCol w="1659255"/>
                <a:gridCol w="2134870"/>
              </a:tblGrid>
              <a:tr h="665480">
                <a:tc gridSpan="6"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HTA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56895">
                <a:tc rowSpan="2"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2025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2026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54990"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casos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obitos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casos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obitos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EV%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43624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1 de Junho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213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615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65%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561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Albazine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342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791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57%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Mavalane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136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348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61%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497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Pescadores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121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230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47%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Romao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148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Cs Hulene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197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454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56%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4975">
                <a:tc>
                  <a:txBody>
                    <a:bodyPr/>
                    <a:p>
                      <a:pPr algn="l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</a:rPr>
                        <a:t>HGM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8148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1175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₋</a:t>
                      </a:r>
                      <a:r>
                        <a:rPr sz="2000" b="0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85%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>
                  <a:txBody>
                    <a:bodyPr/>
                    <a:p>
                      <a:pPr algn="l" fontAlgn="ctr"/>
                      <a:r>
                        <a:rPr sz="2000">
                          <a:solidFill>
                            <a:srgbClr val="000000"/>
                          </a:solidFill>
                          <a:latin typeface="Century Gothic" panose="020B0502020202020204"/>
                          <a:ea typeface="Century Gothic" panose="020B0502020202020204"/>
                          <a:sym typeface="+mn-ea"/>
                        </a:rPr>
                        <a:t>KaMavota</a:t>
                      </a:r>
                      <a:endParaRPr sz="2000" b="0" i="0">
                        <a:solidFill>
                          <a:srgbClr val="000000"/>
                        </a:solidFill>
                        <a:latin typeface="Century Gothic" panose="020B0502020202020204"/>
                        <a:ea typeface="Century Gothic" panose="020B050202020202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9157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3761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0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anose="020F0502020204030204"/>
                          <a:cs typeface="Century Gothic" panose="020B0502020202020204" pitchFamily="34" charset="0"/>
                        </a:rPr>
                        <a:t>-143%</a:t>
                      </a:r>
                      <a:endParaRPr sz="2000" b="1" i="0">
                        <a:solidFill>
                          <a:srgbClr val="000000"/>
                        </a:solidFill>
                        <a:latin typeface="Century Gothic" panose="020B0502020202020204" pitchFamily="34" charset="0"/>
                        <a:ea typeface="Calibri" panose="020F0502020204030204"/>
                        <a:cs typeface="Century Gothic" panose="020B0502020202020204" pitchFamily="34" charset="0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</a:tr>
            </a:tbl>
          </a:graphicData>
        </a:graphic>
      </p:graphicFrame>
      <p:sp>
        <p:nvSpPr>
          <p:cNvPr id="4" name="Caixa de Texto 3"/>
          <p:cNvSpPr txBox="1"/>
          <p:nvPr/>
        </p:nvSpPr>
        <p:spPr>
          <a:xfrm>
            <a:off x="135890" y="6391910"/>
            <a:ext cx="3064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PT" sz="1400" b="1">
                <a:solidFill>
                  <a:schemeClr val="bg1"/>
                </a:solidFill>
              </a:rPr>
              <a:t>Fonte Sisma</a:t>
            </a:r>
            <a:endParaRPr lang="en-US" altLang="pt-PT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34440" y="220980"/>
            <a:ext cx="100507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  <a:sym typeface="+mn-ea"/>
              </a:rPr>
              <a:t>ATS</a:t>
            </a:r>
            <a:endParaRPr lang="en-US" altLang="en-US" sz="2800" b="1" dirty="0">
              <a:solidFill>
                <a:schemeClr val="bg1"/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2" name="Caixa de Texto 1"/>
          <p:cNvSpPr txBox="1"/>
          <p:nvPr/>
        </p:nvSpPr>
        <p:spPr>
          <a:xfrm>
            <a:off x="-635" y="923290"/>
            <a:ext cx="12193270" cy="546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638300" lvl="1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Supervisão e apoio técnico nas Unidades Sanitárias e nas comunidades, com a participação do representante da Direcção de Saúde da Cidade de Maputo, com apoio do parceiro ADPP;</a:t>
            </a: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  <a:sym typeface="+mn-ea"/>
            </a:endParaRPr>
          </a:p>
          <a:p>
            <a:pPr marL="1181100" lvl="1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1638300" lvl="1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Realização de 5 brigadas móveis nos centros de acomodação: 12 de Outubro, Mariazinha, Chiango e 3 de Fevereiro;</a:t>
            </a: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  <a:sym typeface="+mn-ea"/>
            </a:endParaRPr>
          </a:p>
          <a:p>
            <a:pPr marL="1181100" lvl="1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1638300" lvl="1" indent="-4572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Realização de 5 brigadas móveis nos centros de acomodação: 12 de Outubro, Mariazinha, Chiango e 3 de Fevereiro;</a:t>
            </a: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1638300" lvl="1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endParaRPr lang="pt-PT" altLang="en-US" sz="2400">
              <a:cs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4" name="Caixa de Texto 3"/>
          <p:cNvSpPr txBox="1"/>
          <p:nvPr/>
        </p:nvSpPr>
        <p:spPr>
          <a:xfrm>
            <a:off x="434340" y="1075055"/>
            <a:ext cx="1155763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638300" lvl="1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Realização de 6 supervisões ao nível distrital nas Unidades Sanitárias de Mavalane, Romão, 1.º de Junho e Albazine;</a:t>
            </a: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  <a:sym typeface="+mn-ea"/>
            </a:endParaRPr>
          </a:p>
          <a:p>
            <a:pPr marL="1181100" lvl="1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1638300" lvl="1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Realização de 20 feiras de saúde ao nível do distrito;</a:t>
            </a: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  <a:sym typeface="+mn-ea"/>
            </a:endParaRPr>
          </a:p>
          <a:p>
            <a:pPr marL="1181100" lvl="1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1638300" lvl="1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Realização de 40 palestras nas comunidades;</a:t>
            </a: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  <a:sym typeface="+mn-ea"/>
            </a:endParaRPr>
          </a:p>
          <a:p>
            <a:pPr marL="1181100" lvl="1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1638300" lvl="1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2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Century Gothic" panose="020B0502020202020204" pitchFamily="34" charset="0"/>
                <a:sym typeface="+mn-ea"/>
              </a:rPr>
              <a:t>Realização de 4 formações em serviço;</a:t>
            </a:r>
            <a:endParaRPr lang="en-US" altLang="en-US" sz="2400" dirty="0">
              <a:solidFill>
                <a:schemeClr val="bg1"/>
              </a:solidFill>
              <a:cs typeface="Century Gothic" panose="020B0502020202020204" pitchFamily="34" charset="0"/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1060450" y="318770"/>
            <a:ext cx="109315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PT" sz="2800" b="1">
                <a:solidFill>
                  <a:schemeClr val="bg1"/>
                </a:solidFill>
              </a:rPr>
              <a:t>ATS</a:t>
            </a:r>
            <a:endParaRPr lang="en-US" altLang="pt-PT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16995" y="221163"/>
            <a:ext cx="61696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Prioridades do Distrito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2" name="Caixa de Texto 1"/>
          <p:cNvSpPr txBox="1"/>
          <p:nvPr/>
        </p:nvSpPr>
        <p:spPr>
          <a:xfrm>
            <a:off x="142875" y="928370"/>
            <a:ext cx="11881485" cy="5634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</a:rPr>
              <a:t>Aumento de partos instituicionais ao nivel do distrito, principalmente no Centro de Saude de Albazine;</a:t>
            </a: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</a:rPr>
              <a:t>Capacitacao e envolvimento das estruturas de base comunit</a:t>
            </a:r>
            <a:r>
              <a:rPr lang="en-US" altLang="pt-PT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pt-PT" sz="2400">
                <a:solidFill>
                  <a:schemeClr val="bg1"/>
                </a:solidFill>
              </a:rPr>
              <a:t>ria e religiosa em materias de DNT e Infectocontagiosas;</a:t>
            </a:r>
            <a:endParaRPr lang="en-US" altLang="pt-PT" sz="240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</a:rPr>
              <a:t>Reforcar a integracao de accoes de preven</a:t>
            </a:r>
            <a:r>
              <a:rPr lang="en-US" altLang="pt-PT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ç</a:t>
            </a:r>
            <a:r>
              <a:rPr lang="en-US" altLang="pt-PT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ã</a:t>
            </a:r>
            <a:r>
              <a:rPr lang="en-US" altLang="pt-PT" sz="2400">
                <a:solidFill>
                  <a:schemeClr val="bg1"/>
                </a:solidFill>
              </a:rPr>
              <a:t>o em outras areas como Nutricao, PAV, ATS,...</a:t>
            </a: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</a:rPr>
              <a:t>Intensificar o rastreio de Cancro do Colo uterino e da mama</a:t>
            </a: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Realizacao de brigadas mó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veis Integradas para a </a:t>
            </a: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Divulga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ção de mensagens chaves para a importancia de Prep, DNTs</a:t>
            </a: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16995" y="221163"/>
            <a:ext cx="61696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Desafio</a:t>
            </a:r>
            <a:endParaRPr lang="en-US" altLang="en-US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2" name="Caixa de Texto 1"/>
          <p:cNvSpPr txBox="1"/>
          <p:nvPr/>
        </p:nvSpPr>
        <p:spPr>
          <a:xfrm>
            <a:off x="142875" y="928370"/>
            <a:ext cx="11881485" cy="5634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Dificuldade em aceder as Maternidades</a:t>
            </a:r>
            <a:r>
              <a:rPr lang="en-US" altLang="pt-PT" sz="2400">
                <a:solidFill>
                  <a:schemeClr val="bg1"/>
                </a:solidFill>
              </a:rPr>
              <a:t>;</a:t>
            </a: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Falta de material medico- cirurgico( Esfignomanometros, luvas,glucometros, ruptura persistentes de reagentes no laboratorio,...)</a:t>
            </a:r>
            <a:r>
              <a:rPr lang="en-US" altLang="pt-PT" sz="2400">
                <a:solidFill>
                  <a:schemeClr val="bg1"/>
                </a:solidFill>
              </a:rPr>
              <a:t>;</a:t>
            </a:r>
            <a:endParaRPr lang="en-US" altLang="pt-PT" sz="240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Insuficiencia de Recursos humanos </a:t>
            </a: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pt-PT" sz="240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pt-PT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4" name="Caixa de Texto 3"/>
          <p:cNvSpPr txBox="1"/>
          <p:nvPr/>
        </p:nvSpPr>
        <p:spPr>
          <a:xfrm>
            <a:off x="1024255" y="285115"/>
            <a:ext cx="10808335" cy="561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pt-PT" sz="2400" b="1">
                <a:solidFill>
                  <a:schemeClr val="bg1"/>
                </a:solidFill>
              </a:rPr>
              <a:t>Prespectivas</a:t>
            </a:r>
            <a:endParaRPr lang="en-US" altLang="pt-PT" sz="2400" b="1">
              <a:solidFill>
                <a:schemeClr val="bg1"/>
              </a:solidFill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635" y="962660"/>
            <a:ext cx="12059920" cy="5278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</a:rPr>
              <a:t>Material o Cantinho de Medicao de HTA em alguma US;</a:t>
            </a:r>
            <a:endParaRPr lang="en-US" altLang="pt-PT" sz="240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</a:rPr>
              <a:t>Integracao de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 acçõe</a:t>
            </a:r>
            <a:r>
              <a:rPr lang="en-US" altLang="pt-PT" sz="2400">
                <a:solidFill>
                  <a:schemeClr val="bg1"/>
                </a:solidFill>
              </a:rPr>
              <a:t>s preventivas atraves da criacao de mensagens chaves sobre medidas de prevencao em todas as areas;</a:t>
            </a: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</a:rPr>
              <a:t>Intensificar o rastreio de Cancro do Colo Uterino e da mama, DNT, HIV e TB;</a:t>
            </a: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</a:rPr>
              <a:t>Intensificar a mobilizacao comunitaria e radiofonica sobre temas relacionados com preven</a:t>
            </a:r>
            <a:r>
              <a:rPr lang="en-US" altLang="pt-PT" sz="2400">
                <a:solidFill>
                  <a:schemeClr val="bg1"/>
                </a:solidFill>
                <a:cs typeface="Century Gothic" panose="020B0502020202020204" pitchFamily="34" charset="0"/>
              </a:rPr>
              <a:t>ção.</a:t>
            </a:r>
            <a:endParaRPr lang="en-US" altLang="pt-PT" sz="2400">
              <a:solidFill>
                <a:schemeClr val="bg1"/>
              </a:solidFill>
              <a:cs typeface="Century Gothic" panose="020B0502020202020204" pitchFamily="34" charset="0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7458075" y="6506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pt-PT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16995" y="221163"/>
            <a:ext cx="61696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Centro de acomodacao e BM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995680"/>
            <a:ext cx="6024245" cy="55505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995680"/>
            <a:ext cx="5928360" cy="55505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Marcador de Posição do Rodapé 3"/>
          <p:cNvSpPr txBox="1"/>
          <p:nvPr/>
        </p:nvSpPr>
        <p:spPr>
          <a:xfrm>
            <a:off x="4689475" y="6284914"/>
            <a:ext cx="62992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</a:lstStyle>
          <a:p>
            <a:pPr lvl="0" algn="r"/>
            <a:r>
              <a:rPr lang="pt-PT" altLang="en-US" sz="1000">
                <a:solidFill>
                  <a:srgbClr val="FFFFFF"/>
                </a:solidFill>
              </a:rPr>
              <a:t>POR UM MUNICIPIO PROVEDOR DE MAIS E MELHORES SERVIÇOS SOCIAS E DE SAUDE</a:t>
            </a:r>
            <a:endParaRPr lang="pt-PT" altLang="en-US" sz="1000">
              <a:solidFill>
                <a:srgbClr val="FFFFFF"/>
              </a:solidFill>
            </a:endParaRPr>
          </a:p>
        </p:txBody>
      </p:sp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556260" y="365125"/>
            <a:ext cx="10568940" cy="917575"/>
          </a:xfrm>
        </p:spPr>
        <p:txBody>
          <a:bodyPr>
            <a:normAutofit/>
          </a:bodyPr>
          <a:lstStyle/>
          <a:p>
            <a:pPr algn="ctr"/>
            <a:r>
              <a:rPr lang="pt-PT" sz="2665" b="1" dirty="0" smtClean="0">
                <a:solidFill>
                  <a:schemeClr val="bg1"/>
                </a:solidFill>
                <a:sym typeface="+mn-ea"/>
              </a:rPr>
              <a:t>PARTICIPAÇÃO</a:t>
            </a:r>
            <a:r>
              <a:rPr lang="en-US" altLang="pt-PT" sz="2665" b="1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pt-PT" sz="2665" b="1" dirty="0" smtClean="0">
                <a:solidFill>
                  <a:schemeClr val="bg1"/>
                </a:solidFill>
                <a:sym typeface="+mn-ea"/>
              </a:rPr>
              <a:t>RADIOFÓNICO</a:t>
            </a:r>
            <a:r>
              <a:rPr lang="en-US" altLang="pt-PT" sz="2665" b="1" dirty="0" smtClean="0">
                <a:solidFill>
                  <a:schemeClr val="bg1"/>
                </a:solidFill>
                <a:sym typeface="+mn-ea"/>
              </a:rPr>
              <a:t> E REUNIAO COM LIDERES comunitarios</a:t>
            </a:r>
            <a:endParaRPr lang="en-US" altLang="pt-PT" sz="2665" b="1" dirty="0" smtClean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sz="quarter"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" y="1391920"/>
            <a:ext cx="6665595" cy="5081905"/>
          </a:xfr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020" y="1392555"/>
            <a:ext cx="5201285" cy="5081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16995" y="221163"/>
            <a:ext cx="616963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pt-BR" sz="2000" b="1" dirty="0">
                <a:solidFill>
                  <a:schemeClr val="bg1"/>
                </a:solidFill>
                <a:cs typeface="Arial" panose="020B0604020202020204" pitchFamily="34" charset="0"/>
              </a:rPr>
              <a:t>Rastreio de TB e oferta de Pofilaxia</a:t>
            </a:r>
            <a:endParaRPr lang="en-US" altLang="pt-BR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sp>
        <p:nvSpPr>
          <p:cNvPr id="4" name="Retângulo 3"/>
          <p:cNvSpPr>
            <a:spLocks noChangeAspect="1"/>
          </p:cNvSpPr>
          <p:nvPr/>
        </p:nvSpPr>
        <p:spPr>
          <a:xfrm>
            <a:off x="0" y="0"/>
            <a:ext cx="127000" cy="12700"/>
          </a:xfrm>
          <a:prstGeom prst="rect">
            <a:avLst/>
          </a:prstGeom>
        </p:spPr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5875" y="916940"/>
            <a:ext cx="5716270" cy="547497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001395"/>
            <a:ext cx="6238875" cy="54756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Footer Placeholder 3"/>
          <p:cNvSpPr txBox="1"/>
          <p:nvPr/>
        </p:nvSpPr>
        <p:spPr>
          <a:xfrm>
            <a:off x="4689475" y="6284914"/>
            <a:ext cx="62992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</a:lstStyle>
          <a:p>
            <a:pPr lvl="0" algn="r"/>
            <a:r>
              <a:rPr lang="pt-PT" altLang="en-US" sz="1000">
                <a:solidFill>
                  <a:srgbClr val="FFFFFF"/>
                </a:solidFill>
              </a:rPr>
              <a:t>POR UM MUNICIPIO PROVEDOR DE MAIS E MELHORES SERVIÇOS SOCIAS E DE SAUDE</a:t>
            </a:r>
            <a:endParaRPr lang="pt-PT" altLang="en-US" sz="1000">
              <a:solidFill>
                <a:srgbClr val="FFFFFF"/>
              </a:solidFill>
            </a:endParaRPr>
          </a:p>
        </p:txBody>
      </p:sp>
      <p:pic>
        <p:nvPicPr>
          <p:cNvPr id="209716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396999" y="375139"/>
            <a:ext cx="9591676" cy="864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5" y="1148715"/>
            <a:ext cx="6283325" cy="570928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285" y="1148715"/>
            <a:ext cx="5720715" cy="5709285"/>
          </a:xfrm>
          <a:prstGeom prst="rect">
            <a:avLst/>
          </a:prstGeom>
        </p:spPr>
      </p:pic>
      <p:pic>
        <p:nvPicPr>
          <p:cNvPr id="7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396999" y="293077"/>
            <a:ext cx="9591676" cy="46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549399" y="527539"/>
            <a:ext cx="9744076" cy="1008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701799" y="679939"/>
            <a:ext cx="9591676" cy="4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 3"/>
          <p:cNvSpPr/>
          <p:nvPr/>
        </p:nvSpPr>
        <p:spPr>
          <a:xfrm>
            <a:off x="1396999" y="844063"/>
            <a:ext cx="98964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altLang="pt-PT" sz="2400" b="1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AUSCULTAÇÃO COMUNITÁRIA - BAIRRO COSTA DOL  </a:t>
            </a:r>
            <a:r>
              <a:rPr lang="pt-PT" altLang="pt-PT" b="1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endParaRPr lang="en-US" dirty="0"/>
          </a:p>
        </p:txBody>
      </p:sp>
      <p:sp>
        <p:nvSpPr>
          <p:cNvPr id="5" name="Caixa de Texto 4"/>
          <p:cNvSpPr txBox="1"/>
          <p:nvPr/>
        </p:nvSpPr>
        <p:spPr>
          <a:xfrm>
            <a:off x="269240" y="375285"/>
            <a:ext cx="1151191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pt-PT" sz="2000" b="1">
                <a:solidFill>
                  <a:schemeClr val="bg1"/>
                </a:solidFill>
              </a:rPr>
              <a:t>Feiras de saude - Bairro FERROVIARIO</a:t>
            </a:r>
            <a:endParaRPr lang="en-US" altLang="pt-PT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59180" y="220980"/>
            <a:ext cx="11041380" cy="683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914400"/>
            <a:r>
              <a:rPr lang="en-US" alt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Auscutacao comunitaria e promocao de saude</a:t>
            </a:r>
            <a:endParaRPr lang="en-US" alt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1060450"/>
            <a:ext cx="6169025" cy="54165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665" y="904875"/>
            <a:ext cx="5763260" cy="55721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pt-PT" altLang="en-US"/>
          </a:p>
        </p:txBody>
      </p:sp>
      <p:sp>
        <p:nvSpPr>
          <p:cNvPr id="3" name="Marcador de Posição do Número do Diapositivo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35" y="925195"/>
            <a:ext cx="4514850" cy="561530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085" y="1010285"/>
            <a:ext cx="7279005" cy="5530215"/>
          </a:xfrm>
          <a:prstGeom prst="rect">
            <a:avLst/>
          </a:prstGeom>
        </p:spPr>
      </p:pic>
      <p:sp>
        <p:nvSpPr>
          <p:cNvPr id="6" name="Caixa de Texto 5"/>
          <p:cNvSpPr txBox="1"/>
          <p:nvPr/>
        </p:nvSpPr>
        <p:spPr>
          <a:xfrm>
            <a:off x="1085215" y="232410"/>
            <a:ext cx="1027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PT" sz="1800" b="1">
                <a:solidFill>
                  <a:schemeClr val="bg1"/>
                </a:solidFill>
              </a:rPr>
              <a:t>Discussao de dados de malaria e visita ao centro de acomodacao</a:t>
            </a:r>
            <a:endParaRPr lang="en-US" altLang="pt-PT" sz="1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483" y="2377123"/>
            <a:ext cx="8534400" cy="1506537"/>
          </a:xfrm>
        </p:spPr>
        <p:txBody>
          <a:bodyPr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CCD2FF3-AA39-4331-B30B-9B4C25DA0A98}" type="slidenum">
              <a:rPr lang="en-GB" smtClean="0"/>
            </a:fld>
            <a:endParaRPr lang="en-GB" dirty="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930525" y="962660"/>
            <a:ext cx="5241290" cy="58947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/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/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6900</Words>
  <Application>WPS Presentation</Application>
  <PresentationFormat>Widescreen</PresentationFormat>
  <Paragraphs>1337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62" baseType="lpstr">
      <vt:lpstr>Arial</vt:lpstr>
      <vt:lpstr>SimSun</vt:lpstr>
      <vt:lpstr>Wingdings</vt:lpstr>
      <vt:lpstr>Century Gothic</vt:lpstr>
      <vt:lpstr>Wingdings 3</vt:lpstr>
      <vt:lpstr>Symbol</vt:lpstr>
      <vt:lpstr>MS PGothic</vt:lpstr>
      <vt:lpstr>Times New Roman</vt:lpstr>
      <vt:lpstr>Arial Unicode MS</vt:lpstr>
      <vt:lpstr>Garet Bold Italics</vt:lpstr>
      <vt:lpstr>Segoe Print</vt:lpstr>
      <vt:lpstr>Garet Bold</vt:lpstr>
      <vt:lpstr>Arial Narrow</vt:lpstr>
      <vt:lpstr>Calibri</vt:lpstr>
      <vt:lpstr>隶书</vt:lpstr>
      <vt:lpstr>Franklin Gothic Book</vt:lpstr>
      <vt:lpstr>Calibri</vt:lpstr>
      <vt:lpstr>Calibri Light</vt:lpstr>
      <vt:lpstr>Aptos</vt:lpstr>
      <vt:lpstr>Century Gothic</vt:lpstr>
      <vt:lpstr>Arial</vt:lpstr>
      <vt:lpstr>Microsoft YaHei</vt:lpstr>
      <vt:lpstr>Arial Unicode MS</vt:lpstr>
      <vt:lpstr>Segoe UI</vt:lpstr>
      <vt:lpstr>Times New Roman</vt:lpstr>
      <vt:lpstr>Cambria</vt:lpstr>
      <vt:lpstr>Verdana</vt:lpstr>
      <vt:lpstr>Slice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PARTICIPAÇÃO RADIOFÓNICO E REUNIAO COM LIDERES comunitarios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Obadias Sérgio Mandlate</cp:lastModifiedBy>
  <cp:revision>152</cp:revision>
  <dcterms:created xsi:type="dcterms:W3CDTF">2025-07-14T08:03:00Z</dcterms:created>
  <dcterms:modified xsi:type="dcterms:W3CDTF">2026-10-11T09:46:30Z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29D62A7D564D46BCA6444C6BE6E1741A_13</vt:lpwstr>
  </property>
  <property fmtid="{D5CDD505-2E9C-101B-9397-08002B2CF9AE}" pid="3" name="KSOProductBuildVer">
    <vt:lpwstr>1033-12.1.0.28032</vt:lpwstr>
  </property>
</Properties>
</file>