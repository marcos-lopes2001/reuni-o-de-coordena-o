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58" r:id="rId3"/>
    <p:sldId id="345" r:id="rId4"/>
    <p:sldId id="346" r:id="rId5"/>
    <p:sldId id="347" r:id="rId6"/>
    <p:sldId id="348" r:id="rId7"/>
    <p:sldId id="351" r:id="rId8"/>
    <p:sldId id="352" r:id="rId9"/>
    <p:sldId id="353" r:id="rId10"/>
    <p:sldId id="354" r:id="rId11"/>
    <p:sldId id="344" r:id="rId12"/>
    <p:sldId id="355" r:id="rId13"/>
    <p:sldId id="343" r:id="rId14"/>
  </p:sldIdLst>
  <p:sldSz cx="12192000" cy="6858000"/>
  <p:notesSz cx="6858000" cy="9144000"/>
  <p:custDataLst>
    <p:tags r:id="rId17"/>
  </p:custDataLst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ungano" initials="" lastIdx="0" clrIdx="0"/>
  <p:cmAuthor id="2" name="Maria da Luz Velho VAZ" initials="" lastIdx="0" clrIdx="1"/>
  <p:cmAuthor id="3" name="Nelita Nassone" initials="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4F8FD"/>
    <a:srgbClr val="E8FC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335"/>
    <p:restoredTop sz="94648"/>
  </p:normalViewPr>
  <p:slideViewPr>
    <p:cSldViewPr snapToGrid="0">
      <p:cViewPr varScale="1">
        <p:scale>
          <a:sx n="99" d="100"/>
          <a:sy n="99" d="100"/>
        </p:scale>
        <p:origin x="200" y="4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16576"/>
    </p:cViewPr>
  </p:sorterViewPr>
  <p:notesViewPr>
    <p:cSldViewPr snapToGrid="0">
      <p:cViewPr varScale="1">
        <p:scale>
          <a:sx n="62" d="100"/>
          <a:sy n="62" d="100"/>
        </p:scale>
        <p:origin x="2371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D1DC68F-8B2C-CA23-8B5B-106CC325D7F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0C4CB5-B549-5A34-AD1E-2D8F527CD765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55A9B5E7-730D-47F3-A20F-21BEEC4675EC}" type="datetimeFigureOut">
              <a:rPr lang="en-US"/>
              <a:pPr>
                <a:defRPr/>
              </a:pPr>
              <a:t>10/12/26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7C1B0C-5C66-58FB-709F-C521B149C26B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C3DECB-0946-2995-68E8-A73D83DC43B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4CFE4AED-41EF-44BB-A7AE-BB514A61616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2B5BD0D-6CA1-CD12-446D-4A1C87137C1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4F9314-9251-0913-9B46-0A81B2FF22B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CC208207-5B48-4395-8D1E-F22232184DB3}" type="datetimeFigureOut">
              <a:rPr lang="en-US"/>
              <a:pPr>
                <a:defRPr/>
              </a:pPr>
              <a:t>10/12/26</a:t>
            </a:fld>
            <a:endParaRPr lang="en-US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C216246D-E8C1-22F1-D549-A499F068F9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B2171CB-3327-65A7-23E7-B5A84253466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623224F-F420-78FC-CD08-97664255BB92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8CCC3C7-5B2A-D444-6A56-F0D9391E58C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 smtClean="0">
                <a:latin typeface="+mn-lt"/>
              </a:defRPr>
            </a:lvl1pPr>
          </a:lstStyle>
          <a:p>
            <a:pPr>
              <a:defRPr/>
            </a:pPr>
            <a:fld id="{F5A9D756-8865-4D09-887F-FA6D13893A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Marcador de Posição da Imagem do Diapositivo 1">
            <a:extLst>
              <a:ext uri="{FF2B5EF4-FFF2-40B4-BE49-F238E27FC236}">
                <a16:creationId xmlns:a16="http://schemas.microsoft.com/office/drawing/2014/main" id="{10530BF5-A971-5043-1665-5472D211B27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Marcador de Posição de Notas 2">
            <a:extLst>
              <a:ext uri="{FF2B5EF4-FFF2-40B4-BE49-F238E27FC236}">
                <a16:creationId xmlns:a16="http://schemas.microsoft.com/office/drawing/2014/main" id="{48A3E538-F2FA-A4FF-B547-5C9806249A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endParaRPr lang="pt-PT" altLang="en-US"/>
          </a:p>
        </p:txBody>
      </p:sp>
      <p:sp>
        <p:nvSpPr>
          <p:cNvPr id="25604" name="Marcador de Posição do Número do Diapositivo 3">
            <a:extLst>
              <a:ext uri="{FF2B5EF4-FFF2-40B4-BE49-F238E27FC236}">
                <a16:creationId xmlns:a16="http://schemas.microsoft.com/office/drawing/2014/main" id="{B1E488B7-D5EB-83C8-E3A8-19F6124E28F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fontAlgn="base">
              <a:spcBef>
                <a:spcPct val="0"/>
              </a:spcBef>
              <a:spcAft>
                <a:spcPct val="0"/>
              </a:spcAft>
            </a:pPr>
            <a:fld id="{BA623A8E-B97A-462B-AF83-3CB1386C2B58}" type="slidenum">
              <a:rPr lang="en-US" altLang="en-US">
                <a:solidFill>
                  <a:srgbClr val="000000"/>
                </a:solidFill>
                <a:latin typeface="Aptos" panose="020B0004020202020204" pitchFamily="34" charset="0"/>
              </a:rPr>
              <a:pPr fontAlgn="base">
                <a:spcBef>
                  <a:spcPct val="0"/>
                </a:spcBef>
                <a:spcAft>
                  <a:spcPct val="0"/>
                </a:spcAft>
              </a:pPr>
              <a:t>2</a:t>
            </a:fld>
            <a:endParaRPr lang="en-US" altLang="en-US">
              <a:solidFill>
                <a:srgbClr val="000000"/>
              </a:solidFill>
              <a:latin typeface="Aptos" panose="020B00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A7E0ECDB-78A6-E0EE-99D8-DB08368F4D3C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" y="-85724"/>
            <a:ext cx="12192001" cy="6943724"/>
          </a:xfrm>
          <a:prstGeom prst="rect">
            <a:avLst/>
          </a:prstGeom>
        </p:spPr>
      </p:pic>
      <p:sp>
        <p:nvSpPr>
          <p:cNvPr id="4" name="Rectangle 6">
            <a:extLst>
              <a:ext uri="{FF2B5EF4-FFF2-40B4-BE49-F238E27FC236}">
                <a16:creationId xmlns:a16="http://schemas.microsoft.com/office/drawing/2014/main" id="{BBB5C81C-D85F-F74F-CDB1-B6C8E40B228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96913" y="962025"/>
            <a:ext cx="933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/>
              <a:t>MISAU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4D3E06F1-1F79-6D72-8F24-50EB1D5F0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87175" y="6391672"/>
            <a:ext cx="504825" cy="442912"/>
          </a:xfrm>
        </p:spPr>
        <p:txBody>
          <a:bodyPr/>
          <a:lstStyle>
            <a:lvl1pPr>
              <a:defRPr sz="1400"/>
            </a:lvl1pPr>
          </a:lstStyle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‹#›</a:t>
            </a:fld>
            <a:endParaRPr lang="en-GB" dirty="0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DC6E4D48-D476-9079-8A1D-DE51783549FE}"/>
              </a:ext>
            </a:extLst>
          </p:cNvPr>
          <p:cNvSpPr>
            <a:spLocks noGrp="1"/>
          </p:cNvSpPr>
          <p:nvPr userDrawn="1"/>
        </p:nvSpPr>
        <p:spPr>
          <a:xfrm>
            <a:off x="0" y="0"/>
            <a:ext cx="12192000" cy="929482"/>
          </a:xfrm>
          <a:prstGeom prst="rect">
            <a:avLst/>
          </a:prstGeom>
          <a:solidFill>
            <a:schemeClr val="tx1">
              <a:lumMod val="95000"/>
            </a:schemeClr>
          </a:solidFill>
          <a:ln w="28575"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txBody>
          <a:bodyPr anchor="ctr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  <a:ea typeface="MS PGothic" panose="020B0600070205080204" pitchFamily="34" charset="-128"/>
                <a:cs typeface="MS PGothic" panose="020B0600070205080204" pitchFamily="34" charset="-128"/>
              </a:defRPr>
            </a:lvl5pPr>
            <a:lvl6pPr marL="4572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6pPr>
            <a:lvl7pPr marL="9144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7pPr>
            <a:lvl8pPr marL="13716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8pPr>
            <a:lvl9pPr marL="1828800" algn="l" rtl="0" eaLnBrk="1" fontAlgn="base" hangingPunct="1">
              <a:spcBef>
                <a:spcPct val="0"/>
              </a:spcBef>
              <a:spcAft>
                <a:spcPct val="0"/>
              </a:spcAft>
              <a:defRPr sz="3200" b="1">
                <a:solidFill>
                  <a:srgbClr val="000000"/>
                </a:solidFill>
                <a:latin typeface="Arial" panose="020B0604020202020204" pitchFamily="34" charset="0"/>
              </a:defRPr>
            </a:lvl9pPr>
          </a:lstStyle>
          <a:p>
            <a:pPr algn="ctr" defTabSz="914400"/>
            <a:endParaRPr lang="pt-BR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pic>
        <p:nvPicPr>
          <p:cNvPr id="5" name="Picture 7">
            <a:extLst>
              <a:ext uri="{FF2B5EF4-FFF2-40B4-BE49-F238E27FC236}">
                <a16:creationId xmlns:a16="http://schemas.microsoft.com/office/drawing/2014/main" id="{9BFB0EC2-6DD9-15D4-D949-F84E4666B124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62309"/>
            <a:ext cx="933450" cy="8048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B6A6BFBD-9882-3474-49D7-A2C5B31EDF50}"/>
              </a:ext>
            </a:extLst>
          </p:cNvPr>
          <p:cNvSpPr>
            <a:spLocks noGrp="1"/>
          </p:cNvSpPr>
          <p:nvPr userDrawn="1"/>
        </p:nvSpPr>
        <p:spPr>
          <a:xfrm>
            <a:off x="112713" y="6430566"/>
            <a:ext cx="12079287" cy="365125"/>
          </a:xfrm>
          <a:prstGeom prst="rect">
            <a:avLst/>
          </a:prstGeom>
          <a:ln>
            <a:noFill/>
          </a:ln>
          <a:effectLst>
            <a:outerShdw blurRad="50800" dist="38100" algn="l" rotWithShape="0">
              <a:prstClr val="black">
                <a:alpha val="40000"/>
              </a:prst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1100" b="1" dirty="0" err="1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1100" b="1" dirty="0">
                <a:solidFill>
                  <a:schemeClr val="bg1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1100" b="1" dirty="0">
              <a:solidFill>
                <a:schemeClr val="bg1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1999378594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2">
            <a:extLst>
              <a:ext uri="{FF2B5EF4-FFF2-40B4-BE49-F238E27FC236}">
                <a16:creationId xmlns:a16="http://schemas.microsoft.com/office/drawing/2014/main" id="{D2A2499E-EE88-5471-CDB1-8A3B7D4CA3A5}"/>
              </a:ext>
            </a:extLst>
          </p:cNvPr>
          <p:cNvSpPr txBox="1"/>
          <p:nvPr userDrawn="1"/>
        </p:nvSpPr>
        <p:spPr>
          <a:xfrm>
            <a:off x="1624552" y="5047785"/>
            <a:ext cx="8738648" cy="337015"/>
          </a:xfrm>
          <a:prstGeom prst="rect">
            <a:avLst/>
          </a:prstGeom>
          <a:solidFill>
            <a:schemeClr val="tx2">
              <a:lumMod val="20000"/>
              <a:lumOff val="80000"/>
              <a:alpha val="19000"/>
            </a:schemeClr>
          </a:solidFill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</p:spPr>
        <p:txBody>
          <a:bodyPr lIns="0" tIns="0" rIns="0" bIns="0">
            <a:spAutoFit/>
          </a:bodyPr>
          <a:lstStyle/>
          <a:p>
            <a:pPr algn="ctr" eaLnBrk="1" fontAlgn="auto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Lema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: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Por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um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Serviço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Nacional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Saúde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de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Qualidade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e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Humanizado</a:t>
            </a:r>
            <a:r>
              <a:rPr lang="en-US" sz="2000" b="1" i="1" dirty="0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 para </a:t>
            </a:r>
            <a:r>
              <a:rPr lang="en-US" sz="2000" b="1" i="1" dirty="0" err="1">
                <a:solidFill>
                  <a:schemeClr val="bg1"/>
                </a:solidFill>
                <a:latin typeface="Garet Bold Italics"/>
                <a:ea typeface="Garet Bold Italics"/>
                <a:cs typeface="Garet Bold Italics"/>
                <a:sym typeface="Garet Bold Italics"/>
              </a:rPr>
              <a:t>Todos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89E0EDC5-73C9-2395-68B4-8A503E64085A}"/>
              </a:ext>
            </a:extLst>
          </p:cNvPr>
          <p:cNvSpPr txBox="1">
            <a:spLocks noChangeArrowheads="1"/>
          </p:cNvSpPr>
          <p:nvPr userDrawn="1"/>
        </p:nvSpPr>
        <p:spPr bwMode="auto">
          <a:xfrm>
            <a:off x="4203700" y="6416675"/>
            <a:ext cx="3452813" cy="2725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ts val="2238"/>
              </a:lnSpc>
            </a:pP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Maputo, </a:t>
            </a:r>
            <a:r>
              <a:rPr lang="pt-PT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Outubro</a:t>
            </a:r>
            <a:r>
              <a:rPr lang="en-US" altLang="en-US" b="1" dirty="0">
                <a:solidFill>
                  <a:srgbClr val="050A30"/>
                </a:solidFill>
                <a:latin typeface="Garet Bold"/>
                <a:ea typeface="Garet Bold"/>
                <a:cs typeface="Garet Bold"/>
                <a:sym typeface="Garet Bold"/>
              </a:rPr>
              <a:t> de 2026</a:t>
            </a:r>
          </a:p>
        </p:txBody>
      </p:sp>
      <p:pic>
        <p:nvPicPr>
          <p:cNvPr id="4" name="Picture 6">
            <a:extLst>
              <a:ext uri="{FF2B5EF4-FFF2-40B4-BE49-F238E27FC236}">
                <a16:creationId xmlns:a16="http://schemas.microsoft.com/office/drawing/2014/main" id="{7862B9C7-0C60-3A2F-AA91-DFA9DADAA4B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92713" y="328613"/>
            <a:ext cx="1139825" cy="9953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9">
            <a:extLst>
              <a:ext uri="{FF2B5EF4-FFF2-40B4-BE49-F238E27FC236}">
                <a16:creationId xmlns:a16="http://schemas.microsoft.com/office/drawing/2014/main" id="{76213641-9A3B-6AE3-DA0B-574EBF26EEA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351338" y="1473200"/>
            <a:ext cx="31845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</p:txBody>
      </p:sp>
      <p:sp>
        <p:nvSpPr>
          <p:cNvPr id="6" name="Rectangle 10">
            <a:extLst>
              <a:ext uri="{FF2B5EF4-FFF2-40B4-BE49-F238E27FC236}">
                <a16:creationId xmlns:a16="http://schemas.microsoft.com/office/drawing/2014/main" id="{8B83F8ED-4006-F527-B285-22339460F04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11663" y="1795463"/>
            <a:ext cx="26495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latin typeface="Arial" panose="020B0604020202020204" pitchFamily="34" charset="0"/>
                <a:cs typeface="Arial" panose="020B0604020202020204" pitchFamily="34" charset="0"/>
              </a:rPr>
              <a:t>Ministério da Saúde</a:t>
            </a:r>
          </a:p>
        </p:txBody>
      </p:sp>
      <p:sp>
        <p:nvSpPr>
          <p:cNvPr id="8" name="Rectangle 18">
            <a:extLst>
              <a:ext uri="{FF2B5EF4-FFF2-40B4-BE49-F238E27FC236}">
                <a16:creationId xmlns:a16="http://schemas.microsoft.com/office/drawing/2014/main" id="{6DA0EF47-91A2-4BC1-F84A-EE9389D7159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2286000" y="1473200"/>
            <a:ext cx="6991350" cy="1200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</a:t>
            </a:r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MOÇAMBIQUE</a:t>
            </a:r>
          </a:p>
          <a:p>
            <a:pPr algn="ctr" eaLnBrk="1" hangingPunct="1"/>
            <a:r>
              <a:rPr lang="en-US" altLang="en-US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</a:t>
            </a:r>
          </a:p>
          <a:p>
            <a:pPr algn="ctr" eaLnBrk="1" hangingPunct="1"/>
            <a:r>
              <a:rPr lang="pt-PT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Conselho dos Serviços de </a:t>
            </a:r>
            <a:r>
              <a:rPr lang="en-US" altLang="en-US">
                <a:solidFill>
                  <a:schemeClr val="bg1"/>
                </a:solidFill>
                <a:latin typeface="Arial Narrow" panose="020B0606020202030204" pitchFamily="34" charset="0"/>
                <a:cs typeface="Arial" panose="020B0604020202020204" pitchFamily="34" charset="0"/>
              </a:rPr>
              <a:t>Representação do Estado</a:t>
            </a:r>
            <a:endParaRPr lang="pt-PT" altLang="en-US">
              <a:solidFill>
                <a:schemeClr val="bg1"/>
              </a:solidFill>
              <a:latin typeface="Arial Narrow" panose="020B0606020202030204" pitchFamily="34" charset="0"/>
              <a:cs typeface="Arial" panose="020B0604020202020204" pitchFamily="34" charset="0"/>
            </a:endParaRPr>
          </a:p>
          <a:p>
            <a:pPr algn="ctr" eaLnBrk="1" hangingPunct="1"/>
            <a:r>
              <a:rPr lang="en-US" altLang="en-US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 de Saúde</a:t>
            </a:r>
            <a:endParaRPr lang="pt-PT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Slide Number Placeholder 3">
            <a:extLst>
              <a:ext uri="{FF2B5EF4-FFF2-40B4-BE49-F238E27FC236}">
                <a16:creationId xmlns:a16="http://schemas.microsoft.com/office/drawing/2014/main" id="{CB842B1E-3AA6-EB75-2CDE-F4F8C35B6A1D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>
          <a:xfrm>
            <a:off x="11439524" y="5540375"/>
            <a:ext cx="752475" cy="669925"/>
          </a:xfrm>
        </p:spPr>
        <p:txBody>
          <a:bodyPr/>
          <a:lstStyle>
            <a:lvl1pPr>
              <a:defRPr dirty="0"/>
            </a:lvl1pPr>
          </a:lstStyle>
          <a:p>
            <a:pPr>
              <a:defRPr/>
            </a:pPr>
            <a:fld id="{B193FA8A-A7BD-41F9-BCEB-6C5AB8D10B65}" type="slidenum">
              <a:rPr lang="en-US"/>
              <a:pPr>
                <a:defRPr/>
              </a:pPr>
              <a:t>‹#›</a:t>
            </a:fld>
            <a:endParaRPr lang="en-US" dirty="0"/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79861ADA-BA1A-DC7E-389F-A3336FE57971}"/>
              </a:ext>
            </a:extLst>
          </p:cNvPr>
          <p:cNvSpPr>
            <a:spLocks noGrp="1"/>
          </p:cNvSpPr>
          <p:nvPr userDrawn="1"/>
        </p:nvSpPr>
        <p:spPr>
          <a:xfrm>
            <a:off x="590549" y="3487302"/>
            <a:ext cx="10744201" cy="640080"/>
          </a:xfrm>
          <a:prstGeom prst="rect">
            <a:avLst/>
          </a:prstGeom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  <a:reflection blurRad="6350" stA="52000" endA="300" endPos="35000" dir="5400000" sy="-100000" algn="bl" rotWithShape="0"/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anchor="ctr">
            <a:normAutofit/>
          </a:bodyPr>
          <a:lstStyle>
            <a:lvl1pPr marL="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bg2">
                    <a:lumMod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1pPr>
            <a:lvl2pPr marL="457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8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2pPr>
            <a:lvl3pPr marL="914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6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3pPr>
            <a:lvl4pPr marL="1371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4pPr>
            <a:lvl5pPr marL="18288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5pPr>
            <a:lvl6pPr marL="22860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6pPr>
            <a:lvl7pPr marL="27432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7pPr>
            <a:lvl8pPr marL="32004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8pPr>
            <a:lvl9pPr marL="3657600" indent="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None/>
              <a:defRPr sz="1400" kern="1200" cap="none">
                <a:solidFill>
                  <a:schemeClr val="tx1">
                    <a:tint val="75000"/>
                  </a:schemeClr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algn="ctr" fontAlgn="auto">
              <a:defRPr/>
            </a:pP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VI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Reunião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de </a:t>
            </a:r>
            <a:r>
              <a:rPr lang="en-US" sz="3600" b="1" dirty="0" err="1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Coordenação</a:t>
            </a:r>
            <a:r>
              <a:rPr lang="en-US" sz="3600" b="1" dirty="0">
                <a:solidFill>
                  <a:srgbClr val="00B050"/>
                </a:solidFill>
                <a:latin typeface="Times New Roman" panose="02020603050405020304" pitchFamily="18" charset="0"/>
                <a:ea typeface="Arial Unicode MS"/>
                <a:cs typeface="Times New Roman" panose="02020603050405020304" pitchFamily="18" charset="0"/>
                <a:sym typeface="+mn-ea"/>
              </a:rPr>
              <a:t> do SSCM</a:t>
            </a:r>
            <a:endParaRPr lang="pt-BR" sz="3600" b="1" dirty="0">
              <a:solidFill>
                <a:srgbClr val="00B050"/>
              </a:solidFill>
              <a:latin typeface="Times New Roman" panose="02020603050405020304" pitchFamily="18" charset="0"/>
              <a:ea typeface="Arial Unicode MS"/>
              <a:cs typeface="Times New Roman" panose="02020603050405020304" pitchFamily="18" charset="0"/>
              <a:sym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54184822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29228B11-0A5F-34E2-20F3-CD5ECDEADF7B}"/>
              </a:ext>
            </a:extLst>
          </p:cNvPr>
          <p:cNvSpPr txBox="1"/>
          <p:nvPr userDrawn="1"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7965972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999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890D06-E9AE-8F03-358A-71217EDE66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4213" y="4487863"/>
            <a:ext cx="8534400" cy="150653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27" name="Text Placeholder 2">
            <a:extLst>
              <a:ext uri="{FF2B5EF4-FFF2-40B4-BE49-F238E27FC236}">
                <a16:creationId xmlns:a16="http://schemas.microsoft.com/office/drawing/2014/main" id="{6EC7FF63-1BBA-6EC0-B837-0E7C160DEA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4213" y="685800"/>
            <a:ext cx="8534400" cy="3614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C7AB8-83E6-AA9B-0DE6-F1D2E0D233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04413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0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A5C41711-BAAE-4BDB-A12A-371F15FA4D86}" type="datetime1">
              <a:rPr lang="en-GB" smtClean="0"/>
              <a:t>12/10/2026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F9089C-0474-881D-1C85-5358C154AC9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84213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A95E069-E462-3A0E-5ED1-E1FCA9FF66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3000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3200" b="0" i="0" smtClean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pPr>
              <a:defRPr/>
            </a:pPr>
            <a:fld id="{CEC704D9-9568-4213-8D58-9E458B3C0F06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grpSp>
        <p:nvGrpSpPr>
          <p:cNvPr id="1031" name="Group 12">
            <a:extLst>
              <a:ext uri="{FF2B5EF4-FFF2-40B4-BE49-F238E27FC236}">
                <a16:creationId xmlns:a16="http://schemas.microsoft.com/office/drawing/2014/main" id="{6B13CA1E-7907-9AB6-908D-32161B0BD304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11201399" y="4067175"/>
            <a:ext cx="836613" cy="2790825"/>
            <a:chOff x="9206969" y="2963333"/>
            <a:chExt cx="2981858" cy="3208867"/>
          </a:xfrm>
        </p:grpSpPr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D522650F-7975-6F37-4042-51852AC61418}"/>
                </a:ext>
              </a:extLst>
            </p:cNvPr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</p:spPr>
          <p:style>
            <a:lnRef idx="3">
              <a:schemeClr val="accent3"/>
            </a:lnRef>
            <a:fillRef idx="0">
              <a:schemeClr val="accent3"/>
            </a:fillRef>
            <a:effectRef idx="2">
              <a:schemeClr val="accent3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23E9F241-085F-350D-7D44-CD2B30443A19}"/>
                </a:ext>
              </a:extLst>
            </p:cNvPr>
            <p:cNvCxnSpPr/>
            <p:nvPr/>
          </p:nvCxnSpPr>
          <p:spPr>
            <a:xfrm flipH="1">
              <a:off x="9206969" y="3189669"/>
              <a:ext cx="2981858" cy="298253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6" name="Straight Connector 15">
              <a:extLst>
                <a:ext uri="{FF2B5EF4-FFF2-40B4-BE49-F238E27FC236}">
                  <a16:creationId xmlns:a16="http://schemas.microsoft.com/office/drawing/2014/main" id="{6E0FAACB-49E0-E6BF-D33C-FC3A456E497B}"/>
                </a:ext>
              </a:extLst>
            </p:cNvPr>
            <p:cNvCxnSpPr/>
            <p:nvPr/>
          </p:nvCxnSpPr>
          <p:spPr>
            <a:xfrm flipH="1">
              <a:off x="10290950" y="3284585"/>
              <a:ext cx="1897877" cy="1896481"/>
            </a:xfrm>
            <a:prstGeom prst="line">
              <a:avLst/>
            </a:prstGeom>
            <a:ln>
              <a:solidFill>
                <a:srgbClr val="FFFF00"/>
              </a:solidFill>
            </a:ln>
          </p:spPr>
          <p:style>
            <a:lnRef idx="2">
              <a:schemeClr val="accent6"/>
            </a:lnRef>
            <a:fillRef idx="0">
              <a:schemeClr val="accent6"/>
            </a:fillRef>
            <a:effectRef idx="1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D433AA4A-CBCA-3D61-EA1B-F136D8B1A963}"/>
                </a:ext>
              </a:extLst>
            </p:cNvPr>
            <p:cNvCxnSpPr/>
            <p:nvPr/>
          </p:nvCxnSpPr>
          <p:spPr>
            <a:xfrm flipH="1">
              <a:off x="10444240" y="3131260"/>
              <a:ext cx="1744587" cy="1744981"/>
            </a:xfrm>
            <a:prstGeom prst="line">
              <a:avLst/>
            </a:prstGeom>
            <a:ln w="28575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00A5788E-D8F1-605B-31C0-32ADC2166684}"/>
                </a:ext>
              </a:extLst>
            </p:cNvPr>
            <p:cNvCxnSpPr/>
            <p:nvPr/>
          </p:nvCxnSpPr>
          <p:spPr>
            <a:xfrm flipH="1">
              <a:off x="10918709" y="3682499"/>
              <a:ext cx="1270118" cy="1270405"/>
            </a:xfrm>
            <a:prstGeom prst="line">
              <a:avLst/>
            </a:prstGeom>
            <a:ln w="28575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8" r:id="rId1"/>
    <p:sldLayoutId id="2147483693" r:id="rId2"/>
    <p:sldLayoutId id="2147483705" r:id="rId3"/>
  </p:sldLayoutIdLst>
  <p:hf hdr="0" ftr="0" dt="0"/>
  <p:txStyles>
    <p:titleStyle>
      <a:lvl1pPr algn="l" defTabSz="457200" rtl="0" fontAlgn="base">
        <a:spcBef>
          <a:spcPct val="0"/>
        </a:spcBef>
        <a:spcAft>
          <a:spcPct val="0"/>
        </a:spcAft>
        <a:defRPr sz="3600" kern="1200" cap="all">
          <a:ln w="3175" cmpd="sng">
            <a:noFill/>
          </a:ln>
          <a:solidFill>
            <a:schemeClr val="tx1"/>
          </a:solidFill>
          <a:latin typeface="+mj-lt"/>
          <a:ea typeface="+mj-ea"/>
          <a:cs typeface="+mj-cs"/>
        </a:defRPr>
      </a:lvl1pPr>
      <a:lvl2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2pPr>
      <a:lvl3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3pPr>
      <a:lvl4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4pPr>
      <a:lvl5pPr algn="l" defTabSz="457200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>
          <a:solidFill>
            <a:srgbClr val="0F496F"/>
          </a:solidFill>
          <a:latin typeface="+mn-lt"/>
          <a:ea typeface="+mn-ea"/>
          <a:cs typeface="+mn-cs"/>
        </a:defRPr>
      </a:lvl1pPr>
      <a:lvl2pPr marL="7429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kern="1200">
          <a:solidFill>
            <a:srgbClr val="0F496F"/>
          </a:solidFill>
          <a:latin typeface="+mn-lt"/>
          <a:ea typeface="+mn-ea"/>
          <a:cs typeface="+mn-cs"/>
        </a:defRPr>
      </a:lvl2pPr>
      <a:lvl3pPr marL="1200150" indent="-2857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>
          <a:solidFill>
            <a:srgbClr val="0F496F"/>
          </a:solidFill>
          <a:latin typeface="+mn-lt"/>
          <a:ea typeface="+mn-ea"/>
          <a:cs typeface="+mn-cs"/>
        </a:defRPr>
      </a:lvl3pPr>
      <a:lvl4pPr marL="15430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4pPr>
      <a:lvl5pPr marL="2000250" indent="-171450" algn="l" defTabSz="457200" rtl="0" fontAlgn="base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>
          <a:solidFill>
            <a:srgbClr val="0F496F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E4F8FD">
                <a:alpha val="15686"/>
              </a:srgbClr>
            </a:gs>
            <a:gs pos="97000">
              <a:srgbClr val="FFFFFF">
                <a:alpha val="97480"/>
              </a:srgbClr>
            </a:gs>
            <a:gs pos="100000">
              <a:schemeClr val="tx1"/>
            </a:gs>
          </a:gsLst>
          <a:lin ang="612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Footer Placeholder 3">
            <a:extLst>
              <a:ext uri="{FF2B5EF4-FFF2-40B4-BE49-F238E27FC236}">
                <a16:creationId xmlns:a16="http://schemas.microsoft.com/office/drawing/2014/main" id="{A4012CFA-58F9-3F43-704D-7C6D4C70C9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25650" y="5972175"/>
            <a:ext cx="978376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BR" altLang="en-US" sz="2400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Maputo, Outubro de 2026</a:t>
            </a:r>
            <a:endParaRPr lang="en-US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579" name="Rectangle 1">
            <a:extLst>
              <a:ext uri="{FF2B5EF4-FFF2-40B4-BE49-F238E27FC236}">
                <a16:creationId xmlns:a16="http://schemas.microsoft.com/office/drawing/2014/main" id="{5C866598-F616-1F5F-A9F9-9B89097F18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9939" y="1179581"/>
            <a:ext cx="9029700" cy="18819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2000">
                <a:solidFill>
                  <a:srgbClr val="0F496F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>
                <a:solidFill>
                  <a:srgbClr val="0F496F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600">
                <a:solidFill>
                  <a:srgbClr val="0F496F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20000"/>
              </a:spcBef>
              <a:spcAft>
                <a:spcPts val="600"/>
              </a:spcAft>
              <a:buClr>
                <a:schemeClr val="tx1"/>
              </a:buClr>
              <a:buSzPct val="80000"/>
              <a:buFont typeface="Wingdings 3" panose="05040102010807070707" pitchFamily="18" charset="2"/>
              <a:buChar char=""/>
              <a:defRPr sz="1400">
                <a:solidFill>
                  <a:srgbClr val="0F496F"/>
                </a:solidFill>
                <a:latin typeface="Century Gothic" panose="020B050202020202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REPÚBLICA DE MOÇAMBIQUE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Cidade de Maputo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Conselho dos </a:t>
            </a:r>
            <a:r>
              <a:rPr lang="en-US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Serviços</a:t>
            </a:r>
            <a:r>
              <a:rPr lang="pt-PT" altLang="en-US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Representação do Estado 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Serviço</a:t>
            </a:r>
            <a:r>
              <a:rPr lang="pt-PT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de </a:t>
            </a:r>
            <a:r>
              <a:rPr lang="en-US" altLang="en-US" b="1" dirty="0">
                <a:solidFill>
                  <a:srgbClr val="00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Saúde</a:t>
            </a:r>
            <a:endParaRPr lang="pt-PT" altLang="en-US" b="1" dirty="0">
              <a:solidFill>
                <a:srgbClr val="00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24580" name="Picture 7" descr="C:\Users\DACUNHA\Pictures\image_preview.png">
            <a:extLst>
              <a:ext uri="{FF2B5EF4-FFF2-40B4-BE49-F238E27FC236}">
                <a16:creationId xmlns:a16="http://schemas.microsoft.com/office/drawing/2014/main" id="{FA5EF871-EDDE-BAD2-1693-91DAF3A2483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7901" y="174625"/>
            <a:ext cx="1109609" cy="7534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" name="Title 1">
            <a:extLst>
              <a:ext uri="{FF2B5EF4-FFF2-40B4-BE49-F238E27FC236}">
                <a16:creationId xmlns:a16="http://schemas.microsoft.com/office/drawing/2014/main" id="{DF74C49A-5555-F6DF-2344-48955F797FD8}"/>
              </a:ext>
            </a:extLst>
          </p:cNvPr>
          <p:cNvSpPr txBox="1"/>
          <p:nvPr/>
        </p:nvSpPr>
        <p:spPr>
          <a:xfrm>
            <a:off x="698643" y="3575878"/>
            <a:ext cx="10705672" cy="1047494"/>
          </a:xfrm>
          <a:prstGeom prst="rect">
            <a:avLst/>
          </a:prstGeom>
          <a:ln>
            <a:noFill/>
          </a:ln>
          <a:effectLst>
            <a:outerShdw blurRad="44450" dist="27940" dir="5400000" algn="ctr">
              <a:srgbClr val="000000">
                <a:alpha val="32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8700000"/>
            </a:lightRig>
          </a:scene3d>
          <a:sp3d>
            <a:bevelT w="190500" h="38100"/>
          </a:sp3d>
        </p:spPr>
        <p:style>
          <a:lnRef idx="2">
            <a:schemeClr val="dk1"/>
          </a:lnRef>
          <a:fillRef idx="1003">
            <a:schemeClr val="lt2"/>
          </a:fillRef>
          <a:effectRef idx="0">
            <a:schemeClr val="dk1"/>
          </a:effectRef>
          <a:fontRef idx="minor">
            <a:schemeClr val="dk1"/>
          </a:fontRef>
        </p:style>
        <p:txBody>
          <a:bodyPr anchor="ctr"/>
          <a:lstStyle>
            <a:lvl1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 kern="1200">
                <a:solidFill>
                  <a:srgbClr val="0D0D0D"/>
                </a:solidFill>
                <a:latin typeface="+mj-lt"/>
                <a:ea typeface="+mj-ea"/>
                <a:cs typeface="+mj-cs"/>
              </a:defRPr>
            </a:lvl1pPr>
            <a:lvl2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2pPr>
            <a:lvl3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3pPr>
            <a:lvl4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4pPr>
            <a:lvl5pPr algn="l" defTabSz="457200" rtl="0" eaLnBrk="0" fontAlgn="base" hangingPunct="0">
              <a:spcBef>
                <a:spcPct val="0"/>
              </a:spcBef>
              <a:spcAft>
                <a:spcPct val="0"/>
              </a:spcAft>
              <a:defRPr sz="3600">
                <a:solidFill>
                  <a:srgbClr val="0D0D0D"/>
                </a:solidFill>
                <a:latin typeface="Calibri Light" panose="020F0302020204030204" pitchFamily="34" charset="0"/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 eaLnBrk="1" hangingPunct="1">
              <a:defRPr/>
            </a:pPr>
            <a:r>
              <a:rPr lang="pt-BR" altLang="en-US" sz="3200" b="1" dirty="0">
                <a:ea typeface="MS PGothic" panose="020B0600070205080204" pitchFamily="34" charset="-128"/>
              </a:rPr>
              <a:t>Tema: “Problemas de Uso de álcool no trabalhador: implicações para o local de trabalho</a:t>
            </a:r>
            <a:r>
              <a:rPr lang="en-US" altLang="en-US" sz="3200" b="1" dirty="0">
                <a:ea typeface="MS PGothic" panose="020B0600070205080204" pitchFamily="34" charset="-128"/>
              </a:rPr>
              <a:t>” </a:t>
            </a:r>
            <a:endParaRPr lang="pt-BR" sz="3200" b="1" dirty="0">
              <a:solidFill>
                <a:srgbClr val="DBEFF9">
                  <a:lumMod val="25000"/>
                </a:srgbClr>
              </a:solidFill>
              <a:latin typeface="Comic Sans MS" panose="030F0702030302020204" pitchFamily="66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D7E823-D380-E273-595E-61F6F2EB7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806D8B86-B83D-4C8D-3792-B16F375CBE53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</a:t>
            </a:r>
            <a:r>
              <a:rPr lang="en-MZ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apa da apresentação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7A3970E-9389-B344-A17C-EDC562656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3</a:t>
            </a:fld>
            <a:endParaRPr lang="en-GB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3383A067-1A16-A849-89BF-C6AE0A813693}"/>
              </a:ext>
            </a:extLst>
          </p:cNvPr>
          <p:cNvCxnSpPr>
            <a:cxnSpLocks/>
          </p:cNvCxnSpPr>
          <p:nvPr/>
        </p:nvCxnSpPr>
        <p:spPr>
          <a:xfrm>
            <a:off x="1782147" y="1096682"/>
            <a:ext cx="0" cy="5527142"/>
          </a:xfrm>
          <a:prstGeom prst="line">
            <a:avLst/>
          </a:prstGeom>
          <a:ln w="174625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7C78BE71-9FC1-9C45-95E0-587150C74AF1}"/>
              </a:ext>
            </a:extLst>
          </p:cNvPr>
          <p:cNvSpPr txBox="1"/>
          <p:nvPr/>
        </p:nvSpPr>
        <p:spPr>
          <a:xfrm>
            <a:off x="2314571" y="953802"/>
            <a:ext cx="581804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Z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Epidemiologia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6DEC2C4-FB13-9F4B-BAC0-F1A7F222F71C}"/>
              </a:ext>
            </a:extLst>
          </p:cNvPr>
          <p:cNvSpPr txBox="1"/>
          <p:nvPr/>
        </p:nvSpPr>
        <p:spPr>
          <a:xfrm>
            <a:off x="2314571" y="2171700"/>
            <a:ext cx="736974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Z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Factores de Risco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3B083A6-9D31-3D4E-8399-C4749D93C55E}"/>
              </a:ext>
            </a:extLst>
          </p:cNvPr>
          <p:cNvSpPr txBox="1"/>
          <p:nvPr/>
        </p:nvSpPr>
        <p:spPr>
          <a:xfrm>
            <a:off x="2314571" y="3429000"/>
            <a:ext cx="78823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Z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Impacto sobre o trabalho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2C8DA0E-BB27-3440-AC05-B7D270A12F25}"/>
              </a:ext>
            </a:extLst>
          </p:cNvPr>
          <p:cNvSpPr txBox="1"/>
          <p:nvPr/>
        </p:nvSpPr>
        <p:spPr>
          <a:xfrm>
            <a:off x="2314570" y="4469865"/>
            <a:ext cx="863051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Z" sz="28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 que pode ser feito?</a:t>
            </a:r>
          </a:p>
        </p:txBody>
      </p:sp>
    </p:spTree>
    <p:extLst>
      <p:ext uri="{BB962C8B-B14F-4D97-AF65-F5344CB8AC3E}">
        <p14:creationId xmlns:p14="http://schemas.microsoft.com/office/powerpoint/2010/main" val="349446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37151C-0345-7F15-F974-6C44ADA0E1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AB1C7059-FD03-7587-4203-038EDFDDC552}"/>
              </a:ext>
            </a:extLst>
          </p:cNvPr>
          <p:cNvSpPr txBox="1"/>
          <p:nvPr/>
        </p:nvSpPr>
        <p:spPr>
          <a:xfrm>
            <a:off x="1117583" y="200278"/>
            <a:ext cx="1056959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Epidemiologia- prevalência de uso de substancias entre trabalhadores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5F6B58-9E13-B434-88A5-50020F4FC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4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F2DDF84-D247-DC44-950E-F618E6236E9B}"/>
              </a:ext>
            </a:extLst>
          </p:cNvPr>
          <p:cNvSpPr txBox="1"/>
          <p:nvPr/>
        </p:nvSpPr>
        <p:spPr>
          <a:xfrm>
            <a:off x="625642" y="1299411"/>
            <a:ext cx="112615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800" b="1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Mundo: </a:t>
            </a:r>
            <a:r>
              <a:rPr lang="pt-PT" sz="18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Uso nocivo de álcool resulta em 2,5 milhões de mortes anualmente e é responsável por quase 4% das mortes em todo o mundo (GAPA, 2011; OMS, 2014).</a:t>
            </a:r>
            <a:endParaRPr lang="en-MZ" dirty="0">
              <a:solidFill>
                <a:schemeClr val="bg1"/>
              </a:solidFill>
            </a:endParaRPr>
          </a:p>
          <a:p>
            <a:r>
              <a:rPr lang="en-MZ" b="1" dirty="0">
                <a:solidFill>
                  <a:schemeClr val="bg1"/>
                </a:solidFill>
              </a:rPr>
              <a:t>EUA</a:t>
            </a:r>
            <a:r>
              <a:rPr lang="en-MZ" dirty="0">
                <a:solidFill>
                  <a:schemeClr val="bg1"/>
                </a:solidFill>
              </a:rPr>
              <a:t>: Uso ilícito 14.1% de trabalhadores adultos</a:t>
            </a:r>
          </a:p>
          <a:p>
            <a:r>
              <a:rPr lang="en-MZ" dirty="0">
                <a:solidFill>
                  <a:schemeClr val="bg1"/>
                </a:solidFill>
              </a:rPr>
              <a:t>EUA: 8.7% de trabalhadores dos 18 a 64 anos uso grave de alcool; 8.6% usaram drogas ilícitas e 9.5% tinham Perturbação por uso de substâncias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n-MZ" dirty="0">
                <a:solidFill>
                  <a:schemeClr val="bg1"/>
                </a:solidFill>
              </a:rPr>
              <a:t>ltas taxas de uso pesado se álcool: mineração- 17.5%; construção- 16.5%.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n-MZ" dirty="0">
                <a:solidFill>
                  <a:schemeClr val="bg1"/>
                </a:solidFill>
              </a:rPr>
              <a:t>ltas taxas de uso ilícito de drogas: acomodação e industria alimentar- 19.1%.</a:t>
            </a:r>
          </a:p>
          <a:p>
            <a:pPr marL="285750" indent="-285750">
              <a:buFontTx/>
              <a:buChar char="-"/>
            </a:pPr>
            <a:r>
              <a:rPr lang="en-MZ" dirty="0">
                <a:solidFill>
                  <a:schemeClr val="bg1"/>
                </a:solidFill>
              </a:rPr>
              <a:t>Altas taxas de PUS: acomodação e industria alimentar- 16.9%</a:t>
            </a:r>
          </a:p>
          <a:p>
            <a:r>
              <a:rPr lang="pt-PT" sz="1800" b="1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Canada:  </a:t>
            </a:r>
            <a:r>
              <a:rPr lang="pt-PT" sz="18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custo social geral do uso de substâncias, incluindo álcool e drogas, estimado em US$ 39,8 bilhões (</a:t>
            </a:r>
            <a:r>
              <a:rPr lang="pt-PT" sz="18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Rehm</a:t>
            </a:r>
            <a:r>
              <a:rPr lang="pt-PT" sz="18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pt-PT" sz="1800" dirty="0" err="1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et</a:t>
            </a:r>
            <a:r>
              <a:rPr lang="pt-PT" sz="1800" dirty="0">
                <a:solidFill>
                  <a:schemeClr val="bg1"/>
                </a:solidFill>
                <a:effectLst/>
                <a:ea typeface="Calibri" panose="020F0502020204030204" pitchFamily="34" charset="0"/>
                <a:cs typeface="Times New Roman" panose="02020603050405020304" pitchFamily="18" charset="0"/>
              </a:rPr>
              <a:t> al, 2002)</a:t>
            </a:r>
            <a:endParaRPr lang="en-MZ" dirty="0">
              <a:solidFill>
                <a:schemeClr val="bg1"/>
              </a:solidFill>
            </a:endParaRPr>
          </a:p>
          <a:p>
            <a:r>
              <a:rPr lang="en-MZ" b="1" dirty="0">
                <a:solidFill>
                  <a:schemeClr val="bg1"/>
                </a:solidFill>
              </a:rPr>
              <a:t>Suécia: </a:t>
            </a:r>
            <a:r>
              <a:rPr lang="en-MZ" dirty="0">
                <a:solidFill>
                  <a:schemeClr val="bg1"/>
                </a:solidFill>
              </a:rPr>
              <a:t>5.6% de trabalhadores testaram positivo para uso droga ilícita em 2019.</a:t>
            </a:r>
          </a:p>
          <a:p>
            <a:r>
              <a:rPr lang="en-MZ" b="1" dirty="0">
                <a:solidFill>
                  <a:schemeClr val="bg1"/>
                </a:solidFill>
              </a:rPr>
              <a:t>Africa do Sul: </a:t>
            </a:r>
            <a:r>
              <a:rPr lang="en-MZ" dirty="0">
                <a:solidFill>
                  <a:schemeClr val="bg1"/>
                </a:solidFill>
              </a:rPr>
              <a:t>dados nacionais- 65.4% reportaram problema de uso de alcool; 34.6 reportaram uso de drogas.</a:t>
            </a:r>
          </a:p>
          <a:p>
            <a:r>
              <a:rPr lang="en-MZ" b="1" dirty="0">
                <a:solidFill>
                  <a:schemeClr val="bg1"/>
                </a:solidFill>
              </a:rPr>
              <a:t>Kenya: </a:t>
            </a:r>
            <a:r>
              <a:rPr lang="en-MZ" dirty="0">
                <a:solidFill>
                  <a:schemeClr val="bg1"/>
                </a:solidFill>
              </a:rPr>
              <a:t>%6% de funcionários públicos tinham problema com alcool, 23% usam tabaco; 16% usavam khat; 6.6% cannabis sativa e 1.3% outras drogas.</a:t>
            </a:r>
          </a:p>
          <a:p>
            <a:endParaRPr lang="en-M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97063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4DA2DE-BD14-4970-0E1D-527BD4576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04109F61-7516-D6FF-0B58-876EAC067054}"/>
              </a:ext>
            </a:extLst>
          </p:cNvPr>
          <p:cNvSpPr txBox="1"/>
          <p:nvPr/>
        </p:nvSpPr>
        <p:spPr>
          <a:xfrm>
            <a:off x="2416995" y="221163"/>
            <a:ext cx="7713594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 err="1">
                <a:solidFill>
                  <a:schemeClr val="bg1"/>
                </a:solidFill>
                <a:cs typeface="Arial" panose="020B0604020202020204" pitchFamily="34" charset="0"/>
              </a:rPr>
              <a:t>Factores</a:t>
            </a:r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 de risco para uso de substâncias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C96ED76-8F06-5B0E-0907-38C4A604F1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5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DF88202-2D0F-D447-8D81-713269850FCD}"/>
              </a:ext>
            </a:extLst>
          </p:cNvPr>
          <p:cNvSpPr txBox="1"/>
          <p:nvPr/>
        </p:nvSpPr>
        <p:spPr>
          <a:xfrm>
            <a:off x="938463" y="1564105"/>
            <a:ext cx="10748712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S</a:t>
            </a:r>
            <a:r>
              <a:rPr lang="en-MZ" dirty="0">
                <a:solidFill>
                  <a:schemeClr val="bg1"/>
                </a:solidFill>
              </a:rPr>
              <a:t>exo masculino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</a:t>
            </a:r>
            <a:r>
              <a:rPr lang="en-MZ" dirty="0">
                <a:solidFill>
                  <a:schemeClr val="bg1"/>
                </a:solidFill>
              </a:rPr>
              <a:t>olegas que usam drogas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D</a:t>
            </a:r>
            <a:r>
              <a:rPr lang="en-MZ" dirty="0">
                <a:solidFill>
                  <a:schemeClr val="bg1"/>
                </a:solidFill>
              </a:rPr>
              <a:t>isponibilidade  de substâncias no local de trabalho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I</a:t>
            </a:r>
            <a:r>
              <a:rPr lang="en-MZ" dirty="0">
                <a:solidFill>
                  <a:schemeClr val="bg1"/>
                </a:solidFill>
              </a:rPr>
              <a:t>solamento social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N</a:t>
            </a:r>
            <a:r>
              <a:rPr lang="en-MZ" dirty="0">
                <a:solidFill>
                  <a:schemeClr val="bg1"/>
                </a:solidFill>
              </a:rPr>
              <a:t>ormas permissivas em relação ao alcool e drogas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F</a:t>
            </a:r>
            <a:r>
              <a:rPr lang="en-MZ" dirty="0">
                <a:solidFill>
                  <a:schemeClr val="bg1"/>
                </a:solidFill>
              </a:rPr>
              <a:t>raca supervisão e gestão de problemas de uso de alcool e drogas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n-MZ" dirty="0">
                <a:solidFill>
                  <a:schemeClr val="bg1"/>
                </a:solidFill>
              </a:rPr>
              <a:t>lta exposição a perigos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B</a:t>
            </a:r>
            <a:r>
              <a:rPr lang="en-MZ" dirty="0">
                <a:solidFill>
                  <a:schemeClr val="bg1"/>
                </a:solidFill>
              </a:rPr>
              <a:t>aixo niveis de interação entre colegas</a:t>
            </a:r>
          </a:p>
          <a:p>
            <a:pPr marL="285750" indent="-285750">
              <a:buFontTx/>
              <a:buChar char="-"/>
            </a:pPr>
            <a:endParaRPr lang="en-M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016392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A3E60D-CA30-7621-A324-FE080EC4F0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CBB1DAB2-44BE-44E1-05E5-0CDD90CB9EBB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Porque devemos nos preocupar?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F28538C-1797-43F2-72AC-B4FE2FF73A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6</a:t>
            </a:fld>
            <a:endParaRPr lang="en-GB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B34273B6-DB60-F44B-865D-977DFB9594C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4290436"/>
              </p:ext>
            </p:extLst>
          </p:nvPr>
        </p:nvGraphicFramePr>
        <p:xfrm>
          <a:off x="361506" y="1176445"/>
          <a:ext cx="11414858" cy="677754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4141221">
                  <a:extLst>
                    <a:ext uri="{9D8B030D-6E8A-4147-A177-3AD203B41FA5}">
                      <a16:colId xmlns:a16="http://schemas.microsoft.com/office/drawing/2014/main" val="3240546177"/>
                    </a:ext>
                  </a:extLst>
                </a:gridCol>
                <a:gridCol w="7273637">
                  <a:extLst>
                    <a:ext uri="{9D8B030D-6E8A-4147-A177-3AD203B41FA5}">
                      <a16:colId xmlns:a16="http://schemas.microsoft.com/office/drawing/2014/main" val="3136606818"/>
                    </a:ext>
                  </a:extLst>
                </a:gridCol>
              </a:tblGrid>
              <a:tr h="869802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 err="1">
                          <a:effectLst/>
                        </a:rPr>
                        <a:t>Problemas</a:t>
                      </a:r>
                      <a:r>
                        <a:rPr lang="en-US" sz="2400" dirty="0">
                          <a:effectLst/>
                        </a:rPr>
                        <a:t> de </a:t>
                      </a:r>
                      <a:r>
                        <a:rPr lang="en-US" sz="2400" dirty="0" err="1">
                          <a:effectLst/>
                        </a:rPr>
                        <a:t>alcool</a:t>
                      </a:r>
                      <a:r>
                        <a:rPr lang="en-US" sz="2400" dirty="0">
                          <a:effectLst/>
                        </a:rPr>
                        <a:t> </a:t>
                      </a:r>
                      <a:r>
                        <a:rPr lang="en-US" sz="2400" dirty="0" err="1">
                          <a:effectLst/>
                        </a:rPr>
                        <a:t>levam</a:t>
                      </a:r>
                      <a:r>
                        <a:rPr lang="en-US" sz="2400" dirty="0">
                          <a:effectLst/>
                        </a:rPr>
                        <a:t> a:</a:t>
                      </a:r>
                      <a:endParaRPr lang="en-MZ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400" dirty="0" err="1">
                          <a:effectLst/>
                        </a:rPr>
                        <a:t>Resulta</a:t>
                      </a:r>
                      <a:r>
                        <a:rPr lang="en-US" sz="2400" dirty="0">
                          <a:effectLst/>
                        </a:rPr>
                        <a:t> no </a:t>
                      </a:r>
                      <a:r>
                        <a:rPr lang="en-US" sz="2400" dirty="0" err="1">
                          <a:effectLst/>
                        </a:rPr>
                        <a:t>aumento</a:t>
                      </a:r>
                      <a:r>
                        <a:rPr lang="en-US" sz="2400" dirty="0">
                          <a:effectLst/>
                        </a:rPr>
                        <a:t> dos </a:t>
                      </a:r>
                      <a:r>
                        <a:rPr lang="en-US" sz="2400" dirty="0" err="1">
                          <a:effectLst/>
                        </a:rPr>
                        <a:t>seguintes</a:t>
                      </a:r>
                      <a:r>
                        <a:rPr lang="en-US" sz="2400" dirty="0">
                          <a:effectLst/>
                        </a:rPr>
                        <a:t> custos:</a:t>
                      </a:r>
                      <a:endParaRPr lang="en-MZ" sz="24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chemeClr val="bg2">
                        <a:lumMod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70485921"/>
                  </a:ext>
                </a:extLst>
              </a:tr>
              <a:tr h="34174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Problemas de saúde</a:t>
                      </a:r>
                      <a:endParaRPr lang="en-MZ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</a:rPr>
                        <a:t>Seguros médicos, uso de juntas de saúde</a:t>
                      </a:r>
                      <a:endParaRPr lang="en-MZ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48399323"/>
                  </a:ext>
                </a:extLst>
              </a:tr>
              <a:tr h="34174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Acidentes de trabalho e ferimentos</a:t>
                      </a:r>
                      <a:endParaRPr lang="en-MZ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</a:rPr>
                        <a:t>Doenças e lesões, compensações</a:t>
                      </a:r>
                      <a:endParaRPr lang="en-MZ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90858072"/>
                  </a:ext>
                </a:extLst>
              </a:tr>
              <a:tr h="7250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 err="1">
                          <a:effectLst/>
                        </a:rPr>
                        <a:t>Efeitos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negativos</a:t>
                      </a:r>
                      <a:r>
                        <a:rPr lang="en-US" sz="1600" dirty="0">
                          <a:effectLst/>
                        </a:rPr>
                        <a:t> no </a:t>
                      </a:r>
                      <a:r>
                        <a:rPr lang="en-US" sz="1600" dirty="0" err="1">
                          <a:effectLst/>
                        </a:rPr>
                        <a:t>relacionamento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interpessoal</a:t>
                      </a:r>
                      <a:r>
                        <a:rPr lang="en-US" sz="1600" dirty="0">
                          <a:effectLst/>
                        </a:rPr>
                        <a:t> e moral dos </a:t>
                      </a:r>
                      <a:r>
                        <a:rPr lang="en-US" sz="1600" dirty="0" err="1">
                          <a:effectLst/>
                        </a:rPr>
                        <a:t>trabalhadores</a:t>
                      </a:r>
                      <a:endParaRPr lang="en-MZ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</a:rPr>
                        <a:t>Impacto na moral e performamce, produtividade e qualidade</a:t>
                      </a:r>
                      <a:endParaRPr lang="en-MZ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4013814"/>
                  </a:ext>
                </a:extLst>
              </a:tr>
              <a:tr h="34174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Absentismo e Presenteismo</a:t>
                      </a:r>
                      <a:endParaRPr lang="en-MZ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</a:rPr>
                        <a:t>Perda de tempo, produtividade e rendimento</a:t>
                      </a:r>
                      <a:endParaRPr lang="en-MZ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79570339"/>
                  </a:ext>
                </a:extLst>
              </a:tr>
              <a:tr h="1108279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 err="1">
                          <a:effectLst/>
                        </a:rPr>
                        <a:t>Alteração</a:t>
                      </a:r>
                      <a:r>
                        <a:rPr lang="en-US" sz="1600" dirty="0">
                          <a:effectLst/>
                        </a:rPr>
                        <a:t> da performance</a:t>
                      </a:r>
                      <a:endParaRPr lang="en-MZ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 err="1">
                          <a:effectLst/>
                        </a:rPr>
                        <a:t>Redução</a:t>
                      </a:r>
                      <a:r>
                        <a:rPr lang="en-US" sz="2000" dirty="0">
                          <a:effectLst/>
                        </a:rPr>
                        <a:t> da </a:t>
                      </a:r>
                      <a:r>
                        <a:rPr lang="en-US" sz="2000" dirty="0" err="1">
                          <a:effectLst/>
                        </a:rPr>
                        <a:t>produtividade</a:t>
                      </a:r>
                      <a:r>
                        <a:rPr lang="en-US" sz="2000" dirty="0">
                          <a:effectLst/>
                        </a:rPr>
                        <a:t> e </a:t>
                      </a:r>
                      <a:r>
                        <a:rPr lang="en-US" sz="2000" dirty="0" err="1">
                          <a:effectLst/>
                        </a:rPr>
                        <a:t>qualidade</a:t>
                      </a:r>
                      <a:r>
                        <a:rPr lang="en-US" sz="2000" dirty="0">
                          <a:effectLst/>
                        </a:rPr>
                        <a:t> de </a:t>
                      </a:r>
                      <a:r>
                        <a:rPr lang="en-US" sz="2000" dirty="0" err="1">
                          <a:effectLst/>
                        </a:rPr>
                        <a:t>serviços</a:t>
                      </a:r>
                      <a:r>
                        <a:rPr lang="en-US" sz="2000" dirty="0">
                          <a:effectLst/>
                        </a:rPr>
                        <a:t>, </a:t>
                      </a:r>
                      <a:r>
                        <a:rPr lang="en-US" sz="2000" dirty="0" err="1">
                          <a:effectLst/>
                        </a:rPr>
                        <a:t>redução</a:t>
                      </a:r>
                      <a:r>
                        <a:rPr lang="en-US" sz="2000" dirty="0">
                          <a:effectLst/>
                        </a:rPr>
                        <a:t> da </a:t>
                      </a:r>
                      <a:r>
                        <a:rPr lang="en-US" sz="2000" dirty="0" err="1">
                          <a:effectLst/>
                        </a:rPr>
                        <a:t>reputação</a:t>
                      </a:r>
                      <a:r>
                        <a:rPr lang="en-US" sz="2000" dirty="0">
                          <a:effectLst/>
                        </a:rPr>
                        <a:t> da </a:t>
                      </a:r>
                      <a:r>
                        <a:rPr lang="en-US" sz="2000" dirty="0" err="1">
                          <a:effectLst/>
                        </a:rPr>
                        <a:t>companhia</a:t>
                      </a:r>
                      <a:r>
                        <a:rPr lang="en-US" sz="2000" dirty="0">
                          <a:effectLst/>
                        </a:rPr>
                        <a:t> e </a:t>
                      </a:r>
                      <a:r>
                        <a:rPr lang="en-US" sz="2000" dirty="0" err="1">
                          <a:effectLst/>
                        </a:rPr>
                        <a:t>competitividade</a:t>
                      </a:r>
                      <a:endParaRPr lang="en-MZ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45122"/>
                  </a:ext>
                </a:extLst>
              </a:tr>
              <a:tr h="725013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 dirty="0" err="1">
                          <a:effectLst/>
                        </a:rPr>
                        <a:t>Comportamentos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inapropriados</a:t>
                      </a:r>
                      <a:endParaRPr lang="en-MZ" sz="16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 err="1">
                          <a:effectLst/>
                        </a:rPr>
                        <a:t>Impacto</a:t>
                      </a:r>
                      <a:r>
                        <a:rPr lang="en-US" sz="2000" dirty="0">
                          <a:effectLst/>
                        </a:rPr>
                        <a:t> no tempo de </a:t>
                      </a:r>
                      <a:r>
                        <a:rPr lang="en-US" sz="2000" dirty="0" err="1">
                          <a:effectLst/>
                        </a:rPr>
                        <a:t>gestão</a:t>
                      </a:r>
                      <a:r>
                        <a:rPr lang="en-US" sz="2000" dirty="0">
                          <a:effectLst/>
                        </a:rPr>
                        <a:t>, </a:t>
                      </a:r>
                      <a:r>
                        <a:rPr lang="en-US" sz="2000" dirty="0" err="1">
                          <a:effectLst/>
                        </a:rPr>
                        <a:t>custo</a:t>
                      </a:r>
                      <a:r>
                        <a:rPr lang="en-US" sz="2000" dirty="0">
                          <a:effectLst/>
                        </a:rPr>
                        <a:t> de </a:t>
                      </a:r>
                      <a:r>
                        <a:rPr lang="en-US" sz="2000" dirty="0" err="1">
                          <a:effectLst/>
                        </a:rPr>
                        <a:t>processos</a:t>
                      </a:r>
                      <a:r>
                        <a:rPr lang="en-US" sz="2000" dirty="0">
                          <a:effectLst/>
                        </a:rPr>
                        <a:t> </a:t>
                      </a:r>
                      <a:r>
                        <a:rPr lang="en-US" sz="2000" dirty="0" err="1">
                          <a:effectLst/>
                        </a:rPr>
                        <a:t>disciplinares</a:t>
                      </a:r>
                      <a:r>
                        <a:rPr lang="en-US" sz="2000" dirty="0">
                          <a:effectLst/>
                        </a:rPr>
                        <a:t>, </a:t>
                      </a:r>
                      <a:r>
                        <a:rPr lang="en-US" sz="2000" dirty="0" err="1">
                          <a:effectLst/>
                        </a:rPr>
                        <a:t>impacto</a:t>
                      </a:r>
                      <a:r>
                        <a:rPr lang="en-US" sz="2000" dirty="0">
                          <a:effectLst/>
                        </a:rPr>
                        <a:t> moral</a:t>
                      </a:r>
                      <a:endParaRPr lang="en-MZ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32628589"/>
                  </a:ext>
                </a:extLst>
              </a:tr>
              <a:tr h="886464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Perda de trabalho, mudança de trabalhadores e custos com recrutamento</a:t>
                      </a:r>
                      <a:endParaRPr lang="en-MZ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>
                          <a:effectLst/>
                        </a:rPr>
                        <a:t>Custos de recrutamento e treino, perda da memœria instituicional</a:t>
                      </a:r>
                      <a:endParaRPr lang="en-MZ" sz="20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6809122"/>
                  </a:ext>
                </a:extLst>
              </a:tr>
              <a:tr h="341746">
                <a:tc>
                  <a:txBody>
                    <a:bodyPr/>
                    <a:lstStyle/>
                    <a:p>
                      <a:pPr algn="just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1600">
                          <a:effectLst/>
                        </a:rPr>
                        <a:t>Roubos e outros crimes</a:t>
                      </a:r>
                      <a:endParaRPr lang="en-MZ" sz="160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spcAft>
                          <a:spcPts val="1000"/>
                        </a:spcAft>
                      </a:pPr>
                      <a:r>
                        <a:rPr lang="en-US" sz="2000" dirty="0" err="1">
                          <a:effectLst/>
                        </a:rPr>
                        <a:t>Destruição</a:t>
                      </a:r>
                      <a:r>
                        <a:rPr lang="en-US" sz="2000" dirty="0">
                          <a:effectLst/>
                        </a:rPr>
                        <a:t> de </a:t>
                      </a:r>
                      <a:r>
                        <a:rPr lang="en-US" sz="2000" dirty="0" err="1">
                          <a:effectLst/>
                        </a:rPr>
                        <a:t>propriedade</a:t>
                      </a:r>
                      <a:r>
                        <a:rPr lang="en-US" sz="2000" dirty="0">
                          <a:effectLst/>
                        </a:rPr>
                        <a:t>, </a:t>
                      </a:r>
                      <a:r>
                        <a:rPr lang="en-US" sz="2000" dirty="0" err="1">
                          <a:effectLst/>
                        </a:rPr>
                        <a:t>perda</a:t>
                      </a:r>
                      <a:r>
                        <a:rPr lang="en-US" sz="2000" dirty="0">
                          <a:effectLst/>
                        </a:rPr>
                        <a:t> de </a:t>
                      </a:r>
                      <a:r>
                        <a:rPr lang="en-US" sz="2000" dirty="0" err="1">
                          <a:effectLst/>
                        </a:rPr>
                        <a:t>património</a:t>
                      </a:r>
                      <a:endParaRPr lang="en-MZ" sz="2000" dirty="0">
                        <a:effectLst/>
                        <a:latin typeface="Calibri" panose="020F0502020204030204" pitchFamily="34" charset="0"/>
                        <a:ea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958924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63854959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D6C364-33E8-0DBE-B881-CE18B2A93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1E5213-67D7-62F9-547B-DF0C7F4D6C54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Porque devemos nos preocupar?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1CF0B2-5F72-A708-23DB-3EF09064C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7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6724980-AC04-F041-8A26-23AD4B112C40}"/>
              </a:ext>
            </a:extLst>
          </p:cNvPr>
          <p:cNvSpPr txBox="1"/>
          <p:nvPr/>
        </p:nvSpPr>
        <p:spPr>
          <a:xfrm>
            <a:off x="818147" y="1395663"/>
            <a:ext cx="10684042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Z" dirty="0">
                <a:solidFill>
                  <a:schemeClr val="bg1"/>
                </a:solidFill>
              </a:rPr>
              <a:t>Impacto do uso de álcool e drogas na saúde: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F</a:t>
            </a:r>
            <a:r>
              <a:rPr lang="en-MZ" dirty="0">
                <a:solidFill>
                  <a:schemeClr val="bg1"/>
                </a:solidFill>
              </a:rPr>
              <a:t>actor de risco para doenças cardiovasculares, digestivas, cancros, traumas e acidentes rodoviários 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n-MZ" dirty="0">
                <a:solidFill>
                  <a:schemeClr val="bg1"/>
                </a:solidFill>
              </a:rPr>
              <a:t>umento de pensamentos suicidários, psicoses, ansiedade, depressão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A</a:t>
            </a:r>
            <a:r>
              <a:rPr lang="en-MZ" dirty="0">
                <a:solidFill>
                  <a:schemeClr val="bg1"/>
                </a:solidFill>
              </a:rPr>
              <a:t>umento de risco de violencia interpessoal, disfunção social;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C</a:t>
            </a:r>
            <a:r>
              <a:rPr lang="en-MZ" dirty="0">
                <a:solidFill>
                  <a:schemeClr val="bg1"/>
                </a:solidFill>
              </a:rPr>
              <a:t>ustos para a sociedade na produtividade (presenteísmo, absentísmo) e custos para a saúde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</a:t>
            </a:r>
            <a:r>
              <a:rPr lang="en-MZ" dirty="0">
                <a:solidFill>
                  <a:schemeClr val="bg1"/>
                </a:solidFill>
              </a:rPr>
              <a:t>m 2020 problemas de uso de álcool custaram 3 biliões de KES.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MZ" dirty="0">
                <a:solidFill>
                  <a:schemeClr val="bg1"/>
                </a:solidFill>
              </a:rPr>
              <a:t>rabalhadores são recurso valioso das organizações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R</a:t>
            </a:r>
            <a:r>
              <a:rPr lang="en-MZ" dirty="0">
                <a:solidFill>
                  <a:schemeClr val="bg1"/>
                </a:solidFill>
              </a:rPr>
              <a:t>iscos de segurança: erros, acidentes e ferimentos.</a:t>
            </a:r>
          </a:p>
        </p:txBody>
      </p:sp>
    </p:spTree>
    <p:extLst>
      <p:ext uri="{BB962C8B-B14F-4D97-AF65-F5344CB8AC3E}">
        <p14:creationId xmlns:p14="http://schemas.microsoft.com/office/powerpoint/2010/main" val="358296799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43D7FD-2C80-3C1B-425F-BA20B5301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77354D0C-5457-C632-DE00-A712CE83E86E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Barreiras de acesso ao tratamento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8455A9D-0727-9EEE-8E54-B1849F0FB8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8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8B26268-C2EA-6547-BFE3-BE06DA160DA1}"/>
              </a:ext>
            </a:extLst>
          </p:cNvPr>
          <p:cNvSpPr txBox="1"/>
          <p:nvPr/>
        </p:nvSpPr>
        <p:spPr>
          <a:xfrm>
            <a:off x="818147" y="1515979"/>
            <a:ext cx="11069053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MZ" dirty="0">
                <a:solidFill>
                  <a:schemeClr val="bg1"/>
                </a:solidFill>
              </a:rPr>
              <a:t>Escassez de serviços de tratamento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E</a:t>
            </a:r>
            <a:r>
              <a:rPr lang="en-MZ" dirty="0">
                <a:solidFill>
                  <a:schemeClr val="bg1"/>
                </a:solidFill>
              </a:rPr>
              <a:t>stigma e discriminação</a:t>
            </a:r>
          </a:p>
          <a:p>
            <a:pPr marL="285750" indent="-285750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F</a:t>
            </a:r>
            <a:r>
              <a:rPr lang="en-MZ" dirty="0">
                <a:solidFill>
                  <a:schemeClr val="bg1"/>
                </a:solidFill>
              </a:rPr>
              <a:t>alta de mecanismos de suporte dos trabalhadores com problemas de uso de álcool e drogas</a:t>
            </a:r>
          </a:p>
          <a:p>
            <a:pPr marL="285750" indent="-285750">
              <a:buFontTx/>
              <a:buChar char="-"/>
            </a:pPr>
            <a:endParaRPr lang="en-MZ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MZ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MZ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MZ" dirty="0">
              <a:solidFill>
                <a:schemeClr val="bg1"/>
              </a:solidFill>
            </a:endParaRPr>
          </a:p>
          <a:p>
            <a:pPr marL="285750" indent="-285750">
              <a:buFontTx/>
              <a:buChar char="-"/>
            </a:pPr>
            <a:endParaRPr lang="en-MZ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835037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DCB32-7B67-C829-2FFC-548D4B30A9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E5259F-4583-3753-18AE-3ED376E2130C}"/>
              </a:ext>
            </a:extLst>
          </p:cNvPr>
          <p:cNvSpPr txBox="1"/>
          <p:nvPr/>
        </p:nvSpPr>
        <p:spPr>
          <a:xfrm>
            <a:off x="1082843" y="0"/>
            <a:ext cx="11109157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O que pode ser feito para gestão de problemas de álcool e drogas no local de trabalho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8409460-626D-3C44-B40F-F7CB58050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9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D94D17-8148-C542-BFF8-202205644ECA}"/>
              </a:ext>
            </a:extLst>
          </p:cNvPr>
          <p:cNvSpPr txBox="1"/>
          <p:nvPr/>
        </p:nvSpPr>
        <p:spPr>
          <a:xfrm>
            <a:off x="601579" y="1395663"/>
            <a:ext cx="1108559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Z" b="1" dirty="0">
                <a:solidFill>
                  <a:schemeClr val="bg1"/>
                </a:solidFill>
              </a:rPr>
              <a:t>Programas de Assistência ao Trabalhado (PAT)</a:t>
            </a:r>
          </a:p>
          <a:p>
            <a:pPr marL="285750" indent="-285750" algn="just">
              <a:buFontTx/>
              <a:buChar char="-"/>
            </a:pPr>
            <a:r>
              <a:rPr lang="en-MZ" dirty="0">
                <a:solidFill>
                  <a:schemeClr val="bg1"/>
                </a:solidFill>
              </a:rPr>
              <a:t>Programas que suportam os trabalhadores com programas psicossociais que afectam a performanceno trabalho</a:t>
            </a:r>
          </a:p>
          <a:p>
            <a:pPr marL="285750" indent="-285750" algn="just">
              <a:buFontTx/>
              <a:buChar char="-"/>
            </a:pPr>
            <a:r>
              <a:rPr lang="en-US" dirty="0">
                <a:solidFill>
                  <a:schemeClr val="bg1"/>
                </a:solidFill>
              </a:rPr>
              <a:t>F</a:t>
            </a:r>
            <a:r>
              <a:rPr lang="en-MZ" dirty="0">
                <a:solidFill>
                  <a:schemeClr val="bg1"/>
                </a:solidFill>
              </a:rPr>
              <a:t>unção: suporte ao bem estar do trabalahdor, aumento da produtividade; gestão do risco</a:t>
            </a:r>
          </a:p>
          <a:p>
            <a:pPr marL="285750" indent="-285750" algn="just">
              <a:buFontTx/>
              <a:buChar char="-"/>
            </a:pPr>
            <a:r>
              <a:rPr lang="en-MZ" dirty="0">
                <a:solidFill>
                  <a:schemeClr val="bg1"/>
                </a:solidFill>
              </a:rPr>
              <a:t>ILO desenvolveu guidelines para gestão de problemas de uso de álcool e drogas no trabalho</a:t>
            </a:r>
          </a:p>
          <a:p>
            <a:pPr algn="just"/>
            <a:endParaRPr lang="en-MZ" dirty="0">
              <a:solidFill>
                <a:schemeClr val="bg1"/>
              </a:solidFill>
            </a:endParaRPr>
          </a:p>
          <a:p>
            <a:pPr algn="just"/>
            <a:r>
              <a:rPr lang="en-US" dirty="0">
                <a:solidFill>
                  <a:schemeClr val="bg1"/>
                </a:solidFill>
              </a:rPr>
              <a:t>R</a:t>
            </a:r>
            <a:r>
              <a:rPr lang="en-MZ" dirty="0">
                <a:solidFill>
                  <a:schemeClr val="bg1"/>
                </a:solidFill>
              </a:rPr>
              <a:t>ecursos necessários para implementaçã dos PAT</a:t>
            </a:r>
          </a:p>
          <a:p>
            <a:pPr algn="just"/>
            <a:r>
              <a:rPr lang="en-MZ" dirty="0">
                <a:solidFill>
                  <a:schemeClr val="bg1"/>
                </a:solidFill>
              </a:rPr>
              <a:t>- </a:t>
            </a:r>
            <a:r>
              <a:rPr lang="en-MZ" b="1" dirty="0">
                <a:solidFill>
                  <a:schemeClr val="bg1"/>
                </a:solidFill>
              </a:rPr>
              <a:t>Comité de PAT</a:t>
            </a:r>
          </a:p>
          <a:p>
            <a:pPr algn="just"/>
            <a:r>
              <a:rPr lang="en-MZ" b="1" dirty="0">
                <a:solidFill>
                  <a:schemeClr val="bg1"/>
                </a:solidFill>
              </a:rPr>
              <a:t>- Política de PAT</a:t>
            </a:r>
          </a:p>
          <a:p>
            <a:pPr marL="285750" indent="-285750" algn="just">
              <a:buFontTx/>
              <a:buChar char="-"/>
            </a:pPr>
            <a:r>
              <a:rPr lang="en-MZ" b="1" dirty="0">
                <a:solidFill>
                  <a:schemeClr val="bg1"/>
                </a:solidFill>
              </a:rPr>
              <a:t>Programa/ intervenções PAT</a:t>
            </a:r>
          </a:p>
          <a:p>
            <a:pPr marL="285750" indent="-285750" algn="just">
              <a:buFontTx/>
              <a:buChar char="-"/>
            </a:pPr>
            <a:r>
              <a:rPr lang="en-MZ" b="1" dirty="0">
                <a:solidFill>
                  <a:schemeClr val="bg1"/>
                </a:solidFill>
              </a:rPr>
              <a:t>Plano An</a:t>
            </a:r>
            <a:r>
              <a:rPr lang="en-US" b="1" dirty="0">
                <a:solidFill>
                  <a:schemeClr val="bg1"/>
                </a:solidFill>
              </a:rPr>
              <a:t>n</a:t>
            </a:r>
            <a:r>
              <a:rPr lang="en-MZ" b="1" dirty="0">
                <a:solidFill>
                  <a:schemeClr val="bg1"/>
                </a:solidFill>
              </a:rPr>
              <a:t>ual e orçamento</a:t>
            </a:r>
          </a:p>
        </p:txBody>
      </p:sp>
    </p:spTree>
    <p:extLst>
      <p:ext uri="{BB962C8B-B14F-4D97-AF65-F5344CB8AC3E}">
        <p14:creationId xmlns:p14="http://schemas.microsoft.com/office/powerpoint/2010/main" val="108905214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202F7C-DDBD-8142-D0E3-EF3726F605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6E17143-E239-9868-2895-B935497C8A81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Comitê PAT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8AC0EA7-09F8-32D9-95C4-554524DCDE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10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306FE8-814B-A64F-BCA7-534192DDA683}"/>
              </a:ext>
            </a:extLst>
          </p:cNvPr>
          <p:cNvSpPr txBox="1"/>
          <p:nvPr/>
        </p:nvSpPr>
        <p:spPr>
          <a:xfrm>
            <a:off x="818147" y="1515979"/>
            <a:ext cx="1032309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Z" dirty="0">
                <a:solidFill>
                  <a:schemeClr val="bg1"/>
                </a:solidFill>
              </a:rPr>
              <a:t>Planificação, coordenação  das actividades do PAT</a:t>
            </a:r>
          </a:p>
          <a:p>
            <a:r>
              <a:rPr lang="en-US" dirty="0">
                <a:solidFill>
                  <a:schemeClr val="bg1"/>
                </a:solidFill>
              </a:rPr>
              <a:t>E</a:t>
            </a:r>
            <a:r>
              <a:rPr lang="en-MZ" dirty="0">
                <a:solidFill>
                  <a:schemeClr val="bg1"/>
                </a:solidFill>
              </a:rPr>
              <a:t>stabelece os serviços em colaboração com a Direcção; ATENÇÃO AS POLÍTICAS DA ORGANIZAÇÃO</a:t>
            </a:r>
          </a:p>
          <a:p>
            <a:r>
              <a:rPr lang="en-US" dirty="0">
                <a:solidFill>
                  <a:schemeClr val="bg1"/>
                </a:solidFill>
              </a:rPr>
              <a:t>P</a:t>
            </a:r>
            <a:r>
              <a:rPr lang="en-MZ" dirty="0">
                <a:solidFill>
                  <a:schemeClr val="bg1"/>
                </a:solidFill>
              </a:rPr>
              <a:t>apel de advocacia</a:t>
            </a:r>
          </a:p>
          <a:p>
            <a:endParaRPr lang="en-MZ" dirty="0">
              <a:solidFill>
                <a:schemeClr val="bg1"/>
              </a:solidFill>
            </a:endParaRPr>
          </a:p>
          <a:p>
            <a:r>
              <a:rPr lang="en-MZ" dirty="0">
                <a:solidFill>
                  <a:schemeClr val="bg1"/>
                </a:solidFill>
              </a:rPr>
              <a:t>Membros: Saúde mental, RH, Segurança, Sindicatos/ Associações, trabalhadores em recuperação</a:t>
            </a:r>
          </a:p>
        </p:txBody>
      </p:sp>
    </p:spTree>
    <p:extLst>
      <p:ext uri="{BB962C8B-B14F-4D97-AF65-F5344CB8AC3E}">
        <p14:creationId xmlns:p14="http://schemas.microsoft.com/office/powerpoint/2010/main" val="3805247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4A7A21-613B-8D72-820D-6AAFF58D4A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4C19C47-3607-7A8C-10D7-9B498303F99D}"/>
              </a:ext>
            </a:extLst>
          </p:cNvPr>
          <p:cNvSpPr txBox="1"/>
          <p:nvPr/>
        </p:nvSpPr>
        <p:spPr>
          <a:xfrm>
            <a:off x="2416995" y="221163"/>
            <a:ext cx="616963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sz="2800" b="1" dirty="0">
                <a:solidFill>
                  <a:schemeClr val="bg1"/>
                </a:solidFill>
                <a:cs typeface="Arial" panose="020B0604020202020204" pitchFamily="34" charset="0"/>
              </a:rPr>
              <a:t>Política PAT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449C5E6-BBA5-2160-534F-681DDD6D13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11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1DB38EB-2C9E-8E44-ABE2-E6B4AF4A3D1A}"/>
              </a:ext>
            </a:extLst>
          </p:cNvPr>
          <p:cNvSpPr txBox="1"/>
          <p:nvPr/>
        </p:nvSpPr>
        <p:spPr>
          <a:xfrm>
            <a:off x="577516" y="1371600"/>
            <a:ext cx="1110965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Z" dirty="0">
                <a:solidFill>
                  <a:schemeClr val="bg1"/>
                </a:solidFill>
              </a:rPr>
              <a:t>Proibição do uso no local de trabalho</a:t>
            </a:r>
          </a:p>
          <a:p>
            <a:r>
              <a:rPr lang="en-MZ" dirty="0">
                <a:solidFill>
                  <a:schemeClr val="bg1"/>
                </a:solidFill>
              </a:rPr>
              <a:t>Programas de prevenção e tratamento implementados</a:t>
            </a:r>
          </a:p>
          <a:p>
            <a:r>
              <a:rPr lang="en-US" dirty="0">
                <a:solidFill>
                  <a:schemeClr val="bg1"/>
                </a:solidFill>
              </a:rPr>
              <a:t>T</a:t>
            </a:r>
            <a:r>
              <a:rPr lang="en-MZ" dirty="0">
                <a:solidFill>
                  <a:schemeClr val="bg1"/>
                </a:solidFill>
              </a:rPr>
              <a:t>ratamento da intoxicação/ testagem de drogas</a:t>
            </a:r>
          </a:p>
          <a:p>
            <a:r>
              <a:rPr lang="en-MZ" dirty="0">
                <a:solidFill>
                  <a:schemeClr val="bg1"/>
                </a:solidFill>
              </a:rPr>
              <a:t>RH: Promoção de segurança no trabalho, acçoes disciplinares, retorno ao trabalho</a:t>
            </a:r>
          </a:p>
          <a:p>
            <a:r>
              <a:rPr lang="en-US" dirty="0">
                <a:solidFill>
                  <a:schemeClr val="bg1"/>
                </a:solidFill>
              </a:rPr>
              <a:t>R</a:t>
            </a:r>
            <a:r>
              <a:rPr lang="en-MZ" dirty="0">
                <a:solidFill>
                  <a:schemeClr val="bg1"/>
                </a:solidFill>
              </a:rPr>
              <a:t>esponsabilidades e papeis dos trabalhadores</a:t>
            </a:r>
          </a:p>
        </p:txBody>
      </p:sp>
    </p:spTree>
    <p:extLst>
      <p:ext uri="{BB962C8B-B14F-4D97-AF65-F5344CB8AC3E}">
        <p14:creationId xmlns:p14="http://schemas.microsoft.com/office/powerpoint/2010/main" val="5477523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45D9AF-A281-CFDB-38F2-005F82EACA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DAE5B842-12F7-C430-A018-F7A51C8B9042}"/>
              </a:ext>
            </a:extLst>
          </p:cNvPr>
          <p:cNvSpPr txBox="1"/>
          <p:nvPr/>
        </p:nvSpPr>
        <p:spPr>
          <a:xfrm>
            <a:off x="2416995" y="221163"/>
            <a:ext cx="783391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 defTabSz="914400"/>
            <a:r>
              <a:rPr lang="pt-PT" altLang="en-US" sz="2800" b="1" dirty="0">
                <a:solidFill>
                  <a:schemeClr val="bg1"/>
                </a:solidFill>
                <a:cs typeface="Arial" panose="020B0604020202020204" pitchFamily="34" charset="0"/>
              </a:rPr>
              <a:t>Tipos de TAP podem ser implementados</a:t>
            </a:r>
            <a:endParaRPr lang="pt-BR" sz="2800" b="1" dirty="0">
              <a:solidFill>
                <a:schemeClr val="bg1"/>
              </a:solidFill>
              <a:cs typeface="Arial" panose="020B0604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A4FB73E5-0A5C-56B1-CCF7-7C26A40E1B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1CCD2FF3-AA39-4331-B30B-9B4C25DA0A98}" type="slidenum">
              <a:rPr lang="en-GB" smtClean="0"/>
              <a:pPr>
                <a:defRPr/>
              </a:pPr>
              <a:t>12</a:t>
            </a:fld>
            <a:endParaRPr lang="en-GB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03D230-FE1F-BB49-BCC5-9B68875744D8}"/>
              </a:ext>
            </a:extLst>
          </p:cNvPr>
          <p:cNvSpPr txBox="1"/>
          <p:nvPr/>
        </p:nvSpPr>
        <p:spPr>
          <a:xfrm>
            <a:off x="505326" y="1275347"/>
            <a:ext cx="11181849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Z" dirty="0">
                <a:solidFill>
                  <a:schemeClr val="bg1"/>
                </a:solidFill>
              </a:rPr>
              <a:t>- Educação regular para o staff sobre drogas </a:t>
            </a:r>
          </a:p>
          <a:p>
            <a:r>
              <a:rPr lang="en-MZ" dirty="0">
                <a:solidFill>
                  <a:schemeClr val="bg1"/>
                </a:solidFill>
              </a:rPr>
              <a:t>-  Educação em estratégias de promoção de saúde mental e bem-estar  e gestão de stress</a:t>
            </a:r>
          </a:p>
          <a:p>
            <a:r>
              <a:rPr lang="en-US" dirty="0">
                <a:solidFill>
                  <a:schemeClr val="bg1"/>
                </a:solidFill>
              </a:rPr>
              <a:t>- E</a:t>
            </a:r>
            <a:r>
              <a:rPr lang="en-MZ" dirty="0">
                <a:solidFill>
                  <a:schemeClr val="bg1"/>
                </a:solidFill>
              </a:rPr>
              <a:t>ducação em outras áreas: finanças, gestão de conflitos</a:t>
            </a:r>
          </a:p>
          <a:p>
            <a:r>
              <a:rPr lang="en-US" dirty="0">
                <a:solidFill>
                  <a:schemeClr val="bg1"/>
                </a:solidFill>
              </a:rPr>
              <a:t>- I</a:t>
            </a:r>
            <a:r>
              <a:rPr lang="en-MZ" dirty="0">
                <a:solidFill>
                  <a:schemeClr val="bg1"/>
                </a:solidFill>
              </a:rPr>
              <a:t>dentificação precoce, avaliação e referenciação para tratamento </a:t>
            </a:r>
          </a:p>
          <a:p>
            <a:r>
              <a:rPr lang="en-US" dirty="0">
                <a:solidFill>
                  <a:schemeClr val="bg1"/>
                </a:solidFill>
              </a:rPr>
              <a:t>- T</a:t>
            </a:r>
            <a:r>
              <a:rPr lang="en-MZ" dirty="0">
                <a:solidFill>
                  <a:schemeClr val="bg1"/>
                </a:solidFill>
              </a:rPr>
              <a:t>estagem de drogas e alcool</a:t>
            </a:r>
          </a:p>
          <a:p>
            <a:r>
              <a:rPr lang="en-US" dirty="0">
                <a:solidFill>
                  <a:schemeClr val="bg1"/>
                </a:solidFill>
              </a:rPr>
              <a:t>- S</a:t>
            </a:r>
            <a:r>
              <a:rPr lang="en-MZ" dirty="0">
                <a:solidFill>
                  <a:schemeClr val="bg1"/>
                </a:solidFill>
              </a:rPr>
              <a:t>uporte ao trabalhador: redefinação de tarefas, </a:t>
            </a:r>
          </a:p>
          <a:p>
            <a:r>
              <a:rPr lang="en-US" dirty="0">
                <a:solidFill>
                  <a:schemeClr val="bg1"/>
                </a:solidFill>
              </a:rPr>
              <a:t>- P</a:t>
            </a:r>
            <a:r>
              <a:rPr lang="en-MZ" dirty="0">
                <a:solidFill>
                  <a:schemeClr val="bg1"/>
                </a:solidFill>
              </a:rPr>
              <a:t>sicoterapia: individual, familiar ou em grupo</a:t>
            </a:r>
          </a:p>
          <a:p>
            <a:r>
              <a:rPr lang="en-US" dirty="0">
                <a:solidFill>
                  <a:schemeClr val="bg1"/>
                </a:solidFill>
              </a:rPr>
              <a:t>- T</a:t>
            </a:r>
            <a:r>
              <a:rPr lang="en-MZ" dirty="0">
                <a:solidFill>
                  <a:schemeClr val="bg1"/>
                </a:solidFill>
              </a:rPr>
              <a:t>ratamento psiquiátricos</a:t>
            </a:r>
          </a:p>
        </p:txBody>
      </p:sp>
    </p:spTree>
    <p:extLst>
      <p:ext uri="{BB962C8B-B14F-4D97-AF65-F5344CB8AC3E}">
        <p14:creationId xmlns:p14="http://schemas.microsoft.com/office/powerpoint/2010/main" val="18329604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aixaDeTexto 3">
            <a:extLst>
              <a:ext uri="{FF2B5EF4-FFF2-40B4-BE49-F238E27FC236}">
                <a16:creationId xmlns:a16="http://schemas.microsoft.com/office/drawing/2014/main" id="{ED9512A6-4B03-4E2D-B89A-2C313E59E00C}"/>
              </a:ext>
            </a:extLst>
          </p:cNvPr>
          <p:cNvSpPr txBox="1"/>
          <p:nvPr/>
        </p:nvSpPr>
        <p:spPr>
          <a:xfrm>
            <a:off x="2481463" y="6062022"/>
            <a:ext cx="6400800" cy="51659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“O Nosso Maior Valor É A Vida!”</a:t>
            </a:r>
            <a:endParaRPr lang="en-US" dirty="0">
              <a:cs typeface="Calibri" panose="020F0502020204030204"/>
            </a:endParaRP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sz="2000" dirty="0"/>
          </a:p>
        </p:txBody>
      </p:sp>
      <p:sp>
        <p:nvSpPr>
          <p:cNvPr id="6" name="CaixaDeTexto 3">
            <a:extLst>
              <a:ext uri="{FF2B5EF4-FFF2-40B4-BE49-F238E27FC236}">
                <a16:creationId xmlns:a16="http://schemas.microsoft.com/office/drawing/2014/main" id="{9A4DD2E7-4F49-8D49-8B50-82758105787C}"/>
              </a:ext>
            </a:extLst>
          </p:cNvPr>
          <p:cNvSpPr txBox="1"/>
          <p:nvPr/>
        </p:nvSpPr>
        <p:spPr>
          <a:xfrm>
            <a:off x="1345915" y="2274283"/>
            <a:ext cx="9185095" cy="1154717"/>
          </a:xfrm>
          <a:prstGeom prst="rect">
            <a:avLst/>
          </a:prstGeom>
          <a:solidFill>
            <a:schemeClr val="tx2"/>
          </a:solidFill>
          <a:ln>
            <a:noFill/>
          </a:ln>
          <a:effectLst>
            <a:glow rad="139700">
              <a:schemeClr val="accent1">
                <a:satMod val="175000"/>
                <a:alpha val="40000"/>
              </a:schemeClr>
            </a:glow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Aft>
                <a:spcPts val="600"/>
              </a:spcAft>
            </a:pP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“</a:t>
            </a:r>
            <a:r>
              <a:rPr lang="en-US" sz="44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Obrigado</a:t>
            </a:r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!”</a:t>
            </a:r>
            <a:endParaRPr lang="en-US" sz="4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9607465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RESOURCE_RECORD_KEY" val="{&quot;70&quot;:[3320337,3320345,3321926,3321402,3322870,3321610]}"/>
</p:tagLst>
</file>

<file path=ppt/theme/theme1.xml><?xml version="1.0" encoding="utf-8"?>
<a:theme xmlns:a="http://schemas.openxmlformats.org/drawingml/2006/main" name="Slice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Slice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mokey Glass">
      <a:fillStyleLst>
        <a:solidFill>
          <a:schemeClr val="phClr"/>
        </a:solidFill>
        <a:gradFill rotWithShape="1">
          <a:gsLst>
            <a:gs pos="0">
              <a:schemeClr val="phClr">
                <a:tint val="83000"/>
                <a:shade val="100000"/>
                <a:satMod val="100000"/>
              </a:schemeClr>
            </a:gs>
            <a:gs pos="100000">
              <a:schemeClr val="phClr">
                <a:tint val="61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</a:schemeClr>
            </a:gs>
            <a:gs pos="100000">
              <a:schemeClr val="phClr">
                <a:tint val="90000"/>
                <a:alpha val="100000"/>
                <a:satMod val="18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5240" cap="flat" cmpd="sng" algn="ctr">
          <a:solidFill>
            <a:schemeClr val="phClr">
              <a:tint val="25000"/>
              <a:alpha val="25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21590" dir="5400000" rotWithShape="0">
              <a:srgbClr val="000000">
                <a:alpha val="40000"/>
              </a:srgbClr>
            </a:outerShdw>
          </a:effectLst>
          <a:scene3d>
            <a:camera prst="orthographicFront">
              <a:rot lat="0" lon="0" rev="0"/>
            </a:camera>
            <a:lightRig rig="flat" dir="t">
              <a:rot lat="0" lon="0" rev="3600000"/>
            </a:lightRig>
          </a:scene3d>
          <a:sp3d prstMaterial="flat">
            <a:bevelT w="28575" h="41275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10555</TotalTime>
  <Words>888</Words>
  <Application>Microsoft Macintosh PowerPoint</Application>
  <PresentationFormat>Widescreen</PresentationFormat>
  <Paragraphs>111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4" baseType="lpstr">
      <vt:lpstr>Aptos</vt:lpstr>
      <vt:lpstr>Arial</vt:lpstr>
      <vt:lpstr>Arial Narrow</vt:lpstr>
      <vt:lpstr>Calibri</vt:lpstr>
      <vt:lpstr>Century Gothic</vt:lpstr>
      <vt:lpstr>Comic Sans MS</vt:lpstr>
      <vt:lpstr>Garet Bold</vt:lpstr>
      <vt:lpstr>Garet Bold Italics</vt:lpstr>
      <vt:lpstr>Times New Roman</vt:lpstr>
      <vt:lpstr>Wingdings 3</vt:lpstr>
      <vt:lpstr>Slice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Microsoft Office User</cp:lastModifiedBy>
  <cp:revision>131</cp:revision>
  <dcterms:created xsi:type="dcterms:W3CDTF">2025-07-14T08:03:00Z</dcterms:created>
  <dcterms:modified xsi:type="dcterms:W3CDTF">2026-10-13T07:13:26Z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2CAEBBA65D8B41AC85F32BF362082C4A_13</vt:lpwstr>
  </property>
  <property fmtid="{D5CDD505-2E9C-101B-9397-08002B2CF9AE}" pid="3" name="KSOProductBuildVer">
    <vt:lpwstr>1033-12.2.0.22549</vt:lpwstr>
  </property>
</Properties>
</file>