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512" autoAdjust="0"/>
  </p:normalViewPr>
  <p:slideViewPr>
    <p:cSldViewPr snapToGrid="0" snapToObjects="1">
      <p:cViewPr varScale="1">
        <p:scale>
          <a:sx n="145" d="100"/>
          <a:sy n="145" d="100"/>
        </p:scale>
        <p:origin x="13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32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E3B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09961"/>
            <a:ext cx="10566400" cy="413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E3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E3B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09961"/>
            <a:ext cx="10566400" cy="413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E3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16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10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2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6.png"/><Relationship Id="rId4" Type="http://schemas.openxmlformats.org/officeDocument/2006/relationships/image" Target="../media/image29.png"/><Relationship Id="rId9" Type="http://schemas.openxmlformats.org/officeDocument/2006/relationships/image" Target="../media/image3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png"/><Relationship Id="rId7" Type="http://schemas.openxmlformats.org/officeDocument/2006/relationships/image" Target="../media/image42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45.jpeg"/><Relationship Id="rId5" Type="http://schemas.openxmlformats.org/officeDocument/2006/relationships/image" Target="../media/image41.png"/><Relationship Id="rId10" Type="http://schemas.openxmlformats.org/officeDocument/2006/relationships/image" Target="../media/image44.jpeg"/><Relationship Id="rId4" Type="http://schemas.openxmlformats.org/officeDocument/2006/relationships/image" Target="../media/image40.png"/><Relationship Id="rId9" Type="http://schemas.openxmlformats.org/officeDocument/2006/relationships/image" Target="../media/image4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10.png"/><Relationship Id="rId4" Type="http://schemas.openxmlformats.org/officeDocument/2006/relationships/image" Target="../media/image47.png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7200" y="952500"/>
            <a:ext cx="3302000" cy="3302000"/>
          </a:xfrm>
          <a:prstGeom prst="rect">
            <a:avLst/>
          </a:prstGeom>
        </p:spPr>
      </p:pic>
      <p:pic>
        <p:nvPicPr>
          <p:cNvPr id="3" name="Image 1" descr="ellip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75700" y="1651000"/>
            <a:ext cx="1905000" cy="1905000"/>
          </a:xfrm>
          <a:prstGeom prst="rect">
            <a:avLst/>
          </a:prstGeom>
        </p:spPr>
      </p:pic>
      <p:pic>
        <p:nvPicPr>
          <p:cNvPr id="4" name="Image 2" descr="ellip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74200" y="2349500"/>
            <a:ext cx="508000" cy="508000"/>
          </a:xfrm>
          <a:prstGeom prst="rect">
            <a:avLst/>
          </a:prstGeom>
        </p:spPr>
      </p:pic>
      <p:pic>
        <p:nvPicPr>
          <p:cNvPr id="5" name="Image 3" descr="ellips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05800" y="1587500"/>
            <a:ext cx="203200" cy="203200"/>
          </a:xfrm>
          <a:prstGeom prst="rect">
            <a:avLst/>
          </a:prstGeom>
        </p:spPr>
      </p:pic>
      <p:pic>
        <p:nvPicPr>
          <p:cNvPr id="6" name="Image 4" descr="ellips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85500" y="3302000"/>
            <a:ext cx="203200" cy="203200"/>
          </a:xfrm>
          <a:prstGeom prst="rect">
            <a:avLst/>
          </a:prstGeom>
        </p:spPr>
      </p:pic>
      <p:pic>
        <p:nvPicPr>
          <p:cNvPr id="7" name="Image 5" descr="ellips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68000" y="1206500"/>
            <a:ext cx="152400" cy="152400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8331200" y="4673600"/>
            <a:ext cx="3048000" cy="1371600"/>
          </a:xfrm>
          <a:prstGeom prst="roundRect">
            <a:avLst>
              <a:gd name="adj" fmla="val 9259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35E"/>
                </a:solidFill>
                <a:latin typeface="Verdana Pro" panose="020B0604030504040204" pitchFamily="34" charset="0"/>
                <a:ea typeface="Verdana" panose="020B0604030504040204" pitchFamily="34" charset="0"/>
                <a:cs typeface="Public Sans" pitchFamily="34" charset="-120"/>
              </a:rPr>
              <a:t>COMUNIDADE DE SANT'EGIDIO · PROGRAMA DREAM</a:t>
            </a:r>
            <a:endParaRPr lang="en-US" sz="1200" dirty="0">
              <a:latin typeface="Verdana Pro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 2"/>
          <p:cNvSpPr>
            <a:spLocks noGrp="1"/>
          </p:cNvSpPr>
          <p:nvPr>
            <p:ph type="title"/>
          </p:nvPr>
        </p:nvSpPr>
        <p:spPr>
          <a:xfrm>
            <a:off x="812800" y="1786930"/>
            <a:ext cx="706374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5F2EA"/>
                </a:solidFill>
                <a:latin typeface="Verdana Pro" panose="020B0604030504040204" pitchFamily="34" charset="0"/>
                <a:ea typeface="Verdana" panose="020B0604030504040204" pitchFamily="34" charset="0"/>
                <a:cs typeface="Source Serif 4" pitchFamily="18" charset="-120"/>
              </a:rPr>
              <a:t>Telemedicina como estratégia para ampliar o acesso e apoiar a prestação de cuidados de saúde</a:t>
            </a:r>
            <a:endParaRPr lang="en-US" sz="4000" dirty="0">
              <a:latin typeface="Verdana Pro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12800" y="4225330"/>
            <a:ext cx="706374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BFD8D6"/>
                </a:solidFill>
                <a:latin typeface="Verdana Pro" panose="020B0604030504040204" pitchFamily="34" charset="0"/>
                <a:ea typeface="Verdana" panose="020B0604030504040204" pitchFamily="34" charset="0"/>
                <a:cs typeface="Public Sans" pitchFamily="34" charset="-120"/>
              </a:rPr>
              <a:t>A experiência do Programa DREAM e a sinergia com o projecto AID 012524</a:t>
            </a:r>
            <a:endParaRPr lang="en-US" sz="1800" dirty="0">
              <a:latin typeface="Verdana Pro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12800" y="5580459"/>
            <a:ext cx="7063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2EA"/>
                </a:solidFill>
                <a:latin typeface="Verdana Pro" panose="020B0604030504040204" pitchFamily="34" charset="0"/>
                <a:ea typeface="Verdana" panose="020B0604030504040204" pitchFamily="34" charset="0"/>
                <a:cs typeface="Public Sans" pitchFamily="34" charset="-120"/>
              </a:rPr>
              <a:t>F. Victor Mourana · Coordenador de Implementação da Telemedicina</a:t>
            </a:r>
            <a:endParaRPr lang="en-US" sz="1200" dirty="0">
              <a:latin typeface="Verdana Pro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12800" y="5831880"/>
            <a:ext cx="7063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PT" sz="1200" noProof="0" dirty="0">
                <a:solidFill>
                  <a:srgbClr val="BFD8D6"/>
                </a:solidFill>
                <a:latin typeface="Verdana Pro" panose="020B0604030504040204" pitchFamily="34" charset="0"/>
                <a:ea typeface="Verdana" panose="020B0604030504040204" pitchFamily="34" charset="0"/>
                <a:cs typeface="Public Sans" pitchFamily="34" charset="-120"/>
              </a:rPr>
              <a:t>Serviços Saúde da Cidade de Maputo · </a:t>
            </a:r>
            <a:r>
              <a:rPr lang="pt-PT" sz="1200" dirty="0">
                <a:solidFill>
                  <a:srgbClr val="BFD8D6"/>
                </a:solidFill>
                <a:latin typeface="Verdana Pro" panose="020B0604030504040204" pitchFamily="34" charset="0"/>
                <a:ea typeface="Verdana" panose="020B0604030504040204" pitchFamily="34" charset="0"/>
                <a:cs typeface="Public Sans" pitchFamily="34" charset="-120"/>
              </a:rPr>
              <a:t>12.10.2026</a:t>
            </a:r>
            <a:endParaRPr lang="pt-PT" sz="1200" noProof="0" dirty="0">
              <a:latin typeface="Verdana Pro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9" descr="Santigido.&#10;&#10;AI-generated content may be incorrect.">
            <a:extLst>
              <a:ext uri="{FF2B5EF4-FFF2-40B4-BE49-F238E27FC236}">
                <a16:creationId xmlns:a16="http://schemas.microsoft.com/office/drawing/2014/main" id="{94EF8B62-5913-4874-2D94-FB6C72FB5E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1651" y="4866491"/>
            <a:ext cx="3101284" cy="10390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UMA LIÇÃO DE OUTRO SECTOR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Um distrito, um banco?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909961"/>
            <a:ext cx="2924870" cy="2148582"/>
          </a:xfrm>
          <a:prstGeom prst="roundRect">
            <a:avLst>
              <a:gd name="adj" fmla="val 4729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6800" y="2138561"/>
            <a:ext cx="248937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A35E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15%</a:t>
            </a:r>
            <a:endParaRPr lang="en-US" sz="6000" dirty="0">
              <a:latin typeface="Verdana Pro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6800" y="2976761"/>
            <a:ext cx="248937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FD8D6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dos distritos tinham um banco em 2015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90070" y="1909961"/>
            <a:ext cx="2924870" cy="2148582"/>
          </a:xfrm>
          <a:prstGeom prst="roundRect">
            <a:avLst>
              <a:gd name="adj" fmla="val 4729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44070" y="2138561"/>
            <a:ext cx="248937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A35E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10%</a:t>
            </a:r>
            <a:endParaRPr lang="en-US" sz="6000" dirty="0">
              <a:latin typeface="Verdana Pro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44070" y="2976761"/>
            <a:ext cx="248937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BFD8D6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dos moçambicanos tinham conta bancária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pic>
        <p:nvPicPr>
          <p:cNvPr id="10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67339" y="2831802"/>
            <a:ext cx="609600" cy="30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29339" y="1909961"/>
            <a:ext cx="3649861" cy="2148582"/>
          </a:xfrm>
          <a:prstGeom prst="roundRect">
            <a:avLst>
              <a:gd name="adj" fmla="val 4729"/>
            </a:avLst>
          </a:prstGeom>
          <a:solidFill>
            <a:srgbClr val="E885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2" name="Image 1" descr="Light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83339" y="2138561"/>
            <a:ext cx="304800" cy="304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83339" y="2544961"/>
            <a:ext cx="323611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Moeda electrónica</a:t>
            </a:r>
            <a:endParaRPr lang="en-US" sz="1700" dirty="0">
              <a:latin typeface="Verdana Pro" panose="020B060403050404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983339" y="2905621"/>
            <a:ext cx="3236117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Os agentes de moeda electrónica levaram os serviços financeiros aos distritos sem agências bancárias (Banco de Moçambique, 2025)</a:t>
            </a:r>
            <a:endParaRPr lang="en-US" sz="1300" dirty="0">
              <a:latin typeface="Verdana Pro" panose="020B060403050404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12800" y="4363343"/>
            <a:ext cx="981075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pt-PT" sz="2400" b="1" noProof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A telemedicina pode fazer o mesmo pela saúde: levar o serviço e onde o utente está sem o peso da infraestrutura.</a:t>
            </a:r>
            <a:endParaRPr lang="pt-PT" sz="2400" noProof="0" dirty="0">
              <a:latin typeface="Verdana Pro" panose="020B0604030504040204" pitchFamily="34" charset="0"/>
            </a:endParaRPr>
          </a:p>
        </p:txBody>
      </p:sp>
      <p:pic>
        <p:nvPicPr>
          <p:cNvPr id="19" name="Picture 18" descr="Santigido.&#10;&#10;AI-generated content may be incorrect.">
            <a:extLst>
              <a:ext uri="{FF2B5EF4-FFF2-40B4-BE49-F238E27FC236}">
                <a16:creationId xmlns:a16="http://schemas.microsoft.com/office/drawing/2014/main" id="{5586A308-A27C-3706-3FD6-77A8970DD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sp>
        <p:nvSpPr>
          <p:cNvPr id="22" name="Text 21">
            <a:extLst>
              <a:ext uri="{FF2B5EF4-FFF2-40B4-BE49-F238E27FC236}">
                <a16:creationId xmlns:a16="http://schemas.microsoft.com/office/drawing/2014/main" id="{2283A9E9-0BC5-2270-B1E8-8793D423950A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CONTEXTO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O desafio do acesso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909961"/>
            <a:ext cx="3175000" cy="3139083"/>
          </a:xfrm>
          <a:prstGeom prst="roundRect">
            <a:avLst>
              <a:gd name="adj" fmla="val 3237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7600" y="2386112"/>
            <a:ext cx="264236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2A35E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34</a:t>
            </a:r>
            <a:endParaRPr lang="en-US" sz="8000" dirty="0">
              <a:latin typeface="Verdana Pro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7600" y="3503712"/>
            <a:ext cx="264236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milhões de habitantes</a:t>
            </a:r>
            <a:endParaRPr lang="en-US" sz="1800" dirty="0">
              <a:latin typeface="Verdana Pro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7600" y="3879552"/>
            <a:ext cx="264236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D8D6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a servir, com um rácio de especialistas por habitante muito baixo</a:t>
            </a:r>
            <a:endParaRPr lang="en-US" sz="1300" dirty="0">
              <a:latin typeface="Verdana Pro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41800" y="1909961"/>
            <a:ext cx="2277467" cy="1600002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9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19600" y="2087761"/>
            <a:ext cx="279400" cy="279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419600" y="2430661"/>
            <a:ext cx="19795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Poucos especialistas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419600" y="2707481"/>
            <a:ext cx="197952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Baixo rácio especialista </a:t>
            </a:r>
            <a:r>
              <a:rPr lang="en-US" sz="1200" dirty="0" err="1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por</a:t>
            </a: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200" dirty="0" err="1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habitante</a:t>
            </a: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e </a:t>
            </a:r>
            <a:r>
              <a:rPr lang="en-US" sz="1200" dirty="0" err="1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congestionamento</a:t>
            </a: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200" dirty="0" err="1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nas</a:t>
            </a: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US’s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671667" y="1909961"/>
            <a:ext cx="2277566" cy="1600002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3" name="Image 1" descr="Hom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49467" y="2087761"/>
            <a:ext cx="279400" cy="279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49467" y="2430661"/>
            <a:ext cx="197962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Infra-estruturas desiguais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849467" y="2920802"/>
            <a:ext cx="1979625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Disparidades a nível nacional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101634" y="1909961"/>
            <a:ext cx="2277467" cy="1600002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7" name="Image 2" descr="Lin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79434" y="2087761"/>
            <a:ext cx="279400" cy="279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79434" y="2430661"/>
            <a:ext cx="197952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Conectividade limitada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9279434" y="2920802"/>
            <a:ext cx="197952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Unidades de saúde sem internet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241800" y="3662362"/>
            <a:ext cx="2277467" cy="1386681"/>
          </a:xfrm>
          <a:prstGeom prst="roundRect">
            <a:avLst>
              <a:gd name="adj" fmla="val 549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1" name="Image 3" descr="Databas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19600" y="3840163"/>
            <a:ext cx="279400" cy="279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19600" y="4183063"/>
            <a:ext cx="19795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Dados dispersos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419600" y="4459883"/>
            <a:ext cx="197952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Sem repositório central de dados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671667" y="3662362"/>
            <a:ext cx="2277566" cy="1386681"/>
          </a:xfrm>
          <a:prstGeom prst="roundRect">
            <a:avLst>
              <a:gd name="adj" fmla="val 549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5" name="Image 4" descr="GraduationCap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849467" y="3840163"/>
            <a:ext cx="279400" cy="279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49467" y="4183063"/>
            <a:ext cx="19796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Literacia digital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6849467" y="4459883"/>
            <a:ext cx="1979625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Níveis baixos e fraca adopção tecnológica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9101634" y="3662362"/>
            <a:ext cx="2277467" cy="1386681"/>
          </a:xfrm>
          <a:prstGeom prst="roundRect">
            <a:avLst>
              <a:gd name="adj" fmla="val 549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9" name="Image 5" descr="Warni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79434" y="3840163"/>
            <a:ext cx="279400" cy="2794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279434" y="4183063"/>
            <a:ext cx="19795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Fragmentação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9279434" y="4459883"/>
            <a:ext cx="197952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Investimentos duplicados e pouco sustentáveis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34" name="Picture 33" descr="Santigido.&#10;&#10;AI-generated content may be incorrect.">
            <a:extLst>
              <a:ext uri="{FF2B5EF4-FFF2-40B4-BE49-F238E27FC236}">
                <a16:creationId xmlns:a16="http://schemas.microsoft.com/office/drawing/2014/main" id="{61D151D4-D6C0-6862-32F0-DAB5F85064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sp>
        <p:nvSpPr>
          <p:cNvPr id="36" name="Text 21">
            <a:extLst>
              <a:ext uri="{FF2B5EF4-FFF2-40B4-BE49-F238E27FC236}">
                <a16:creationId xmlns:a16="http://schemas.microsoft.com/office/drawing/2014/main" id="{81A30D0F-9A17-0CF1-D869-1BFFBE19672A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TELEMEDICINA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Quatro formas de ampliar o acesso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36936"/>
            <a:ext cx="2520950" cy="2099072"/>
          </a:xfrm>
          <a:prstGeom prst="roundRect">
            <a:avLst>
              <a:gd name="adj" fmla="val 4689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5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2350" y="2043311"/>
            <a:ext cx="330200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2449711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Teleconsultoria</a:t>
            </a:r>
            <a:endParaRPr lang="en-US" sz="1800" dirty="0">
              <a:latin typeface="Verdana Pro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2350" y="280015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Profissional ↔ Especialista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2350" y="3089672"/>
            <a:ext cx="217144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O clínico local obtém a opinião de um especialista à distância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95675" y="1836936"/>
            <a:ext cx="2520950" cy="2099072"/>
          </a:xfrm>
          <a:prstGeom prst="roundRect">
            <a:avLst>
              <a:gd name="adj" fmla="val 4689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0" name="Image 1" descr="Cha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02050" y="2043311"/>
            <a:ext cx="330200" cy="330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2050" y="2449711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Teleconsulta</a:t>
            </a:r>
            <a:endParaRPr lang="en-US" sz="1800" dirty="0">
              <a:latin typeface="Verdana Pro" panose="020B060403050404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702050" y="280015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Utente ↔ Profissional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702050" y="3089672"/>
            <a:ext cx="217144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O utente é acompanhado sem se deslocar à unidade sanitária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75375" y="1836936"/>
            <a:ext cx="2520950" cy="2099072"/>
          </a:xfrm>
          <a:prstGeom prst="roundRect">
            <a:avLst>
              <a:gd name="adj" fmla="val 4689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5" name="Image 2" descr="Activity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1750" y="2043311"/>
            <a:ext cx="330200" cy="330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1750" y="2449711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Telediagnóstico</a:t>
            </a:r>
            <a:endParaRPr lang="en-US" sz="1800" dirty="0">
              <a:latin typeface="Verdana Pro" panose="020B060403050404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381750" y="280015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Dispositivo ↔ Especialista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381750" y="3089672"/>
            <a:ext cx="217144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Exames com dispositivos ligados e apoio de IA, lidos à distância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855075" y="1836936"/>
            <a:ext cx="2520950" cy="2099072"/>
          </a:xfrm>
          <a:prstGeom prst="roundRect">
            <a:avLst>
              <a:gd name="adj" fmla="val 4689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0" name="Image 3" descr="GraduationCap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61450" y="2043311"/>
            <a:ext cx="330200" cy="330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61450" y="2449711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Teleformação</a:t>
            </a:r>
            <a:endParaRPr lang="en-US" sz="1800" dirty="0">
              <a:latin typeface="Verdana Pro" panose="020B060403050404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061450" y="280015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Instituição ↔ Profissional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061450" y="3089672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Capacitação contínua dos profissionais onde trabalham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812800" y="4167783"/>
            <a:ext cx="10566400" cy="1184870"/>
          </a:xfrm>
          <a:prstGeom prst="roundRect">
            <a:avLst>
              <a:gd name="adj" fmla="val 8575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5" name="Image 4" descr="Verified"/>
          <p:cNvPicPr>
            <a:picLocks noChangeAspect="1"/>
          </p:cNvPicPr>
          <p:nvPr/>
        </p:nvPicPr>
        <p:blipFill>
          <a:blip r:embed="rId7"/>
          <a:srcRect l="-140" r="-140"/>
          <a:stretch/>
        </p:blipFill>
        <p:spPr>
          <a:xfrm>
            <a:off x="1066800" y="4582418"/>
            <a:ext cx="248345" cy="355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18345" y="4370983"/>
            <a:ext cx="989506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i="1" dirty="0">
                <a:solidFill>
                  <a:srgbClr val="F5F2EA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"Até 2034, Moçambique terá um sistema de saúde abrangente e inclusivo, apoiado por uma plataforma digital de saúde segura, rumo à cobertura universal de saúde."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1518345" y="4936133"/>
            <a:ext cx="9895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6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Estratégia de Saúde Digital de Moçambique 2026–2034 · prioridade do PESS 2025–2034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30" name="Picture 29" descr="Santigido.&#10;&#10;AI-generated content may be incorrect.">
            <a:extLst>
              <a:ext uri="{FF2B5EF4-FFF2-40B4-BE49-F238E27FC236}">
                <a16:creationId xmlns:a16="http://schemas.microsoft.com/office/drawing/2014/main" id="{EF201F38-8E9F-6C5C-3A98-C28AFBF9C6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2E0063AB-85EE-8796-7EDC-35265BA314D9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PROGRAMA DREAM · DESDE FEVEREIRO DE 2002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Mais de duas décadas ao lado do SNS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2265561"/>
            <a:ext cx="525856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Prevenção, diagnóstico e tratamento </a:t>
            </a:r>
            <a:r>
              <a:rPr lang="en-US" sz="15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gratuitos e integrados</a:t>
            </a:r>
            <a:r>
              <a:rPr lang="en-US" sz="15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, em colaboração com o Ministério da Saúde.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2995811"/>
            <a:ext cx="939006" cy="3149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HIV/SIDA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006" y="2995811"/>
            <a:ext cx="1137444" cy="3149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Tuberculose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41650" y="2995811"/>
            <a:ext cx="795536" cy="3149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Malária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3386" y="2995811"/>
            <a:ext cx="1136551" cy="3149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Hipertensão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2800" y="3386931"/>
            <a:ext cx="887611" cy="3149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Diabetes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76611" y="3386931"/>
            <a:ext cx="1942207" cy="3149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Cancro do colo do útero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5500" y="4506516"/>
            <a:ext cx="0" cy="717947"/>
          </a:xfrm>
          <a:prstGeom prst="line">
            <a:avLst/>
          </a:prstGeom>
          <a:noFill/>
          <a:ln w="25400">
            <a:solidFill>
              <a:srgbClr val="E8853F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0600" y="4506516"/>
            <a:ext cx="5075428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Maputo, Sofala e Zambézia:</a:t>
            </a:r>
            <a:r>
              <a:rPr lang="en-US" sz="13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Centro para a Criança, Zimpeto, Matola II, HG Machava, Polivalente da Beira, Manga Chingussura e Quelimane</a:t>
            </a:r>
            <a:endParaRPr lang="en-US" sz="1300" dirty="0">
              <a:latin typeface="Verdana Pro" panose="020B060403050404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73800" y="2265561"/>
            <a:ext cx="5105400" cy="1297880"/>
          </a:xfrm>
          <a:prstGeom prst="roundRect">
            <a:avLst>
              <a:gd name="adj" fmla="val 7828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27800" y="2468761"/>
            <a:ext cx="47353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2A35E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+1.000.000</a:t>
            </a:r>
            <a:endParaRPr lang="en-US" sz="4800" dirty="0">
              <a:latin typeface="Verdana Pro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27800" y="3129161"/>
            <a:ext cx="473532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BFD8D6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pessoas assistidas desde 2002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73800" y="3715841"/>
            <a:ext cx="2476500" cy="1531441"/>
          </a:xfrm>
          <a:prstGeom prst="roundRect">
            <a:avLst>
              <a:gd name="adj" fmla="val 6634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77000" y="3919041"/>
            <a:ext cx="213220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60.000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77000" y="4427041"/>
            <a:ext cx="2132203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pacientes em TARV, hipertensão e diabetes (Janeiro de 2025)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902700" y="3715841"/>
            <a:ext cx="2476500" cy="1531441"/>
          </a:xfrm>
          <a:prstGeom prst="roundRect">
            <a:avLst>
              <a:gd name="adj" fmla="val 6634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05900" y="3919041"/>
            <a:ext cx="213220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7 + 3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05900" y="4427041"/>
            <a:ext cx="2132203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centros de saúde e laboratórios de biologia molecular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24" name="Picture 23" descr="Santigido.&#10;&#10;AI-generated content may be incorrect.">
            <a:extLst>
              <a:ext uri="{FF2B5EF4-FFF2-40B4-BE49-F238E27FC236}">
                <a16:creationId xmlns:a16="http://schemas.microsoft.com/office/drawing/2014/main" id="{9AB5EABA-7049-B3D4-7364-E3547D80D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sp>
        <p:nvSpPr>
          <p:cNvPr id="26" name="Text 21">
            <a:extLst>
              <a:ext uri="{FF2B5EF4-FFF2-40B4-BE49-F238E27FC236}">
                <a16:creationId xmlns:a16="http://schemas.microsoft.com/office/drawing/2014/main" id="{8FF31D04-9CDE-7AA0-0D06-DF0CBA3018F0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A BASE DIGITAL JÁ EXISTE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Uma plataforma clínica 100% digital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833761"/>
            <a:ext cx="4064000" cy="2580283"/>
          </a:xfrm>
          <a:prstGeom prst="roundRect">
            <a:avLst>
              <a:gd name="adj" fmla="val 3938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7600" y="2490192"/>
            <a:ext cx="355803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2A35E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+1.000.000</a:t>
            </a:r>
            <a:endParaRPr lang="en-US" sz="4400" dirty="0">
              <a:latin typeface="Verdana Pro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7600" y="3150592"/>
            <a:ext cx="35580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pacientes registados</a:t>
            </a:r>
            <a:endParaRPr lang="en-US" sz="1800" dirty="0">
              <a:latin typeface="Verdana Pro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7600" y="3526433"/>
            <a:ext cx="355803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D8D6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na plataforma digital do Programa DREAM</a:t>
            </a:r>
            <a:endParaRPr lang="en-US" sz="1300" dirty="0">
              <a:latin typeface="Verdana Pro" panose="020B060403050404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83175" y="1836936"/>
            <a:ext cx="6292850" cy="786011"/>
          </a:xfrm>
          <a:prstGeom prst="roundRect">
            <a:avLst>
              <a:gd name="adj" fmla="val 12522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9" name="Image 0" descr="Ke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9550" y="2052141"/>
            <a:ext cx="355600" cy="355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22950" y="1992511"/>
            <a:ext cx="357949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Identificador único do paciente</a:t>
            </a:r>
            <a:endParaRPr lang="en-US" sz="1600" dirty="0">
              <a:latin typeface="Verdana Pro" panose="020B060403050404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822950" y="2261691"/>
            <a:ext cx="3579495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Cada pessoa é identificada em toda a rede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83175" y="2730897"/>
            <a:ext cx="6292850" cy="786011"/>
          </a:xfrm>
          <a:prstGeom prst="roundRect">
            <a:avLst>
              <a:gd name="adj" fmla="val 12522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3" name="Image 1" descr="Databa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89550" y="2946102"/>
            <a:ext cx="355600" cy="355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22950" y="2886472"/>
            <a:ext cx="37994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Historial clínico completo</a:t>
            </a:r>
            <a:endParaRPr lang="en-US" sz="1600" dirty="0">
              <a:latin typeface="Verdana Pro" panose="020B060403050404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822950" y="3155652"/>
            <a:ext cx="4426506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Todo o percurso do paciente num registo electrónico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083175" y="3624858"/>
            <a:ext cx="6292850" cy="786011"/>
          </a:xfrm>
          <a:prstGeom prst="roundRect">
            <a:avLst>
              <a:gd name="adj" fmla="val 12522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7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89550" y="3840063"/>
            <a:ext cx="355600" cy="355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22950" y="3780433"/>
            <a:ext cx="335456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Totalmente desmaterializado</a:t>
            </a:r>
            <a:endParaRPr lang="en-US" sz="1600" dirty="0">
              <a:latin typeface="Verdana Pro" panose="020B060403050404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822950" y="4049613"/>
            <a:ext cx="3908227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Sem papel: nenhum processo clínico em papel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812800" y="4642644"/>
            <a:ext cx="10566400" cy="853281"/>
          </a:xfrm>
          <a:prstGeom prst="roundRect">
            <a:avLst>
              <a:gd name="adj" fmla="val 11907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812800" y="4642644"/>
            <a:ext cx="10566400" cy="853281"/>
          </a:xfrm>
          <a:custGeom>
            <a:avLst/>
            <a:gdLst/>
            <a:ahLst/>
            <a:cxnLst/>
            <a:rect l="l" t="t" r="r" b="b"/>
            <a:pathLst>
              <a:path w="10566400" h="853281">
                <a:moveTo>
                  <a:pt x="101600" y="853281"/>
                </a:moveTo>
                <a:lnTo>
                  <a:pt x="101600" y="853281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751681"/>
                </a:lnTo>
                <a:arcTo wR="50800" hR="101600" stAng="10800000" swAng="-5400000"/>
                <a:close/>
              </a:path>
            </a:pathLst>
          </a:custGeom>
          <a:solidFill>
            <a:srgbClr val="E885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2" name="Image 3" descr="Lightbulb"/>
          <p:cNvPicPr>
            <a:picLocks noChangeAspect="1"/>
          </p:cNvPicPr>
          <p:nvPr/>
        </p:nvPicPr>
        <p:blipFill>
          <a:blip r:embed="rId6"/>
          <a:srcRect t="-649" b="-649"/>
          <a:stretch/>
        </p:blipFill>
        <p:spPr>
          <a:xfrm>
            <a:off x="1117600" y="4916884"/>
            <a:ext cx="244475" cy="3048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14475" y="4820444"/>
            <a:ext cx="989904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Porque é decisivo para a telemedicina:</a:t>
            </a:r>
            <a:r>
              <a:rPr lang="en-US" sz="14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o especialista à distância consulta o mesmo historial que o clínico local, a partir de qualquer ponto da rede.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pic>
        <p:nvPicPr>
          <p:cNvPr id="26" name="Picture 25" descr="Santigido.&#10;&#10;AI-generated content may be incorrect.">
            <a:extLst>
              <a:ext uri="{FF2B5EF4-FFF2-40B4-BE49-F238E27FC236}">
                <a16:creationId xmlns:a16="http://schemas.microsoft.com/office/drawing/2014/main" id="{4C0B683B-8096-B9F9-021A-C6AFD3BFA0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C6F6BEEB-83B2-309B-A551-39667E7E21A6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EXPERIÊNCIA NO TERRENO E REGIONAL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A DREAM </a:t>
            </a:r>
            <a:r>
              <a:rPr lang="en-US" sz="3600" b="1" i="0" dirty="0" err="1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está</a:t>
            </a: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 </a:t>
            </a:r>
            <a:r>
              <a:rPr lang="en-US" sz="3600" b="1" i="0" dirty="0" err="1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preparada</a:t>
            </a: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 para a </a:t>
            </a:r>
            <a:r>
              <a:rPr lang="en-US" sz="3600" b="1" i="0" dirty="0" err="1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Telemedicina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pic>
        <p:nvPicPr>
          <p:cNvPr id="4" name="Image 0" descr="Cha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42902"/>
            <a:ext cx="330200" cy="330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5400" y="1884561"/>
            <a:ext cx="28728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Teleconsulta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95400" y="2125861"/>
            <a:ext cx="3346966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Acompanhamento do utente à distância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7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2516882"/>
            <a:ext cx="330200" cy="330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5400" y="2458541"/>
            <a:ext cx="29525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Teleconsultoria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295400" y="2699841"/>
            <a:ext cx="3439835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Especialistas a apoiar os clínicos da rede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10" name="Image 2" descr="Activity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3090863"/>
            <a:ext cx="330200" cy="330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5400" y="3032522"/>
            <a:ext cx="41201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Diagnóstico com IA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295400" y="3273822"/>
            <a:ext cx="43434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Electrocardiograma e ecógrafo com inteligência artificial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13" name="Image 3" descr="Databas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2800" y="3664843"/>
            <a:ext cx="330200" cy="330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95400" y="3606502"/>
            <a:ext cx="3149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Registos clínicos digitais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295400" y="3847802"/>
            <a:ext cx="3669149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Processo clínico electrónico em toda a rede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12800" y="4180483"/>
            <a:ext cx="4572000" cy="716161"/>
          </a:xfrm>
          <a:prstGeom prst="roundRect">
            <a:avLst>
              <a:gd name="adj" fmla="val 10640"/>
            </a:avLst>
          </a:prstGeom>
          <a:solidFill>
            <a:srgbClr val="FFFDF8"/>
          </a:solidFill>
          <a:ln/>
        </p:spPr>
        <p:txBody>
          <a:bodyPr wrap="square" lIns="155482" tIns="104682" rIns="28990" bIns="79282" rtlCol="0" anchor="t">
            <a:normAutofit fontScale="85000" lnSpcReduction="10000"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Experiência partilhada</a:t>
            </a:r>
            <a:r>
              <a:rPr lang="en-US" sz="13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pela rede DREAM em vários </a:t>
            </a:r>
            <a:r>
              <a:rPr lang="en-US" sz="1300" dirty="0" err="1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países</a:t>
            </a:r>
            <a:r>
              <a:rPr lang="en-US" sz="13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300" dirty="0" err="1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africanos</a:t>
            </a:r>
            <a:r>
              <a:rPr lang="en-US" sz="13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| </a:t>
            </a:r>
            <a:r>
              <a:rPr lang="en-US" sz="1300" b="1" dirty="0" err="1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Referenciamento</a:t>
            </a:r>
            <a:r>
              <a:rPr lang="en-US" sz="13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e Contra-</a:t>
            </a:r>
            <a:r>
              <a:rPr lang="en-US" sz="1300" b="1" dirty="0" err="1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Referenciamento</a:t>
            </a:r>
            <a:endParaRPr lang="en-US" sz="1300" b="1" dirty="0">
              <a:latin typeface="Verdana Pro" panose="020B0604030504040204" pitchFamily="34" charset="0"/>
            </a:endParaRPr>
          </a:p>
        </p:txBody>
      </p:sp>
      <p:pic>
        <p:nvPicPr>
          <p:cNvPr id="17" name="Image 4" descr="Equipa clínica em formação com electrocardiógrafo"/>
          <p:cNvPicPr>
            <a:picLocks noChangeAspect="1"/>
          </p:cNvPicPr>
          <p:nvPr/>
        </p:nvPicPr>
        <p:blipFill>
          <a:blip r:embed="rId7"/>
          <a:srcRect l="1667" r="1667"/>
          <a:stretch/>
        </p:blipFill>
        <p:spPr>
          <a:xfrm>
            <a:off x="5638800" y="1884561"/>
            <a:ext cx="1841500" cy="2540000"/>
          </a:xfrm>
          <a:prstGeom prst="roundRect">
            <a:avLst>
              <a:gd name="adj" fmla="val 4138"/>
            </a:avLst>
          </a:prstGeom>
        </p:spPr>
      </p:pic>
      <p:pic>
        <p:nvPicPr>
          <p:cNvPr id="18" name="Image 5" descr="Profissionais de saúde a utilizar equipamento digital num centro DREAM"/>
          <p:cNvPicPr>
            <a:picLocks noChangeAspect="1"/>
          </p:cNvPicPr>
          <p:nvPr/>
        </p:nvPicPr>
        <p:blipFill>
          <a:blip r:embed="rId8"/>
          <a:srcRect l="1667" r="1667"/>
          <a:stretch/>
        </p:blipFill>
        <p:spPr>
          <a:xfrm>
            <a:off x="7581900" y="1884561"/>
            <a:ext cx="1841500" cy="2540000"/>
          </a:xfrm>
          <a:prstGeom prst="roundRect">
            <a:avLst>
              <a:gd name="adj" fmla="val 4138"/>
            </a:avLst>
          </a:prstGeom>
        </p:spPr>
      </p:pic>
      <p:pic>
        <p:nvPicPr>
          <p:cNvPr id="19" name="Image 6" descr="Exame de ecografia com apoio de tablet"/>
          <p:cNvPicPr>
            <a:picLocks noChangeAspect="1"/>
          </p:cNvPicPr>
          <p:nvPr/>
        </p:nvPicPr>
        <p:blipFill>
          <a:blip r:embed="rId9"/>
          <a:srcRect l="1667" r="1667"/>
          <a:stretch/>
        </p:blipFill>
        <p:spPr>
          <a:xfrm>
            <a:off x="9525000" y="1884561"/>
            <a:ext cx="1841500" cy="2540000"/>
          </a:xfrm>
          <a:prstGeom prst="roundRect">
            <a:avLst>
              <a:gd name="adj" fmla="val 4138"/>
            </a:avLst>
          </a:prstGeom>
        </p:spPr>
      </p:pic>
      <p:sp>
        <p:nvSpPr>
          <p:cNvPr id="20" name="Text 11"/>
          <p:cNvSpPr/>
          <p:nvPr/>
        </p:nvSpPr>
        <p:spPr>
          <a:xfrm>
            <a:off x="5638800" y="4500761"/>
            <a:ext cx="5912612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E6872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ECG e ecógrafo com IA em utilização no Programa DREAM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23" name="Picture 22" descr="Santigido.&#10;&#10;AI-generated content may be incorrect.">
            <a:extLst>
              <a:ext uri="{FF2B5EF4-FFF2-40B4-BE49-F238E27FC236}">
                <a16:creationId xmlns:a16="http://schemas.microsoft.com/office/drawing/2014/main" id="{5F4F6811-25D7-58F3-6C7C-5546AF0B29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sp>
        <p:nvSpPr>
          <p:cNvPr id="25" name="Text 21">
            <a:extLst>
              <a:ext uri="{FF2B5EF4-FFF2-40B4-BE49-F238E27FC236}">
                <a16:creationId xmlns:a16="http://schemas.microsoft.com/office/drawing/2014/main" id="{E054BB92-7C77-A9D9-422B-71EF02D54956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DNAM c/ COOPERAÇÃO ITALIANA · PROJECTO AID 012524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513036" y="1102320"/>
            <a:ext cx="1018315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 err="1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Projecto</a:t>
            </a: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 </a:t>
            </a:r>
            <a:r>
              <a:rPr lang="en-US" b="1" dirty="0"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Piloto de </a:t>
            </a:r>
            <a:r>
              <a:rPr lang="en-US" b="1" dirty="0" err="1"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Telemedicina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759496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Reforço do sistema de formação de pessoal de saúde e apoio ao </a:t>
            </a:r>
            <a:r>
              <a:rPr lang="en-US" sz="1400" dirty="0" err="1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desenvolvimento</a:t>
            </a:r>
            <a:r>
              <a:rPr lang="en-US" sz="14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da </a:t>
            </a:r>
            <a:r>
              <a:rPr lang="en-US" sz="1400" dirty="0" err="1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Telemedicina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2149971"/>
            <a:ext cx="3412034" cy="2367756"/>
          </a:xfrm>
          <a:prstGeom prst="roundRect">
            <a:avLst>
              <a:gd name="adj" fmla="val 4291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6000" y="2353171"/>
            <a:ext cx="309580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2A35E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USD 3,5M</a:t>
            </a:r>
            <a:endParaRPr lang="en-US" sz="4800" dirty="0">
              <a:latin typeface="Verdana Pro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6000" y="3038971"/>
            <a:ext cx="3095803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Financiamento da Agência Italiana para a Cooperação ao Desenvolvimento (AICS)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3999607"/>
            <a:ext cx="3005634" cy="314920"/>
          </a:xfrm>
          <a:prstGeom prst="roundRect">
            <a:avLst>
              <a:gd name="adj" fmla="val 50000"/>
            </a:avLst>
          </a:prstGeom>
          <a:solidFill>
            <a:srgbClr val="F2A35E"/>
          </a:solidFill>
          <a:ln/>
        </p:spPr>
        <p:txBody>
          <a:bodyPr wrap="square" lIns="80881" tIns="4681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Províncias de Maputo e Sofala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0409" y="2153146"/>
            <a:ext cx="3418483" cy="2361406"/>
          </a:xfrm>
          <a:prstGeom prst="roundRect">
            <a:avLst>
              <a:gd name="adj" fmla="val 4168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86784" y="2359521"/>
            <a:ext cx="30959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pt-PT" sz="1200" b="1" kern="0" spc="100" noProof="0" dirty="0">
                <a:solidFill>
                  <a:srgbClr val="2E7D85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Telemedicina em:</a:t>
            </a:r>
            <a:endParaRPr lang="pt-PT" sz="1200" noProof="0" dirty="0">
              <a:latin typeface="Verdana Pro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06148" y="2593073"/>
            <a:ext cx="3095905" cy="940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pt-PT" sz="3200" b="1" noProof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</a:rPr>
              <a:t>6 US periféricas</a:t>
            </a:r>
          </a:p>
          <a:p>
            <a:pPr marL="0" indent="0" algn="l">
              <a:lnSpc>
                <a:spcPts val="3200"/>
              </a:lnSpc>
              <a:buNone/>
            </a:pPr>
            <a:r>
              <a:rPr lang="pt-PT" sz="3200" b="1" noProof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</a:rPr>
              <a:t>2 Centrais Hospitais Centrais</a:t>
            </a:r>
            <a:endParaRPr lang="pt-PT" sz="3200" noProof="0" dirty="0">
              <a:latin typeface="Verdana Pro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86783" y="3535649"/>
            <a:ext cx="309590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680"/>
              </a:lnSpc>
            </a:pPr>
            <a:r>
              <a:rPr lang="en-US" sz="1200" b="1" kern="0" spc="100" dirty="0">
                <a:solidFill>
                  <a:srgbClr val="2E7D85"/>
                </a:solidFill>
                <a:latin typeface="Verdana Pro" panose="020B0604030504040204" pitchFamily="34" charset="0"/>
                <a:ea typeface="Public Sans" pitchFamily="34" charset="-122"/>
              </a:rPr>
              <a:t>Formação: institutos de formação</a:t>
            </a:r>
          </a:p>
        </p:txBody>
      </p:sp>
      <p:sp>
        <p:nvSpPr>
          <p:cNvPr id="13" name="Text 11"/>
          <p:cNvSpPr/>
          <p:nvPr/>
        </p:nvSpPr>
        <p:spPr>
          <a:xfrm>
            <a:off x="4596465" y="3757489"/>
            <a:ext cx="309590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4 IDF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57641" y="2153146"/>
            <a:ext cx="3418384" cy="2361406"/>
          </a:xfrm>
          <a:prstGeom prst="roundRect">
            <a:avLst>
              <a:gd name="adj" fmla="val 4168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64016" y="2359521"/>
            <a:ext cx="30958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E7D85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IMPLEMENTAÇÃO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17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4016" y="2674441"/>
            <a:ext cx="203200" cy="203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468816" y="2674441"/>
            <a:ext cx="290403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Plataforma central de telemedicina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19" name="Image 1" descr="Check"/>
          <p:cNvPicPr>
            <a:picLocks noChangeAspect="1"/>
          </p:cNvPicPr>
          <p:nvPr/>
        </p:nvPicPr>
        <p:blipFill>
          <a:blip r:embed="rId4"/>
          <a:srcRect t="-413" b="-413"/>
          <a:stretch/>
        </p:blipFill>
        <p:spPr>
          <a:xfrm>
            <a:off x="8164016" y="2981722"/>
            <a:ext cx="203200" cy="3121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97875" y="2981722"/>
            <a:ext cx="2854928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Dispositivos de diagnóstico alinhados com as especialidades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21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4016" y="3494683"/>
            <a:ext cx="203200" cy="203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68816" y="3494683"/>
            <a:ext cx="2897267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Formação em ferramentas digitais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468816" y="3801963"/>
            <a:ext cx="172295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812800" y="4746327"/>
            <a:ext cx="10566400" cy="736600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066800" y="5007967"/>
            <a:ext cx="11962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E6872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PARCEIROS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27" name="Image 4" descr="Agência Italiana para a Cooperação ao Desenvolvimento"/>
          <p:cNvPicPr>
            <a:picLocks noChangeAspect="1"/>
          </p:cNvPicPr>
          <p:nvPr/>
        </p:nvPicPr>
        <p:blipFill>
          <a:blip r:embed="rId5"/>
          <a:srcRect l="-3913" r="-3913"/>
          <a:stretch/>
        </p:blipFill>
        <p:spPr>
          <a:xfrm>
            <a:off x="2859980" y="4847927"/>
            <a:ext cx="698500" cy="533400"/>
          </a:xfrm>
          <a:prstGeom prst="rect">
            <a:avLst/>
          </a:prstGeom>
        </p:spPr>
      </p:pic>
      <p:pic>
        <p:nvPicPr>
          <p:cNvPr id="28" name="Image 5" descr="Universidade de Sassari"/>
          <p:cNvPicPr>
            <a:picLocks noChangeAspect="1"/>
          </p:cNvPicPr>
          <p:nvPr/>
        </p:nvPicPr>
        <p:blipFill>
          <a:blip r:embed="rId6"/>
          <a:srcRect t="-495" b="-495"/>
          <a:stretch/>
        </p:blipFill>
        <p:spPr>
          <a:xfrm>
            <a:off x="4354810" y="4898727"/>
            <a:ext cx="1270000" cy="431800"/>
          </a:xfrm>
          <a:prstGeom prst="rect">
            <a:avLst/>
          </a:prstGeom>
        </p:spPr>
      </p:pic>
      <p:pic>
        <p:nvPicPr>
          <p:cNvPr id="29" name="Image 6" descr="AISPO"/>
          <p:cNvPicPr>
            <a:picLocks noChangeAspect="1"/>
          </p:cNvPicPr>
          <p:nvPr/>
        </p:nvPicPr>
        <p:blipFill>
          <a:blip r:embed="rId7"/>
          <a:srcRect t="-2199" b="-2199"/>
          <a:stretch/>
        </p:blipFill>
        <p:spPr>
          <a:xfrm>
            <a:off x="6421041" y="4847927"/>
            <a:ext cx="698500" cy="533400"/>
          </a:xfrm>
          <a:prstGeom prst="rect">
            <a:avLst/>
          </a:prstGeom>
        </p:spPr>
      </p:pic>
      <p:pic>
        <p:nvPicPr>
          <p:cNvPr id="30" name="Image 7" descr="Médicos com África CUAMM"/>
          <p:cNvPicPr>
            <a:picLocks noChangeAspect="1"/>
          </p:cNvPicPr>
          <p:nvPr/>
        </p:nvPicPr>
        <p:blipFill>
          <a:blip r:embed="rId8"/>
          <a:srcRect l="-4407" r="-4407"/>
          <a:stretch/>
        </p:blipFill>
        <p:spPr>
          <a:xfrm>
            <a:off x="7915870" y="4886027"/>
            <a:ext cx="1206500" cy="457200"/>
          </a:xfrm>
          <a:prstGeom prst="rect">
            <a:avLst/>
          </a:prstGeom>
        </p:spPr>
      </p:pic>
      <p:pic>
        <p:nvPicPr>
          <p:cNvPr id="31" name="Image 8" descr="Programa DREAM, Comunidade de Sant'Egidio"/>
          <p:cNvPicPr>
            <a:picLocks noChangeAspect="1"/>
          </p:cNvPicPr>
          <p:nvPr/>
        </p:nvPicPr>
        <p:blipFill>
          <a:blip r:embed="rId9"/>
          <a:srcRect t="-20" b="-20"/>
          <a:stretch/>
        </p:blipFill>
        <p:spPr>
          <a:xfrm>
            <a:off x="9918700" y="4911427"/>
            <a:ext cx="1206500" cy="4064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  <p:pic>
        <p:nvPicPr>
          <p:cNvPr id="34" name="Picture 33" descr="Santigido.&#10;&#10;AI-generated content may be incorrect.">
            <a:extLst>
              <a:ext uri="{FF2B5EF4-FFF2-40B4-BE49-F238E27FC236}">
                <a16:creationId xmlns:a16="http://schemas.microsoft.com/office/drawing/2014/main" id="{7C866FEE-3624-C12D-2332-ED70862FA8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pic>
        <p:nvPicPr>
          <p:cNvPr id="35" name="Picture 34" descr="The image depicts the flag of Mozambique, featuring a red circle with a white star, a horizontal black line, and a green rectangle with a corn stalk, all centered around a red pentagonal emblem.&#10;&#10;AI-generated content may be incorrect.">
            <a:extLst>
              <a:ext uri="{FF2B5EF4-FFF2-40B4-BE49-F238E27FC236}">
                <a16:creationId xmlns:a16="http://schemas.microsoft.com/office/drawing/2014/main" id="{A1C137DC-0E67-770C-111E-6247C55F47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104" y="1114805"/>
            <a:ext cx="569391" cy="601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DREAM + Piloto de </a:t>
            </a:r>
            <a:r>
              <a:rPr lang="en-US" sz="1200" b="1" kern="0" spc="150" dirty="0" err="1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Telemedicina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Uma oportunidade única de sinergia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833761"/>
            <a:ext cx="3263900" cy="2783284"/>
          </a:xfrm>
          <a:prstGeom prst="roundRect">
            <a:avLst>
              <a:gd name="adj" fmla="val 3650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1833761"/>
            <a:ext cx="3263900" cy="2783284"/>
          </a:xfrm>
          <a:custGeom>
            <a:avLst/>
            <a:gdLst/>
            <a:ahLst/>
            <a:cxnLst/>
            <a:rect l="l" t="t" r="r" b="b"/>
            <a:pathLst>
              <a:path w="3263900" h="2783284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162300" y="0"/>
                </a:lnTo>
                <a:arcTo wR="101600" hR="101600" stAng="16200000" swAng="5400000"/>
                <a:lnTo>
                  <a:pt x="32639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E7D85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6000" y="2087761"/>
            <a:ext cx="294322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O DREAM traz</a:t>
            </a:r>
            <a:endParaRPr lang="en-US" sz="1800" dirty="0">
              <a:latin typeface="Verdana Pro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28700" y="2463602"/>
            <a:ext cx="0" cy="411361"/>
          </a:xfrm>
          <a:prstGeom prst="line">
            <a:avLst/>
          </a:prstGeom>
          <a:noFill/>
          <a:ln w="25400">
            <a:solidFill>
              <a:srgbClr val="2E7D85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2463602"/>
            <a:ext cx="2812415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Plataforma digital: +1M pacientes com ID único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28700" y="2976563"/>
            <a:ext cx="0" cy="411361"/>
          </a:xfrm>
          <a:prstGeom prst="line">
            <a:avLst/>
          </a:prstGeom>
          <a:noFill/>
          <a:ln w="25400">
            <a:solidFill>
              <a:srgbClr val="2E7D85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2976563"/>
            <a:ext cx="2812415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7 centros e 3 laboratórios de biologia molecular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28700" y="3489523"/>
            <a:ext cx="0" cy="411361"/>
          </a:xfrm>
          <a:prstGeom prst="line">
            <a:avLst/>
          </a:prstGeom>
          <a:noFill/>
          <a:ln w="25400">
            <a:solidFill>
              <a:srgbClr val="2E7D85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3489523"/>
            <a:ext cx="2812415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pt-PT" sz="1200" noProof="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Experiencia regional em teleconsulta e diagnóstico com IA</a:t>
            </a:r>
            <a:endParaRPr lang="pt-PT" sz="1200" noProof="0" dirty="0">
              <a:latin typeface="Verdana Pro" panose="020B060403050404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28700" y="4002484"/>
            <a:ext cx="0" cy="411361"/>
          </a:xfrm>
          <a:prstGeom prst="line">
            <a:avLst/>
          </a:prstGeom>
          <a:noFill/>
          <a:ln w="25400">
            <a:solidFill>
              <a:srgbClr val="2E7D85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4002484"/>
            <a:ext cx="2812415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60.000 doentes crónicos em seguimento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15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29100" y="3085703"/>
            <a:ext cx="508000" cy="2794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889500" y="2049363"/>
            <a:ext cx="2413000" cy="2351980"/>
          </a:xfrm>
          <a:prstGeom prst="roundRect">
            <a:avLst>
              <a:gd name="adj" fmla="val 50000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7" name="Image 1" descr="Glob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67400" y="2354163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62601" y="2912963"/>
            <a:ext cx="2066798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5F2EA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Serviços clínicos por telemedicina</a:t>
            </a:r>
            <a:endParaRPr lang="en-US" sz="2000" dirty="0">
              <a:latin typeface="Verdana Pro" panose="020B060403050404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303163" y="3890863"/>
            <a:ext cx="158567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BFD8D6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integrados no SNS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20" name="Image 2" descr="arrow-lef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54900" y="3085703"/>
            <a:ext cx="508000" cy="2794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115300" y="2142232"/>
            <a:ext cx="3263900" cy="2166243"/>
          </a:xfrm>
          <a:prstGeom prst="roundRect">
            <a:avLst>
              <a:gd name="adj" fmla="val 4690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115300" y="2142232"/>
            <a:ext cx="3263900" cy="2166243"/>
          </a:xfrm>
          <a:custGeom>
            <a:avLst/>
            <a:gdLst/>
            <a:ahLst/>
            <a:cxnLst/>
            <a:rect l="l" t="t" r="r" b="b"/>
            <a:pathLst>
              <a:path w="3263900" h="2166243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162300" y="0"/>
                </a:lnTo>
                <a:arcTo wR="101600" hR="101600" stAng="16200000" swAng="5400000"/>
                <a:lnTo>
                  <a:pt x="32639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A84B17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318500" y="2396232"/>
            <a:ext cx="294322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pt-PT" sz="1800" b="1" noProof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O </a:t>
            </a:r>
            <a:r>
              <a:rPr lang="pt-PT" sz="1800" b="1" noProof="0" dirty="0" err="1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Projecto</a:t>
            </a:r>
            <a:r>
              <a:rPr lang="pt-PT" sz="1800" b="1" noProof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 Piloto traz</a:t>
            </a:r>
            <a:endParaRPr lang="pt-PT" sz="1800" noProof="0" dirty="0">
              <a:latin typeface="Verdana Pro" panose="020B0604030504040204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8331200" y="2772073"/>
            <a:ext cx="0" cy="205680"/>
          </a:xfrm>
          <a:prstGeom prst="line">
            <a:avLst/>
          </a:prstGeom>
          <a:noFill/>
          <a:ln w="25400">
            <a:solidFill>
              <a:srgbClr val="A84B17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445500" y="2772073"/>
            <a:ext cx="2812415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Plataforma central de telemedicina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8331200" y="3079353"/>
            <a:ext cx="0" cy="205680"/>
          </a:xfrm>
          <a:prstGeom prst="line">
            <a:avLst/>
          </a:prstGeom>
          <a:noFill/>
          <a:ln w="25400">
            <a:solidFill>
              <a:srgbClr val="A84B17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8445500" y="3079353"/>
            <a:ext cx="2812415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Especialistas de 2 hospitais centrais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8331200" y="3386634"/>
            <a:ext cx="0" cy="411361"/>
          </a:xfrm>
          <a:prstGeom prst="line">
            <a:avLst/>
          </a:prstGeom>
          <a:noFill/>
          <a:ln w="25400">
            <a:solidFill>
              <a:srgbClr val="A84B17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483601" y="3907539"/>
            <a:ext cx="2812415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pt-PT" sz="1200" noProof="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Dispositivos de diagnóstico</a:t>
            </a:r>
            <a:endParaRPr lang="pt-PT" sz="1200" noProof="0" dirty="0">
              <a:latin typeface="Verdana Pro" panose="020B0604030504040204" pitchFamily="34" charset="0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8331200" y="3899595"/>
            <a:ext cx="0" cy="205680"/>
          </a:xfrm>
          <a:prstGeom prst="line">
            <a:avLst/>
          </a:prstGeom>
          <a:noFill/>
          <a:ln w="25400">
            <a:solidFill>
              <a:srgbClr val="A84B17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8449310" y="3523655"/>
            <a:ext cx="2812415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Formação em 4 </a:t>
            </a:r>
            <a:r>
              <a:rPr lang="en-US" sz="1200" dirty="0" err="1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institutos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812800" y="4845645"/>
            <a:ext cx="10566400" cy="853281"/>
          </a:xfrm>
          <a:prstGeom prst="roundRect">
            <a:avLst>
              <a:gd name="adj" fmla="val 11907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33" name="Image 3" descr="Star"/>
          <p:cNvPicPr>
            <a:picLocks noChangeAspect="1"/>
          </p:cNvPicPr>
          <p:nvPr/>
        </p:nvPicPr>
        <p:blipFill>
          <a:blip r:embed="rId6"/>
          <a:srcRect t="-318" b="-318"/>
          <a:stretch/>
        </p:blipFill>
        <p:spPr>
          <a:xfrm>
            <a:off x="1066800" y="5119886"/>
            <a:ext cx="296565" cy="3048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515765" y="5023445"/>
            <a:ext cx="989771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2E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Ponto de partida comum: Maputo e Sofala</a:t>
            </a:r>
            <a:r>
              <a:rPr lang="en-US" sz="1400" dirty="0">
                <a:solidFill>
                  <a:srgbClr val="BFD8D6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— onde o DREAM tem centros e o projecto tem hospitais e unidades de saúde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pic>
        <p:nvPicPr>
          <p:cNvPr id="37" name="Picture 36" descr="Santigido.&#10;&#10;AI-generated content may be incorrect.">
            <a:extLst>
              <a:ext uri="{FF2B5EF4-FFF2-40B4-BE49-F238E27FC236}">
                <a16:creationId xmlns:a16="http://schemas.microsoft.com/office/drawing/2014/main" id="{EA68B489-C529-91C2-0AD7-6885CAA68E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sp>
        <p:nvSpPr>
          <p:cNvPr id="39" name="Text 21">
            <a:extLst>
              <a:ext uri="{FF2B5EF4-FFF2-40B4-BE49-F238E27FC236}">
                <a16:creationId xmlns:a16="http://schemas.microsoft.com/office/drawing/2014/main" id="{048A4174-78E3-8956-908A-2412E7D28A9D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VISÃO DE UM MODELO OPERACIONAL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Do Centro de </a:t>
            </a:r>
            <a:r>
              <a:rPr lang="en-US" sz="3600" b="1" i="0" dirty="0" err="1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Saúde</a:t>
            </a: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 ao especialista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2054027"/>
            <a:ext cx="1702991" cy="1563191"/>
          </a:xfrm>
          <a:prstGeom prst="roundRect">
            <a:avLst>
              <a:gd name="adj" fmla="val 6296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5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1550" y="2209602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50" y="2552502"/>
            <a:ext cx="14426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1. Utente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71550" y="2844602"/>
            <a:ext cx="1442641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Atendido no centro DREAM ou na unidade de saúde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23741" y="2746772"/>
            <a:ext cx="304800" cy="177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33316" y="2156916"/>
            <a:ext cx="1703090" cy="1357511"/>
          </a:xfrm>
          <a:prstGeom prst="roundRect">
            <a:avLst>
              <a:gd name="adj" fmla="val 7250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0" name="Image 2" descr="Activity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8891" y="2312491"/>
            <a:ext cx="279400" cy="279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88891" y="2655391"/>
            <a:ext cx="14427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2. Exame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188891" y="2947491"/>
            <a:ext cx="144274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 dispositivo de diagnóstico ligado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13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1180" y="2746772"/>
            <a:ext cx="304800" cy="1778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250755" y="2054027"/>
            <a:ext cx="1703090" cy="1563191"/>
          </a:xfrm>
          <a:prstGeom prst="roundRect">
            <a:avLst>
              <a:gd name="adj" fmla="val 6296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5" name="Image 4" descr="Databas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06330" y="2209602"/>
            <a:ext cx="279400" cy="279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06330" y="2552502"/>
            <a:ext cx="14427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3. Registo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406330" y="2844602"/>
            <a:ext cx="144274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No processo clínico electrónico, com ID único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18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58620" y="2746772"/>
            <a:ext cx="304800" cy="1778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465020" y="2057202"/>
            <a:ext cx="1696740" cy="1556841"/>
          </a:xfrm>
          <a:prstGeom prst="roundRect">
            <a:avLst>
              <a:gd name="adj" fmla="val 6526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0" name="Image 6" descr="Glob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7420" y="2209602"/>
            <a:ext cx="279400" cy="2794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617420" y="2552502"/>
            <a:ext cx="14427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2E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4. Parecer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7617420" y="2844602"/>
            <a:ext cx="144274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BFD8D6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Especialista do hospital central, via plataforma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23" name="Image 7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63360" y="2746772"/>
            <a:ext cx="304800" cy="17780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672935" y="1836936"/>
            <a:ext cx="1703090" cy="1997472"/>
          </a:xfrm>
          <a:prstGeom prst="roundRect">
            <a:avLst>
              <a:gd name="adj" fmla="val 5779"/>
            </a:avLst>
          </a:prstGeom>
          <a:solidFill>
            <a:srgbClr val="FFFDF8"/>
          </a:solidFill>
          <a:ln w="6350">
            <a:solidFill>
              <a:srgbClr val="E3DED2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5" name="Image 8" descr="Home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828510" y="1992511"/>
            <a:ext cx="279400" cy="2794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828510" y="2335411"/>
            <a:ext cx="144274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5. Cuidado local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9828510" y="2856111"/>
            <a:ext cx="1442740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Tratamento perto de casa, sem transferência evitável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8" name="Shape 17"/>
          <p:cNvSpPr/>
          <p:nvPr/>
        </p:nvSpPr>
        <p:spPr>
          <a:xfrm>
            <a:off x="812800" y="4066183"/>
            <a:ext cx="2501900" cy="1724620"/>
          </a:xfrm>
          <a:prstGeom prst="roundRect">
            <a:avLst>
              <a:gd name="adj" fmla="val 5891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9" name="Image 9" descr="Ecógrafo portátil"/>
          <p:cNvPicPr>
            <a:picLocks noChangeAspect="1"/>
          </p:cNvPicPr>
          <p:nvPr/>
        </p:nvPicPr>
        <p:blipFill>
          <a:blip r:embed="rId9"/>
          <a:srcRect l="-68421" r="-68421"/>
          <a:stretch/>
        </p:blipFill>
        <p:spPr>
          <a:xfrm>
            <a:off x="1111250" y="4193183"/>
            <a:ext cx="1905000" cy="12065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674306" y="5450483"/>
            <a:ext cx="7787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Ecógrafo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1" name="Shape 19"/>
          <p:cNvSpPr/>
          <p:nvPr/>
        </p:nvSpPr>
        <p:spPr>
          <a:xfrm>
            <a:off x="3467100" y="4066183"/>
            <a:ext cx="2501900" cy="1724620"/>
          </a:xfrm>
          <a:prstGeom prst="roundRect">
            <a:avLst>
              <a:gd name="adj" fmla="val 5891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32" name="Image 10" descr="Estetoscópio digital"/>
          <p:cNvPicPr>
            <a:picLocks noChangeAspect="1"/>
          </p:cNvPicPr>
          <p:nvPr/>
        </p:nvPicPr>
        <p:blipFill>
          <a:blip r:embed="rId10"/>
          <a:srcRect l="-53199" r="-53199"/>
          <a:stretch/>
        </p:blipFill>
        <p:spPr>
          <a:xfrm>
            <a:off x="3765550" y="4193183"/>
            <a:ext cx="1905000" cy="12065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3864025" y="5450483"/>
            <a:ext cx="17079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Estetoscópio digital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4" name="Shape 21"/>
          <p:cNvSpPr/>
          <p:nvPr/>
        </p:nvSpPr>
        <p:spPr>
          <a:xfrm>
            <a:off x="6121400" y="4066183"/>
            <a:ext cx="2501900" cy="1724620"/>
          </a:xfrm>
          <a:prstGeom prst="roundRect">
            <a:avLst>
              <a:gd name="adj" fmla="val 5891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35" name="Image 11" descr="Electrocardiógrafo digital com tablet"/>
          <p:cNvPicPr>
            <a:picLocks noChangeAspect="1"/>
          </p:cNvPicPr>
          <p:nvPr/>
        </p:nvPicPr>
        <p:blipFill>
          <a:blip r:embed="rId11"/>
          <a:srcRect l="-2608" r="-2608"/>
          <a:stretch/>
        </p:blipFill>
        <p:spPr>
          <a:xfrm>
            <a:off x="6419850" y="4193183"/>
            <a:ext cx="1905000" cy="12065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564402" y="5450483"/>
            <a:ext cx="16157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Electrocardiógrafo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7" name="Shape 23"/>
          <p:cNvSpPr/>
          <p:nvPr/>
        </p:nvSpPr>
        <p:spPr>
          <a:xfrm>
            <a:off x="8775700" y="4066183"/>
            <a:ext cx="2603500" cy="1724620"/>
          </a:xfrm>
          <a:prstGeom prst="roundRect">
            <a:avLst>
              <a:gd name="adj" fmla="val 5891"/>
            </a:avLst>
          </a:prstGeom>
          <a:solidFill>
            <a:srgbClr val="E6EFEE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38" name="Text 24"/>
          <p:cNvSpPr/>
          <p:nvPr/>
        </p:nvSpPr>
        <p:spPr>
          <a:xfrm>
            <a:off x="8953500" y="4357092"/>
            <a:ext cx="231533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E7D85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INTERNET DAS COISAS MÉDICAS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9" name="Text 25"/>
          <p:cNvSpPr/>
          <p:nvPr/>
        </p:nvSpPr>
        <p:spPr>
          <a:xfrm>
            <a:off x="8953500" y="4859933"/>
            <a:ext cx="231533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Dispositivos ligados enviam os exames directamente para o processo clínico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42" name="Picture 41" descr="Santigido.&#10;&#10;AI-generated content may be incorrect.">
            <a:extLst>
              <a:ext uri="{FF2B5EF4-FFF2-40B4-BE49-F238E27FC236}">
                <a16:creationId xmlns:a16="http://schemas.microsoft.com/office/drawing/2014/main" id="{F9C64BD2-0417-00D1-09EA-78EE486F37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sp>
        <p:nvSpPr>
          <p:cNvPr id="44" name="Text 21">
            <a:extLst>
              <a:ext uri="{FF2B5EF4-FFF2-40B4-BE49-F238E27FC236}">
                <a16:creationId xmlns:a16="http://schemas.microsoft.com/office/drawing/2014/main" id="{38AB6CB2-D86C-4E94-EE99-608C2FEED622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RESULTADOS ESPERADOS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Impacto no acesso aos cuidados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859161"/>
            <a:ext cx="3937000" cy="3479304"/>
          </a:xfrm>
          <a:prstGeom prst="roundRect">
            <a:avLst>
              <a:gd name="adj" fmla="val 2920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5" name="Image 0" descr="PaperPla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8400" y="2527002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8400" y="3085802"/>
            <a:ext cx="3322574" cy="1610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5F2EA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Levar o especialista ao doente, e não o doente ao especialista.</a:t>
            </a:r>
            <a:endParaRPr lang="en-US" sz="2600" dirty="0">
              <a:latin typeface="Verdana Pro" panose="020B060403050404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953000" y="1859161"/>
            <a:ext cx="6426200" cy="634901"/>
          </a:xfrm>
          <a:prstGeom prst="roundRect">
            <a:avLst>
              <a:gd name="adj" fmla="val 12002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8" name="Image 1" descr="ThumbsUp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30800" y="2036862"/>
            <a:ext cx="279400" cy="279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2600" y="1960761"/>
            <a:ext cx="319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Mais eficiência e qualidade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562600" y="2186781"/>
            <a:ext cx="3728085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Decisões clínicas apoiadas por especialistas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953000" y="2570262"/>
            <a:ext cx="6426200" cy="634901"/>
          </a:xfrm>
          <a:prstGeom prst="roundRect">
            <a:avLst>
              <a:gd name="adj" fmla="val 12002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2" name="Image 2" descr="Hom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0800" y="2747963"/>
            <a:ext cx="279400" cy="27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62600" y="2671862"/>
            <a:ext cx="3212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Menos </a:t>
            </a:r>
            <a:r>
              <a:rPr lang="en-US" sz="1400" b="1" dirty="0" err="1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transferências</a:t>
            </a: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| Menos peso </a:t>
            </a:r>
            <a:r>
              <a:rPr lang="en-US" sz="1400" b="1" dirty="0" err="1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laboral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562600" y="2897882"/>
            <a:ext cx="3742611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Mais doentes tratados na unidade de origem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953000" y="3281363"/>
            <a:ext cx="6426200" cy="634901"/>
          </a:xfrm>
          <a:prstGeom prst="roundRect">
            <a:avLst>
              <a:gd name="adj" fmla="val 12002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6" name="Image 3" descr="Glob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30800" y="3459063"/>
            <a:ext cx="279400" cy="279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62600" y="3382963"/>
            <a:ext cx="26060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Menos barreiras geográficas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562600" y="3608983"/>
            <a:ext cx="30362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Cuidados especializados à distância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953000" y="3992463"/>
            <a:ext cx="6426200" cy="634901"/>
          </a:xfrm>
          <a:prstGeom prst="roundRect">
            <a:avLst>
              <a:gd name="adj" fmla="val 12002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0" name="Image 4" descr="Chart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30800" y="4170164"/>
            <a:ext cx="279400" cy="279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62600" y="4094063"/>
            <a:ext cx="29503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Custos mais baixos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562600" y="4320084"/>
            <a:ext cx="343733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Na prestação de cuidados e na formação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4953000" y="4703564"/>
            <a:ext cx="6426200" cy="634901"/>
          </a:xfrm>
          <a:prstGeom prst="roundRect">
            <a:avLst>
              <a:gd name="adj" fmla="val 12002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24" name="Image 5" descr="Trust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130800" y="4881265"/>
            <a:ext cx="279400" cy="279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62600" y="4805164"/>
            <a:ext cx="29007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Sustentabilidade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5562600" y="5031184"/>
            <a:ext cx="337947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Plano de sustentabilidade desde o início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29" name="Picture 28" descr="Santigido.&#10;&#10;AI-generated content may be incorrect.">
            <a:extLst>
              <a:ext uri="{FF2B5EF4-FFF2-40B4-BE49-F238E27FC236}">
                <a16:creationId xmlns:a16="http://schemas.microsoft.com/office/drawing/2014/main" id="{7A3C2373-CBAD-49C3-3077-B7EEA640E2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sp>
        <p:nvSpPr>
          <p:cNvPr id="31" name="Text 21">
            <a:extLst>
              <a:ext uri="{FF2B5EF4-FFF2-40B4-BE49-F238E27FC236}">
                <a16:creationId xmlns:a16="http://schemas.microsoft.com/office/drawing/2014/main" id="{4B923B0A-1E03-B777-9772-B88A94E75EF1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PESSOAS · PROCESSOS · TECNOLOGIA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Condições para o sucesso</a:t>
            </a:r>
            <a:endParaRPr lang="en-US" sz="3600" dirty="0">
              <a:latin typeface="Verdana Pro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2025291"/>
            <a:ext cx="3420467" cy="2255242"/>
          </a:xfrm>
          <a:prstGeom prst="roundRect">
            <a:avLst>
              <a:gd name="adj" fmla="val 450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2025291"/>
            <a:ext cx="3420467" cy="2255242"/>
          </a:xfrm>
          <a:custGeom>
            <a:avLst/>
            <a:gdLst/>
            <a:ahLst/>
            <a:cxnLst/>
            <a:rect l="l" t="t" r="r" b="b"/>
            <a:pathLst>
              <a:path w="3420467" h="2255242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867" y="0"/>
                </a:lnTo>
                <a:arcTo wR="101600" hR="101600" stAng="16200000" swAng="5400000"/>
                <a:lnTo>
                  <a:pt x="3420467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E7D85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6000" y="2279291"/>
            <a:ext cx="31044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Pessoas</a:t>
            </a:r>
            <a:endParaRPr lang="en-US" sz="2000" dirty="0">
              <a:latin typeface="Verdana Pro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6000" y="2660291"/>
            <a:ext cx="31044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D85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Lideram o impacto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2949811"/>
            <a:ext cx="310448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Formação, literacia digital e gestão da mudança</a:t>
            </a:r>
            <a:endParaRPr lang="en-US" sz="1300" dirty="0">
              <a:latin typeface="Verdana Pro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16000" y="3488172"/>
            <a:ext cx="3014067" cy="589161"/>
          </a:xfrm>
          <a:prstGeom prst="roundRect">
            <a:avLst>
              <a:gd name="adj" fmla="val 10778"/>
            </a:avLst>
          </a:prstGeom>
          <a:solidFill>
            <a:srgbClr val="F5F2EA"/>
          </a:solidFill>
          <a:ln/>
        </p:spPr>
        <p:txBody>
          <a:bodyPr wrap="square" lIns="95701" tIns="70301" rIns="12137" bIns="44901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Sem pessoas:</a:t>
            </a: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baixa adopção e investimentos subutilizados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5667" y="2025291"/>
            <a:ext cx="3420566" cy="2255242"/>
          </a:xfrm>
          <a:prstGeom prst="roundRect">
            <a:avLst>
              <a:gd name="adj" fmla="val 450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5667" y="2025291"/>
            <a:ext cx="3420566" cy="2255242"/>
          </a:xfrm>
          <a:custGeom>
            <a:avLst/>
            <a:gdLst/>
            <a:ahLst/>
            <a:cxnLst/>
            <a:rect l="l" t="t" r="r" b="b"/>
            <a:pathLst>
              <a:path w="3420566" h="2255242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66" y="0"/>
                </a:lnTo>
                <a:arcTo wR="101600" hR="101600" stAng="16200000" swAng="5400000"/>
                <a:lnTo>
                  <a:pt x="3420566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885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88867" y="2279291"/>
            <a:ext cx="31045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Processos</a:t>
            </a:r>
            <a:endParaRPr lang="en-US" sz="2000" dirty="0">
              <a:latin typeface="Verdana Pro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88867" y="2660291"/>
            <a:ext cx="3104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4B17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Governam a execução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88867" y="2949811"/>
            <a:ext cx="310459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Protocolos de teleconsultoria integrados na rede de referência</a:t>
            </a:r>
            <a:endParaRPr lang="en-US" sz="1300" dirty="0">
              <a:latin typeface="Verdana Pro" panose="020B060403050404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88867" y="3488172"/>
            <a:ext cx="3014166" cy="589161"/>
          </a:xfrm>
          <a:prstGeom prst="roundRect">
            <a:avLst>
              <a:gd name="adj" fmla="val 10778"/>
            </a:avLst>
          </a:prstGeom>
          <a:solidFill>
            <a:srgbClr val="F5F2EA"/>
          </a:solidFill>
          <a:ln/>
        </p:spPr>
        <p:txBody>
          <a:bodyPr wrap="square" lIns="95701" tIns="70301" rIns="12134" bIns="44901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Sem processos:</a:t>
            </a: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fraca sustentabilidade e baixa qualidade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58634" y="2025291"/>
            <a:ext cx="3420566" cy="2255242"/>
          </a:xfrm>
          <a:prstGeom prst="roundRect">
            <a:avLst>
              <a:gd name="adj" fmla="val 450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58634" y="2025291"/>
            <a:ext cx="3420566" cy="2255242"/>
          </a:xfrm>
          <a:custGeom>
            <a:avLst/>
            <a:gdLst/>
            <a:ahLst/>
            <a:cxnLst/>
            <a:rect l="l" t="t" r="r" b="b"/>
            <a:pathLst>
              <a:path w="3420566" h="2255242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18966" y="0"/>
                </a:lnTo>
                <a:arcTo wR="101600" hR="101600" stAng="16200000" swAng="5400000"/>
                <a:lnTo>
                  <a:pt x="3420566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61834" y="2279291"/>
            <a:ext cx="31045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3B3F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Tecnologia</a:t>
            </a:r>
            <a:endParaRPr lang="en-US" sz="2000" dirty="0">
              <a:latin typeface="Verdana Pro" panose="020B060403050404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61834" y="2660291"/>
            <a:ext cx="3104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Possibilita a visão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61834" y="2949811"/>
            <a:ext cx="310459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E3B3F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Conectividade, plataforma interoperável e dispositivos</a:t>
            </a:r>
            <a:endParaRPr lang="en-US" sz="1300" dirty="0">
              <a:latin typeface="Verdana Pro" panose="020B060403050404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61834" y="3488172"/>
            <a:ext cx="3014166" cy="589161"/>
          </a:xfrm>
          <a:prstGeom prst="roundRect">
            <a:avLst>
              <a:gd name="adj" fmla="val 10778"/>
            </a:avLst>
          </a:prstGeom>
          <a:solidFill>
            <a:srgbClr val="F5F2EA"/>
          </a:solidFill>
          <a:ln/>
        </p:spPr>
        <p:txBody>
          <a:bodyPr wrap="square" lIns="95701" tIns="70301" rIns="12134" bIns="44901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Sem tecnologia:</a:t>
            </a:r>
            <a:r>
              <a:rPr lang="en-US" sz="1200" dirty="0">
                <a:solidFill>
                  <a:srgbClr val="46525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frustração, ineficiência e custos elevados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2800" y="4622701"/>
            <a:ext cx="10566400" cy="1081881"/>
          </a:xfrm>
          <a:prstGeom prst="roundRect">
            <a:avLst>
              <a:gd name="adj" fmla="val 9391"/>
            </a:avLst>
          </a:prstGeom>
          <a:solidFill>
            <a:srgbClr val="0E3B3F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66800" y="4800501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A35E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PRÓXIMOS PASSOS PROPOSTOS COM OS SERVIÇOS DE SAÚDE E DNAM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2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5115421"/>
            <a:ext cx="203200" cy="203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46200" y="5115421"/>
            <a:ext cx="22733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5F2E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Priorizar unidades sanitárias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2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19500" y="5115421"/>
            <a:ext cx="203200" cy="203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898900" y="5115421"/>
            <a:ext cx="22733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5F2E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Integrar na rede de referência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2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2200" y="5115421"/>
            <a:ext cx="203200" cy="203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51600" y="5115421"/>
            <a:ext cx="1931075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5F2E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Apoiar a conectividade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30" name="Image 3" descr="Check"/>
          <p:cNvPicPr>
            <a:picLocks noChangeAspect="1"/>
          </p:cNvPicPr>
          <p:nvPr/>
        </p:nvPicPr>
        <p:blipFill>
          <a:blip r:embed="rId4"/>
          <a:srcRect l="-323" r="-323"/>
          <a:stretch/>
        </p:blipFill>
        <p:spPr>
          <a:xfrm>
            <a:off x="8724900" y="5115421"/>
            <a:ext cx="185341" cy="203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986441" y="5115421"/>
            <a:ext cx="220292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5F2E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Co-liderar formação e </a:t>
            </a:r>
            <a:r>
              <a:rPr lang="en-US" sz="1200" dirty="0" err="1">
                <a:solidFill>
                  <a:srgbClr val="F5F2E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supervisão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pic>
        <p:nvPicPr>
          <p:cNvPr id="34" name="Picture 33" descr="Santigido.&#10;&#10;AI-generated content may be incorrect.">
            <a:extLst>
              <a:ext uri="{FF2B5EF4-FFF2-40B4-BE49-F238E27FC236}">
                <a16:creationId xmlns:a16="http://schemas.microsoft.com/office/drawing/2014/main" id="{10C4DD15-368F-E24B-D808-91CA5E09E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9082" y="240568"/>
            <a:ext cx="1748118" cy="585664"/>
          </a:xfrm>
          <a:prstGeom prst="rect">
            <a:avLst/>
          </a:prstGeom>
        </p:spPr>
      </p:pic>
      <p:sp>
        <p:nvSpPr>
          <p:cNvPr id="36" name="Text 21">
            <a:extLst>
              <a:ext uri="{FF2B5EF4-FFF2-40B4-BE49-F238E27FC236}">
                <a16:creationId xmlns:a16="http://schemas.microsoft.com/office/drawing/2014/main" id="{A02C9521-EBA4-BAF7-C7D0-AFD5C6DD8865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solidFill>
                  <a:srgbClr val="66707A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7" grpId="0" animBg="1"/>
      <p:bldP spid="29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8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93453"/>
            <a:ext cx="1020318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0E2A2D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DREAM e </a:t>
            </a:r>
            <a:r>
              <a:rPr lang="en-US" sz="4000" b="1" i="0" dirty="0" err="1">
                <a:solidFill>
                  <a:srgbClr val="0E2A2D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Telemedicina</a:t>
            </a:r>
            <a:r>
              <a:rPr lang="en-US" sz="4000" b="1" i="0" dirty="0">
                <a:solidFill>
                  <a:srgbClr val="0E2A2D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: da plataforma digital à prestação de cuidados por telemedicina</a:t>
            </a:r>
            <a:endParaRPr lang="en-US" sz="4000" dirty="0">
              <a:latin typeface="Verdana Pro" panose="020B060403050404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3846612"/>
            <a:ext cx="3352800" cy="0"/>
          </a:xfrm>
          <a:prstGeom prst="line">
            <a:avLst/>
          </a:prstGeom>
          <a:noFill/>
          <a:ln w="19050">
            <a:solidFill>
              <a:srgbClr val="0E2A2D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983137"/>
            <a:ext cx="34533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+1.000.000 pacientes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4281587"/>
            <a:ext cx="345338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Numa plataforma 100% digital, sem papel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19600" y="3846612"/>
            <a:ext cx="3352800" cy="0"/>
          </a:xfrm>
          <a:prstGeom prst="line">
            <a:avLst/>
          </a:prstGeom>
          <a:noFill/>
          <a:ln w="19050">
            <a:solidFill>
              <a:srgbClr val="0E2A2D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19600" y="3983137"/>
            <a:ext cx="34533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Piloto de </a:t>
            </a:r>
            <a:r>
              <a:rPr lang="en-US" sz="1500" b="1" dirty="0" err="1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Telemedicina</a:t>
            </a:r>
            <a:r>
              <a:rPr lang="en-US" sz="1500" b="1" dirty="0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- DNAM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19600" y="4281587"/>
            <a:ext cx="345338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Para formação e </a:t>
            </a:r>
            <a:r>
              <a:rPr lang="en-US" sz="1200" dirty="0" err="1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Telemedicina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26400" y="3846612"/>
            <a:ext cx="3352800" cy="0"/>
          </a:xfrm>
          <a:prstGeom prst="line">
            <a:avLst/>
          </a:prstGeom>
          <a:noFill/>
          <a:ln w="19050">
            <a:solidFill>
              <a:srgbClr val="0E2A2D"/>
            </a:solidFill>
            <a:prstDash val="solid"/>
          </a:ln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26400" y="3983137"/>
            <a:ext cx="34533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Maputo e Sofala</a:t>
            </a:r>
            <a:endParaRPr lang="en-US" sz="1500" dirty="0">
              <a:latin typeface="Verdana Pro" panose="020B060403050404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26400" y="4281587"/>
            <a:ext cx="345338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E2A2D"/>
                </a:solidFill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Ponto de partida comum para escalar no SNS</a:t>
            </a:r>
            <a:endParaRPr lang="en-US" sz="1200" dirty="0">
              <a:latin typeface="Verdana Pro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2800" y="5234980"/>
            <a:ext cx="329612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E2A2D"/>
                </a:solidFill>
                <a:latin typeface="Verdana Pro" panose="020B0604030504040204" pitchFamily="34" charset="0"/>
                <a:ea typeface="Source Serif 4" pitchFamily="18" charset="-122"/>
                <a:cs typeface="Source Serif 4" pitchFamily="18" charset="-120"/>
              </a:rPr>
              <a:t>Muito obrigado!</a:t>
            </a:r>
            <a:endParaRPr lang="en-US" sz="2800" dirty="0">
              <a:latin typeface="Verdana Pro" panose="020B060403050404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74100" y="5054600"/>
            <a:ext cx="2705100" cy="787400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pt-PT">
              <a:latin typeface="Verdana Pro" panose="020B0604030504040204" pitchFamily="34" charset="0"/>
            </a:endParaRPr>
          </a:p>
        </p:txBody>
      </p:sp>
      <p:pic>
        <p:nvPicPr>
          <p:cNvPr id="19" name="Picture 18" descr="Santigido.&#10;&#10;AI-generated content may be incorrect.">
            <a:extLst>
              <a:ext uri="{FF2B5EF4-FFF2-40B4-BE49-F238E27FC236}">
                <a16:creationId xmlns:a16="http://schemas.microsoft.com/office/drawing/2014/main" id="{FE4B16A1-1E8B-C34B-0FDA-5D874E4CC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893" y="5111681"/>
            <a:ext cx="2009513" cy="673238"/>
          </a:xfrm>
          <a:prstGeom prst="rect">
            <a:avLst/>
          </a:prstGeom>
        </p:spPr>
      </p:pic>
      <p:sp>
        <p:nvSpPr>
          <p:cNvPr id="21" name="Text 21">
            <a:extLst>
              <a:ext uri="{FF2B5EF4-FFF2-40B4-BE49-F238E27FC236}">
                <a16:creationId xmlns:a16="http://schemas.microsoft.com/office/drawing/2014/main" id="{4E5346C6-FAD5-5F2B-3FAD-A4F5A45B6188}"/>
              </a:ext>
            </a:extLst>
          </p:cNvPr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900" dirty="0" err="1"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Comunidade</a:t>
            </a:r>
            <a:r>
              <a:rPr lang="en-US" sz="900" dirty="0"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de </a:t>
            </a:r>
            <a:r>
              <a:rPr lang="en-US" sz="900" dirty="0" err="1"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Sant'Egidio</a:t>
            </a:r>
            <a:r>
              <a:rPr lang="en-US" sz="900" dirty="0"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 · </a:t>
            </a:r>
            <a:r>
              <a:rPr lang="pt-PT" sz="900" dirty="0">
                <a:latin typeface="Verdana Pro" panose="020B0604030504040204" pitchFamily="34" charset="0"/>
                <a:ea typeface="Public Sans" pitchFamily="34" charset="-122"/>
                <a:cs typeface="Public Sans" pitchFamily="34" charset="-120"/>
              </a:rPr>
              <a:t>Serviços Saúde da Cidade de Maputo · 12.10.2026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lemedicina como estratégia para ampliar o acesso">
  <a:themeElements>
    <a:clrScheme name="Telemedicina como estratégia para ampliar o acesso">
      <a:dk1>
        <a:srgbClr val="0E3B3F"/>
      </a:dk1>
      <a:lt1>
        <a:srgbClr val="F5F2EA"/>
      </a:lt1>
      <a:dk2>
        <a:srgbClr val="48696A"/>
      </a:dk2>
      <a:lt2>
        <a:srgbClr val="DEE0D9"/>
      </a:lt2>
      <a:accent1>
        <a:srgbClr val="A84B17"/>
      </a:accent1>
      <a:accent2>
        <a:srgbClr val="F2A35E"/>
      </a:accent2>
      <a:accent3>
        <a:srgbClr val="2E7D85"/>
      </a:accent3>
      <a:accent4>
        <a:srgbClr val="E8853F"/>
      </a:accent4>
      <a:accent5>
        <a:srgbClr val="46525A"/>
      </a:accent5>
      <a:accent6>
        <a:srgbClr val="BFD8D6"/>
      </a:accent6>
      <a:hlink>
        <a:srgbClr val="0563C1"/>
      </a:hlink>
      <a:folHlink>
        <a:srgbClr val="954F72"/>
      </a:folHlink>
    </a:clrScheme>
    <a:fontScheme name="Telemedicina como estratégia para ampliar o acesso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1165</Words>
  <Application>Microsoft Office PowerPoint</Application>
  <PresentationFormat>Widescreen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Public Sans</vt:lpstr>
      <vt:lpstr>Source Serif 4</vt:lpstr>
      <vt:lpstr>Verdana Pro</vt:lpstr>
      <vt:lpstr>Telemedicina como estratégia para ampliar o acesso</vt:lpstr>
      <vt:lpstr>Telemedicina como estratégia para ampliar o acesso e apoiar a prestação de cuidados de saúde</vt:lpstr>
      <vt:lpstr>Um distrito, um banco?</vt:lpstr>
      <vt:lpstr>O desafio do acesso</vt:lpstr>
      <vt:lpstr>Quatro formas de ampliar o acesso</vt:lpstr>
      <vt:lpstr>Mais de duas décadas ao lado do SNS</vt:lpstr>
      <vt:lpstr>Uma plataforma clínica 100% digital</vt:lpstr>
      <vt:lpstr>A DREAM está preparada para a Telemedicina</vt:lpstr>
      <vt:lpstr>Projecto Piloto de Telemedicina</vt:lpstr>
      <vt:lpstr>Uma oportunidade única de sinergia</vt:lpstr>
      <vt:lpstr>Do Centro de Saúde ao especialista</vt:lpstr>
      <vt:lpstr>Impacto no acesso aos cuidados</vt:lpstr>
      <vt:lpstr>Condições para o sucesso</vt:lpstr>
      <vt:lpstr>DREAM e Telemedicina: da plataforma digital à prestação de cuidados por telemedicina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Telemedicina como estratégia para ampliar o acesso</dc:title>
  <dc:subject/>
  <dc:creator/>
  <cp:lastModifiedBy>Victor Mourana</cp:lastModifiedBy>
  <cp:revision>1</cp:revision>
  <dcterms:created xsi:type="dcterms:W3CDTF">2026-10-12T12:53:38Z</dcterms:created>
  <dcterms:modified xsi:type="dcterms:W3CDTF">2026-10-13T09:40:11Z</dcterms:modified>
</cp:coreProperties>
</file>