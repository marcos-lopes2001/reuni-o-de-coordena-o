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charts/chart5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6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7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8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1.xml" ContentType="application/vnd.openxmlformats-officedocument.drawingml.chartshapes+xml"/>
  <Override PartName="/ppt/charts/chart9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10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rawings/drawing2.xml" ContentType="application/vnd.openxmlformats-officedocument.drawingml.chartshapes+xml"/>
  <Override PartName="/ppt/charts/chart11.xml" ContentType="application/vnd.openxmlformats-officedocument.drawingml.chart+xml"/>
  <Override PartName="/ppt/drawings/drawing3.xml" ContentType="application/vnd.openxmlformats-officedocument.drawingml.chartshapes+xml"/>
  <Override PartName="/ppt/charts/chart12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3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drawings/drawing4.xml" ContentType="application/vnd.openxmlformats-officedocument.drawingml.chartshapes+xml"/>
  <Override PartName="/ppt/charts/chart14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258" r:id="rId3"/>
    <p:sldId id="382" r:id="rId4"/>
    <p:sldId id="383" r:id="rId5"/>
    <p:sldId id="333" r:id="rId6"/>
    <p:sldId id="345" r:id="rId7"/>
    <p:sldId id="346" r:id="rId8"/>
    <p:sldId id="347" r:id="rId9"/>
    <p:sldId id="348" r:id="rId10"/>
    <p:sldId id="349" r:id="rId11"/>
    <p:sldId id="350" r:id="rId12"/>
    <p:sldId id="351" r:id="rId13"/>
    <p:sldId id="352" r:id="rId14"/>
    <p:sldId id="353" r:id="rId15"/>
    <p:sldId id="354" r:id="rId16"/>
    <p:sldId id="344" r:id="rId17"/>
    <p:sldId id="355" r:id="rId18"/>
    <p:sldId id="356" r:id="rId19"/>
    <p:sldId id="357" r:id="rId20"/>
    <p:sldId id="358" r:id="rId21"/>
    <p:sldId id="359" r:id="rId22"/>
    <p:sldId id="360" r:id="rId23"/>
    <p:sldId id="361" r:id="rId24"/>
    <p:sldId id="362" r:id="rId25"/>
    <p:sldId id="363" r:id="rId26"/>
    <p:sldId id="364" r:id="rId27"/>
    <p:sldId id="365" r:id="rId28"/>
    <p:sldId id="367" r:id="rId29"/>
    <p:sldId id="368" r:id="rId30"/>
    <p:sldId id="369" r:id="rId31"/>
    <p:sldId id="384" r:id="rId32"/>
    <p:sldId id="381" r:id="rId33"/>
    <p:sldId id="343" r:id="rId34"/>
  </p:sldIdLst>
  <p:sldSz cx="12192000" cy="6858000"/>
  <p:notesSz cx="6858000" cy="9144000"/>
  <p:custDataLst>
    <p:tags r:id="rId37"/>
  </p:custData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gano" initials="" lastIdx="0" clrIdx="0"/>
  <p:cmAuthor id="2" name="Maria da Luz Velho VAZ" initials="" lastIdx="0" clrIdx="1"/>
  <p:cmAuthor id="3" name="Nelita Nassone" initials="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F8FD"/>
    <a:srgbClr val="E8F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8797C8-0E34-4105-B43A-9473771095AA}" v="45" dt="2026-09-17T12:31:44.8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B9631B5-78F2-41C9-869B-9F39066F8104}" styleName="Estilo Médio 3 - 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Estilo Médio 3 - Ênfase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603" autoAdjust="0"/>
  </p:normalViewPr>
  <p:slideViewPr>
    <p:cSldViewPr snapToGrid="0">
      <p:cViewPr varScale="1">
        <p:scale>
          <a:sx n="74" d="100"/>
          <a:sy n="74" d="100"/>
        </p:scale>
        <p:origin x="902" y="-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576"/>
    </p:cViewPr>
  </p:sorterViewPr>
  <p:notesViewPr>
    <p:cSldViewPr snapToGrid="0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gs" Target="tags/tag1.xml"/><Relationship Id="rId40" Type="http://schemas.openxmlformats.org/officeDocument/2006/relationships/viewProps" Target="viewProps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ovao Timbana" userId="7ed9e01f-347d-41e7-8ac4-53e49369b88d" providerId="ADAL" clId="{C333D178-E2ED-4FA8-9CC0-19F94F3C9C94}"/>
    <pc:docChg chg="undo redo custSel addSld delSld modSld modMainMaster">
      <pc:chgData name="Cristovao Timbana" userId="7ed9e01f-347d-41e7-8ac4-53e49369b88d" providerId="ADAL" clId="{C333D178-E2ED-4FA8-9CC0-19F94F3C9C94}" dt="2026-09-17T12:33:38.596" v="857" actId="478"/>
      <pc:docMkLst>
        <pc:docMk/>
      </pc:docMkLst>
      <pc:sldChg chg="addSp delSp modSp mod">
        <pc:chgData name="Cristovao Timbana" userId="7ed9e01f-347d-41e7-8ac4-53e49369b88d" providerId="ADAL" clId="{C333D178-E2ED-4FA8-9CC0-19F94F3C9C94}" dt="2026-09-17T12:33:38.596" v="857" actId="478"/>
        <pc:sldMkLst>
          <pc:docMk/>
          <pc:sldMk cId="0" sldId="256"/>
        </pc:sldMkLst>
        <pc:spChg chg="del">
          <ac:chgData name="Cristovao Timbana" userId="7ed9e01f-347d-41e7-8ac4-53e49369b88d" providerId="ADAL" clId="{C333D178-E2ED-4FA8-9CC0-19F94F3C9C94}" dt="2026-09-17T11:50:53.089" v="832" actId="478"/>
          <ac:spMkLst>
            <pc:docMk/>
            <pc:sldMk cId="0" sldId="256"/>
            <ac:spMk id="2" creationId="{FFD33A6C-1A3E-2E73-14C7-652256455583}"/>
          </ac:spMkLst>
        </pc:spChg>
        <pc:spChg chg="del">
          <ac:chgData name="Cristovao Timbana" userId="7ed9e01f-347d-41e7-8ac4-53e49369b88d" providerId="ADAL" clId="{C333D178-E2ED-4FA8-9CC0-19F94F3C9C94}" dt="2026-09-17T12:33:38.596" v="857" actId="478"/>
          <ac:spMkLst>
            <pc:docMk/>
            <pc:sldMk cId="0" sldId="256"/>
            <ac:spMk id="3" creationId="{AD795669-CAE4-E51E-24B2-B7B861015AFB}"/>
          </ac:spMkLst>
        </pc:spChg>
      </pc:sldChg>
      <pc:sldChg chg="addSp delSp modSp mod setBg">
        <pc:chgData name="Cristovao Timbana" userId="7ed9e01f-347d-41e7-8ac4-53e49369b88d" providerId="ADAL" clId="{C333D178-E2ED-4FA8-9CC0-19F94F3C9C94}" dt="2026-09-17T11:49:49.820" v="829" actId="20577"/>
        <pc:sldMkLst>
          <pc:docMk/>
          <pc:sldMk cId="0" sldId="258"/>
        </pc:sldMkLst>
        <pc:spChg chg="mod">
          <ac:chgData name="Cristovao Timbana" userId="7ed9e01f-347d-41e7-8ac4-53e49369b88d" providerId="ADAL" clId="{C333D178-E2ED-4FA8-9CC0-19F94F3C9C94}" dt="2026-09-14T12:44:59.074" v="678" actId="313"/>
          <ac:spMkLst>
            <pc:docMk/>
            <pc:sldMk cId="0" sldId="258"/>
            <ac:spMk id="13" creationId="{DF74C49A-5555-F6DF-2344-48955F797FD8}"/>
          </ac:spMkLst>
        </pc:spChg>
        <pc:spChg chg="mod">
          <ac:chgData name="Cristovao Timbana" userId="7ed9e01f-347d-41e7-8ac4-53e49369b88d" providerId="ADAL" clId="{C333D178-E2ED-4FA8-9CC0-19F94F3C9C94}" dt="2026-09-14T12:40:01.838" v="504" actId="1076"/>
          <ac:spMkLst>
            <pc:docMk/>
            <pc:sldMk cId="0" sldId="258"/>
            <ac:spMk id="24578" creationId="{A4012CFA-58F9-3F43-704D-7C6D4C70C954}"/>
          </ac:spMkLst>
        </pc:spChg>
        <pc:spChg chg="mod">
          <ac:chgData name="Cristovao Timbana" userId="7ed9e01f-347d-41e7-8ac4-53e49369b88d" providerId="ADAL" clId="{C333D178-E2ED-4FA8-9CC0-19F94F3C9C94}" dt="2026-09-17T11:49:49.820" v="829" actId="20577"/>
          <ac:spMkLst>
            <pc:docMk/>
            <pc:sldMk cId="0" sldId="258"/>
            <ac:spMk id="24579" creationId="{5C866598-F616-1F5F-A9F9-9B89097F1884}"/>
          </ac:spMkLst>
        </pc:spChg>
        <pc:picChg chg="mod">
          <ac:chgData name="Cristovao Timbana" userId="7ed9e01f-347d-41e7-8ac4-53e49369b88d" providerId="ADAL" clId="{C333D178-E2ED-4FA8-9CC0-19F94F3C9C94}" dt="2026-09-14T12:39:47.360" v="500" actId="14100"/>
          <ac:picMkLst>
            <pc:docMk/>
            <pc:sldMk cId="0" sldId="258"/>
            <ac:picMk id="24580" creationId="{FA5EF871-EDDE-BAD2-1693-91DAF3A24833}"/>
          </ac:picMkLst>
        </pc:picChg>
      </pc:sldChg>
      <pc:sldChg chg="addSp delSp modSp mod">
        <pc:chgData name="Cristovao Timbana" userId="7ed9e01f-347d-41e7-8ac4-53e49369b88d" providerId="ADAL" clId="{C333D178-E2ED-4FA8-9CC0-19F94F3C9C94}" dt="2026-09-17T12:27:18.592" v="839" actId="6549"/>
        <pc:sldMkLst>
          <pc:docMk/>
          <pc:sldMk cId="2765791685" sldId="333"/>
        </pc:sldMkLst>
        <pc:spChg chg="add del mod">
          <ac:chgData name="Cristovao Timbana" userId="7ed9e01f-347d-41e7-8ac4-53e49369b88d" providerId="ADAL" clId="{C333D178-E2ED-4FA8-9CC0-19F94F3C9C94}" dt="2026-09-17T10:57:07.481" v="805" actId="478"/>
          <ac:spMkLst>
            <pc:docMk/>
            <pc:sldMk cId="2765791685" sldId="333"/>
            <ac:spMk id="3" creationId="{B5363E4B-0714-D58C-AAE8-8426F8D6EE5B}"/>
          </ac:spMkLst>
        </pc:spChg>
        <pc:spChg chg="add mod">
          <ac:chgData name="Cristovao Timbana" userId="7ed9e01f-347d-41e7-8ac4-53e49369b88d" providerId="ADAL" clId="{C333D178-E2ED-4FA8-9CC0-19F94F3C9C94}" dt="2026-09-17T12:27:18.592" v="839" actId="6549"/>
          <ac:spMkLst>
            <pc:docMk/>
            <pc:sldMk cId="2765791685" sldId="333"/>
            <ac:spMk id="4" creationId="{0232D695-7911-9AB7-1525-6B0B63590185}"/>
          </ac:spMkLst>
        </pc:spChg>
        <pc:spChg chg="add mod">
          <ac:chgData name="Cristovao Timbana" userId="7ed9e01f-347d-41e7-8ac4-53e49369b88d" providerId="ADAL" clId="{C333D178-E2ED-4FA8-9CC0-19F94F3C9C94}" dt="2026-09-14T12:50:44.858" v="713" actId="20577"/>
          <ac:spMkLst>
            <pc:docMk/>
            <pc:sldMk cId="2765791685" sldId="333"/>
            <ac:spMk id="6" creationId="{B5678C29-B991-E318-C6A6-550E6CF7E735}"/>
          </ac:spMkLst>
        </pc:spChg>
        <pc:spChg chg="del mod">
          <ac:chgData name="Cristovao Timbana" userId="7ed9e01f-347d-41e7-8ac4-53e49369b88d" providerId="ADAL" clId="{C333D178-E2ED-4FA8-9CC0-19F94F3C9C94}" dt="2026-09-17T10:58:00.612" v="806" actId="478"/>
          <ac:spMkLst>
            <pc:docMk/>
            <pc:sldMk cId="2765791685" sldId="333"/>
            <ac:spMk id="94213" creationId="{00000000-0000-0000-0000-000000000000}"/>
          </ac:spMkLst>
        </pc:spChg>
      </pc:sldChg>
      <pc:sldChg chg="addSp delSp modSp add mod">
        <pc:chgData name="Cristovao Timbana" userId="7ed9e01f-347d-41e7-8ac4-53e49369b88d" providerId="ADAL" clId="{C333D178-E2ED-4FA8-9CC0-19F94F3C9C94}" dt="2026-09-14T13:33:11.462" v="755" actId="14100"/>
        <pc:sldMkLst>
          <pc:docMk/>
          <pc:sldMk cId="469607465" sldId="343"/>
        </pc:sldMkLst>
        <pc:spChg chg="add mod">
          <ac:chgData name="Cristovao Timbana" userId="7ed9e01f-347d-41e7-8ac4-53e49369b88d" providerId="ADAL" clId="{C333D178-E2ED-4FA8-9CC0-19F94F3C9C94}" dt="2026-09-14T13:33:11.462" v="755" actId="14100"/>
          <ac:spMkLst>
            <pc:docMk/>
            <pc:sldMk cId="469607465" sldId="343"/>
            <ac:spMk id="6" creationId="{9A4DD2E7-4F49-8D49-8B50-82758105787C}"/>
          </ac:spMkLst>
        </pc:spChg>
      </pc:sldChg>
      <pc:sldChg chg="add">
        <pc:chgData name="Cristovao Timbana" userId="7ed9e01f-347d-41e7-8ac4-53e49369b88d" providerId="ADAL" clId="{C333D178-E2ED-4FA8-9CC0-19F94F3C9C94}" dt="2026-09-17T10:56:01.239" v="762"/>
        <pc:sldMkLst>
          <pc:docMk/>
          <pc:sldMk cId="547752343" sldId="344"/>
        </pc:sldMkLst>
      </pc:sldChg>
      <pc:sldChg chg="new del">
        <pc:chgData name="Cristovao Timbana" userId="7ed9e01f-347d-41e7-8ac4-53e49369b88d" providerId="ADAL" clId="{C333D178-E2ED-4FA8-9CC0-19F94F3C9C94}" dt="2026-09-17T10:55:37.417" v="759" actId="680"/>
        <pc:sldMkLst>
          <pc:docMk/>
          <pc:sldMk cId="735031126" sldId="344"/>
        </pc:sldMkLst>
      </pc:sldChg>
      <pc:sldChg chg="new del">
        <pc:chgData name="Cristovao Timbana" userId="7ed9e01f-347d-41e7-8ac4-53e49369b88d" providerId="ADAL" clId="{C333D178-E2ED-4FA8-9CC0-19F94F3C9C94}" dt="2026-09-17T10:55:33.065" v="757" actId="680"/>
        <pc:sldMkLst>
          <pc:docMk/>
          <pc:sldMk cId="1154063898" sldId="344"/>
        </pc:sldMkLst>
      </pc:sldChg>
      <pc:sldChg chg="new del">
        <pc:chgData name="Cristovao Timbana" userId="7ed9e01f-347d-41e7-8ac4-53e49369b88d" providerId="ADAL" clId="{C333D178-E2ED-4FA8-9CC0-19F94F3C9C94}" dt="2026-09-17T10:55:49.877" v="761" actId="47"/>
        <pc:sldMkLst>
          <pc:docMk/>
          <pc:sldMk cId="3033654734" sldId="344"/>
        </pc:sldMkLst>
      </pc:sldChg>
      <pc:sldChg chg="add">
        <pc:chgData name="Cristovao Timbana" userId="7ed9e01f-347d-41e7-8ac4-53e49369b88d" providerId="ADAL" clId="{C333D178-E2ED-4FA8-9CC0-19F94F3C9C94}" dt="2026-09-17T10:56:15.760" v="763"/>
        <pc:sldMkLst>
          <pc:docMk/>
          <pc:sldMk cId="34944693" sldId="345"/>
        </pc:sldMkLst>
      </pc:sldChg>
      <pc:sldChg chg="add">
        <pc:chgData name="Cristovao Timbana" userId="7ed9e01f-347d-41e7-8ac4-53e49369b88d" providerId="ADAL" clId="{C333D178-E2ED-4FA8-9CC0-19F94F3C9C94}" dt="2026-09-17T10:56:17.733" v="764"/>
        <pc:sldMkLst>
          <pc:docMk/>
          <pc:sldMk cId="1497063838" sldId="346"/>
        </pc:sldMkLst>
      </pc:sldChg>
      <pc:sldChg chg="add">
        <pc:chgData name="Cristovao Timbana" userId="7ed9e01f-347d-41e7-8ac4-53e49369b88d" providerId="ADAL" clId="{C333D178-E2ED-4FA8-9CC0-19F94F3C9C94}" dt="2026-09-17T10:56:18.186" v="765"/>
        <pc:sldMkLst>
          <pc:docMk/>
          <pc:sldMk cId="2501639224" sldId="347"/>
        </pc:sldMkLst>
      </pc:sldChg>
      <pc:sldChg chg="add">
        <pc:chgData name="Cristovao Timbana" userId="7ed9e01f-347d-41e7-8ac4-53e49369b88d" providerId="ADAL" clId="{C333D178-E2ED-4FA8-9CC0-19F94F3C9C94}" dt="2026-09-17T10:56:18.499" v="766"/>
        <pc:sldMkLst>
          <pc:docMk/>
          <pc:sldMk cId="3638549593" sldId="348"/>
        </pc:sldMkLst>
      </pc:sldChg>
      <pc:sldChg chg="add">
        <pc:chgData name="Cristovao Timbana" userId="7ed9e01f-347d-41e7-8ac4-53e49369b88d" providerId="ADAL" clId="{C333D178-E2ED-4FA8-9CC0-19F94F3C9C94}" dt="2026-09-17T10:56:18.805" v="767"/>
        <pc:sldMkLst>
          <pc:docMk/>
          <pc:sldMk cId="2197821340" sldId="349"/>
        </pc:sldMkLst>
      </pc:sldChg>
      <pc:sldChg chg="add">
        <pc:chgData name="Cristovao Timbana" userId="7ed9e01f-347d-41e7-8ac4-53e49369b88d" providerId="ADAL" clId="{C333D178-E2ED-4FA8-9CC0-19F94F3C9C94}" dt="2026-09-17T10:56:19.111" v="768"/>
        <pc:sldMkLst>
          <pc:docMk/>
          <pc:sldMk cId="1853454506" sldId="350"/>
        </pc:sldMkLst>
      </pc:sldChg>
      <pc:sldChg chg="add">
        <pc:chgData name="Cristovao Timbana" userId="7ed9e01f-347d-41e7-8ac4-53e49369b88d" providerId="ADAL" clId="{C333D178-E2ED-4FA8-9CC0-19F94F3C9C94}" dt="2026-09-17T10:56:19.425" v="769"/>
        <pc:sldMkLst>
          <pc:docMk/>
          <pc:sldMk cId="3582967992" sldId="351"/>
        </pc:sldMkLst>
      </pc:sldChg>
      <pc:sldChg chg="add">
        <pc:chgData name="Cristovao Timbana" userId="7ed9e01f-347d-41e7-8ac4-53e49369b88d" providerId="ADAL" clId="{C333D178-E2ED-4FA8-9CC0-19F94F3C9C94}" dt="2026-09-17T10:56:19.718" v="770"/>
        <pc:sldMkLst>
          <pc:docMk/>
          <pc:sldMk cId="1758350371" sldId="352"/>
        </pc:sldMkLst>
      </pc:sldChg>
      <pc:sldChg chg="add">
        <pc:chgData name="Cristovao Timbana" userId="7ed9e01f-347d-41e7-8ac4-53e49369b88d" providerId="ADAL" clId="{C333D178-E2ED-4FA8-9CC0-19F94F3C9C94}" dt="2026-09-17T10:56:19.982" v="771"/>
        <pc:sldMkLst>
          <pc:docMk/>
          <pc:sldMk cId="1089052141" sldId="353"/>
        </pc:sldMkLst>
      </pc:sldChg>
      <pc:sldChg chg="add">
        <pc:chgData name="Cristovao Timbana" userId="7ed9e01f-347d-41e7-8ac4-53e49369b88d" providerId="ADAL" clId="{C333D178-E2ED-4FA8-9CC0-19F94F3C9C94}" dt="2026-09-17T10:56:20.222" v="772"/>
        <pc:sldMkLst>
          <pc:docMk/>
          <pc:sldMk cId="380524703" sldId="354"/>
        </pc:sldMkLst>
      </pc:sldChg>
      <pc:sldChg chg="add">
        <pc:chgData name="Cristovao Timbana" userId="7ed9e01f-347d-41e7-8ac4-53e49369b88d" providerId="ADAL" clId="{C333D178-E2ED-4FA8-9CC0-19F94F3C9C94}" dt="2026-09-17T10:56:39.686" v="777"/>
        <pc:sldMkLst>
          <pc:docMk/>
          <pc:sldMk cId="1832960446" sldId="355"/>
        </pc:sldMkLst>
      </pc:sldChg>
      <pc:sldChg chg="new del">
        <pc:chgData name="Cristovao Timbana" userId="7ed9e01f-347d-41e7-8ac4-53e49369b88d" providerId="ADAL" clId="{C333D178-E2ED-4FA8-9CC0-19F94F3C9C94}" dt="2026-09-17T10:56:33.062" v="776" actId="47"/>
        <pc:sldMkLst>
          <pc:docMk/>
          <pc:sldMk cId="2033519868" sldId="355"/>
        </pc:sldMkLst>
      </pc:sldChg>
      <pc:sldChg chg="new del">
        <pc:chgData name="Cristovao Timbana" userId="7ed9e01f-347d-41e7-8ac4-53e49369b88d" providerId="ADAL" clId="{C333D178-E2ED-4FA8-9CC0-19F94F3C9C94}" dt="2026-09-17T10:56:28.117" v="774" actId="47"/>
        <pc:sldMkLst>
          <pc:docMk/>
          <pc:sldMk cId="3055353711" sldId="355"/>
        </pc:sldMkLst>
      </pc:sldChg>
      <pc:sldChg chg="add">
        <pc:chgData name="Cristovao Timbana" userId="7ed9e01f-347d-41e7-8ac4-53e49369b88d" providerId="ADAL" clId="{C333D178-E2ED-4FA8-9CC0-19F94F3C9C94}" dt="2026-09-17T10:56:39.994" v="778"/>
        <pc:sldMkLst>
          <pc:docMk/>
          <pc:sldMk cId="658250921" sldId="356"/>
        </pc:sldMkLst>
      </pc:sldChg>
      <pc:sldChg chg="add">
        <pc:chgData name="Cristovao Timbana" userId="7ed9e01f-347d-41e7-8ac4-53e49369b88d" providerId="ADAL" clId="{C333D178-E2ED-4FA8-9CC0-19F94F3C9C94}" dt="2026-09-17T10:56:40.228" v="779"/>
        <pc:sldMkLst>
          <pc:docMk/>
          <pc:sldMk cId="4235754278" sldId="357"/>
        </pc:sldMkLst>
      </pc:sldChg>
      <pc:sldChg chg="add">
        <pc:chgData name="Cristovao Timbana" userId="7ed9e01f-347d-41e7-8ac4-53e49369b88d" providerId="ADAL" clId="{C333D178-E2ED-4FA8-9CC0-19F94F3C9C94}" dt="2026-09-17T10:56:40.433" v="780"/>
        <pc:sldMkLst>
          <pc:docMk/>
          <pc:sldMk cId="3735663537" sldId="358"/>
        </pc:sldMkLst>
      </pc:sldChg>
      <pc:sldChg chg="add">
        <pc:chgData name="Cristovao Timbana" userId="7ed9e01f-347d-41e7-8ac4-53e49369b88d" providerId="ADAL" clId="{C333D178-E2ED-4FA8-9CC0-19F94F3C9C94}" dt="2026-09-17T10:56:40.641" v="781"/>
        <pc:sldMkLst>
          <pc:docMk/>
          <pc:sldMk cId="3596886858" sldId="359"/>
        </pc:sldMkLst>
      </pc:sldChg>
      <pc:sldChg chg="add">
        <pc:chgData name="Cristovao Timbana" userId="7ed9e01f-347d-41e7-8ac4-53e49369b88d" providerId="ADAL" clId="{C333D178-E2ED-4FA8-9CC0-19F94F3C9C94}" dt="2026-09-17T10:56:40.883" v="782"/>
        <pc:sldMkLst>
          <pc:docMk/>
          <pc:sldMk cId="2614747318" sldId="360"/>
        </pc:sldMkLst>
      </pc:sldChg>
      <pc:sldChg chg="add">
        <pc:chgData name="Cristovao Timbana" userId="7ed9e01f-347d-41e7-8ac4-53e49369b88d" providerId="ADAL" clId="{C333D178-E2ED-4FA8-9CC0-19F94F3C9C94}" dt="2026-09-17T10:56:41.075" v="783"/>
        <pc:sldMkLst>
          <pc:docMk/>
          <pc:sldMk cId="3807395142" sldId="361"/>
        </pc:sldMkLst>
      </pc:sldChg>
      <pc:sldChg chg="add">
        <pc:chgData name="Cristovao Timbana" userId="7ed9e01f-347d-41e7-8ac4-53e49369b88d" providerId="ADAL" clId="{C333D178-E2ED-4FA8-9CC0-19F94F3C9C94}" dt="2026-09-17T10:56:41.287" v="784"/>
        <pc:sldMkLst>
          <pc:docMk/>
          <pc:sldMk cId="582488949" sldId="362"/>
        </pc:sldMkLst>
      </pc:sldChg>
      <pc:sldChg chg="add">
        <pc:chgData name="Cristovao Timbana" userId="7ed9e01f-347d-41e7-8ac4-53e49369b88d" providerId="ADAL" clId="{C333D178-E2ED-4FA8-9CC0-19F94F3C9C94}" dt="2026-09-17T10:56:41.516" v="785"/>
        <pc:sldMkLst>
          <pc:docMk/>
          <pc:sldMk cId="236667484" sldId="363"/>
        </pc:sldMkLst>
      </pc:sldChg>
      <pc:sldChg chg="add">
        <pc:chgData name="Cristovao Timbana" userId="7ed9e01f-347d-41e7-8ac4-53e49369b88d" providerId="ADAL" clId="{C333D178-E2ED-4FA8-9CC0-19F94F3C9C94}" dt="2026-09-17T10:56:41.733" v="786"/>
        <pc:sldMkLst>
          <pc:docMk/>
          <pc:sldMk cId="2595629959" sldId="364"/>
        </pc:sldMkLst>
      </pc:sldChg>
      <pc:sldChg chg="add">
        <pc:chgData name="Cristovao Timbana" userId="7ed9e01f-347d-41e7-8ac4-53e49369b88d" providerId="ADAL" clId="{C333D178-E2ED-4FA8-9CC0-19F94F3C9C94}" dt="2026-09-17T10:56:41.979" v="787"/>
        <pc:sldMkLst>
          <pc:docMk/>
          <pc:sldMk cId="4182679524" sldId="365"/>
        </pc:sldMkLst>
      </pc:sldChg>
      <pc:sldChg chg="add">
        <pc:chgData name="Cristovao Timbana" userId="7ed9e01f-347d-41e7-8ac4-53e49369b88d" providerId="ADAL" clId="{C333D178-E2ED-4FA8-9CC0-19F94F3C9C94}" dt="2026-09-17T10:56:42.213" v="788"/>
        <pc:sldMkLst>
          <pc:docMk/>
          <pc:sldMk cId="4204660213" sldId="366"/>
        </pc:sldMkLst>
      </pc:sldChg>
      <pc:sldChg chg="add">
        <pc:chgData name="Cristovao Timbana" userId="7ed9e01f-347d-41e7-8ac4-53e49369b88d" providerId="ADAL" clId="{C333D178-E2ED-4FA8-9CC0-19F94F3C9C94}" dt="2026-09-17T10:56:42.519" v="789"/>
        <pc:sldMkLst>
          <pc:docMk/>
          <pc:sldMk cId="1700438258" sldId="367"/>
        </pc:sldMkLst>
      </pc:sldChg>
      <pc:sldChg chg="add">
        <pc:chgData name="Cristovao Timbana" userId="7ed9e01f-347d-41e7-8ac4-53e49369b88d" providerId="ADAL" clId="{C333D178-E2ED-4FA8-9CC0-19F94F3C9C94}" dt="2026-09-17T10:56:43.314" v="790"/>
        <pc:sldMkLst>
          <pc:docMk/>
          <pc:sldMk cId="1564572949" sldId="368"/>
        </pc:sldMkLst>
      </pc:sldChg>
      <pc:sldChg chg="add">
        <pc:chgData name="Cristovao Timbana" userId="7ed9e01f-347d-41e7-8ac4-53e49369b88d" providerId="ADAL" clId="{C333D178-E2ED-4FA8-9CC0-19F94F3C9C94}" dt="2026-09-17T10:56:44.212" v="791"/>
        <pc:sldMkLst>
          <pc:docMk/>
          <pc:sldMk cId="589840149" sldId="369"/>
        </pc:sldMkLst>
      </pc:sldChg>
      <pc:sldChg chg="add">
        <pc:chgData name="Cristovao Timbana" userId="7ed9e01f-347d-41e7-8ac4-53e49369b88d" providerId="ADAL" clId="{C333D178-E2ED-4FA8-9CC0-19F94F3C9C94}" dt="2026-09-17T10:56:44.494" v="792"/>
        <pc:sldMkLst>
          <pc:docMk/>
          <pc:sldMk cId="2157610477" sldId="370"/>
        </pc:sldMkLst>
      </pc:sldChg>
      <pc:sldChg chg="add">
        <pc:chgData name="Cristovao Timbana" userId="7ed9e01f-347d-41e7-8ac4-53e49369b88d" providerId="ADAL" clId="{C333D178-E2ED-4FA8-9CC0-19F94F3C9C94}" dt="2026-09-17T10:56:45.723" v="793"/>
        <pc:sldMkLst>
          <pc:docMk/>
          <pc:sldMk cId="3632426442" sldId="371"/>
        </pc:sldMkLst>
      </pc:sldChg>
      <pc:sldChg chg="add">
        <pc:chgData name="Cristovao Timbana" userId="7ed9e01f-347d-41e7-8ac4-53e49369b88d" providerId="ADAL" clId="{C333D178-E2ED-4FA8-9CC0-19F94F3C9C94}" dt="2026-09-17T10:56:46.357" v="794"/>
        <pc:sldMkLst>
          <pc:docMk/>
          <pc:sldMk cId="2708606754" sldId="372"/>
        </pc:sldMkLst>
      </pc:sldChg>
      <pc:sldChg chg="add">
        <pc:chgData name="Cristovao Timbana" userId="7ed9e01f-347d-41e7-8ac4-53e49369b88d" providerId="ADAL" clId="{C333D178-E2ED-4FA8-9CC0-19F94F3C9C94}" dt="2026-09-17T10:56:48.531" v="795"/>
        <pc:sldMkLst>
          <pc:docMk/>
          <pc:sldMk cId="2156134829" sldId="373"/>
        </pc:sldMkLst>
      </pc:sldChg>
      <pc:sldChg chg="add">
        <pc:chgData name="Cristovao Timbana" userId="7ed9e01f-347d-41e7-8ac4-53e49369b88d" providerId="ADAL" clId="{C333D178-E2ED-4FA8-9CC0-19F94F3C9C94}" dt="2026-09-17T10:56:48.827" v="796"/>
        <pc:sldMkLst>
          <pc:docMk/>
          <pc:sldMk cId="726855858" sldId="374"/>
        </pc:sldMkLst>
      </pc:sldChg>
      <pc:sldChg chg="add">
        <pc:chgData name="Cristovao Timbana" userId="7ed9e01f-347d-41e7-8ac4-53e49369b88d" providerId="ADAL" clId="{C333D178-E2ED-4FA8-9CC0-19F94F3C9C94}" dt="2026-09-17T10:56:49.024" v="797"/>
        <pc:sldMkLst>
          <pc:docMk/>
          <pc:sldMk cId="2528353065" sldId="375"/>
        </pc:sldMkLst>
      </pc:sldChg>
      <pc:sldChg chg="add">
        <pc:chgData name="Cristovao Timbana" userId="7ed9e01f-347d-41e7-8ac4-53e49369b88d" providerId="ADAL" clId="{C333D178-E2ED-4FA8-9CC0-19F94F3C9C94}" dt="2026-09-17T10:56:49.206" v="798"/>
        <pc:sldMkLst>
          <pc:docMk/>
          <pc:sldMk cId="3487515266" sldId="376"/>
        </pc:sldMkLst>
      </pc:sldChg>
      <pc:sldChg chg="add">
        <pc:chgData name="Cristovao Timbana" userId="7ed9e01f-347d-41e7-8ac4-53e49369b88d" providerId="ADAL" clId="{C333D178-E2ED-4FA8-9CC0-19F94F3C9C94}" dt="2026-09-17T10:56:50.249" v="799"/>
        <pc:sldMkLst>
          <pc:docMk/>
          <pc:sldMk cId="1823102031" sldId="377"/>
        </pc:sldMkLst>
      </pc:sldChg>
      <pc:sldChg chg="add">
        <pc:chgData name="Cristovao Timbana" userId="7ed9e01f-347d-41e7-8ac4-53e49369b88d" providerId="ADAL" clId="{C333D178-E2ED-4FA8-9CC0-19F94F3C9C94}" dt="2026-09-17T10:56:50.477" v="800"/>
        <pc:sldMkLst>
          <pc:docMk/>
          <pc:sldMk cId="3252894241" sldId="378"/>
        </pc:sldMkLst>
      </pc:sldChg>
      <pc:sldChg chg="add">
        <pc:chgData name="Cristovao Timbana" userId="7ed9e01f-347d-41e7-8ac4-53e49369b88d" providerId="ADAL" clId="{C333D178-E2ED-4FA8-9CC0-19F94F3C9C94}" dt="2026-09-17T10:56:51.061" v="801"/>
        <pc:sldMkLst>
          <pc:docMk/>
          <pc:sldMk cId="3661190063" sldId="379"/>
        </pc:sldMkLst>
      </pc:sldChg>
      <pc:sldChg chg="add">
        <pc:chgData name="Cristovao Timbana" userId="7ed9e01f-347d-41e7-8ac4-53e49369b88d" providerId="ADAL" clId="{C333D178-E2ED-4FA8-9CC0-19F94F3C9C94}" dt="2026-09-17T10:56:52.130" v="802"/>
        <pc:sldMkLst>
          <pc:docMk/>
          <pc:sldMk cId="1217614434" sldId="380"/>
        </pc:sldMkLst>
      </pc:sldChg>
      <pc:sldChg chg="add">
        <pc:chgData name="Cristovao Timbana" userId="7ed9e01f-347d-41e7-8ac4-53e49369b88d" providerId="ADAL" clId="{C333D178-E2ED-4FA8-9CC0-19F94F3C9C94}" dt="2026-09-17T12:31:44.805" v="844"/>
        <pc:sldMkLst>
          <pc:docMk/>
          <pc:sldMk cId="1580191887" sldId="381"/>
        </pc:sldMkLst>
      </pc:sldChg>
      <pc:sldMasterChg chg="modSp mod delSldLayout modSldLayout sldLayoutOrd">
        <pc:chgData name="Cristovao Timbana" userId="7ed9e01f-347d-41e7-8ac4-53e49369b88d" providerId="ADAL" clId="{C333D178-E2ED-4FA8-9CC0-19F94F3C9C94}" dt="2026-09-17T12:33:05.340" v="856" actId="1076"/>
        <pc:sldMasterMkLst>
          <pc:docMk/>
          <pc:sldMasterMk cId="0" sldId="2147483648"/>
        </pc:sldMasterMkLst>
        <pc:grpChg chg="mod">
          <ac:chgData name="Cristovao Timbana" userId="7ed9e01f-347d-41e7-8ac4-53e49369b88d" providerId="ADAL" clId="{C333D178-E2ED-4FA8-9CC0-19F94F3C9C94}" dt="2026-09-14T12:46:47.922" v="693" actId="14100"/>
          <ac:grpSpMkLst>
            <pc:docMk/>
            <pc:sldMasterMk cId="0" sldId="2147483648"/>
            <ac:grpSpMk id="1031" creationId="{6B13CA1E-7907-9AB6-908D-32161B0BD304}"/>
          </ac:grpSpMkLst>
        </pc:grpChg>
        <pc:sldLayoutChg chg="addSp delSp modSp mod ord">
          <pc:chgData name="Cristovao Timbana" userId="7ed9e01f-347d-41e7-8ac4-53e49369b88d" providerId="ADAL" clId="{C333D178-E2ED-4FA8-9CC0-19F94F3C9C94}" dt="2026-09-17T12:33:05.340" v="856" actId="1076"/>
          <pc:sldLayoutMkLst>
            <pc:docMk/>
            <pc:sldMasterMk cId="0" sldId="2147483648"/>
            <pc:sldLayoutMk cId="1999378594" sldId="2147483688"/>
          </pc:sldLayoutMkLst>
          <pc:spChg chg="add del mod">
            <ac:chgData name="Cristovao Timbana" userId="7ed9e01f-347d-41e7-8ac4-53e49369b88d" providerId="ADAL" clId="{C333D178-E2ED-4FA8-9CC0-19F94F3C9C94}" dt="2026-09-17T12:32:52.792" v="855" actId="478"/>
            <ac:spMkLst>
              <pc:docMk/>
              <pc:sldMasterMk cId="0" sldId="2147483648"/>
              <pc:sldLayoutMk cId="1999378594" sldId="2147483688"/>
              <ac:spMk id="7" creationId="{FB9F9FCB-AFA8-6B21-9813-216D79301FC5}"/>
            </ac:spMkLst>
          </pc:spChg>
          <pc:spChg chg="mod">
            <ac:chgData name="Cristovao Timbana" userId="7ed9e01f-347d-41e7-8ac4-53e49369b88d" providerId="ADAL" clId="{C333D178-E2ED-4FA8-9CC0-19F94F3C9C94}" dt="2026-09-17T12:33:05.340" v="856" actId="1076"/>
            <ac:spMkLst>
              <pc:docMk/>
              <pc:sldMasterMk cId="0" sldId="2147483648"/>
              <pc:sldLayoutMk cId="1999378594" sldId="2147483688"/>
              <ac:spMk id="9" creationId="{4D3E06F1-1F79-6D72-8F24-50EB1D5F08C6}"/>
            </ac:spMkLst>
          </pc:spChg>
          <pc:spChg chg="add mod">
            <ac:chgData name="Cristovao Timbana" userId="7ed9e01f-347d-41e7-8ac4-53e49369b88d" providerId="ADAL" clId="{C333D178-E2ED-4FA8-9CC0-19F94F3C9C94}" dt="2026-09-14T12:25:38.056" v="325" actId="14100"/>
            <ac:spMkLst>
              <pc:docMk/>
              <pc:sldMasterMk cId="0" sldId="2147483648"/>
              <pc:sldLayoutMk cId="1999378594" sldId="2147483688"/>
              <ac:spMk id="11" creationId="{DC6E4D48-D476-9079-8A1D-DE51783549FE}"/>
            </ac:spMkLst>
          </pc:spChg>
          <pc:spChg chg="add mod">
            <ac:chgData name="Cristovao Timbana" userId="7ed9e01f-347d-41e7-8ac4-53e49369b88d" providerId="ADAL" clId="{C333D178-E2ED-4FA8-9CC0-19F94F3C9C94}" dt="2026-09-17T12:32:50.103" v="853" actId="1076"/>
            <ac:spMkLst>
              <pc:docMk/>
              <pc:sldMasterMk cId="0" sldId="2147483648"/>
              <pc:sldLayoutMk cId="1999378594" sldId="2147483688"/>
              <ac:spMk id="19" creationId="{B6A6BFBD-9882-3474-49D7-A2C5B31EDF50}"/>
            </ac:spMkLst>
          </pc:spChg>
          <pc:picChg chg="mod">
            <ac:chgData name="Cristovao Timbana" userId="7ed9e01f-347d-41e7-8ac4-53e49369b88d" providerId="ADAL" clId="{C333D178-E2ED-4FA8-9CC0-19F94F3C9C94}" dt="2026-09-14T12:26:18.653" v="329" actId="1076"/>
            <ac:picMkLst>
              <pc:docMk/>
              <pc:sldMasterMk cId="0" sldId="2147483648"/>
              <pc:sldLayoutMk cId="1999378594" sldId="2147483688"/>
              <ac:picMk id="5" creationId="{9BFB0EC2-6DD9-15D4-D949-F84E4666B124}"/>
            </ac:picMkLst>
          </pc:picChg>
          <pc:picChg chg="add mod ord">
            <ac:chgData name="Cristovao Timbana" userId="7ed9e01f-347d-41e7-8ac4-53e49369b88d" providerId="ADAL" clId="{C333D178-E2ED-4FA8-9CC0-19F94F3C9C94}" dt="2026-09-17T12:32:10.379" v="847" actId="1076"/>
            <ac:picMkLst>
              <pc:docMk/>
              <pc:sldMasterMk cId="0" sldId="2147483648"/>
              <pc:sldLayoutMk cId="1999378594" sldId="2147483688"/>
              <ac:picMk id="6" creationId="{A7E0ECDB-78A6-E0EE-99D8-DB08368F4D3C}"/>
            </ac:picMkLst>
          </pc:picChg>
        </pc:sldLayoutChg>
        <pc:sldLayoutChg chg="addSp delSp modSp mod">
          <pc:chgData name="Cristovao Timbana" userId="7ed9e01f-347d-41e7-8ac4-53e49369b88d" providerId="ADAL" clId="{C333D178-E2ED-4FA8-9CC0-19F94F3C9C94}" dt="2026-09-17T11:50:42.447" v="831" actId="478"/>
          <pc:sldLayoutMkLst>
            <pc:docMk/>
            <pc:sldMasterMk cId="0" sldId="2147483648"/>
            <pc:sldLayoutMk cId="3541848229" sldId="2147483693"/>
          </pc:sldLayoutMkLst>
          <pc:spChg chg="mod">
            <ac:chgData name="Cristovao Timbana" userId="7ed9e01f-347d-41e7-8ac4-53e49369b88d" providerId="ADAL" clId="{C333D178-E2ED-4FA8-9CC0-19F94F3C9C94}" dt="2026-09-14T12:23:06.942" v="313" actId="339"/>
            <ac:spMkLst>
              <pc:docMk/>
              <pc:sldMasterMk cId="0" sldId="2147483648"/>
              <pc:sldLayoutMk cId="3541848229" sldId="2147483693"/>
              <ac:spMk id="2" creationId="{D2A2499E-EE88-5471-CDB1-8A3B7D4CA3A5}"/>
            </ac:spMkLst>
          </pc:spChg>
          <pc:spChg chg="mod">
            <ac:chgData name="Cristovao Timbana" userId="7ed9e01f-347d-41e7-8ac4-53e49369b88d" providerId="ADAL" clId="{C333D178-E2ED-4FA8-9CC0-19F94F3C9C94}" dt="2026-09-14T12:11:09.626" v="213" actId="20577"/>
            <ac:spMkLst>
              <pc:docMk/>
              <pc:sldMasterMk cId="0" sldId="2147483648"/>
              <pc:sldLayoutMk cId="3541848229" sldId="2147483693"/>
              <ac:spMk id="3" creationId="{89E0EDC5-73C9-2395-68B4-8A503E64085A}"/>
            </ac:spMkLst>
          </pc:spChg>
          <pc:spChg chg="del mod">
            <ac:chgData name="Cristovao Timbana" userId="7ed9e01f-347d-41e7-8ac4-53e49369b88d" providerId="ADAL" clId="{C333D178-E2ED-4FA8-9CC0-19F94F3C9C94}" dt="2026-09-17T11:50:42.447" v="831" actId="478"/>
            <ac:spMkLst>
              <pc:docMk/>
              <pc:sldMasterMk cId="0" sldId="2147483648"/>
              <pc:sldLayoutMk cId="3541848229" sldId="2147483693"/>
              <ac:spMk id="10" creationId="{1A7BCD35-98A6-BECA-628F-EDC92ACB735E}"/>
            </ac:spMkLst>
          </pc:spChg>
          <pc:spChg chg="mod">
            <ac:chgData name="Cristovao Timbana" userId="7ed9e01f-347d-41e7-8ac4-53e49369b88d" providerId="ADAL" clId="{C333D178-E2ED-4FA8-9CC0-19F94F3C9C94}" dt="2026-09-14T12:49:27" v="700" actId="14100"/>
            <ac:spMkLst>
              <pc:docMk/>
              <pc:sldMasterMk cId="0" sldId="2147483648"/>
              <pc:sldLayoutMk cId="3541848229" sldId="2147483693"/>
              <ac:spMk id="11" creationId="{CB842B1E-3AA6-EB75-2CDE-F4F8C35B6A1D}"/>
            </ac:spMkLst>
          </pc:spChg>
          <pc:spChg chg="add del mod">
            <ac:chgData name="Cristovao Timbana" userId="7ed9e01f-347d-41e7-8ac4-53e49369b88d" providerId="ADAL" clId="{C333D178-E2ED-4FA8-9CC0-19F94F3C9C94}" dt="2026-09-17T11:50:26.374" v="830" actId="478"/>
            <ac:spMkLst>
              <pc:docMk/>
              <pc:sldMasterMk cId="0" sldId="2147483648"/>
              <pc:sldLayoutMk cId="3541848229" sldId="2147483693"/>
              <ac:spMk id="15" creationId="{7905DA00-A162-3296-6C7B-0562A0E78709}"/>
            </ac:spMkLst>
          </pc:spChg>
          <pc:spChg chg="add mod">
            <ac:chgData name="Cristovao Timbana" userId="7ed9e01f-347d-41e7-8ac4-53e49369b88d" providerId="ADAL" clId="{C333D178-E2ED-4FA8-9CC0-19F94F3C9C94}" dt="2026-09-14T12:21:25.995" v="310" actId="339"/>
            <ac:spMkLst>
              <pc:docMk/>
              <pc:sldMasterMk cId="0" sldId="2147483648"/>
              <pc:sldLayoutMk cId="3541848229" sldId="2147483693"/>
              <ac:spMk id="19" creationId="{79861ADA-BA1A-DC7E-389F-A3336FE57971}"/>
            </ac:spMkLst>
          </pc:spChg>
        </pc:sldLayoutChg>
        <pc:sldLayoutChg chg="addSp delSp modSp mod">
          <pc:chgData name="Cristovao Timbana" userId="7ed9e01f-347d-41e7-8ac4-53e49369b88d" providerId="ADAL" clId="{C333D178-E2ED-4FA8-9CC0-19F94F3C9C94}" dt="2026-09-14T13:32:45.845" v="743" actId="21"/>
          <pc:sldLayoutMkLst>
            <pc:docMk/>
            <pc:sldMasterMk cId="0" sldId="2147483648"/>
            <pc:sldLayoutMk cId="2796597292" sldId="2147483705"/>
          </pc:sldLayoutMkLst>
          <pc:spChg chg="add">
            <ac:chgData name="Cristovao Timbana" userId="7ed9e01f-347d-41e7-8ac4-53e49369b88d" providerId="ADAL" clId="{C333D178-E2ED-4FA8-9CC0-19F94F3C9C94}" dt="2026-09-14T13:25:53.474" v="715" actId="22"/>
            <ac:spMkLst>
              <pc:docMk/>
              <pc:sldMasterMk cId="0" sldId="2147483648"/>
              <pc:sldLayoutMk cId="2796597292" sldId="2147483705"/>
              <ac:spMk id="4" creationId="{29228B11-0A5F-34E2-20F3-CD5ECDEADF7B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Planilha_do_Microsoft_Excel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3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Planilha_do_Microsoft_Excel4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Planilha_do_Microsoft_Excel5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Planilha_do_Microsoft_Excel6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Planilha_do_Microsoft_Excel7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Planilha_do_Microsoft_Excel8.xlsx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1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Planilha_do_Microsoft_Excel9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Planilha_do_Microsoft_Excel10.xlsx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chartUserShapes" Target="../drawings/drawing2.xm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package" Target="../embeddings/Planilha_do_Microsoft_Excel11.xlsx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Planilha_do_Microsoft_Excel12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Planilha_do_Microsoft_Excel13.xlsx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chartUserShapes" Target="../drawings/drawing4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Planilha_do_Microsoft_Excel14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0493540513650325E-2"/>
          <c:y val="7.1359196110137774E-2"/>
          <c:w val="0.97583363368303644"/>
          <c:h val="0.871695152218625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CS Bagamoyo</c:v>
                </c:pt>
                <c:pt idx="1">
                  <c:v>CS Zimpeto</c:v>
                </c:pt>
                <c:pt idx="2">
                  <c:v>CS Inhagoia</c:v>
                </c:pt>
                <c:pt idx="3">
                  <c:v>CS Magoanine A</c:v>
                </c:pt>
                <c:pt idx="4">
                  <c:v>CS Magoanine Tendas</c:v>
                </c:pt>
                <c:pt idx="5">
                  <c:v>Distrito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255</c:v>
                </c:pt>
                <c:pt idx="1">
                  <c:v>69</c:v>
                </c:pt>
                <c:pt idx="2">
                  <c:v>392</c:v>
                </c:pt>
                <c:pt idx="3">
                  <c:v>328</c:v>
                </c:pt>
                <c:pt idx="4">
                  <c:v>311</c:v>
                </c:pt>
                <c:pt idx="5">
                  <c:v>1355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BDEA-4004-97F1-681404FEA5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CS Bagamoyo</c:v>
                </c:pt>
                <c:pt idx="1">
                  <c:v>CS Zimpeto</c:v>
                </c:pt>
                <c:pt idx="2">
                  <c:v>CS Inhagoia</c:v>
                </c:pt>
                <c:pt idx="3">
                  <c:v>CS Magoanine A</c:v>
                </c:pt>
                <c:pt idx="4">
                  <c:v>CS Magoanine Tendas</c:v>
                </c:pt>
                <c:pt idx="5">
                  <c:v>Distrito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107</c:v>
                </c:pt>
                <c:pt idx="1">
                  <c:v>17</c:v>
                </c:pt>
                <c:pt idx="2">
                  <c:v>195</c:v>
                </c:pt>
                <c:pt idx="3">
                  <c:v>69</c:v>
                </c:pt>
                <c:pt idx="4">
                  <c:v>48</c:v>
                </c:pt>
                <c:pt idx="5">
                  <c:v>436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BDEA-4004-97F1-681404FEA5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40070952"/>
        <c:axId val="440067424"/>
      </c:barChart>
      <c:scatterChart>
        <c:scatterStyle val="lineMarker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Evolução 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C00000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2.4166366316963644E-2"/>
                  <c:y val="-5.354669559968434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04BA-4699-84A6-15E57925D718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8.0553623827542314E-17"/>
                  <c:y val="-6.04249600501048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5.4923559811280919E-3"/>
                  <c:y val="-8.51442618887840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strRef>
              <c:f>Sheet1!$A$2:$A$7</c:f>
              <c:strCache>
                <c:ptCount val="6"/>
                <c:pt idx="0">
                  <c:v>CS Bagamoyo</c:v>
                </c:pt>
                <c:pt idx="1">
                  <c:v>CS Zimpeto</c:v>
                </c:pt>
                <c:pt idx="2">
                  <c:v>CS Inhagoia</c:v>
                </c:pt>
                <c:pt idx="3">
                  <c:v>CS Magoanine A</c:v>
                </c:pt>
                <c:pt idx="4">
                  <c:v>CS Magoanine Tendas</c:v>
                </c:pt>
                <c:pt idx="5">
                  <c:v>Distrito</c:v>
                </c:pt>
              </c:strCache>
            </c:strRef>
          </c:xVal>
          <c:yVal>
            <c:numRef>
              <c:f>Sheet1!$D$2:$D$7</c:f>
              <c:numCache>
                <c:formatCode>0%</c:formatCode>
                <c:ptCount val="6"/>
                <c:pt idx="0">
                  <c:v>-0.58039215686274515</c:v>
                </c:pt>
                <c:pt idx="1">
                  <c:v>-0.75362318840579712</c:v>
                </c:pt>
                <c:pt idx="2">
                  <c:v>-0.50255102040816324</c:v>
                </c:pt>
                <c:pt idx="3">
                  <c:v>-0.78963414634146345</c:v>
                </c:pt>
                <c:pt idx="4">
                  <c:v>-0.84565916398713825</c:v>
                </c:pt>
                <c:pt idx="5">
                  <c:v>-0.67822878228782291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BDEA-4004-97F1-681404FEA5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440077224"/>
        <c:axId val="440076440"/>
      </c:scatterChart>
      <c:catAx>
        <c:axId val="4400709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40067424"/>
        <c:crosses val="autoZero"/>
        <c:auto val="1"/>
        <c:lblAlgn val="ctr"/>
        <c:lblOffset val="100"/>
        <c:noMultiLvlLbl val="0"/>
      </c:catAx>
      <c:valAx>
        <c:axId val="440067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40070952"/>
        <c:crosses val="autoZero"/>
        <c:crossBetween val="between"/>
      </c:valAx>
      <c:valAx>
        <c:axId val="440076440"/>
        <c:scaling>
          <c:orientation val="minMax"/>
        </c:scaling>
        <c:delete val="0"/>
        <c:axPos val="r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40077224"/>
        <c:crosses val="max"/>
        <c:crossBetween val="midCat"/>
      </c:valAx>
      <c:valAx>
        <c:axId val="440077224"/>
        <c:scaling>
          <c:orientation val="minMax"/>
        </c:scaling>
        <c:delete val="1"/>
        <c:axPos val="t"/>
        <c:majorTickMark val="none"/>
        <c:minorTickMark val="none"/>
        <c:tickLblPos val="nextTo"/>
        <c:crossAx val="440076440"/>
        <c:crosses val="max"/>
        <c:crossBetween val="midCat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0049172587383166"/>
          <c:y val="3.8412609848609987E-3"/>
          <c:w val="0.35837311399198879"/>
          <c:h val="6.504126080321297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472926113630301E-2"/>
          <c:y val="6.815870405416892E-2"/>
          <c:w val="0.97652707388636972"/>
          <c:h val="0.8440091812652094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Inicio Pilula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Bagamoyo</c:v>
                </c:pt>
                <c:pt idx="1">
                  <c:v>Zimpeto</c:v>
                </c:pt>
                <c:pt idx="2">
                  <c:v>Inhagoia</c:v>
                </c:pt>
                <c:pt idx="3">
                  <c:v>Magoanine A</c:v>
                </c:pt>
                <c:pt idx="4">
                  <c:v>Mag. Tendas</c:v>
                </c:pt>
                <c:pt idx="5">
                  <c:v>Distrito</c:v>
                </c:pt>
              </c:strCache>
            </c:strRef>
          </c:cat>
          <c:val>
            <c:numRef>
              <c:f>Plan1!$B$2:$B$7</c:f>
              <c:numCache>
                <c:formatCode>General</c:formatCode>
                <c:ptCount val="6"/>
                <c:pt idx="0">
                  <c:v>266</c:v>
                </c:pt>
                <c:pt idx="1">
                  <c:v>762</c:v>
                </c:pt>
                <c:pt idx="2">
                  <c:v>165</c:v>
                </c:pt>
                <c:pt idx="3">
                  <c:v>114</c:v>
                </c:pt>
                <c:pt idx="4">
                  <c:v>101</c:v>
                </c:pt>
                <c:pt idx="5">
                  <c:v>1408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D139-4AD1-BCC0-13ADBAA230D6}"/>
            </c:ext>
          </c:extLst>
        </c:ser>
        <c:ser>
          <c:idx val="1"/>
          <c:order val="1"/>
          <c:tx>
            <c:strRef>
              <c:f>Plan1!$C$1</c:f>
              <c:strCache>
                <c:ptCount val="1"/>
                <c:pt idx="0">
                  <c:v>Inicio Injectavel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Bagamoyo</c:v>
                </c:pt>
                <c:pt idx="1">
                  <c:v>Zimpeto</c:v>
                </c:pt>
                <c:pt idx="2">
                  <c:v>Inhagoia</c:v>
                </c:pt>
                <c:pt idx="3">
                  <c:v>Magoanine A</c:v>
                </c:pt>
                <c:pt idx="4">
                  <c:v>Mag. Tendas</c:v>
                </c:pt>
                <c:pt idx="5">
                  <c:v>Distrito</c:v>
                </c:pt>
              </c:strCache>
            </c:strRef>
          </c:cat>
          <c:val>
            <c:numRef>
              <c:f>Plan1!$C$2:$C$7</c:f>
              <c:numCache>
                <c:formatCode>General</c:formatCode>
                <c:ptCount val="6"/>
                <c:pt idx="0">
                  <c:v>323</c:v>
                </c:pt>
                <c:pt idx="1">
                  <c:v>1031</c:v>
                </c:pt>
                <c:pt idx="2">
                  <c:v>411</c:v>
                </c:pt>
                <c:pt idx="3">
                  <c:v>254</c:v>
                </c:pt>
                <c:pt idx="4">
                  <c:v>156</c:v>
                </c:pt>
                <c:pt idx="5">
                  <c:v>2175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D139-4AD1-BCC0-13ADBAA230D6}"/>
            </c:ext>
          </c:extLst>
        </c:ser>
        <c:ser>
          <c:idx val="2"/>
          <c:order val="2"/>
          <c:tx>
            <c:strRef>
              <c:f>Plan1!$D$1</c:f>
              <c:strCache>
                <c:ptCount val="1"/>
                <c:pt idx="0">
                  <c:v>Inicio DIU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Bagamoyo</c:v>
                </c:pt>
                <c:pt idx="1">
                  <c:v>Zimpeto</c:v>
                </c:pt>
                <c:pt idx="2">
                  <c:v>Inhagoia</c:v>
                </c:pt>
                <c:pt idx="3">
                  <c:v>Magoanine A</c:v>
                </c:pt>
                <c:pt idx="4">
                  <c:v>Mag. Tendas</c:v>
                </c:pt>
                <c:pt idx="5">
                  <c:v>Distrito</c:v>
                </c:pt>
              </c:strCache>
            </c:strRef>
          </c:cat>
          <c:val>
            <c:numRef>
              <c:f>Plan1!$D$2:$D$7</c:f>
              <c:numCache>
                <c:formatCode>General</c:formatCode>
                <c:ptCount val="6"/>
                <c:pt idx="0">
                  <c:v>23</c:v>
                </c:pt>
                <c:pt idx="1">
                  <c:v>21</c:v>
                </c:pt>
                <c:pt idx="2">
                  <c:v>3</c:v>
                </c:pt>
                <c:pt idx="3">
                  <c:v>7</c:v>
                </c:pt>
                <c:pt idx="4">
                  <c:v>9</c:v>
                </c:pt>
                <c:pt idx="5">
                  <c:v>63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D139-4AD1-BCC0-13ADBAA230D6}"/>
            </c:ext>
          </c:extLst>
        </c:ser>
        <c:ser>
          <c:idx val="3"/>
          <c:order val="3"/>
          <c:tx>
            <c:strRef>
              <c:f>Plan1!$E$1</c:f>
              <c:strCache>
                <c:ptCount val="1"/>
                <c:pt idx="0">
                  <c:v>Inicio Implante</c:v>
                </c:pt>
              </c:strCache>
            </c:strRef>
          </c:tx>
          <c:spPr>
            <a:solidFill>
              <a:schemeClr val="tx1">
                <a:lumMod val="6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Bagamoyo</c:v>
                </c:pt>
                <c:pt idx="1">
                  <c:v>Zimpeto</c:v>
                </c:pt>
                <c:pt idx="2">
                  <c:v>Inhagoia</c:v>
                </c:pt>
                <c:pt idx="3">
                  <c:v>Magoanine A</c:v>
                </c:pt>
                <c:pt idx="4">
                  <c:v>Mag. Tendas</c:v>
                </c:pt>
                <c:pt idx="5">
                  <c:v>Distrito</c:v>
                </c:pt>
              </c:strCache>
            </c:strRef>
          </c:cat>
          <c:val>
            <c:numRef>
              <c:f>Plan1!$E$2:$E$7</c:f>
              <c:numCache>
                <c:formatCode>General</c:formatCode>
                <c:ptCount val="6"/>
                <c:pt idx="0">
                  <c:v>73</c:v>
                </c:pt>
                <c:pt idx="1">
                  <c:v>197</c:v>
                </c:pt>
                <c:pt idx="2">
                  <c:v>119</c:v>
                </c:pt>
                <c:pt idx="3">
                  <c:v>174</c:v>
                </c:pt>
                <c:pt idx="4">
                  <c:v>35</c:v>
                </c:pt>
                <c:pt idx="5">
                  <c:v>598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D139-4AD1-BCC0-13ADBAA230D6}"/>
            </c:ext>
          </c:extLst>
        </c:ser>
        <c:ser>
          <c:idx val="4"/>
          <c:order val="4"/>
          <c:tx>
            <c:strRef>
              <c:f>Plan1!$F$1</c:f>
              <c:strCache>
                <c:ptCount val="1"/>
                <c:pt idx="0">
                  <c:v>%LAC</c:v>
                </c:pt>
              </c:strCache>
            </c:strRef>
          </c:tx>
          <c:spPr>
            <a:solidFill>
              <a:srgbClr val="FF0000"/>
            </a:solidFill>
            <a:effectLst/>
          </c:spPr>
          <c:invertIfNegative val="0"/>
          <c:dLbls>
            <c:dLbl>
              <c:idx val="0"/>
              <c:layout>
                <c:manualLayout>
                  <c:x val="3.2008535609495867E-3"/>
                  <c:y val="-1.495793228767833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PT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PT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Bagamoyo</c:v>
                </c:pt>
                <c:pt idx="1">
                  <c:v>Zimpeto</c:v>
                </c:pt>
                <c:pt idx="2">
                  <c:v>Inhagoia</c:v>
                </c:pt>
                <c:pt idx="3">
                  <c:v>Magoanine A</c:v>
                </c:pt>
                <c:pt idx="4">
                  <c:v>Mag. Tendas</c:v>
                </c:pt>
                <c:pt idx="5">
                  <c:v>Distrito</c:v>
                </c:pt>
              </c:strCache>
            </c:strRef>
          </c:cat>
          <c:val>
            <c:numRef>
              <c:f>Plan1!$F$2:$F$7</c:f>
              <c:numCache>
                <c:formatCode>0%</c:formatCode>
                <c:ptCount val="6"/>
                <c:pt idx="0">
                  <c:v>0.14014598540145987</c:v>
                </c:pt>
                <c:pt idx="1">
                  <c:v>0.10840377921432123</c:v>
                </c:pt>
                <c:pt idx="2">
                  <c:v>0.17478510028653296</c:v>
                </c:pt>
                <c:pt idx="3">
                  <c:v>0.32969034608378872</c:v>
                </c:pt>
                <c:pt idx="4">
                  <c:v>0.1461794019933555</c:v>
                </c:pt>
                <c:pt idx="5">
                  <c:v>0.1557492931196984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D139-4AD1-BCC0-13ADBAA230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440072128"/>
        <c:axId val="440067816"/>
      </c:barChart>
      <c:catAx>
        <c:axId val="44007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06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40067816"/>
        <c:crosses val="autoZero"/>
        <c:auto val="1"/>
        <c:lblAlgn val="ctr"/>
        <c:lblOffset val="100"/>
        <c:noMultiLvlLbl val="0"/>
      </c:catAx>
      <c:valAx>
        <c:axId val="440067816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440072128"/>
        <c:crosses val="autoZero"/>
        <c:crossBetween val="between"/>
      </c:valAx>
      <c:spPr>
        <a:noFill/>
        <a:ln w="25349">
          <a:noFill/>
        </a:ln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5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8092016449762361E-2"/>
          <c:y val="8.2016740435817151E-2"/>
          <c:w val="0.9005692439154418"/>
          <c:h val="0.6811134356941180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Nova Utentes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Bagamoyo</c:v>
                </c:pt>
                <c:pt idx="1">
                  <c:v>Zimpeto</c:v>
                </c:pt>
                <c:pt idx="2">
                  <c:v>Inhagoia</c:v>
                </c:pt>
                <c:pt idx="3">
                  <c:v>Magoanine A</c:v>
                </c:pt>
                <c:pt idx="4">
                  <c:v>Mag. Tendas</c:v>
                </c:pt>
                <c:pt idx="5">
                  <c:v>Distrito</c:v>
                </c:pt>
              </c:strCache>
            </c:strRef>
          </c:cat>
          <c:val>
            <c:numRef>
              <c:f>Plan1!$B$2:$B$7</c:f>
              <c:numCache>
                <c:formatCode>General</c:formatCode>
                <c:ptCount val="6"/>
                <c:pt idx="0">
                  <c:v>805</c:v>
                </c:pt>
                <c:pt idx="1">
                  <c:v>762</c:v>
                </c:pt>
                <c:pt idx="2">
                  <c:v>78</c:v>
                </c:pt>
                <c:pt idx="3">
                  <c:v>111</c:v>
                </c:pt>
                <c:pt idx="4">
                  <c:v>332</c:v>
                </c:pt>
                <c:pt idx="5">
                  <c:v>2088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2337-40AC-A307-8C02556B3700}"/>
            </c:ext>
          </c:extLst>
        </c:ser>
        <c:ser>
          <c:idx val="1"/>
          <c:order val="1"/>
          <c:tx>
            <c:strRef>
              <c:f>Plan1!$C$1</c:f>
              <c:strCache>
                <c:ptCount val="1"/>
                <c:pt idx="0">
                  <c:v>Inicio Metodo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Plan1!$A$2:$A$7</c:f>
              <c:strCache>
                <c:ptCount val="6"/>
                <c:pt idx="0">
                  <c:v>Bagamoyo</c:v>
                </c:pt>
                <c:pt idx="1">
                  <c:v>Zimpeto</c:v>
                </c:pt>
                <c:pt idx="2">
                  <c:v>Inhagoia</c:v>
                </c:pt>
                <c:pt idx="3">
                  <c:v>Magoanine A</c:v>
                </c:pt>
                <c:pt idx="4">
                  <c:v>Mag. Tendas</c:v>
                </c:pt>
                <c:pt idx="5">
                  <c:v>Distrito</c:v>
                </c:pt>
              </c:strCache>
            </c:strRef>
          </c:cat>
          <c:val>
            <c:numRef>
              <c:f>Plan1!$C$2:$C$7</c:f>
              <c:numCache>
                <c:formatCode>General</c:formatCode>
                <c:ptCount val="6"/>
                <c:pt idx="0">
                  <c:v>742</c:v>
                </c:pt>
                <c:pt idx="1">
                  <c:v>706</c:v>
                </c:pt>
                <c:pt idx="2">
                  <c:v>165</c:v>
                </c:pt>
                <c:pt idx="3">
                  <c:v>146</c:v>
                </c:pt>
                <c:pt idx="4">
                  <c:v>441</c:v>
                </c:pt>
                <c:pt idx="5">
                  <c:v>2200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2337-40AC-A307-8C02556B37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440077616"/>
        <c:axId val="440072912"/>
      </c:barChart>
      <c:scatterChart>
        <c:scatterStyle val="lineMarker"/>
        <c:varyColors val="0"/>
        <c:ser>
          <c:idx val="2"/>
          <c:order val="2"/>
          <c:tx>
            <c:strRef>
              <c:f>Plan1!$D$1</c:f>
              <c:strCache>
                <c:ptCount val="1"/>
                <c:pt idx="0">
                  <c:v>% de Inicio</c:v>
                </c:pt>
              </c:strCache>
            </c:strRef>
          </c:tx>
          <c:spPr>
            <a:ln w="25347" cap="rnd">
              <a:noFill/>
              <a:round/>
            </a:ln>
            <a:effectLst/>
          </c:spPr>
          <c:marker>
            <c:symbol val="circle"/>
            <c:size val="4"/>
            <c:spPr>
              <a:solidFill>
                <a:srgbClr val="C00000"/>
              </a:solidFill>
              <a:ln w="9505">
                <a:solidFill>
                  <a:schemeClr val="accent3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2.4824433744687152E-2"/>
                  <c:y val="-7.485381036101497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0249-4299-BEAD-841A103B6859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6.6634006367318088E-2"/>
                  <c:y val="2.209944751381203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2337-40AC-A307-8C02556B3700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5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xVal>
            <c:strRef>
              <c:f>Plan1!$A$2:$A$7</c:f>
              <c:strCache>
                <c:ptCount val="6"/>
                <c:pt idx="0">
                  <c:v>Bagamoyo</c:v>
                </c:pt>
                <c:pt idx="1">
                  <c:v>Zimpeto</c:v>
                </c:pt>
                <c:pt idx="2">
                  <c:v>Inhagoia</c:v>
                </c:pt>
                <c:pt idx="3">
                  <c:v>Magoanine A</c:v>
                </c:pt>
                <c:pt idx="4">
                  <c:v>Mag. Tendas</c:v>
                </c:pt>
                <c:pt idx="5">
                  <c:v>Distrito</c:v>
                </c:pt>
              </c:strCache>
            </c:strRef>
          </c:xVal>
          <c:yVal>
            <c:numRef>
              <c:f>Plan1!$D$2:$D$7</c:f>
              <c:numCache>
                <c:formatCode>0%</c:formatCode>
                <c:ptCount val="6"/>
                <c:pt idx="0">
                  <c:v>0.92173913043478262</c:v>
                </c:pt>
                <c:pt idx="1">
                  <c:v>0.92650918635170598</c:v>
                </c:pt>
                <c:pt idx="2">
                  <c:v>2.1153846153846154</c:v>
                </c:pt>
                <c:pt idx="3">
                  <c:v>1.3153153153153154</c:v>
                </c:pt>
                <c:pt idx="4">
                  <c:v>1.3283132530120483</c:v>
                </c:pt>
                <c:pt idx="5">
                  <c:v>1.053639846743295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3-2337-40AC-A307-8C02556B37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0075264"/>
        <c:axId val="440073304"/>
      </c:scatterChart>
      <c:catAx>
        <c:axId val="440077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0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796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40072912"/>
        <c:crosses val="autoZero"/>
        <c:auto val="1"/>
        <c:lblAlgn val="ctr"/>
        <c:lblOffset val="100"/>
        <c:noMultiLvlLbl val="0"/>
      </c:catAx>
      <c:valAx>
        <c:axId val="4400729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40077616"/>
        <c:crosses val="autoZero"/>
        <c:crossBetween val="between"/>
      </c:valAx>
      <c:valAx>
        <c:axId val="440075264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440073304"/>
        <c:crosses val="max"/>
        <c:crossBetween val="midCat"/>
      </c:valAx>
      <c:valAx>
        <c:axId val="440073304"/>
        <c:scaling>
          <c:orientation val="minMax"/>
        </c:scaling>
        <c:delete val="1"/>
        <c:axPos val="r"/>
        <c:numFmt formatCode="0%" sourceLinked="1"/>
        <c:majorTickMark val="out"/>
        <c:minorTickMark val="none"/>
        <c:tickLblPos val="nextTo"/>
        <c:crossAx val="440075264"/>
        <c:crosses val="max"/>
        <c:crossBetween val="midCat"/>
      </c:valAx>
      <c:spPr>
        <a:noFill/>
        <a:ln w="25347">
          <a:noFill/>
        </a:ln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96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IC 2025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CS Bagamoyo</c:v>
                </c:pt>
                <c:pt idx="1">
                  <c:v>CS Zimpeto</c:v>
                </c:pt>
                <c:pt idx="2">
                  <c:v>CS Inhagoia</c:v>
                </c:pt>
                <c:pt idx="3">
                  <c:v>CS Magoanine A</c:v>
                </c:pt>
                <c:pt idx="4">
                  <c:v>CS Mag. Tendas</c:v>
                </c:pt>
                <c:pt idx="5">
                  <c:v>Distrito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0.37746374116772036</c:v>
                </c:pt>
                <c:pt idx="1">
                  <c:v>0.41366659023159824</c:v>
                </c:pt>
                <c:pt idx="2">
                  <c:v>0.52149877149877155</c:v>
                </c:pt>
                <c:pt idx="3">
                  <c:v>0.32608695652173914</c:v>
                </c:pt>
                <c:pt idx="4">
                  <c:v>0.33582787652011226</c:v>
                </c:pt>
                <c:pt idx="5">
                  <c:v>0.40462748727441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8908-4BEB-9DF5-F32A9CD94A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IC 2026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7.8392948667432589E-3"/>
                  <c:y val="1.2628255722178378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PT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36FC-4E21-9529-98CC935FEAF4}"/>
                </c:ext>
                <c:ext xmlns:c15="http://schemas.microsoft.com/office/drawing/2012/chart" uri="{CE6537A1-D6FC-4f65-9D91-7224C49458BB}">
                  <c15:layout>
                    <c:manualLayout>
                      <c:w val="5.6416792057662646E-2"/>
                      <c:h val="6.3251900142316464E-2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CS Bagamoyo</c:v>
                </c:pt>
                <c:pt idx="1">
                  <c:v>CS Zimpeto</c:v>
                </c:pt>
                <c:pt idx="2">
                  <c:v>CS Inhagoia</c:v>
                </c:pt>
                <c:pt idx="3">
                  <c:v>CS Magoanine A</c:v>
                </c:pt>
                <c:pt idx="4">
                  <c:v>CS Mag. Tendas</c:v>
                </c:pt>
                <c:pt idx="5">
                  <c:v>Distrito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0.40077071290944122</c:v>
                </c:pt>
                <c:pt idx="1">
                  <c:v>0.39159384103204326</c:v>
                </c:pt>
                <c:pt idx="2">
                  <c:v>0.17655301261092948</c:v>
                </c:pt>
                <c:pt idx="3">
                  <c:v>0.44808126410835214</c:v>
                </c:pt>
                <c:pt idx="4">
                  <c:v>0.46597462514417531</c:v>
                </c:pt>
                <c:pt idx="5">
                  <c:v>0.36308100929614873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8908-4BEB-9DF5-F32A9CD94A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40074480"/>
        <c:axId val="440078008"/>
      </c:barChart>
      <c:scatterChart>
        <c:scatterStyle val="lineMarker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Evolucao 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2"/>
              <c:layout>
                <c:manualLayout>
                  <c:x val="-2.9238179466697187E-2"/>
                  <c:y val="2.739433250186494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36FC-4E21-9529-98CC935FEAF4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3.4754207242562001E-2"/>
                  <c:y val="3.441199684293610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8908-4BEB-9DF5-F32A9CD94AC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highlight>
                      <a:srgbClr val="00FF00"/>
                    </a:highlight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strRef>
              <c:f>Sheet1!$A$2:$A$7</c:f>
              <c:strCache>
                <c:ptCount val="6"/>
                <c:pt idx="0">
                  <c:v>CS Bagamoyo</c:v>
                </c:pt>
                <c:pt idx="1">
                  <c:v>CS Zimpeto</c:v>
                </c:pt>
                <c:pt idx="2">
                  <c:v>CS Inhagoia</c:v>
                </c:pt>
                <c:pt idx="3">
                  <c:v>CS Magoanine A</c:v>
                </c:pt>
                <c:pt idx="4">
                  <c:v>CS Mag. Tendas</c:v>
                </c:pt>
                <c:pt idx="5">
                  <c:v>Distrito</c:v>
                </c:pt>
              </c:strCache>
            </c:strRef>
          </c:xVal>
          <c:yVal>
            <c:numRef>
              <c:f>Sheet1!$D$2:$D$7</c:f>
              <c:numCache>
                <c:formatCode>0%</c:formatCode>
                <c:ptCount val="6"/>
                <c:pt idx="0">
                  <c:v>2.4630541871921183E-2</c:v>
                </c:pt>
                <c:pt idx="1">
                  <c:v>4.3237250554323724E-2</c:v>
                </c:pt>
                <c:pt idx="2">
                  <c:v>-0.55477031802120136</c:v>
                </c:pt>
                <c:pt idx="3">
                  <c:v>0.15072463768115943</c:v>
                </c:pt>
                <c:pt idx="4">
                  <c:v>0.12534818941504178</c:v>
                </c:pt>
                <c:pt idx="5">
                  <c:v>-6.198536139066789E-2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3-8908-4BEB-9DF5-F32A9CD94A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440066640"/>
        <c:axId val="440087808"/>
      </c:scatterChart>
      <c:catAx>
        <c:axId val="44007448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40078008"/>
        <c:crosses val="autoZero"/>
        <c:auto val="1"/>
        <c:lblAlgn val="ctr"/>
        <c:lblOffset val="100"/>
        <c:noMultiLvlLbl val="0"/>
      </c:catAx>
      <c:valAx>
        <c:axId val="440078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40074480"/>
        <c:crosses val="autoZero"/>
        <c:crossBetween val="between"/>
      </c:valAx>
      <c:valAx>
        <c:axId val="440066640"/>
        <c:scaling>
          <c:orientation val="minMax"/>
        </c:scaling>
        <c:delete val="0"/>
        <c:axPos val="t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40087808"/>
        <c:crosses val="max"/>
        <c:crossBetween val="midCat"/>
      </c:valAx>
      <c:valAx>
        <c:axId val="440087808"/>
        <c:scaling>
          <c:orientation val="minMax"/>
        </c:scaling>
        <c:delete val="0"/>
        <c:axPos val="r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40066640"/>
        <c:crosses val="max"/>
        <c:crossBetween val="midCat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495726495726496E-2"/>
          <c:y val="3.2918092685222857E-3"/>
        </c:manualLayout>
      </c:layout>
      <c:overlay val="0"/>
      <c:spPr>
        <a:solidFill>
          <a:srgbClr val="00B050"/>
        </a:solidFill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20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>
        <c:manualLayout>
          <c:layoutTarget val="inner"/>
          <c:xMode val="edge"/>
          <c:yMode val="edge"/>
          <c:x val="5.9094551282051301E-2"/>
          <c:y val="0.105177774773557"/>
          <c:w val="0.85670405982905995"/>
          <c:h val="0.86724347708530503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A3FA-42B6-B659-9BCD88E28B4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A3FA-42B6-B659-9BCD88E28B4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A3FA-42B6-B659-9BCD88E28B4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A3FA-42B6-B659-9BCD88E28B46}"/>
              </c:ext>
            </c:extLst>
          </c:dPt>
          <c:dLbls>
            <c:dLbl>
              <c:idx val="0"/>
              <c:layout>
                <c:manualLayout>
                  <c:x val="-7.1787966813997199E-4"/>
                  <c:y val="3.1632473699149399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A3FA-42B6-B659-9BCD88E28B4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Baskerville Old Face" panose="02020602080505020303" charset="0"/>
                    <a:ea typeface="Baskerville Old Face" panose="02020602080505020303" charset="0"/>
                    <a:cs typeface="Baskerville Old Face" panose="02020602080505020303" charset="0"/>
                    <a:sym typeface="Baskerville Old Face" panose="02020602080505020303" charset="0"/>
                  </a:defRPr>
                </a:pPr>
                <a:endParaRPr lang="pt-PT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Sheet1!$A$2:$A$5</c:f>
              <c:strCache>
                <c:ptCount val="4"/>
                <c:pt idx="0">
                  <c:v>10-14 anos</c:v>
                </c:pt>
                <c:pt idx="1">
                  <c:v>15-19 anos</c:v>
                </c:pt>
                <c:pt idx="2">
                  <c:v>20-24 anos</c:v>
                </c:pt>
                <c:pt idx="3">
                  <c:v>mais  de 25 anos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1.8424689083371719E-3</c:v>
                </c:pt>
                <c:pt idx="1">
                  <c:v>0.15338553661906956</c:v>
                </c:pt>
                <c:pt idx="2">
                  <c:v>0.29410409949332106</c:v>
                </c:pt>
                <c:pt idx="3">
                  <c:v>0.55066789497927227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A3FA-42B6-B659-9BCD88E28B46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  <a:endParaRPr lang="pt-PT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20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altLang="en-US" sz="2000" dirty="0" smtClean="0"/>
              <a:t>2026</a:t>
            </a:r>
            <a:endParaRPr lang="pt-PT" altLang="en-US" sz="2000" dirty="0"/>
          </a:p>
        </c:rich>
      </c:tx>
      <c:layout>
        <c:manualLayout>
          <c:xMode val="edge"/>
          <c:yMode val="edge"/>
          <c:x val="6.8914213706538607E-2"/>
          <c:y val="1.0406014846693134E-2"/>
        </c:manualLayout>
      </c:layout>
      <c:overlay val="0"/>
      <c:spPr>
        <a:solidFill>
          <a:srgbClr val="00B050"/>
        </a:solidFill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20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explosion val="3"/>
          <c:dPt>
            <c:idx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2566-4095-AB2C-E80E0CD1CBD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solidFill>
                  <a:schemeClr val="bg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2566-4095-AB2C-E80E0CD1CBD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2566-4095-AB2C-E80E0CD1CBD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2566-4095-AB2C-E80E0CD1CBD7}"/>
              </c:ext>
            </c:extLst>
          </c:dPt>
          <c:dLbls>
            <c:dLbl>
              <c:idx val="0"/>
              <c:layout>
                <c:manualLayout>
                  <c:x val="-4.4071920758136703E-3"/>
                  <c:y val="0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separator>
</c:separator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2566-4095-AB2C-E80E0CD1CBD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Baskerville Old Face" panose="02020602080505020303" charset="0"/>
                    <a:ea typeface="Baskerville Old Face" panose="02020602080505020303" charset="0"/>
                    <a:cs typeface="Baskerville Old Face" panose="02020602080505020303" charset="0"/>
                    <a:sym typeface="Baskerville Old Face" panose="02020602080505020303" charset="0"/>
                  </a:defRPr>
                </a:pPr>
                <a:endParaRPr lang="pt-PT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Sheet1!$A$2:$A$5</c:f>
              <c:strCache>
                <c:ptCount val="4"/>
                <c:pt idx="0">
                  <c:v>10-14 anos</c:v>
                </c:pt>
                <c:pt idx="1">
                  <c:v>15-19 anos</c:v>
                </c:pt>
                <c:pt idx="2">
                  <c:v>20-24 anos</c:v>
                </c:pt>
                <c:pt idx="3">
                  <c:v>mais de 25 anos 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1.21921482565228E-3</c:v>
                </c:pt>
                <c:pt idx="1">
                  <c:v>0.13655206047305535</c:v>
                </c:pt>
                <c:pt idx="2">
                  <c:v>0.29748841745915633</c:v>
                </c:pt>
                <c:pt idx="3">
                  <c:v>0.56474030724213609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2566-4095-AB2C-E80E0CD1CBD7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  <a:endParaRPr lang="pt-PT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3.9200812667663454E-2"/>
          <c:y val="0.19362718578960464"/>
          <c:w val="0.942407313712326"/>
          <c:h val="0.73218626677190202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1ªCPN 2025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CS Bagamoyo</c:v>
                </c:pt>
                <c:pt idx="1">
                  <c:v>CS Zimpeto</c:v>
                </c:pt>
                <c:pt idx="2">
                  <c:v>CS Inhagoia</c:v>
                </c:pt>
                <c:pt idx="3">
                  <c:v>CS Magonine A</c:v>
                </c:pt>
                <c:pt idx="4">
                  <c:v>CS Magoanine Tendas</c:v>
                </c:pt>
                <c:pt idx="5">
                  <c:v>Distrito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1015</c:v>
                </c:pt>
                <c:pt idx="1">
                  <c:v>1805</c:v>
                </c:pt>
                <c:pt idx="2">
                  <c:v>849</c:v>
                </c:pt>
                <c:pt idx="3">
                  <c:v>345</c:v>
                </c:pt>
                <c:pt idx="4">
                  <c:v>328</c:v>
                </c:pt>
                <c:pt idx="5">
                  <c:v>4342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1C8-4651-9309-B32633BD7B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1ªCPN Antes das 12 semanas2025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dLbl>
              <c:idx val="2"/>
              <c:layout>
                <c:manualLayout>
                  <c:x val="2.3731830317413232E-3"/>
                  <c:y val="-1.7994123593920334E-1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A0C9-41D6-B6AA-2A61D72D4600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CS Bagamoyo</c:v>
                </c:pt>
                <c:pt idx="1">
                  <c:v>CS Zimpeto</c:v>
                </c:pt>
                <c:pt idx="2">
                  <c:v>CS Inhagoia</c:v>
                </c:pt>
                <c:pt idx="3">
                  <c:v>CS Magonine A</c:v>
                </c:pt>
                <c:pt idx="4">
                  <c:v>CS Magoanine Tendas</c:v>
                </c:pt>
                <c:pt idx="5">
                  <c:v>Distrito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0.30541871921182268</c:v>
                </c:pt>
                <c:pt idx="1">
                  <c:v>0.19445983379501386</c:v>
                </c:pt>
                <c:pt idx="2">
                  <c:v>0.18963486454652531</c:v>
                </c:pt>
                <c:pt idx="3">
                  <c:v>0.14492753623188406</c:v>
                </c:pt>
                <c:pt idx="4">
                  <c:v>0.23780487804878048</c:v>
                </c:pt>
                <c:pt idx="5">
                  <c:v>0.21879318286503915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61C8-4651-9309-B32633BD7B9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1ªCPN 2026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CS Bagamoyo</c:v>
                </c:pt>
                <c:pt idx="1">
                  <c:v>CS Zimpeto</c:v>
                </c:pt>
                <c:pt idx="2">
                  <c:v>CS Inhagoia</c:v>
                </c:pt>
                <c:pt idx="3">
                  <c:v>CS Magonine A</c:v>
                </c:pt>
                <c:pt idx="4">
                  <c:v>CS Magoanine Tendas</c:v>
                </c:pt>
                <c:pt idx="5">
                  <c:v>Distrito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1040</c:v>
                </c:pt>
                <c:pt idx="1">
                  <c:v>1882</c:v>
                </c:pt>
                <c:pt idx="2">
                  <c:v>378</c:v>
                </c:pt>
                <c:pt idx="3">
                  <c:v>397</c:v>
                </c:pt>
                <c:pt idx="4">
                  <c:v>404</c:v>
                </c:pt>
                <c:pt idx="5">
                  <c:v>4101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61C8-4651-9309-B32633BD7B9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1ªCPN Antes das 12 semanas2025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CS Bagamoyo</c:v>
                </c:pt>
                <c:pt idx="1">
                  <c:v>CS Zimpeto</c:v>
                </c:pt>
                <c:pt idx="2">
                  <c:v>CS Inhagoia</c:v>
                </c:pt>
                <c:pt idx="3">
                  <c:v>CS Magonine A</c:v>
                </c:pt>
                <c:pt idx="4">
                  <c:v>CS Magoanine Tendas</c:v>
                </c:pt>
                <c:pt idx="5">
                  <c:v>Distrito</c:v>
                </c:pt>
              </c:strCache>
            </c:strRef>
          </c:cat>
          <c:val>
            <c:numRef>
              <c:f>Sheet1!$E$2:$E$7</c:f>
              <c:numCache>
                <c:formatCode>0%</c:formatCode>
                <c:ptCount val="6"/>
                <c:pt idx="0">
                  <c:v>7.9807692307692302E-2</c:v>
                </c:pt>
                <c:pt idx="1">
                  <c:v>6.7481402763018061E-2</c:v>
                </c:pt>
                <c:pt idx="2">
                  <c:v>8.9947089947089942E-2</c:v>
                </c:pt>
                <c:pt idx="3">
                  <c:v>7.5566750629722929E-2</c:v>
                </c:pt>
                <c:pt idx="4">
                  <c:v>3.2178217821782179E-2</c:v>
                </c:pt>
                <c:pt idx="5">
                  <c:v>6.9982930992440864E-2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61C8-4651-9309-B32633BD7B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440081928"/>
        <c:axId val="440083888"/>
        <c:axId val="0"/>
      </c:bar3DChart>
      <c:catAx>
        <c:axId val="44008192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40083888"/>
        <c:crosses val="autoZero"/>
        <c:auto val="1"/>
        <c:lblAlgn val="ctr"/>
        <c:lblOffset val="100"/>
        <c:noMultiLvlLbl val="0"/>
      </c:catAx>
      <c:valAx>
        <c:axId val="440083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40081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</c:legendEntry>
      <c:layout>
        <c:manualLayout>
          <c:xMode val="edge"/>
          <c:yMode val="edge"/>
          <c:x val="5.3821268485016956E-2"/>
          <c:y val="6.8881837137517915E-2"/>
          <c:w val="0.91964897446258853"/>
          <c:h val="7.22977975556561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MG Coorte</c:v>
                </c:pt>
              </c:strCache>
            </c:strRef>
          </c:tx>
          <c:spPr>
            <a:solidFill>
              <a:schemeClr val="accent6"/>
            </a:solidFill>
            <a:ln w="12700" cap="flat" cmpd="sng" algn="ctr">
              <a:solidFill>
                <a:schemeClr val="dk1"/>
              </a:solidFill>
              <a:prstDash val="solid"/>
              <a:miter lim="800000"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2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CS Bagamoyo</c:v>
                </c:pt>
                <c:pt idx="1">
                  <c:v>CS Zimpeto</c:v>
                </c:pt>
                <c:pt idx="2">
                  <c:v>CS Inhagoia</c:v>
                </c:pt>
                <c:pt idx="3">
                  <c:v>CS Magoanine A</c:v>
                </c:pt>
                <c:pt idx="4">
                  <c:v>CS Magoanine Tendas</c:v>
                </c:pt>
                <c:pt idx="5">
                  <c:v>Distrito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1094</c:v>
                </c:pt>
                <c:pt idx="1">
                  <c:v>2050</c:v>
                </c:pt>
                <c:pt idx="2">
                  <c:v>871</c:v>
                </c:pt>
                <c:pt idx="3">
                  <c:v>397</c:v>
                </c:pt>
                <c:pt idx="4">
                  <c:v>383</c:v>
                </c:pt>
                <c:pt idx="5">
                  <c:v>4795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16F6-47AB-AD91-F4CF097E29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 ªCPN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09047863113155E-3"/>
                  <c:y val="-5.0513022888713502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16F6-47AB-AD91-F4CF097E2985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6.9508414485124001E-2"/>
                  <c:y val="9.786898184688239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16F6-47AB-AD91-F4CF097E2985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CS Bagamoyo</c:v>
                </c:pt>
                <c:pt idx="1">
                  <c:v>CS Zimpeto</c:v>
                </c:pt>
                <c:pt idx="2">
                  <c:v>CS Inhagoia</c:v>
                </c:pt>
                <c:pt idx="3">
                  <c:v>CS Magoanine A</c:v>
                </c:pt>
                <c:pt idx="4">
                  <c:v>CS Magoanine Tendas</c:v>
                </c:pt>
                <c:pt idx="5">
                  <c:v>Distrito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0.94241316270566733</c:v>
                </c:pt>
                <c:pt idx="1">
                  <c:v>0.88536585365853659</c:v>
                </c:pt>
                <c:pt idx="2">
                  <c:v>0.5648679678530425</c:v>
                </c:pt>
                <c:pt idx="3">
                  <c:v>0.78841309823677586</c:v>
                </c:pt>
                <c:pt idx="4">
                  <c:v>0.90078328981723232</c:v>
                </c:pt>
                <c:pt idx="5">
                  <c:v>0.83336809176225235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16F6-47AB-AD91-F4CF097E298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REMTIL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1"/>
              <c:layout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2524154589371978E-2"/>
                      <c:h val="2.2076502732240436E-2"/>
                    </c:manualLayout>
                  </c15:layout>
                </c:ext>
              </c:extLst>
            </c:dLbl>
            <c:dLbl>
              <c:idx val="5"/>
              <c:layout>
                <c:manualLayout>
                  <c:x val="6.9473060819109644E-2"/>
                  <c:y val="-2.681229054018520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16F6-47AB-AD91-F4CF097E2985}"/>
                </c:ext>
                <c:ext xmlns:c15="http://schemas.microsoft.com/office/drawing/2012/chart" uri="{CE6537A1-D6FC-4f65-9D91-7224C49458BB}">
                  <c15:layout>
                    <c:manualLayout>
                      <c:w val="4.7754371229911302E-2"/>
                      <c:h val="7.1191791633780602E-2"/>
                    </c:manualLayout>
                  </c15:layout>
                </c:ext>
              </c:extLst>
            </c:dLbl>
            <c:spPr>
              <a:solidFill>
                <a:schemeClr val="bg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CS Bagamoyo</c:v>
                </c:pt>
                <c:pt idx="1">
                  <c:v>CS Zimpeto</c:v>
                </c:pt>
                <c:pt idx="2">
                  <c:v>CS Inhagoia</c:v>
                </c:pt>
                <c:pt idx="3">
                  <c:v>CS Magoanine A</c:v>
                </c:pt>
                <c:pt idx="4">
                  <c:v>CS Magoanine Tendas</c:v>
                </c:pt>
                <c:pt idx="5">
                  <c:v>Distrito</c:v>
                </c:pt>
              </c:strCache>
            </c:strRef>
          </c:cat>
          <c:val>
            <c:numRef>
              <c:f>Sheet1!$D$2:$D$7</c:f>
              <c:numCache>
                <c:formatCode>0%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16F6-47AB-AD91-F4CF097E298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2 ªDose TIP</c:v>
                </c:pt>
              </c:strCache>
            </c:strRef>
          </c:tx>
          <c:spPr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scaled="0"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2077294685990227E-3"/>
                  <c:y val="-4.614450516089861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3.642987249544627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2.0251511739086902E-3"/>
                  <c:y val="-3.677979479084449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16F6-47AB-AD91-F4CF097E2985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CS Bagamoyo</c:v>
                </c:pt>
                <c:pt idx="1">
                  <c:v>CS Zimpeto</c:v>
                </c:pt>
                <c:pt idx="2">
                  <c:v>CS Inhagoia</c:v>
                </c:pt>
                <c:pt idx="3">
                  <c:v>CS Magoanine A</c:v>
                </c:pt>
                <c:pt idx="4">
                  <c:v>CS Magoanine Tendas</c:v>
                </c:pt>
                <c:pt idx="5">
                  <c:v>Distrito</c:v>
                </c:pt>
              </c:strCache>
            </c:strRef>
          </c:cat>
          <c:val>
            <c:numRef>
              <c:f>Sheet1!$E$2:$E$7</c:f>
              <c:numCache>
                <c:formatCode>0%</c:formatCode>
                <c:ptCount val="6"/>
                <c:pt idx="0">
                  <c:v>0.84643510054844606</c:v>
                </c:pt>
                <c:pt idx="1">
                  <c:v>0.90731707317073174</c:v>
                </c:pt>
                <c:pt idx="2">
                  <c:v>0.8874856486796785</c:v>
                </c:pt>
                <c:pt idx="3">
                  <c:v>0.87405541561712852</c:v>
                </c:pt>
                <c:pt idx="4">
                  <c:v>0.835509138381201</c:v>
                </c:pt>
                <c:pt idx="5">
                  <c:v>0.88133472367049004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16F6-47AB-AD91-F4CF097E29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440086240"/>
        <c:axId val="440083104"/>
      </c:barChart>
      <c:catAx>
        <c:axId val="4400862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8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40083104"/>
        <c:crosses val="autoZero"/>
        <c:auto val="1"/>
        <c:lblAlgn val="ctr"/>
        <c:lblOffset val="100"/>
        <c:noMultiLvlLbl val="0"/>
      </c:catAx>
      <c:valAx>
        <c:axId val="44008310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440086240"/>
        <c:crosses val="autoZero"/>
        <c:crossBetween val="between"/>
      </c:valAx>
      <c:spPr>
        <a:solidFill>
          <a:schemeClr val="tx1"/>
        </a:solidFill>
        <a:ln>
          <a:solidFill>
            <a:schemeClr val="tx1"/>
          </a:solidFill>
        </a:ln>
        <a:effectLst/>
      </c:spPr>
    </c:plotArea>
    <c:legend>
      <c:legendPos val="t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en-US" sz="10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en-US" sz="10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lang="en-US" sz="10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</c:legendEntry>
      <c:legendEntry>
        <c:idx val="3"/>
        <c:txPr>
          <a:bodyPr rot="0" spcFirstLastPara="1" vertOverflow="ellipsis" vert="horz" wrap="square" anchor="ctr" anchorCtr="1"/>
          <a:lstStyle/>
          <a:p>
            <a:pPr>
              <a:defRPr lang="en-US" sz="10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</c:legendEntry>
      <c:layout>
        <c:manualLayout>
          <c:xMode val="edge"/>
          <c:yMode val="edge"/>
          <c:x val="0.35754821408193543"/>
          <c:y val="1.5786278081360015E-3"/>
          <c:w val="0.28490357183612919"/>
          <c:h val="4.391721526612452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solidFill>
      <a:schemeClr val="tx1"/>
    </a:solidFill>
    <a:ln>
      <a:noFill/>
    </a:ln>
    <a:effectLst/>
  </c:spPr>
  <c:txPr>
    <a:bodyPr/>
    <a:lstStyle/>
    <a:p>
      <a:pPr>
        <a:defRPr lang="en-US" sz="1000" b="1">
          <a:solidFill>
            <a:schemeClr val="tx1"/>
          </a:solidFill>
        </a:defRPr>
      </a:pPr>
      <a:endParaRPr lang="pt-PT"/>
    </a:p>
  </c:txPr>
  <c:externalData r:id="rId3">
    <c:autoUpdate val="0"/>
  </c:externalData>
  <c:userShapes r:id="rId4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6225708730896403E-2"/>
          <c:y val="4.2146803472770299E-2"/>
          <c:w val="0.942407313712326"/>
          <c:h val="0.758043177398015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Desconhecida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CS Bagamoyo</c:v>
                </c:pt>
                <c:pt idx="1">
                  <c:v>CS Zimpeto</c:v>
                </c:pt>
                <c:pt idx="2">
                  <c:v>CS Inhagoia</c:v>
                </c:pt>
                <c:pt idx="3">
                  <c:v>CS Magoanine A</c:v>
                </c:pt>
                <c:pt idx="4">
                  <c:v>CS Magoanine Tendas</c:v>
                </c:pt>
                <c:pt idx="5">
                  <c:v>Distrito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985</c:v>
                </c:pt>
                <c:pt idx="1">
                  <c:v>1897</c:v>
                </c:pt>
                <c:pt idx="2">
                  <c:v>845</c:v>
                </c:pt>
                <c:pt idx="3">
                  <c:v>363</c:v>
                </c:pt>
                <c:pt idx="4">
                  <c:v>326</c:v>
                </c:pt>
                <c:pt idx="5">
                  <c:v>4416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C7BB-4C05-9C7D-B8FC9604EB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Testada positiva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CS Bagamoyo</c:v>
                </c:pt>
                <c:pt idx="1">
                  <c:v>CS Zimpeto</c:v>
                </c:pt>
                <c:pt idx="2">
                  <c:v>CS Inhagoia</c:v>
                </c:pt>
                <c:pt idx="3">
                  <c:v>CS Magoanine A</c:v>
                </c:pt>
                <c:pt idx="4">
                  <c:v>CS Magoanine Tendas</c:v>
                </c:pt>
                <c:pt idx="5">
                  <c:v>Distrito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36</c:v>
                </c:pt>
                <c:pt idx="1">
                  <c:v>37</c:v>
                </c:pt>
                <c:pt idx="2">
                  <c:v>7</c:v>
                </c:pt>
                <c:pt idx="3">
                  <c:v>14</c:v>
                </c:pt>
                <c:pt idx="4">
                  <c:v>7</c:v>
                </c:pt>
                <c:pt idx="5">
                  <c:v>101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C7BB-4C05-9C7D-B8FC9604EBF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Inicio TARV durante a Gravides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CS Bagamoyo</c:v>
                </c:pt>
                <c:pt idx="1">
                  <c:v>CS Zimpeto</c:v>
                </c:pt>
                <c:pt idx="2">
                  <c:v>CS Inhagoia</c:v>
                </c:pt>
                <c:pt idx="3">
                  <c:v>CS Magoanine A</c:v>
                </c:pt>
                <c:pt idx="4">
                  <c:v>CS Magoanine Tendas</c:v>
                </c:pt>
                <c:pt idx="5">
                  <c:v>Distrito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36</c:v>
                </c:pt>
                <c:pt idx="1">
                  <c:v>37</c:v>
                </c:pt>
                <c:pt idx="2">
                  <c:v>7</c:v>
                </c:pt>
                <c:pt idx="3">
                  <c:v>14</c:v>
                </c:pt>
                <c:pt idx="4">
                  <c:v>7</c:v>
                </c:pt>
                <c:pt idx="5">
                  <c:v>101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C7BB-4C05-9C7D-B8FC9604EBF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Positiva  a entrada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CS Bagamoyo</c:v>
                </c:pt>
                <c:pt idx="1">
                  <c:v>CS Zimpeto</c:v>
                </c:pt>
                <c:pt idx="2">
                  <c:v>CS Inhagoia</c:v>
                </c:pt>
                <c:pt idx="3">
                  <c:v>CS Magoanine A</c:v>
                </c:pt>
                <c:pt idx="4">
                  <c:v>CS Magoanine Tendas</c:v>
                </c:pt>
                <c:pt idx="5">
                  <c:v>Distrito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109</c:v>
                </c:pt>
                <c:pt idx="1">
                  <c:v>153</c:v>
                </c:pt>
                <c:pt idx="2">
                  <c:v>26</c:v>
                </c:pt>
                <c:pt idx="3">
                  <c:v>34</c:v>
                </c:pt>
                <c:pt idx="4">
                  <c:v>57</c:v>
                </c:pt>
                <c:pt idx="5">
                  <c:v>379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C7BB-4C05-9C7D-B8FC9604EBF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Tarv a Entrada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CS Bagamoyo</c:v>
                </c:pt>
                <c:pt idx="1">
                  <c:v>CS Zimpeto</c:v>
                </c:pt>
                <c:pt idx="2">
                  <c:v>CS Inhagoia</c:v>
                </c:pt>
                <c:pt idx="3">
                  <c:v>CS Magoanine A</c:v>
                </c:pt>
                <c:pt idx="4">
                  <c:v>CS Magoanine Tendas</c:v>
                </c:pt>
                <c:pt idx="5">
                  <c:v>Distrito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109</c:v>
                </c:pt>
                <c:pt idx="1">
                  <c:v>151</c:v>
                </c:pt>
                <c:pt idx="2">
                  <c:v>26</c:v>
                </c:pt>
                <c:pt idx="3">
                  <c:v>34</c:v>
                </c:pt>
                <c:pt idx="4">
                  <c:v>57</c:v>
                </c:pt>
                <c:pt idx="5">
                  <c:v>377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C7BB-4C05-9C7D-B8FC9604EB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440059976"/>
        <c:axId val="440062720"/>
      </c:barChart>
      <c:catAx>
        <c:axId val="44005997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40062720"/>
        <c:crosses val="autoZero"/>
        <c:auto val="1"/>
        <c:lblAlgn val="ctr"/>
        <c:lblOffset val="100"/>
        <c:noMultiLvlLbl val="0"/>
      </c:catAx>
      <c:valAx>
        <c:axId val="44006272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400599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4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solidFill>
            <a:schemeClr val="bg1"/>
          </a:solidFill>
        </a:defRPr>
      </a:pPr>
      <a:endParaRPr lang="pt-PT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9365250134480903E-2"/>
          <c:y val="0"/>
          <c:w val="0.94682087143625604"/>
          <c:h val="0.884020327498588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MG Coorte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2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Distrito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4795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B1A2-4BC1-9C25-3D02DE53FF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Testadas Para Sifilis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1516944593867669E-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24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PT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2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Distrito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4795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B1A2-4BC1-9C25-3D02DE53FF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Positivas para sifilis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Distrito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35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B1A2-4BC1-9C25-3D02DE53FF8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3ªdose tratamento p/sifilis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Distrito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35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B1A2-4BC1-9C25-3D02DE53FF8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Parceiro Tratado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Distrito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35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B1A2-4BC1-9C25-3D02DE53FF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40064680"/>
        <c:axId val="440076832"/>
      </c:barChart>
      <c:catAx>
        <c:axId val="44006468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40076832"/>
        <c:crosses val="autoZero"/>
        <c:auto val="1"/>
        <c:lblAlgn val="ctr"/>
        <c:lblOffset val="100"/>
        <c:noMultiLvlLbl val="0"/>
      </c:catAx>
      <c:valAx>
        <c:axId val="4400768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40064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en-US" sz="14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</c:legendEntry>
      <c:layout>
        <c:manualLayout>
          <c:xMode val="edge"/>
          <c:yMode val="edge"/>
          <c:x val="0.15150618612157099"/>
          <c:y val="3.4137460172963098E-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400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 sz="1400" b="1">
          <a:solidFill>
            <a:schemeClr val="tx1"/>
          </a:solidFill>
        </a:defRPr>
      </a:pPr>
      <a:endParaRPr lang="pt-PT"/>
    </a:p>
  </c:txPr>
  <c:externalData r:id="rId3">
    <c:autoUpdate val="0"/>
  </c:externalData>
  <c:userShapes r:id="rId4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30"/>
    </mc:Choice>
    <mc:Fallback>
      <c:style val="30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3.1862745098039217E-4"/>
          <c:w val="0.9718335562878434"/>
          <c:h val="0.850398586633343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spPr>
              <a:noFill/>
              <a:ln w="25277">
                <a:noFill/>
              </a:ln>
            </c:spPr>
            <c:txPr>
              <a:bodyPr/>
              <a:lstStyle/>
              <a:p>
                <a:pPr>
                  <a:defRPr sz="1800" b="1">
                    <a:solidFill>
                      <a:schemeClr val="bg1"/>
                    </a:solidFill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Total de crianças expostas Coorte 9 Meses</c:v>
                </c:pt>
                <c:pt idx="1">
                  <c:v> Total de PCR colhido </c:v>
                </c:pt>
                <c:pt idx="2">
                  <c:v> Total de PCR colhido &lt; 2 meses</c:v>
                </c:pt>
                <c:pt idx="3">
                  <c:v>Total de PCR colhido &gt;= 2 meses</c:v>
                </c:pt>
                <c:pt idx="4">
                  <c:v> PCR + Total</c:v>
                </c:pt>
                <c:pt idx="5">
                  <c:v> PCR + &lt; 2 meses</c:v>
                </c:pt>
                <c:pt idx="6">
                  <c:v> PCR + &gt;=  2 meses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434</c:v>
                </c:pt>
                <c:pt idx="1">
                  <c:v>434</c:v>
                </c:pt>
                <c:pt idx="2">
                  <c:v>423</c:v>
                </c:pt>
                <c:pt idx="3">
                  <c:v>11</c:v>
                </c:pt>
                <c:pt idx="4">
                  <c:v>3</c:v>
                </c:pt>
                <c:pt idx="5">
                  <c:v>3</c:v>
                </c:pt>
                <c:pt idx="6">
                  <c:v>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B23E-4F21-9540-BAEC898022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4"/>
        <c:axId val="440087024"/>
        <c:axId val="440090944"/>
      </c:barChart>
      <c:catAx>
        <c:axId val="440087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 rot="-60000000" vert="horz"/>
          <a:lstStyle/>
          <a:p>
            <a:pPr>
              <a:defRPr sz="1400" b="1">
                <a:solidFill>
                  <a:schemeClr val="bg1"/>
                </a:solidFill>
              </a:defRPr>
            </a:pPr>
            <a:endParaRPr lang="pt-PT"/>
          </a:p>
        </c:txPr>
        <c:crossAx val="440090944"/>
        <c:crosses val="autoZero"/>
        <c:auto val="1"/>
        <c:lblAlgn val="ctr"/>
        <c:lblOffset val="100"/>
        <c:noMultiLvlLbl val="0"/>
      </c:catAx>
      <c:valAx>
        <c:axId val="44009094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40087024"/>
        <c:crosses val="autoZero"/>
        <c:crossBetween val="between"/>
      </c:valAx>
      <c:spPr>
        <a:noFill/>
        <a:ln w="25359">
          <a:noFill/>
        </a:ln>
      </c:spPr>
    </c:plotArea>
    <c:plotVisOnly val="1"/>
    <c:dispBlanksAs val="gap"/>
    <c:showDLblsOverMax val="0"/>
  </c:chart>
  <c:txPr>
    <a:bodyPr/>
    <a:lstStyle/>
    <a:p>
      <a:pPr>
        <a:defRPr sz="1791"/>
      </a:pPr>
      <a:endParaRPr lang="pt-PT"/>
    </a:p>
  </c:txPr>
  <c:externalData r:id="rId1">
    <c:autoUpdate val="0"/>
  </c:externalData>
  <c:userShapes r:id="rId2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Partos 2025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CS Bagmoyo</c:v>
                </c:pt>
                <c:pt idx="1">
                  <c:v>CS Zimpeto</c:v>
                </c:pt>
                <c:pt idx="2">
                  <c:v>CS Magoanine A</c:v>
                </c:pt>
                <c:pt idx="3">
                  <c:v>Distrito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386</c:v>
                </c:pt>
                <c:pt idx="1">
                  <c:v>999</c:v>
                </c:pt>
                <c:pt idx="2">
                  <c:v>51</c:v>
                </c:pt>
                <c:pt idx="3">
                  <c:v>1436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922F-475D-8A64-C3C4AD5200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Partos 2026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CS Bagmoyo</c:v>
                </c:pt>
                <c:pt idx="1">
                  <c:v>CS Zimpeto</c:v>
                </c:pt>
                <c:pt idx="2">
                  <c:v>CS Magoanine A</c:v>
                </c:pt>
                <c:pt idx="3">
                  <c:v>Distrito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432</c:v>
                </c:pt>
                <c:pt idx="1">
                  <c:v>906</c:v>
                </c:pt>
                <c:pt idx="2">
                  <c:v>130</c:v>
                </c:pt>
                <c:pt idx="3">
                  <c:v>1468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922F-475D-8A64-C3C4AD5200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40091336"/>
        <c:axId val="440086632"/>
      </c:barChart>
      <c:scatterChart>
        <c:scatterStyle val="lineMarker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Evolucao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4.0503023478173784E-2"/>
                  <c:y val="-6.62983425414364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3.7546393629929106E-2"/>
                  <c:y val="-1.965054443094239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2.4168158205617657E-2"/>
                  <c:y val="-4.281940813896506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2000" b="1" i="0" u="none" strike="noStrike" kern="1200" baseline="0">
                    <a:solidFill>
                      <a:schemeClr val="bg1"/>
                    </a:solidFill>
                    <a:highlight>
                      <a:srgbClr val="FFFFFF"/>
                    </a:highlight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strRef>
              <c:f>Sheet1!$A$2:$A$5</c:f>
              <c:strCache>
                <c:ptCount val="4"/>
                <c:pt idx="0">
                  <c:v>CS Bagmoyo</c:v>
                </c:pt>
                <c:pt idx="1">
                  <c:v>CS Zimpeto</c:v>
                </c:pt>
                <c:pt idx="2">
                  <c:v>CS Magoanine A</c:v>
                </c:pt>
                <c:pt idx="3">
                  <c:v>Distrito</c:v>
                </c:pt>
              </c:strCache>
            </c:strRef>
          </c:xVal>
          <c:yVal>
            <c:numRef>
              <c:f>Sheet1!$D$2:$D$5</c:f>
              <c:numCache>
                <c:formatCode>0%</c:formatCode>
                <c:ptCount val="4"/>
                <c:pt idx="0">
                  <c:v>0.11917098445595854</c:v>
                </c:pt>
                <c:pt idx="1">
                  <c:v>-9.3093093093093091E-2</c:v>
                </c:pt>
                <c:pt idx="2">
                  <c:v>1.5490196078431373</c:v>
                </c:pt>
                <c:pt idx="3">
                  <c:v>2.2284122562674095E-2</c:v>
                </c:pt>
              </c:numCache>
            </c:numRef>
          </c:y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2-922F-475D-8A64-C3C4AD5200B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440080360"/>
        <c:axId val="440087416"/>
      </c:scatterChart>
      <c:catAx>
        <c:axId val="440091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8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40086632"/>
        <c:crosses val="autoZero"/>
        <c:auto val="1"/>
        <c:lblAlgn val="ctr"/>
        <c:lblOffset val="100"/>
        <c:noMultiLvlLbl val="0"/>
      </c:catAx>
      <c:valAx>
        <c:axId val="44008663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40091336"/>
        <c:crosses val="autoZero"/>
        <c:crossBetween val="between"/>
      </c:valAx>
      <c:valAx>
        <c:axId val="440080360"/>
        <c:scaling>
          <c:orientation val="minMax"/>
        </c:scaling>
        <c:delete val="1"/>
        <c:axPos val="t"/>
        <c:majorTickMark val="none"/>
        <c:minorTickMark val="none"/>
        <c:tickLblPos val="nextTo"/>
        <c:crossAx val="440087416"/>
        <c:crosses val="max"/>
        <c:crossBetween val="midCat"/>
      </c:valAx>
      <c:valAx>
        <c:axId val="440087416"/>
        <c:scaling>
          <c:orientation val="minMax"/>
        </c:scaling>
        <c:delete val="1"/>
        <c:axPos val="r"/>
        <c:numFmt formatCode="0%" sourceLinked="1"/>
        <c:majorTickMark val="none"/>
        <c:minorTickMark val="none"/>
        <c:tickLblPos val="nextTo"/>
        <c:crossAx val="440080360"/>
        <c:crosses val="max"/>
        <c:crossBetween val="midCat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</c:dTable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6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6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en-US" sz="16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600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  <a:endParaRPr lang="pt-PT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Nados vivos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Plan1!$A$2:$A$5</c:f>
              <c:strCache>
                <c:ptCount val="4"/>
                <c:pt idx="0">
                  <c:v>Centro de Saude Bagamoio</c:v>
                </c:pt>
                <c:pt idx="1">
                  <c:v>Centro de Saude Zimpeto</c:v>
                </c:pt>
                <c:pt idx="2">
                  <c:v>Centro de Saude Magoanine A</c:v>
                </c:pt>
                <c:pt idx="3">
                  <c:v>Distrito</c:v>
                </c:pt>
              </c:strCache>
            </c:strRef>
          </c:cat>
          <c:val>
            <c:numRef>
              <c:f>Plan1!$B$2:$B$5</c:f>
              <c:numCache>
                <c:formatCode>General</c:formatCode>
                <c:ptCount val="4"/>
                <c:pt idx="0">
                  <c:v>430</c:v>
                </c:pt>
                <c:pt idx="1">
                  <c:v>904</c:v>
                </c:pt>
                <c:pt idx="2">
                  <c:v>129</c:v>
                </c:pt>
                <c:pt idx="3">
                  <c:v>1463</c:v>
                </c:pt>
              </c:numCache>
            </c:numRef>
          </c:val>
        </c:ser>
        <c:ser>
          <c:idx val="1"/>
          <c:order val="1"/>
          <c:tx>
            <c:strRef>
              <c:f>Plan1!$C$1</c:f>
              <c:strCache>
                <c:ptCount val="1"/>
                <c:pt idx="0">
                  <c:v>Mortalidade Materna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Plan1!$A$2:$A$5</c:f>
              <c:strCache>
                <c:ptCount val="4"/>
                <c:pt idx="0">
                  <c:v>Centro de Saude Bagamoio</c:v>
                </c:pt>
                <c:pt idx="1">
                  <c:v>Centro de Saude Zimpeto</c:v>
                </c:pt>
                <c:pt idx="2">
                  <c:v>Centro de Saude Magoanine A</c:v>
                </c:pt>
                <c:pt idx="3">
                  <c:v>Distrito</c:v>
                </c:pt>
              </c:strCache>
            </c:strRef>
          </c:cat>
          <c:val>
            <c:numRef>
              <c:f>Plan1!$C$2:$C$5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440082320"/>
        <c:axId val="440080752"/>
      </c:barChart>
      <c:catAx>
        <c:axId val="4400823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40080752"/>
        <c:crosses val="autoZero"/>
        <c:auto val="1"/>
        <c:lblAlgn val="ctr"/>
        <c:lblOffset val="100"/>
        <c:noMultiLvlLbl val="0"/>
      </c:catAx>
      <c:valAx>
        <c:axId val="44008075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40082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  <c:userShapes r:id="rId4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de Partos 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CS Bagamoyo</c:v>
                </c:pt>
                <c:pt idx="1">
                  <c:v>CS Zimpeto</c:v>
                </c:pt>
                <c:pt idx="2">
                  <c:v>CS Magoanine A</c:v>
                </c:pt>
                <c:pt idx="3">
                  <c:v>Distrito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451</c:v>
                </c:pt>
                <c:pt idx="1">
                  <c:v>945</c:v>
                </c:pt>
                <c:pt idx="2">
                  <c:v>132</c:v>
                </c:pt>
                <c:pt idx="3">
                  <c:v>1528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3EE6-4ACE-9EF6-7B3AE0771E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 -Parto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P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CS Bagamoyo</c:v>
                </c:pt>
                <c:pt idx="1">
                  <c:v>CS Zimpeto</c:v>
                </c:pt>
                <c:pt idx="2">
                  <c:v>CS Magoanine A</c:v>
                </c:pt>
                <c:pt idx="3">
                  <c:v>Distrito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499</c:v>
                </c:pt>
                <c:pt idx="1">
                  <c:v>1079</c:v>
                </c:pt>
                <c:pt idx="2">
                  <c:v>132</c:v>
                </c:pt>
                <c:pt idx="3">
                  <c:v>1710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3EE6-4ACE-9EF6-7B3AE0771E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40093688"/>
        <c:axId val="440100744"/>
      </c:barChart>
      <c:catAx>
        <c:axId val="440093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440100744"/>
        <c:crosses val="autoZero"/>
        <c:auto val="1"/>
        <c:lblAlgn val="ctr"/>
        <c:lblOffset val="100"/>
        <c:noMultiLvlLbl val="0"/>
      </c:catAx>
      <c:valAx>
        <c:axId val="4401007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40093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08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08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jpe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jpeg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jpeg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jpe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jpe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jpe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jpe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CD6B03-FDE5-4E2D-B19D-D781924AF52D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</dgm:pt>
    <dgm:pt modelId="{20CDED9F-02E9-4280-A7E1-31D7C896E408}">
      <dgm:prSet phldrT="[Texto]" phldr="1"/>
      <dgm:spPr/>
      <dgm:t>
        <a:bodyPr/>
        <a:lstStyle/>
        <a:p>
          <a:endParaRPr lang="pt-PT" dirty="0"/>
        </a:p>
      </dgm:t>
    </dgm:pt>
    <dgm:pt modelId="{3A85DE4B-F571-414F-A276-C141B8E415BD}" type="sibTrans" cxnId="{F576A83F-0693-41F2-80C4-F37E16280A8F}">
      <dgm:prSet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1000" b="-61000"/>
          </a:stretch>
        </a:blipFill>
      </dgm:spPr>
      <dgm:t>
        <a:bodyPr/>
        <a:lstStyle/>
        <a:p>
          <a:endParaRPr lang="pt-PT"/>
        </a:p>
      </dgm:t>
    </dgm:pt>
    <dgm:pt modelId="{B2FFC0E1-C6E6-4FA9-A966-D3F3F72B48B8}" type="parTrans" cxnId="{F576A83F-0693-41F2-80C4-F37E16280A8F}">
      <dgm:prSet/>
      <dgm:spPr/>
      <dgm:t>
        <a:bodyPr/>
        <a:lstStyle/>
        <a:p>
          <a:endParaRPr lang="pt-PT"/>
        </a:p>
      </dgm:t>
    </dgm:pt>
    <dgm:pt modelId="{A08A99E5-D290-427E-A3F1-A0CA71C37AB0}" type="pres">
      <dgm:prSet presAssocID="{A2CD6B03-FDE5-4E2D-B19D-D781924AF52D}" presName="Name0" presStyleCnt="0">
        <dgm:presLayoutVars>
          <dgm:chMax val="7"/>
          <dgm:chPref val="7"/>
          <dgm:dir/>
        </dgm:presLayoutVars>
      </dgm:prSet>
      <dgm:spPr/>
    </dgm:pt>
    <dgm:pt modelId="{2191D855-5D3D-4F4D-9A61-ACE244781703}" type="pres">
      <dgm:prSet presAssocID="{A2CD6B03-FDE5-4E2D-B19D-D781924AF52D}" presName="Name1" presStyleCnt="0"/>
      <dgm:spPr/>
    </dgm:pt>
    <dgm:pt modelId="{D33C4763-742C-4F6C-9FCE-C6E1AB623AD2}" type="pres">
      <dgm:prSet presAssocID="{3A85DE4B-F571-414F-A276-C141B8E415BD}" presName="picture_1" presStyleCnt="0"/>
      <dgm:spPr/>
    </dgm:pt>
    <dgm:pt modelId="{33ECEA7B-5DC2-4628-BF69-33080EB306DB}" type="pres">
      <dgm:prSet presAssocID="{3A85DE4B-F571-414F-A276-C141B8E415BD}" presName="pictureRepeatNode" presStyleLbl="alignImgPlace1" presStyleIdx="0" presStyleCnt="1" custScaleX="173828" custScaleY="154619" custLinFactNeighborX="-3817" custLinFactNeighborY="10021"/>
      <dgm:spPr/>
      <dgm:t>
        <a:bodyPr/>
        <a:lstStyle/>
        <a:p>
          <a:endParaRPr lang="pt-PT"/>
        </a:p>
      </dgm:t>
    </dgm:pt>
    <dgm:pt modelId="{C7172C39-2A28-408A-BCE2-82A125278C1B}" type="pres">
      <dgm:prSet presAssocID="{20CDED9F-02E9-4280-A7E1-31D7C896E408}" presName="text_1" presStyleLbl="node1" presStyleIdx="0" presStyleCnt="0" custFlipVert="1" custFlipHor="1" custScaleX="14905" custScaleY="17346" custLinFactX="14225" custLinFactY="69452" custLinFactNeighborX="100000" custLinFactNeighborY="100000">
        <dgm:presLayoutVars>
          <dgm:bulletEnabled val="1"/>
        </dgm:presLayoutVars>
      </dgm:prSet>
      <dgm:spPr/>
      <dgm:t>
        <a:bodyPr/>
        <a:lstStyle/>
        <a:p>
          <a:endParaRPr lang="pt-PT"/>
        </a:p>
      </dgm:t>
    </dgm:pt>
  </dgm:ptLst>
  <dgm:cxnLst>
    <dgm:cxn modelId="{F2A16EC9-DBAB-4986-B303-7064CCD14885}" type="presOf" srcId="{A2CD6B03-FDE5-4E2D-B19D-D781924AF52D}" destId="{A08A99E5-D290-427E-A3F1-A0CA71C37AB0}" srcOrd="0" destOrd="0" presId="urn:microsoft.com/office/officeart/2008/layout/CircularPictureCallout"/>
    <dgm:cxn modelId="{2B829E46-4C9D-4512-8DDD-AFADA5A0F531}" type="presOf" srcId="{3A85DE4B-F571-414F-A276-C141B8E415BD}" destId="{33ECEA7B-5DC2-4628-BF69-33080EB306DB}" srcOrd="0" destOrd="0" presId="urn:microsoft.com/office/officeart/2008/layout/CircularPictureCallout"/>
    <dgm:cxn modelId="{F576A83F-0693-41F2-80C4-F37E16280A8F}" srcId="{A2CD6B03-FDE5-4E2D-B19D-D781924AF52D}" destId="{20CDED9F-02E9-4280-A7E1-31D7C896E408}" srcOrd="0" destOrd="0" parTransId="{B2FFC0E1-C6E6-4FA9-A966-D3F3F72B48B8}" sibTransId="{3A85DE4B-F571-414F-A276-C141B8E415BD}"/>
    <dgm:cxn modelId="{BB4CB81D-8D33-402E-B6CC-C24F5361AB09}" type="presOf" srcId="{20CDED9F-02E9-4280-A7E1-31D7C896E408}" destId="{C7172C39-2A28-408A-BCE2-82A125278C1B}" srcOrd="0" destOrd="0" presId="urn:microsoft.com/office/officeart/2008/layout/CircularPictureCallout"/>
    <dgm:cxn modelId="{8B83D8BC-CBC0-41F0-B380-CA559B64F9B2}" type="presParOf" srcId="{A08A99E5-D290-427E-A3F1-A0CA71C37AB0}" destId="{2191D855-5D3D-4F4D-9A61-ACE244781703}" srcOrd="0" destOrd="0" presId="urn:microsoft.com/office/officeart/2008/layout/CircularPictureCallout"/>
    <dgm:cxn modelId="{03440EEC-F8D9-4751-922C-1BDF177F6A75}" type="presParOf" srcId="{2191D855-5D3D-4F4D-9A61-ACE244781703}" destId="{D33C4763-742C-4F6C-9FCE-C6E1AB623AD2}" srcOrd="0" destOrd="0" presId="urn:microsoft.com/office/officeart/2008/layout/CircularPictureCallout"/>
    <dgm:cxn modelId="{1C7A2514-889F-4828-A009-6DEA38F4DD79}" type="presParOf" srcId="{D33C4763-742C-4F6C-9FCE-C6E1AB623AD2}" destId="{33ECEA7B-5DC2-4628-BF69-33080EB306DB}" srcOrd="0" destOrd="0" presId="urn:microsoft.com/office/officeart/2008/layout/CircularPictureCallout"/>
    <dgm:cxn modelId="{0CE94E62-03CF-4AEB-9087-80A592C279B4}" type="presParOf" srcId="{2191D855-5D3D-4F4D-9A61-ACE244781703}" destId="{C7172C39-2A28-408A-BCE2-82A125278C1B}" srcOrd="1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C111E8-8BA9-478E-96A7-1EFC7797AB31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</dgm:pt>
    <dgm:pt modelId="{BAF36E94-C22A-4934-9CC6-8B7FD643F278}">
      <dgm:prSet phldrT="[Texto]" phldr="1"/>
      <dgm:spPr/>
      <dgm:t>
        <a:bodyPr/>
        <a:lstStyle/>
        <a:p>
          <a:endParaRPr lang="pt-PT" dirty="0"/>
        </a:p>
      </dgm:t>
    </dgm:pt>
    <dgm:pt modelId="{A9273E87-8577-43F2-8ECF-D86E84489066}" type="sibTrans" cxnId="{78E5BCDB-7E30-4453-BECD-5F943CF0F041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1000" b="-61000"/>
          </a:stretch>
        </a:blipFill>
      </dgm:spPr>
      <dgm:t>
        <a:bodyPr/>
        <a:lstStyle/>
        <a:p>
          <a:endParaRPr lang="pt-PT"/>
        </a:p>
      </dgm:t>
    </dgm:pt>
    <dgm:pt modelId="{60967593-F83B-43DC-BADF-A5492EE6CF60}" type="parTrans" cxnId="{78E5BCDB-7E30-4453-BECD-5F943CF0F041}">
      <dgm:prSet/>
      <dgm:spPr/>
      <dgm:t>
        <a:bodyPr/>
        <a:lstStyle/>
        <a:p>
          <a:endParaRPr lang="pt-PT"/>
        </a:p>
      </dgm:t>
    </dgm:pt>
    <dgm:pt modelId="{E71F7C7C-ED0D-4DAA-A578-9801F021AC0C}" type="pres">
      <dgm:prSet presAssocID="{1AC111E8-8BA9-478E-96A7-1EFC7797AB31}" presName="Name0" presStyleCnt="0">
        <dgm:presLayoutVars>
          <dgm:chMax val="7"/>
          <dgm:chPref val="7"/>
          <dgm:dir/>
        </dgm:presLayoutVars>
      </dgm:prSet>
      <dgm:spPr/>
    </dgm:pt>
    <dgm:pt modelId="{D02C3679-6D57-48ED-BFC9-E0D4664B5BD8}" type="pres">
      <dgm:prSet presAssocID="{1AC111E8-8BA9-478E-96A7-1EFC7797AB31}" presName="Name1" presStyleCnt="0"/>
      <dgm:spPr/>
    </dgm:pt>
    <dgm:pt modelId="{6155969E-20EE-4DD3-A8A0-068BB92C7338}" type="pres">
      <dgm:prSet presAssocID="{A9273E87-8577-43F2-8ECF-D86E84489066}" presName="picture_1" presStyleCnt="0"/>
      <dgm:spPr/>
    </dgm:pt>
    <dgm:pt modelId="{1C91D9E6-7E71-4BE5-B7FB-8A90577CAACE}" type="pres">
      <dgm:prSet presAssocID="{A9273E87-8577-43F2-8ECF-D86E84489066}" presName="pictureRepeatNode" presStyleLbl="alignImgPlace1" presStyleIdx="0" presStyleCnt="1" custScaleX="177572" custScaleY="115016" custLinFactNeighborX="-11214" custLinFactNeighborY="33586"/>
      <dgm:spPr/>
      <dgm:t>
        <a:bodyPr/>
        <a:lstStyle/>
        <a:p>
          <a:endParaRPr lang="pt-PT"/>
        </a:p>
      </dgm:t>
    </dgm:pt>
    <dgm:pt modelId="{1F81B7F7-EBA9-45B8-965D-A129615059F5}" type="pres">
      <dgm:prSet presAssocID="{BAF36E94-C22A-4934-9CC6-8B7FD643F278}" presName="text_1" presStyleLbl="node1" presStyleIdx="0" presStyleCnt="0" custLinFactNeighborX="-70794" custLinFactNeighborY="7047">
        <dgm:presLayoutVars>
          <dgm:bulletEnabled val="1"/>
        </dgm:presLayoutVars>
      </dgm:prSet>
      <dgm:spPr/>
      <dgm:t>
        <a:bodyPr/>
        <a:lstStyle/>
        <a:p>
          <a:endParaRPr lang="pt-PT"/>
        </a:p>
      </dgm:t>
    </dgm:pt>
  </dgm:ptLst>
  <dgm:cxnLst>
    <dgm:cxn modelId="{78E5BCDB-7E30-4453-BECD-5F943CF0F041}" srcId="{1AC111E8-8BA9-478E-96A7-1EFC7797AB31}" destId="{BAF36E94-C22A-4934-9CC6-8B7FD643F278}" srcOrd="0" destOrd="0" parTransId="{60967593-F83B-43DC-BADF-A5492EE6CF60}" sibTransId="{A9273E87-8577-43F2-8ECF-D86E84489066}"/>
    <dgm:cxn modelId="{40C9AEDC-B868-4F21-8CDD-8775179BC017}" type="presOf" srcId="{A9273E87-8577-43F2-8ECF-D86E84489066}" destId="{1C91D9E6-7E71-4BE5-B7FB-8A90577CAACE}" srcOrd="0" destOrd="0" presId="urn:microsoft.com/office/officeart/2008/layout/CircularPictureCallout"/>
    <dgm:cxn modelId="{D802C42B-5880-40E1-B61C-86071ED3DFD2}" type="presOf" srcId="{1AC111E8-8BA9-478E-96A7-1EFC7797AB31}" destId="{E71F7C7C-ED0D-4DAA-A578-9801F021AC0C}" srcOrd="0" destOrd="0" presId="urn:microsoft.com/office/officeart/2008/layout/CircularPictureCallout"/>
    <dgm:cxn modelId="{18A0ADDE-8A36-447D-8C4C-3E69CB952B8E}" type="presOf" srcId="{BAF36E94-C22A-4934-9CC6-8B7FD643F278}" destId="{1F81B7F7-EBA9-45B8-965D-A129615059F5}" srcOrd="0" destOrd="0" presId="urn:microsoft.com/office/officeart/2008/layout/CircularPictureCallout"/>
    <dgm:cxn modelId="{F6F247DA-5DE3-4239-AECD-C83C3C8A21F3}" type="presParOf" srcId="{E71F7C7C-ED0D-4DAA-A578-9801F021AC0C}" destId="{D02C3679-6D57-48ED-BFC9-E0D4664B5BD8}" srcOrd="0" destOrd="0" presId="urn:microsoft.com/office/officeart/2008/layout/CircularPictureCallout"/>
    <dgm:cxn modelId="{CA1DA4B0-C26D-415F-819B-A5E8D5284659}" type="presParOf" srcId="{D02C3679-6D57-48ED-BFC9-E0D4664B5BD8}" destId="{6155969E-20EE-4DD3-A8A0-068BB92C7338}" srcOrd="0" destOrd="0" presId="urn:microsoft.com/office/officeart/2008/layout/CircularPictureCallout"/>
    <dgm:cxn modelId="{4103009F-2325-4739-BCA6-F9495FECEE09}" type="presParOf" srcId="{6155969E-20EE-4DD3-A8A0-068BB92C7338}" destId="{1C91D9E6-7E71-4BE5-B7FB-8A90577CAACE}" srcOrd="0" destOrd="0" presId="urn:microsoft.com/office/officeart/2008/layout/CircularPictureCallout"/>
    <dgm:cxn modelId="{8817D546-47C2-4170-88E5-7E4C7E249A71}" type="presParOf" srcId="{D02C3679-6D57-48ED-BFC9-E0D4664B5BD8}" destId="{1F81B7F7-EBA9-45B8-965D-A129615059F5}" srcOrd="1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10CD289-645F-4435-8CDB-BE1ADA28F15E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</dgm:pt>
    <dgm:pt modelId="{F8097012-5184-4B8F-9D0A-3D402E270678}">
      <dgm:prSet phldrT="[Texto]" phldr="1"/>
      <dgm:spPr/>
      <dgm:t>
        <a:bodyPr/>
        <a:lstStyle/>
        <a:p>
          <a:endParaRPr lang="pt-PT" dirty="0"/>
        </a:p>
      </dgm:t>
    </dgm:pt>
    <dgm:pt modelId="{4A8AD322-2C64-4FD1-89BB-FD69543A5A18}" type="sibTrans" cxnId="{B66AD3A3-293E-4E02-A5E0-15FF0927CBBF}">
      <dgm:prSet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1000" b="-61000"/>
          </a:stretch>
        </a:blipFill>
      </dgm:spPr>
      <dgm:t>
        <a:bodyPr/>
        <a:lstStyle/>
        <a:p>
          <a:endParaRPr lang="pt-PT"/>
        </a:p>
      </dgm:t>
    </dgm:pt>
    <dgm:pt modelId="{70438E21-1BAF-4961-8CB8-44303E1D1675}" type="parTrans" cxnId="{B66AD3A3-293E-4E02-A5E0-15FF0927CBBF}">
      <dgm:prSet/>
      <dgm:spPr/>
      <dgm:t>
        <a:bodyPr/>
        <a:lstStyle/>
        <a:p>
          <a:endParaRPr lang="pt-PT"/>
        </a:p>
      </dgm:t>
    </dgm:pt>
    <dgm:pt modelId="{C9F01CAC-550C-4757-9386-1CFC7DA8E2DC}" type="pres">
      <dgm:prSet presAssocID="{910CD289-645F-4435-8CDB-BE1ADA28F15E}" presName="Name0" presStyleCnt="0">
        <dgm:presLayoutVars>
          <dgm:chMax val="7"/>
          <dgm:chPref val="7"/>
          <dgm:dir/>
        </dgm:presLayoutVars>
      </dgm:prSet>
      <dgm:spPr/>
    </dgm:pt>
    <dgm:pt modelId="{578948B9-CBCE-45D5-A506-00D27F2A8328}" type="pres">
      <dgm:prSet presAssocID="{910CD289-645F-4435-8CDB-BE1ADA28F15E}" presName="Name1" presStyleCnt="0"/>
      <dgm:spPr/>
    </dgm:pt>
    <dgm:pt modelId="{9E14334C-9342-4C18-AD7F-840688E39E5A}" type="pres">
      <dgm:prSet presAssocID="{4A8AD322-2C64-4FD1-89BB-FD69543A5A18}" presName="picture_1" presStyleCnt="0"/>
      <dgm:spPr/>
    </dgm:pt>
    <dgm:pt modelId="{4B34851E-ED7E-47FA-B2D8-A2BBD489124D}" type="pres">
      <dgm:prSet presAssocID="{4A8AD322-2C64-4FD1-89BB-FD69543A5A18}" presName="pictureRepeatNode" presStyleLbl="alignImgPlace1" presStyleIdx="0" presStyleCnt="1"/>
      <dgm:spPr/>
      <dgm:t>
        <a:bodyPr/>
        <a:lstStyle/>
        <a:p>
          <a:endParaRPr lang="pt-PT"/>
        </a:p>
      </dgm:t>
    </dgm:pt>
    <dgm:pt modelId="{EDADF621-7A09-4F68-8E76-AB916A61A20C}" type="pres">
      <dgm:prSet presAssocID="{F8097012-5184-4B8F-9D0A-3D402E270678}" presName="text_1" presStyleLbl="node1" presStyleIdx="0" presStyleCnt="0" custLinFactY="37421" custLinFactNeighborX="6394" custLinFactNeighborY="100000">
        <dgm:presLayoutVars>
          <dgm:bulletEnabled val="1"/>
        </dgm:presLayoutVars>
      </dgm:prSet>
      <dgm:spPr/>
      <dgm:t>
        <a:bodyPr/>
        <a:lstStyle/>
        <a:p>
          <a:endParaRPr lang="pt-PT"/>
        </a:p>
      </dgm:t>
    </dgm:pt>
  </dgm:ptLst>
  <dgm:cxnLst>
    <dgm:cxn modelId="{B66AD3A3-293E-4E02-A5E0-15FF0927CBBF}" srcId="{910CD289-645F-4435-8CDB-BE1ADA28F15E}" destId="{F8097012-5184-4B8F-9D0A-3D402E270678}" srcOrd="0" destOrd="0" parTransId="{70438E21-1BAF-4961-8CB8-44303E1D1675}" sibTransId="{4A8AD322-2C64-4FD1-89BB-FD69543A5A18}"/>
    <dgm:cxn modelId="{D6419B65-0C80-4254-B936-60649A867AEB}" type="presOf" srcId="{4A8AD322-2C64-4FD1-89BB-FD69543A5A18}" destId="{4B34851E-ED7E-47FA-B2D8-A2BBD489124D}" srcOrd="0" destOrd="0" presId="urn:microsoft.com/office/officeart/2008/layout/CircularPictureCallout"/>
    <dgm:cxn modelId="{833CEC98-FAC9-4AFF-8FBE-B1E5911417A5}" type="presOf" srcId="{910CD289-645F-4435-8CDB-BE1ADA28F15E}" destId="{C9F01CAC-550C-4757-9386-1CFC7DA8E2DC}" srcOrd="0" destOrd="0" presId="urn:microsoft.com/office/officeart/2008/layout/CircularPictureCallout"/>
    <dgm:cxn modelId="{81A2C104-FC77-41EB-A20A-4816466719FD}" type="presOf" srcId="{F8097012-5184-4B8F-9D0A-3D402E270678}" destId="{EDADF621-7A09-4F68-8E76-AB916A61A20C}" srcOrd="0" destOrd="0" presId="urn:microsoft.com/office/officeart/2008/layout/CircularPictureCallout"/>
    <dgm:cxn modelId="{79F300DC-5226-499B-A964-D807638B7104}" type="presParOf" srcId="{C9F01CAC-550C-4757-9386-1CFC7DA8E2DC}" destId="{578948B9-CBCE-45D5-A506-00D27F2A8328}" srcOrd="0" destOrd="0" presId="urn:microsoft.com/office/officeart/2008/layout/CircularPictureCallout"/>
    <dgm:cxn modelId="{CAE649E2-4554-4955-8795-18678979259D}" type="presParOf" srcId="{578948B9-CBCE-45D5-A506-00D27F2A8328}" destId="{9E14334C-9342-4C18-AD7F-840688E39E5A}" srcOrd="0" destOrd="0" presId="urn:microsoft.com/office/officeart/2008/layout/CircularPictureCallout"/>
    <dgm:cxn modelId="{BF66FF86-8359-4CF5-B10B-1E2628FAA47F}" type="presParOf" srcId="{9E14334C-9342-4C18-AD7F-840688E39E5A}" destId="{4B34851E-ED7E-47FA-B2D8-A2BBD489124D}" srcOrd="0" destOrd="0" presId="urn:microsoft.com/office/officeart/2008/layout/CircularPictureCallout"/>
    <dgm:cxn modelId="{CFCB62A0-6593-4D4B-B18A-46F0128F3D17}" type="presParOf" srcId="{578948B9-CBCE-45D5-A506-00D27F2A8328}" destId="{EDADF621-7A09-4F68-8E76-AB916A61A20C}" srcOrd="1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78D4BAF-1ACB-4FAD-B1D5-A3D779DB3A77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</dgm:pt>
    <dgm:pt modelId="{B8E3A0B9-02A4-4F47-A358-D144E0D5E958}">
      <dgm:prSet phldrT="[Texto]" phldr="1"/>
      <dgm:spPr/>
      <dgm:t>
        <a:bodyPr/>
        <a:lstStyle/>
        <a:p>
          <a:endParaRPr lang="pt-PT" dirty="0"/>
        </a:p>
      </dgm:t>
    </dgm:pt>
    <dgm:pt modelId="{026AD834-F024-4F93-9877-0ABB6592CBD6}" type="parTrans" cxnId="{958C989A-EA73-4004-847B-5360CC1C3DEF}">
      <dgm:prSet/>
      <dgm:spPr/>
      <dgm:t>
        <a:bodyPr/>
        <a:lstStyle/>
        <a:p>
          <a:endParaRPr lang="pt-PT"/>
        </a:p>
      </dgm:t>
    </dgm:pt>
    <dgm:pt modelId="{A0054C86-B7CC-4AA4-9949-1EEDA50B8A0F}" type="sibTrans" cxnId="{958C989A-EA73-4004-847B-5360CC1C3DEF}">
      <dgm:prSet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1000" b="-61000"/>
          </a:stretch>
        </a:blipFill>
      </dgm:spPr>
      <dgm:t>
        <a:bodyPr/>
        <a:lstStyle/>
        <a:p>
          <a:endParaRPr lang="pt-PT"/>
        </a:p>
      </dgm:t>
    </dgm:pt>
    <dgm:pt modelId="{A204884B-D23D-49D3-A60E-1634471AD4FE}" type="pres">
      <dgm:prSet presAssocID="{B78D4BAF-1ACB-4FAD-B1D5-A3D779DB3A77}" presName="Name0" presStyleCnt="0">
        <dgm:presLayoutVars>
          <dgm:chMax val="7"/>
          <dgm:chPref val="7"/>
          <dgm:dir/>
        </dgm:presLayoutVars>
      </dgm:prSet>
      <dgm:spPr/>
    </dgm:pt>
    <dgm:pt modelId="{EF2A9CBD-F15B-4533-8167-46FA931F0B98}" type="pres">
      <dgm:prSet presAssocID="{B78D4BAF-1ACB-4FAD-B1D5-A3D779DB3A77}" presName="Name1" presStyleCnt="0"/>
      <dgm:spPr/>
    </dgm:pt>
    <dgm:pt modelId="{95F52FE1-055F-4978-A2DF-B35745A0B689}" type="pres">
      <dgm:prSet presAssocID="{A0054C86-B7CC-4AA4-9949-1EEDA50B8A0F}" presName="picture_1" presStyleCnt="0"/>
      <dgm:spPr/>
    </dgm:pt>
    <dgm:pt modelId="{3299CF51-2DC7-4C27-A8F9-FF298E3E8561}" type="pres">
      <dgm:prSet presAssocID="{A0054C86-B7CC-4AA4-9949-1EEDA50B8A0F}" presName="pictureRepeatNode" presStyleLbl="alignImgPlace1" presStyleIdx="0" presStyleCnt="1" custScaleX="127755" custScaleY="128906" custLinFactNeighborX="-5375" custLinFactNeighborY="11042"/>
      <dgm:spPr/>
      <dgm:t>
        <a:bodyPr/>
        <a:lstStyle/>
        <a:p>
          <a:endParaRPr lang="pt-PT"/>
        </a:p>
      </dgm:t>
    </dgm:pt>
    <dgm:pt modelId="{16C127E5-BFD6-434A-BD28-0C5CB5BA6EFF}" type="pres">
      <dgm:prSet presAssocID="{B8E3A0B9-02A4-4F47-A358-D144E0D5E958}" presName="text_1" presStyleLbl="node1" presStyleIdx="0" presStyleCnt="0" custFlipHor="0" custScaleX="16798" custLinFactY="63540" custLinFactNeighborX="99206" custLinFactNeighborY="100000">
        <dgm:presLayoutVars>
          <dgm:bulletEnabled val="1"/>
        </dgm:presLayoutVars>
      </dgm:prSet>
      <dgm:spPr/>
      <dgm:t>
        <a:bodyPr/>
        <a:lstStyle/>
        <a:p>
          <a:endParaRPr lang="pt-PT"/>
        </a:p>
      </dgm:t>
    </dgm:pt>
  </dgm:ptLst>
  <dgm:cxnLst>
    <dgm:cxn modelId="{958C989A-EA73-4004-847B-5360CC1C3DEF}" srcId="{B78D4BAF-1ACB-4FAD-B1D5-A3D779DB3A77}" destId="{B8E3A0B9-02A4-4F47-A358-D144E0D5E958}" srcOrd="0" destOrd="0" parTransId="{026AD834-F024-4F93-9877-0ABB6592CBD6}" sibTransId="{A0054C86-B7CC-4AA4-9949-1EEDA50B8A0F}"/>
    <dgm:cxn modelId="{2AF27993-C299-4CCA-91E0-217C71BCC40C}" type="presOf" srcId="{B78D4BAF-1ACB-4FAD-B1D5-A3D779DB3A77}" destId="{A204884B-D23D-49D3-A60E-1634471AD4FE}" srcOrd="0" destOrd="0" presId="urn:microsoft.com/office/officeart/2008/layout/CircularPictureCallout"/>
    <dgm:cxn modelId="{65AB101C-9085-4152-BB4B-03723F799251}" type="presOf" srcId="{B8E3A0B9-02A4-4F47-A358-D144E0D5E958}" destId="{16C127E5-BFD6-434A-BD28-0C5CB5BA6EFF}" srcOrd="0" destOrd="0" presId="urn:microsoft.com/office/officeart/2008/layout/CircularPictureCallout"/>
    <dgm:cxn modelId="{27795A70-510C-475A-9DC3-2C0564ADA1C7}" type="presOf" srcId="{A0054C86-B7CC-4AA4-9949-1EEDA50B8A0F}" destId="{3299CF51-2DC7-4C27-A8F9-FF298E3E8561}" srcOrd="0" destOrd="0" presId="urn:microsoft.com/office/officeart/2008/layout/CircularPictureCallout"/>
    <dgm:cxn modelId="{7035BCA0-119D-4D1B-8A2E-1EBC25AEE9E2}" type="presParOf" srcId="{A204884B-D23D-49D3-A60E-1634471AD4FE}" destId="{EF2A9CBD-F15B-4533-8167-46FA931F0B98}" srcOrd="0" destOrd="0" presId="urn:microsoft.com/office/officeart/2008/layout/CircularPictureCallout"/>
    <dgm:cxn modelId="{019D0C3D-8732-4466-A8EC-77701BAA07B3}" type="presParOf" srcId="{EF2A9CBD-F15B-4533-8167-46FA931F0B98}" destId="{95F52FE1-055F-4978-A2DF-B35745A0B689}" srcOrd="0" destOrd="0" presId="urn:microsoft.com/office/officeart/2008/layout/CircularPictureCallout"/>
    <dgm:cxn modelId="{5158B348-FBDC-48AF-B26A-55EEA07933AF}" type="presParOf" srcId="{95F52FE1-055F-4978-A2DF-B35745A0B689}" destId="{3299CF51-2DC7-4C27-A8F9-FF298E3E8561}" srcOrd="0" destOrd="0" presId="urn:microsoft.com/office/officeart/2008/layout/CircularPictureCallout"/>
    <dgm:cxn modelId="{E6B5012C-A03A-4194-A11D-1C1701373E65}" type="presParOf" srcId="{EF2A9CBD-F15B-4533-8167-46FA931F0B98}" destId="{16C127E5-BFD6-434A-BD28-0C5CB5BA6EFF}" srcOrd="1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23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00B8B9B-8C72-4367-B9CE-5374CA4D29DB}" type="doc">
      <dgm:prSet loTypeId="urn:microsoft.com/office/officeart/2008/layout/CircularPictureCallout" loCatId="picture" qsTypeId="urn:microsoft.com/office/officeart/2005/8/quickstyle/simple1" qsCatId="simple" csTypeId="urn:microsoft.com/office/officeart/2005/8/colors/accent1_2" csCatId="accent1" phldr="1"/>
      <dgm:spPr/>
    </dgm:pt>
    <dgm:pt modelId="{9AE3BFAF-442F-4528-AE97-D02225643E3C}">
      <dgm:prSet phldrT="[Texto]" phldr="1"/>
      <dgm:spPr/>
      <dgm:t>
        <a:bodyPr/>
        <a:lstStyle/>
        <a:p>
          <a:endParaRPr lang="pt-PT" dirty="0"/>
        </a:p>
      </dgm:t>
    </dgm:pt>
    <dgm:pt modelId="{086F200F-5F43-4E2A-852B-C6ABC15485FD}" type="sibTrans" cxnId="{4337D49C-23E6-4833-ADD1-8CD90461B73E}">
      <dgm:prSet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1000" b="-61000"/>
          </a:stretch>
        </a:blipFill>
      </dgm:spPr>
      <dgm:t>
        <a:bodyPr/>
        <a:lstStyle/>
        <a:p>
          <a:endParaRPr lang="pt-PT"/>
        </a:p>
      </dgm:t>
    </dgm:pt>
    <dgm:pt modelId="{7185CEEA-A330-4BEE-9553-280813FA54CB}" type="parTrans" cxnId="{4337D49C-23E6-4833-ADD1-8CD90461B73E}">
      <dgm:prSet/>
      <dgm:spPr/>
      <dgm:t>
        <a:bodyPr/>
        <a:lstStyle/>
        <a:p>
          <a:endParaRPr lang="pt-PT"/>
        </a:p>
      </dgm:t>
    </dgm:pt>
    <dgm:pt modelId="{C50F5C87-51D5-4FF3-8D93-AE319EA79ED6}" type="pres">
      <dgm:prSet presAssocID="{600B8B9B-8C72-4367-B9CE-5374CA4D29DB}" presName="Name0" presStyleCnt="0">
        <dgm:presLayoutVars>
          <dgm:chMax val="7"/>
          <dgm:chPref val="7"/>
          <dgm:dir/>
        </dgm:presLayoutVars>
      </dgm:prSet>
      <dgm:spPr/>
    </dgm:pt>
    <dgm:pt modelId="{A774A654-9571-4402-8163-6D2B8F58FC21}" type="pres">
      <dgm:prSet presAssocID="{600B8B9B-8C72-4367-B9CE-5374CA4D29DB}" presName="Name1" presStyleCnt="0"/>
      <dgm:spPr/>
    </dgm:pt>
    <dgm:pt modelId="{9037B2AF-A35E-4DA2-BDBE-82673F5A4659}" type="pres">
      <dgm:prSet presAssocID="{086F200F-5F43-4E2A-852B-C6ABC15485FD}" presName="picture_1" presStyleCnt="0"/>
      <dgm:spPr/>
    </dgm:pt>
    <dgm:pt modelId="{E18F6756-CAAD-48A3-BE10-F002EC0E0446}" type="pres">
      <dgm:prSet presAssocID="{086F200F-5F43-4E2A-852B-C6ABC15485FD}" presName="pictureRepeatNode" presStyleLbl="alignImgPlace1" presStyleIdx="0" presStyleCnt="1" custScaleX="117632" custLinFactNeighborX="-430" custLinFactNeighborY="-5651"/>
      <dgm:spPr/>
      <dgm:t>
        <a:bodyPr/>
        <a:lstStyle/>
        <a:p>
          <a:endParaRPr lang="pt-PT"/>
        </a:p>
      </dgm:t>
    </dgm:pt>
    <dgm:pt modelId="{CA6A88C0-8EEF-4C45-A27F-479D860BB6F3}" type="pres">
      <dgm:prSet presAssocID="{9AE3BFAF-442F-4528-AE97-D02225643E3C}" presName="text_1" presStyleLbl="node1" presStyleIdx="0" presStyleCnt="0" custScaleX="67459" custScaleY="35527" custLinFactY="28814" custLinFactNeighborX="11071" custLinFactNeighborY="100000">
        <dgm:presLayoutVars>
          <dgm:bulletEnabled val="1"/>
        </dgm:presLayoutVars>
      </dgm:prSet>
      <dgm:spPr/>
      <dgm:t>
        <a:bodyPr/>
        <a:lstStyle/>
        <a:p>
          <a:endParaRPr lang="pt-PT"/>
        </a:p>
      </dgm:t>
    </dgm:pt>
  </dgm:ptLst>
  <dgm:cxnLst>
    <dgm:cxn modelId="{F601EF2A-3303-419E-9F6E-5F4CE6D52328}" type="presOf" srcId="{600B8B9B-8C72-4367-B9CE-5374CA4D29DB}" destId="{C50F5C87-51D5-4FF3-8D93-AE319EA79ED6}" srcOrd="0" destOrd="0" presId="urn:microsoft.com/office/officeart/2008/layout/CircularPictureCallout"/>
    <dgm:cxn modelId="{4337D49C-23E6-4833-ADD1-8CD90461B73E}" srcId="{600B8B9B-8C72-4367-B9CE-5374CA4D29DB}" destId="{9AE3BFAF-442F-4528-AE97-D02225643E3C}" srcOrd="0" destOrd="0" parTransId="{7185CEEA-A330-4BEE-9553-280813FA54CB}" sibTransId="{086F200F-5F43-4E2A-852B-C6ABC15485FD}"/>
    <dgm:cxn modelId="{49A88AEA-B0FD-448F-BF88-39BABBC1C09E}" type="presOf" srcId="{086F200F-5F43-4E2A-852B-C6ABC15485FD}" destId="{E18F6756-CAAD-48A3-BE10-F002EC0E0446}" srcOrd="0" destOrd="0" presId="urn:microsoft.com/office/officeart/2008/layout/CircularPictureCallout"/>
    <dgm:cxn modelId="{D318DE3F-80A6-47E3-9EB7-47098F154869}" type="presOf" srcId="{9AE3BFAF-442F-4528-AE97-D02225643E3C}" destId="{CA6A88C0-8EEF-4C45-A27F-479D860BB6F3}" srcOrd="0" destOrd="0" presId="urn:microsoft.com/office/officeart/2008/layout/CircularPictureCallout"/>
    <dgm:cxn modelId="{BBB81F96-E08D-42CD-9C46-22DAED72758E}" type="presParOf" srcId="{C50F5C87-51D5-4FF3-8D93-AE319EA79ED6}" destId="{A774A654-9571-4402-8163-6D2B8F58FC21}" srcOrd="0" destOrd="0" presId="urn:microsoft.com/office/officeart/2008/layout/CircularPictureCallout"/>
    <dgm:cxn modelId="{DF6790E3-3C82-4601-8119-9C5D800C5622}" type="presParOf" srcId="{A774A654-9571-4402-8163-6D2B8F58FC21}" destId="{9037B2AF-A35E-4DA2-BDBE-82673F5A4659}" srcOrd="0" destOrd="0" presId="urn:microsoft.com/office/officeart/2008/layout/CircularPictureCallout"/>
    <dgm:cxn modelId="{9EB1810E-AB24-45A7-87AA-300AA5DDEFB0}" type="presParOf" srcId="{9037B2AF-A35E-4DA2-BDBE-82673F5A4659}" destId="{E18F6756-CAAD-48A3-BE10-F002EC0E0446}" srcOrd="0" destOrd="0" presId="urn:microsoft.com/office/officeart/2008/layout/CircularPictureCallout"/>
    <dgm:cxn modelId="{97D062AF-1DA3-4020-BB78-90A15EA4EAAB}" type="presParOf" srcId="{A774A654-9571-4402-8163-6D2B8F58FC21}" destId="{CA6A88C0-8EEF-4C45-A27F-479D860BB6F3}" srcOrd="1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2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ECEA7B-5DC2-4628-BF69-33080EB306DB}">
      <dsp:nvSpPr>
        <dsp:cNvPr id="0" name=""/>
        <dsp:cNvSpPr/>
      </dsp:nvSpPr>
      <dsp:spPr>
        <a:xfrm>
          <a:off x="74034" y="0"/>
          <a:ext cx="1388424" cy="1234995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1000" b="-61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172C39-2A28-408A-BCE2-82A125278C1B}">
      <dsp:nvSpPr>
        <dsp:cNvPr id="0" name=""/>
        <dsp:cNvSpPr/>
      </dsp:nvSpPr>
      <dsp:spPr>
        <a:xfrm flipH="1" flipV="1">
          <a:off x="1344544" y="1189272"/>
          <a:ext cx="76192" cy="45721"/>
        </a:xfrm>
        <a:prstGeom prst="rect">
          <a:avLst/>
        </a:prstGeom>
        <a:noFill/>
        <a:ln w="1079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PT" sz="500" kern="1200" dirty="0"/>
        </a:p>
      </dsp:txBody>
      <dsp:txXfrm rot="10800000">
        <a:off x="1344544" y="1189272"/>
        <a:ext cx="76192" cy="457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91D9E6-7E71-4BE5-B7FB-8A90577CAACE}">
      <dsp:nvSpPr>
        <dsp:cNvPr id="0" name=""/>
        <dsp:cNvSpPr/>
      </dsp:nvSpPr>
      <dsp:spPr>
        <a:xfrm>
          <a:off x="0" y="614649"/>
          <a:ext cx="2740024" cy="1774754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1000" b="-61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81B7F7-EBA9-45B8-965D-A129615059F5}">
      <dsp:nvSpPr>
        <dsp:cNvPr id="0" name=""/>
        <dsp:cNvSpPr/>
      </dsp:nvSpPr>
      <dsp:spPr>
        <a:xfrm>
          <a:off x="350146" y="1278420"/>
          <a:ext cx="987552" cy="509206"/>
        </a:xfrm>
        <a:prstGeom prst="rect">
          <a:avLst/>
        </a:prstGeom>
        <a:noFill/>
        <a:ln w="1079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PT" sz="2300" kern="1200" dirty="0"/>
        </a:p>
      </dsp:txBody>
      <dsp:txXfrm>
        <a:off x="350146" y="1278420"/>
        <a:ext cx="987552" cy="5092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34851E-ED7E-47FA-B2D8-A2BBD489124D}">
      <dsp:nvSpPr>
        <dsp:cNvPr id="0" name=""/>
        <dsp:cNvSpPr/>
      </dsp:nvSpPr>
      <dsp:spPr>
        <a:xfrm>
          <a:off x="655590" y="578573"/>
          <a:ext cx="1311181" cy="1311181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1000" b="-61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ADF621-7A09-4F68-8E76-AB916A61A20C}">
      <dsp:nvSpPr>
        <dsp:cNvPr id="0" name=""/>
        <dsp:cNvSpPr/>
      </dsp:nvSpPr>
      <dsp:spPr>
        <a:xfrm>
          <a:off x="945259" y="1869417"/>
          <a:ext cx="839156" cy="432689"/>
        </a:xfrm>
        <a:prstGeom prst="rect">
          <a:avLst/>
        </a:prstGeom>
        <a:noFill/>
        <a:ln w="1079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PT" sz="2000" kern="1200" dirty="0"/>
        </a:p>
      </dsp:txBody>
      <dsp:txXfrm>
        <a:off x="945259" y="1869417"/>
        <a:ext cx="839156" cy="4326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99CF51-2DC7-4C27-A8F9-FF298E3E8561}">
      <dsp:nvSpPr>
        <dsp:cNvPr id="0" name=""/>
        <dsp:cNvSpPr/>
      </dsp:nvSpPr>
      <dsp:spPr>
        <a:xfrm>
          <a:off x="385060" y="399824"/>
          <a:ext cx="1599914" cy="1614328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1000" b="-61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C127E5-BFD6-434A-BD28-0C5CB5BA6EFF}">
      <dsp:nvSpPr>
        <dsp:cNvPr id="0" name=""/>
        <dsp:cNvSpPr/>
      </dsp:nvSpPr>
      <dsp:spPr>
        <a:xfrm>
          <a:off x="1980140" y="1724143"/>
          <a:ext cx="134634" cy="413268"/>
        </a:xfrm>
        <a:prstGeom prst="rect">
          <a:avLst/>
        </a:prstGeom>
        <a:noFill/>
        <a:ln w="1079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PT" sz="500" kern="1200" dirty="0"/>
        </a:p>
      </dsp:txBody>
      <dsp:txXfrm>
        <a:off x="1980140" y="1724143"/>
        <a:ext cx="134634" cy="4132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8F6756-CAAD-48A3-BE10-F002EC0E0446}">
      <dsp:nvSpPr>
        <dsp:cNvPr id="0" name=""/>
        <dsp:cNvSpPr/>
      </dsp:nvSpPr>
      <dsp:spPr>
        <a:xfrm>
          <a:off x="628854" y="190095"/>
          <a:ext cx="1815120" cy="1543049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61000" b="-61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6A88C0-8EEF-4C45-A27F-479D860BB6F3}">
      <dsp:nvSpPr>
        <dsp:cNvPr id="0" name=""/>
        <dsp:cNvSpPr/>
      </dsp:nvSpPr>
      <dsp:spPr>
        <a:xfrm>
          <a:off x="1319285" y="1916730"/>
          <a:ext cx="666192" cy="180905"/>
        </a:xfrm>
        <a:prstGeom prst="rect">
          <a:avLst/>
        </a:prstGeom>
        <a:noFill/>
        <a:ln w="1079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PT" sz="1200" kern="1200" dirty="0"/>
        </a:p>
      </dsp:txBody>
      <dsp:txXfrm>
        <a:off x="1319285" y="1916730"/>
        <a:ext cx="666192" cy="1809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0.00275</cdr:x>
      <cdr:y>0.92163</cdr:y>
    </cdr:from>
    <cdr:to>
      <cdr:x>0.24674</cdr:x>
      <cdr:y>1</cdr:y>
    </cdr:to>
    <cdr:sp macro="" textlink="">
      <cdr:nvSpPr>
        <cdr:cNvPr id="2" name="Rectangle 7"/>
        <cdr:cNvSpPr/>
      </cdr:nvSpPr>
      <cdr:spPr>
        <a:xfrm xmlns:a="http://schemas.openxmlformats.org/drawingml/2006/main">
          <a:off x="29817" y="4819431"/>
          <a:ext cx="2647044" cy="409794"/>
        </a:xfrm>
        <a:prstGeom xmlns:a="http://schemas.openxmlformats.org/drawingml/2006/main" prst="rect">
          <a:avLst/>
        </a:prstGeom>
        <a:solidFill xmlns:a="http://schemas.openxmlformats.org/drawingml/2006/main">
          <a:schemeClr val="tx1"/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anchor="ctr"/>
        <a:lstStyle xmlns:a="http://schemas.openxmlformats.org/drawingml/2006/main">
          <a:defPPr>
            <a:defRPr lang="en-US"/>
          </a:defPPr>
          <a:lvl1pPr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defRPr/>
          </a:pPr>
          <a:r>
            <a: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rPr>
            <a:t>Fonte: SISMA</a:t>
          </a:r>
          <a:endParaRPr kumimoji="0" lang="pt-PT" sz="1600" b="1" i="0" u="none" strike="noStrike" kern="1200" cap="none" spc="0" normalizeH="0" baseline="0" noProof="0" dirty="0">
            <a:ln>
              <a:noFill/>
            </a:ln>
            <a:solidFill>
              <a:schemeClr val="bg1"/>
            </a:solidFill>
            <a:effectLst/>
            <a:uLnTx/>
            <a:uFillTx/>
            <a:latin typeface="+mn-lt"/>
            <a:ea typeface="+mn-ea"/>
            <a:cs typeface="+mn-cs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0.20542</cdr:x>
      <cdr:y>0.28126</cdr:y>
    </cdr:from>
    <cdr:to>
      <cdr:x>0.31951</cdr:x>
      <cdr:y>0.37969</cdr:y>
    </cdr:to>
    <cdr:sp macro="" textlink="">
      <cdr:nvSpPr>
        <cdr:cNvPr id="2" name="Elipse 1"/>
        <cdr:cNvSpPr/>
      </cdr:nvSpPr>
      <cdr:spPr>
        <a:xfrm xmlns:a="http://schemas.openxmlformats.org/drawingml/2006/main">
          <a:off x="2424899" y="1569527"/>
          <a:ext cx="1346835" cy="549275"/>
        </a:xfrm>
        <a:prstGeom xmlns:a="http://schemas.openxmlformats.org/drawingml/2006/main" prst="ellipse">
          <a:avLst/>
        </a:prstGeom>
        <a:solidFill xmlns:a="http://schemas.openxmlformats.org/drawingml/2006/main">
          <a:schemeClr val="tx1"/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ctr" anchorCtr="0" forceAA="0" compatLnSpc="1">
          <a:no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defRPr/>
          </a:pPr>
          <a:r>
            <a:rPr kumimoji="0" lang="pt-PT" altLang="pt-BR" sz="1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rPr>
            <a:t>100</a:t>
          </a:r>
          <a:r>
            <a:rPr kumimoji="0" lang="pt-BR" sz="1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rPr>
            <a:t>%</a:t>
          </a:r>
        </a:p>
      </cdr:txBody>
    </cdr:sp>
  </cdr:relSizeAnchor>
  <cdr:relSizeAnchor xmlns:cdr="http://schemas.openxmlformats.org/drawingml/2006/chartDrawing">
    <cdr:from>
      <cdr:x>0.51274</cdr:x>
      <cdr:y>0.71517</cdr:y>
    </cdr:from>
    <cdr:to>
      <cdr:x>0.62683</cdr:x>
      <cdr:y>0.8136</cdr:y>
    </cdr:to>
    <cdr:sp macro="" textlink="">
      <cdr:nvSpPr>
        <cdr:cNvPr id="3" name="Elipse 2"/>
        <cdr:cNvSpPr/>
      </cdr:nvSpPr>
      <cdr:spPr>
        <a:xfrm xmlns:a="http://schemas.openxmlformats.org/drawingml/2006/main">
          <a:off x="6052682" y="3990902"/>
          <a:ext cx="1346835" cy="549275"/>
        </a:xfrm>
        <a:prstGeom xmlns:a="http://schemas.openxmlformats.org/drawingml/2006/main" prst="ellipse">
          <a:avLst/>
        </a:prstGeom>
        <a:solidFill xmlns:a="http://schemas.openxmlformats.org/drawingml/2006/main">
          <a:schemeClr val="tx1"/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ctr" anchorCtr="0" forceAA="0" compatLnSpc="1">
          <a:no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defRPr/>
          </a:pPr>
          <a:r>
            <a:rPr kumimoji="0" lang="pt-PT" altLang="pt-BR" sz="1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rPr>
            <a:t>100</a:t>
          </a:r>
          <a:r>
            <a:rPr kumimoji="0" lang="pt-BR" sz="1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rPr>
            <a:t>%</a:t>
          </a:r>
        </a:p>
      </cdr:txBody>
    </cdr:sp>
  </cdr:relSizeAnchor>
  <cdr:relSizeAnchor xmlns:cdr="http://schemas.openxmlformats.org/drawingml/2006/chartDrawing">
    <cdr:from>
      <cdr:x>0.66429</cdr:x>
      <cdr:y>0.68489</cdr:y>
    </cdr:from>
    <cdr:to>
      <cdr:x>0.77838</cdr:x>
      <cdr:y>0.78332</cdr:y>
    </cdr:to>
    <cdr:sp macro="" textlink="">
      <cdr:nvSpPr>
        <cdr:cNvPr id="4" name="Elipse 3"/>
        <cdr:cNvSpPr/>
      </cdr:nvSpPr>
      <cdr:spPr>
        <a:xfrm xmlns:a="http://schemas.openxmlformats.org/drawingml/2006/main">
          <a:off x="7841725" y="3821938"/>
          <a:ext cx="1346835" cy="549275"/>
        </a:xfrm>
        <a:prstGeom xmlns:a="http://schemas.openxmlformats.org/drawingml/2006/main" prst="ellipse">
          <a:avLst/>
        </a:prstGeom>
        <a:solidFill xmlns:a="http://schemas.openxmlformats.org/drawingml/2006/main">
          <a:schemeClr val="tx1"/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ctr" anchorCtr="0" forceAA="0" compatLnSpc="1">
          <a:noAutofit/>
        </a:bodyPr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defRPr/>
          </a:pPr>
          <a:r>
            <a:rPr kumimoji="0" lang="pt-PT" altLang="pt-BR" sz="1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rPr>
            <a:t>100</a:t>
          </a:r>
          <a:r>
            <a:rPr kumimoji="0" lang="pt-BR" sz="1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rPr>
            <a:t>%</a:t>
          </a:r>
        </a:p>
      </cdr:txBody>
    </cdr:sp>
  </cdr:relSizeAnchor>
  <cdr:relSizeAnchor xmlns:cdr="http://schemas.openxmlformats.org/drawingml/2006/chartDrawing">
    <cdr:from>
      <cdr:x>0.68191</cdr:x>
      <cdr:y>0.7907</cdr:y>
    </cdr:from>
    <cdr:to>
      <cdr:x>0.7885</cdr:x>
      <cdr:y>0.86204</cdr:y>
    </cdr:to>
    <cdr:sp macro="" textlink="">
      <cdr:nvSpPr>
        <cdr:cNvPr id="5" name="Seta para a direita 4"/>
        <cdr:cNvSpPr/>
      </cdr:nvSpPr>
      <cdr:spPr>
        <a:xfrm xmlns:a="http://schemas.openxmlformats.org/drawingml/2006/main">
          <a:off x="8049729" y="4412380"/>
          <a:ext cx="1258268" cy="398128"/>
        </a:xfrm>
        <a:prstGeom xmlns:a="http://schemas.openxmlformats.org/drawingml/2006/main" prst="rightArrow">
          <a:avLst/>
        </a:prstGeom>
        <a:solidFill xmlns:a="http://schemas.openxmlformats.org/drawingml/2006/main">
          <a:srgbClr val="FFC000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defPPr>
            <a:defRPr lang="en-US"/>
          </a:defPPr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/>
        </a:p>
      </cdr:txBody>
    </cdr:sp>
  </cdr:relSizeAnchor>
  <cdr:relSizeAnchor xmlns:cdr="http://schemas.openxmlformats.org/drawingml/2006/chartDrawing">
    <cdr:from>
      <cdr:x>0.38317</cdr:x>
      <cdr:y>0.72138</cdr:y>
    </cdr:from>
    <cdr:to>
      <cdr:x>0.49726</cdr:x>
      <cdr:y>0.81981</cdr:y>
    </cdr:to>
    <cdr:sp macro="" textlink="">
      <cdr:nvSpPr>
        <cdr:cNvPr id="6" name="Elipse 5"/>
        <cdr:cNvSpPr/>
      </cdr:nvSpPr>
      <cdr:spPr>
        <a:xfrm xmlns:a="http://schemas.openxmlformats.org/drawingml/2006/main">
          <a:off x="4523160" y="4025596"/>
          <a:ext cx="1346835" cy="549275"/>
        </a:xfrm>
        <a:prstGeom xmlns:a="http://schemas.openxmlformats.org/drawingml/2006/main" prst="ellipse">
          <a:avLst/>
        </a:prstGeom>
        <a:solidFill xmlns:a="http://schemas.openxmlformats.org/drawingml/2006/main">
          <a:schemeClr val="tx1"/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ctr" anchorCtr="0" forceAA="0" compatLnSpc="1">
          <a:noAutofit/>
        </a:bodyPr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defRPr/>
          </a:pPr>
          <a:r>
            <a:rPr kumimoji="0" lang="pt-PT" altLang="pt-BR" sz="1800" b="1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rPr>
            <a:t>1</a:t>
          </a:r>
          <a:r>
            <a:rPr kumimoji="0" lang="pt-BR" sz="1800" b="1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rPr>
            <a:t>%</a:t>
          </a:r>
          <a:endParaRPr kumimoji="0" lang="pt-BR" sz="1800" b="1" i="0" u="none" strike="noStrike" kern="1200" cap="none" spc="0" normalizeH="0" baseline="0" noProof="0" dirty="0">
            <a:ln>
              <a:noFill/>
            </a:ln>
            <a:solidFill>
              <a:schemeClr val="bg1"/>
            </a:solidFill>
            <a:effectLst/>
            <a:uLnTx/>
            <a:uFillTx/>
            <a:latin typeface="+mn-lt"/>
            <a:ea typeface="+mn-ea"/>
            <a:cs typeface="+mn-cs"/>
          </a:endParaRPr>
        </a:p>
      </cdr:txBody>
    </cdr:sp>
  </cdr:relSizeAnchor>
  <cdr:relSizeAnchor xmlns:cdr="http://schemas.openxmlformats.org/drawingml/2006/chartDrawing">
    <cdr:from>
      <cdr:x>0.37038</cdr:x>
      <cdr:y>0.81405</cdr:y>
    </cdr:from>
    <cdr:to>
      <cdr:x>0.48212</cdr:x>
      <cdr:y>0.88539</cdr:y>
    </cdr:to>
    <cdr:sp macro="" textlink="">
      <cdr:nvSpPr>
        <cdr:cNvPr id="7" name="Seta para a direita 6"/>
        <cdr:cNvSpPr/>
      </cdr:nvSpPr>
      <cdr:spPr>
        <a:xfrm xmlns:a="http://schemas.openxmlformats.org/drawingml/2006/main">
          <a:off x="4372251" y="4542694"/>
          <a:ext cx="1319006" cy="398128"/>
        </a:xfrm>
        <a:prstGeom xmlns:a="http://schemas.openxmlformats.org/drawingml/2006/main" prst="rightArrow">
          <a:avLst/>
        </a:prstGeom>
        <a:solidFill xmlns:a="http://schemas.openxmlformats.org/drawingml/2006/main">
          <a:srgbClr val="FFC000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/>
        </a:p>
      </cdr:txBody>
    </cdr:sp>
  </cdr:relSizeAnchor>
  <cdr:relSizeAnchor xmlns:cdr="http://schemas.openxmlformats.org/drawingml/2006/chartDrawing">
    <cdr:from>
      <cdr:x>0.51689</cdr:x>
      <cdr:y>0.81405</cdr:y>
    </cdr:from>
    <cdr:to>
      <cdr:x>0.62441</cdr:x>
      <cdr:y>0.88539</cdr:y>
    </cdr:to>
    <cdr:sp macro="" textlink="">
      <cdr:nvSpPr>
        <cdr:cNvPr id="8" name="Seta para a direita 7"/>
        <cdr:cNvSpPr/>
      </cdr:nvSpPr>
      <cdr:spPr>
        <a:xfrm xmlns:a="http://schemas.openxmlformats.org/drawingml/2006/main">
          <a:off x="6101659" y="4542694"/>
          <a:ext cx="1269311" cy="398128"/>
        </a:xfrm>
        <a:prstGeom xmlns:a="http://schemas.openxmlformats.org/drawingml/2006/main" prst="rightArrow">
          <a:avLst/>
        </a:prstGeom>
        <a:solidFill xmlns:a="http://schemas.openxmlformats.org/drawingml/2006/main">
          <a:srgbClr val="FFC000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/>
        </a:p>
      </cdr:txBody>
    </cdr:sp>
  </cdr:relSizeAnchor>
  <cdr:relSizeAnchor xmlns:cdr="http://schemas.openxmlformats.org/drawingml/2006/chartDrawing">
    <cdr:from>
      <cdr:x>0.19976</cdr:x>
      <cdr:y>0.42453</cdr:y>
    </cdr:from>
    <cdr:to>
      <cdr:x>0.33057</cdr:x>
      <cdr:y>0.49587</cdr:y>
    </cdr:to>
    <cdr:sp macro="" textlink="">
      <cdr:nvSpPr>
        <cdr:cNvPr id="9" name="Seta para a direita 8"/>
        <cdr:cNvSpPr/>
      </cdr:nvSpPr>
      <cdr:spPr>
        <a:xfrm xmlns:a="http://schemas.openxmlformats.org/drawingml/2006/main">
          <a:off x="2358062" y="2369017"/>
          <a:ext cx="1544152" cy="398128"/>
        </a:xfrm>
        <a:prstGeom xmlns:a="http://schemas.openxmlformats.org/drawingml/2006/main" prst="rightArrow">
          <a:avLst/>
        </a:prstGeom>
        <a:solidFill xmlns:a="http://schemas.openxmlformats.org/drawingml/2006/main">
          <a:srgbClr val="FFC000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endParaRPr/>
        </a:p>
      </cdr:txBody>
    </cdr:sp>
  </cdr:relSizeAnchor>
  <cdr:relSizeAnchor xmlns:cdr="http://schemas.openxmlformats.org/drawingml/2006/chartDrawing">
    <cdr:from>
      <cdr:x>0.01079</cdr:x>
      <cdr:y>0.89087</cdr:y>
    </cdr:from>
    <cdr:to>
      <cdr:x>0.23503</cdr:x>
      <cdr:y>0.9643</cdr:y>
    </cdr:to>
    <cdr:sp macro="" textlink="">
      <cdr:nvSpPr>
        <cdr:cNvPr id="10" name="Rectangle 7"/>
        <cdr:cNvSpPr/>
      </cdr:nvSpPr>
      <cdr:spPr>
        <a:xfrm xmlns:a="http://schemas.openxmlformats.org/drawingml/2006/main">
          <a:off x="127414" y="4971385"/>
          <a:ext cx="2647044" cy="409794"/>
        </a:xfrm>
        <a:prstGeom xmlns:a="http://schemas.openxmlformats.org/drawingml/2006/main" prst="rect">
          <a:avLst/>
        </a:prstGeom>
        <a:solidFill xmlns:a="http://schemas.openxmlformats.org/drawingml/2006/main">
          <a:schemeClr val="tx1"/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anchor="ctr"/>
        <a:lstStyle xmlns:a="http://schemas.openxmlformats.org/drawingml/2006/main">
          <a:defPPr>
            <a:defRPr lang="en-US"/>
          </a:defPPr>
          <a:lvl1pPr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defRPr/>
          </a:pPr>
          <a:r>
            <a: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rPr>
            <a:t>Fonte: SISMA</a:t>
          </a:r>
          <a:endParaRPr kumimoji="0" lang="pt-PT" sz="1600" b="1" i="0" u="none" strike="noStrike" kern="1200" cap="none" spc="0" normalizeH="0" baseline="0" noProof="0" dirty="0">
            <a:ln>
              <a:noFill/>
            </a:ln>
            <a:solidFill>
              <a:schemeClr val="bg1"/>
            </a:solidFill>
            <a:effectLst/>
            <a:uLnTx/>
            <a:uFillTx/>
            <a:latin typeface="+mn-lt"/>
            <a:ea typeface="+mn-ea"/>
            <a:cs typeface="+mn-cs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0.0857</cdr:x>
      <cdr:y>0.23002</cdr:y>
    </cdr:from>
    <cdr:to>
      <cdr:x>0.18413</cdr:x>
      <cdr:y>0.31827</cdr:y>
    </cdr:to>
    <cdr:sp macro="" textlink="">
      <cdr:nvSpPr>
        <cdr:cNvPr id="2" name="Right Arrow 1"/>
        <cdr:cNvSpPr/>
      </cdr:nvSpPr>
      <cdr:spPr>
        <a:xfrm xmlns:a="http://schemas.openxmlformats.org/drawingml/2006/main">
          <a:off x="1034787" y="1191872"/>
          <a:ext cx="1188541" cy="457276"/>
        </a:xfrm>
        <a:prstGeom xmlns:a="http://schemas.openxmlformats.org/drawingml/2006/main" prst="rightArrow">
          <a:avLst/>
        </a:prstGeom>
        <a:solidFill xmlns:a="http://schemas.openxmlformats.org/drawingml/2006/main">
          <a:schemeClr val="accent2">
            <a:lumMod val="75000"/>
          </a:schemeClr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 anchor="ctr"/>
        <a:lstStyle xmlns:a="http://schemas.openxmlformats.org/drawingml/2006/main"/>
        <a:p xmlns:a="http://schemas.openxmlformats.org/drawingml/2006/main">
          <a:pPr algn="ctr"/>
          <a:r>
            <a:rPr lang="en-US" dirty="0"/>
            <a:t>100%</a:t>
          </a:r>
        </a:p>
      </cdr:txBody>
    </cdr:sp>
  </cdr:relSizeAnchor>
  <cdr:relSizeAnchor xmlns:cdr="http://schemas.openxmlformats.org/drawingml/2006/chartDrawing">
    <cdr:from>
      <cdr:x>0.22364</cdr:x>
      <cdr:y>0.19523</cdr:y>
    </cdr:from>
    <cdr:to>
      <cdr:x>0.33477</cdr:x>
      <cdr:y>0.28323</cdr:y>
    </cdr:to>
    <cdr:sp macro="" textlink="">
      <cdr:nvSpPr>
        <cdr:cNvPr id="3" name="Right Arrow 2"/>
        <cdr:cNvSpPr/>
      </cdr:nvSpPr>
      <cdr:spPr>
        <a:xfrm xmlns:a="http://schemas.openxmlformats.org/drawingml/2006/main">
          <a:off x="2700407" y="1011604"/>
          <a:ext cx="1341781" cy="455981"/>
        </a:xfrm>
        <a:prstGeom xmlns:a="http://schemas.openxmlformats.org/drawingml/2006/main" prst="rightArrow">
          <a:avLst/>
        </a:prstGeom>
        <a:solidFill xmlns:a="http://schemas.openxmlformats.org/drawingml/2006/main">
          <a:srgbClr val="002060"/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dirty="0"/>
            <a:t>97%</a:t>
          </a:r>
        </a:p>
      </cdr:txBody>
    </cdr:sp>
  </cdr:relSizeAnchor>
  <cdr:relSizeAnchor xmlns:cdr="http://schemas.openxmlformats.org/drawingml/2006/chartDrawing">
    <cdr:from>
      <cdr:x>0.33815</cdr:x>
      <cdr:y>0.6782</cdr:y>
    </cdr:from>
    <cdr:to>
      <cdr:x>0.41248</cdr:x>
      <cdr:y>0.7887</cdr:y>
    </cdr:to>
    <cdr:sp macro="" textlink="">
      <cdr:nvSpPr>
        <cdr:cNvPr id="4" name="Right Arrow 3"/>
        <cdr:cNvSpPr/>
      </cdr:nvSpPr>
      <cdr:spPr>
        <a:xfrm xmlns:a="http://schemas.openxmlformats.org/drawingml/2006/main">
          <a:off x="4083050" y="3514153"/>
          <a:ext cx="897466" cy="572567"/>
        </a:xfrm>
        <a:prstGeom xmlns:a="http://schemas.openxmlformats.org/drawingml/2006/main" prst="rightArrow">
          <a:avLst/>
        </a:prstGeom>
        <a:solidFill xmlns:a="http://schemas.openxmlformats.org/drawingml/2006/main">
          <a:schemeClr val="accent5">
            <a:lumMod val="75000"/>
          </a:schemeClr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b="1" dirty="0"/>
            <a:t>3%</a:t>
          </a:r>
        </a:p>
      </cdr:txBody>
    </cdr:sp>
  </cdr:relSizeAnchor>
  <cdr:relSizeAnchor xmlns:cdr="http://schemas.openxmlformats.org/drawingml/2006/chartDrawing">
    <cdr:from>
      <cdr:x>0.33605</cdr:x>
      <cdr:y>0.56752</cdr:y>
    </cdr:from>
    <cdr:to>
      <cdr:x>0.64598</cdr:x>
      <cdr:y>0.65527</cdr:y>
    </cdr:to>
    <cdr:sp macro="" textlink="">
      <cdr:nvSpPr>
        <cdr:cNvPr id="5" name="Right Arrow 4"/>
        <cdr:cNvSpPr/>
      </cdr:nvSpPr>
      <cdr:spPr>
        <a:xfrm xmlns:a="http://schemas.openxmlformats.org/drawingml/2006/main">
          <a:off x="4057648" y="2940652"/>
          <a:ext cx="3742267" cy="454686"/>
        </a:xfrm>
        <a:prstGeom xmlns:a="http://schemas.openxmlformats.org/drawingml/2006/main" prst="rightArrow">
          <a:avLst/>
        </a:prstGeom>
        <a:solidFill xmlns:a="http://schemas.openxmlformats.org/drawingml/2006/main">
          <a:srgbClr val="00B050"/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anchor="ctr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en-US" dirty="0"/>
            <a:t>    </a:t>
          </a:r>
          <a:r>
            <a:rPr lang="en-US" b="1" dirty="0"/>
            <a:t>1</a:t>
          </a:r>
          <a:r>
            <a:rPr lang="en-US" dirty="0"/>
            <a:t>%</a:t>
          </a: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0.01592</cdr:x>
      <cdr:y>0.91791</cdr:y>
    </cdr:from>
    <cdr:to>
      <cdr:x>0.25876</cdr:x>
      <cdr:y>0.99354</cdr:y>
    </cdr:to>
    <cdr:sp macro="" textlink="">
      <cdr:nvSpPr>
        <cdr:cNvPr id="2" name="Rectangle 7"/>
        <cdr:cNvSpPr/>
      </cdr:nvSpPr>
      <cdr:spPr>
        <a:xfrm xmlns:a="http://schemas.openxmlformats.org/drawingml/2006/main">
          <a:off x="173525" y="4973863"/>
          <a:ext cx="2647044" cy="409794"/>
        </a:xfrm>
        <a:prstGeom xmlns:a="http://schemas.openxmlformats.org/drawingml/2006/main" prst="rect">
          <a:avLst/>
        </a:prstGeom>
        <a:solidFill xmlns:a="http://schemas.openxmlformats.org/drawingml/2006/main">
          <a:schemeClr val="tx1"/>
        </a:solidFill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anchor="ctr"/>
        <a:lstStyle xmlns:a="http://schemas.openxmlformats.org/drawingml/2006/main">
          <a:defPPr>
            <a:defRPr lang="en-US"/>
          </a:defPPr>
          <a:lvl1pPr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457200" rtl="0" eaLnBrk="0" fontAlgn="base" hangingPunct="0">
            <a:spcBef>
              <a:spcPct val="0"/>
            </a:spcBef>
            <a:spcAft>
              <a:spcPct val="0"/>
            </a:spcAft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ctr" defTabSz="914400" rtl="0" eaLnBrk="0" fontAlgn="base" latinLnBrk="0" hangingPunct="0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defRPr/>
          </a:pPr>
          <a:r>
            <a: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rPr>
            <a:t>Fonte: SISMA</a:t>
          </a:r>
          <a:endParaRPr kumimoji="0" lang="pt-PT" sz="1600" b="1" i="0" u="none" strike="noStrike" kern="1200" cap="none" spc="0" normalizeH="0" baseline="0" noProof="0" dirty="0">
            <a:ln>
              <a:noFill/>
            </a:ln>
            <a:solidFill>
              <a:schemeClr val="bg1"/>
            </a:solidFill>
            <a:effectLst/>
            <a:uLnTx/>
            <a:uFillTx/>
            <a:latin typeface="+mn-lt"/>
            <a:ea typeface="+mn-ea"/>
            <a:cs typeface="+mn-cs"/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3D1DC68F-8B2C-CA23-8B5B-106CC325D7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80C4CB5-B549-5A34-AD1E-2D8F527CD7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5A9B5E7-730D-47F3-A20F-21BEEC4675EC}" type="datetimeFigureOut">
              <a:rPr lang="en-US"/>
              <a:pPr>
                <a:defRPr/>
              </a:pPr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EF7C1B0C-5C66-58FB-709F-C521B149C2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9C3DECB-0946-2995-68E8-A73D83DC43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4CFE4AED-41EF-44BB-A7AE-BB514A61616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B2B5BD0D-6CA1-CD12-446D-4A1C87137C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E4F9314-9251-0913-9B46-0A81B2FF22B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CC208207-5B48-4395-8D1E-F22232184DB3}" type="datetimeFigureOut">
              <a:rPr lang="en-US"/>
              <a:pPr>
                <a:defRPr/>
              </a:pPr>
              <a:t>10/7/2026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xmlns="" id="{C216246D-E8C1-22F1-D549-A499F068F9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xmlns="" id="{EB2171CB-3327-65A7-23E7-B5A8425346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623224F-F420-78FC-CD08-97664255BB9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8CCC3C7-5B2A-D444-6A56-F0D9391E5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F5A9D756-8865-4D09-887F-FA6D13893AF9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787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Marcador de Posição da Imagem do Diapositivo 1">
            <a:extLst>
              <a:ext uri="{FF2B5EF4-FFF2-40B4-BE49-F238E27FC236}">
                <a16:creationId xmlns:a16="http://schemas.microsoft.com/office/drawing/2014/main" xmlns="" id="{10530BF5-A971-5043-1665-5472D211B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Marcador de Posição de Notas 2">
            <a:extLst>
              <a:ext uri="{FF2B5EF4-FFF2-40B4-BE49-F238E27FC236}">
                <a16:creationId xmlns:a16="http://schemas.microsoft.com/office/drawing/2014/main" xmlns="" id="{48A3E538-F2FA-A4FF-B547-5C9806249A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pt-PT" altLang="en-US"/>
          </a:p>
        </p:txBody>
      </p:sp>
      <p:sp>
        <p:nvSpPr>
          <p:cNvPr id="25604" name="Marcador de Posição do Número do Diapositivo 3">
            <a:extLst>
              <a:ext uri="{FF2B5EF4-FFF2-40B4-BE49-F238E27FC236}">
                <a16:creationId xmlns:a16="http://schemas.microsoft.com/office/drawing/2014/main" xmlns="" id="{B1E488B7-D5EB-83C8-E3A8-19F6124E28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A623A8E-B97A-462B-AF83-3CB1386C2B58}" type="slidenum">
              <a:rPr lang="en-US" altLang="en-US">
                <a:solidFill>
                  <a:srgbClr val="000000"/>
                </a:solidFill>
                <a:latin typeface="Aptos" panose="020B00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669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F798AC4-1AB6-4E44-8A34-0A4ABD779C2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0121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A9D756-8865-4D09-887F-FA6D13893AF9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119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A9D756-8865-4D09-887F-FA6D13893AF9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363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7E0ECDB-78A6-E0EE-99D8-DB08368F4D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85724"/>
            <a:ext cx="12192001" cy="6943724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BBB5C81C-D85F-F74F-CDB1-B6C8E40B22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6913" y="962025"/>
            <a:ext cx="933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/>
              <a:t>MISAU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4D3E06F1-1F79-6D72-8F24-50EB1D5F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7175" y="6391672"/>
            <a:ext cx="504825" cy="442912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‹nº›</a:t>
            </a:fld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C6E4D48-D476-9079-8A1D-DE51783549FE}"/>
              </a:ext>
            </a:extLst>
          </p:cNvPr>
          <p:cNvSpPr>
            <a:spLocks noGrp="1"/>
          </p:cNvSpPr>
          <p:nvPr userDrawn="1"/>
        </p:nvSpPr>
        <p:spPr>
          <a:xfrm>
            <a:off x="0" y="0"/>
            <a:ext cx="12192000" cy="92948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endParaRPr lang="pt-BR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xmlns="" id="{9BFB0EC2-6DD9-15D4-D949-F84E4666B1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62309"/>
            <a:ext cx="933450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xmlns="" id="{B6A6BFBD-9882-3474-49D7-A2C5B31EDF50}"/>
              </a:ext>
            </a:extLst>
          </p:cNvPr>
          <p:cNvSpPr>
            <a:spLocks noGrp="1"/>
          </p:cNvSpPr>
          <p:nvPr userDrawn="1"/>
        </p:nvSpPr>
        <p:spPr>
          <a:xfrm>
            <a:off x="112713" y="6430566"/>
            <a:ext cx="12079287" cy="365125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1100" b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9937859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xmlns="" id="{D2A2499E-EE88-5471-CDB1-8A3B7D4CA3A5}"/>
              </a:ext>
            </a:extLst>
          </p:cNvPr>
          <p:cNvSpPr txBox="1"/>
          <p:nvPr userDrawn="1"/>
        </p:nvSpPr>
        <p:spPr>
          <a:xfrm>
            <a:off x="1624552" y="5047785"/>
            <a:ext cx="8738648" cy="337015"/>
          </a:xfrm>
          <a:prstGeom prst="rect">
            <a:avLst/>
          </a:prstGeom>
          <a:solidFill>
            <a:schemeClr val="tx2">
              <a:lumMod val="20000"/>
              <a:lumOff val="80000"/>
              <a:alpha val="19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Lema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: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Por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um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Serviço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Nacional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Saúde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Qualidade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Humanizado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para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Todos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xmlns="" id="{89E0EDC5-73C9-2395-68B4-8A503E6408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03700" y="6416675"/>
            <a:ext cx="3452813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ts val="2238"/>
              </a:lnSpc>
            </a:pP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Maputo, </a:t>
            </a:r>
            <a:r>
              <a:rPr lang="pt-PT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Outubro</a:t>
            </a: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 de 2026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xmlns="" id="{7862B9C7-0C60-3A2F-AA91-DFA9DADAA4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713" y="328613"/>
            <a:ext cx="1139825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9">
            <a:extLst>
              <a:ext uri="{FF2B5EF4-FFF2-40B4-BE49-F238E27FC236}">
                <a16:creationId xmlns:a16="http://schemas.microsoft.com/office/drawing/2014/main" xmlns="" id="{76213641-9A3B-6AE3-DA0B-574EBF26EE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51338" y="1473200"/>
            <a:ext cx="3184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xmlns="" id="{8B83F8ED-4006-F527-B285-22339460F0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11663" y="1795463"/>
            <a:ext cx="26495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Ministério da Saúde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xmlns="" id="{6DA0EF47-91A2-4BC1-F84A-EE9389D71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6000" y="1473200"/>
            <a:ext cx="69913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</a:t>
            </a: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MOÇAMBIQUE</a:t>
            </a:r>
          </a:p>
          <a:p>
            <a:pPr algn="ctr" eaLnBrk="1" hangingPunct="1"/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</a:t>
            </a:r>
          </a:p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Conselho dos Serviços de </a:t>
            </a:r>
            <a:r>
              <a:rPr lang="en-US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Representação do Estado</a:t>
            </a:r>
            <a:endParaRPr lang="pt-PT" altLang="en-US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 de Saúde</a:t>
            </a:r>
            <a:endParaRPr lang="pt-PT" alt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xmlns="" id="{CB842B1E-3AA6-EB75-2CDE-F4F8C35B6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39524" y="5540375"/>
            <a:ext cx="752475" cy="6699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B193FA8A-A7BD-41F9-BCEB-6C5AB8D10B65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xmlns="" id="{79861ADA-BA1A-DC7E-389F-A3336FE57971}"/>
              </a:ext>
            </a:extLst>
          </p:cNvPr>
          <p:cNvSpPr>
            <a:spLocks noGrp="1"/>
          </p:cNvSpPr>
          <p:nvPr userDrawn="1"/>
        </p:nvSpPr>
        <p:spPr>
          <a:xfrm>
            <a:off x="590549" y="3487302"/>
            <a:ext cx="10744201" cy="64008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3600" b="1" dirty="0">
              <a:solidFill>
                <a:srgbClr val="00B050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184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29228B11-0A5F-34E2-20F3-CD5ECDEADF7B}"/>
              </a:ext>
            </a:extLst>
          </p:cNvPr>
          <p:cNvSpPr txBox="1"/>
          <p:nvPr userDrawn="1"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6597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4012950-A810-4249-B512-C7AE946B5554}" type="datetime1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07/10/2026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pt-PT" sz="1000" b="0" i="0" u="none" strike="noStrike" kern="1200" cap="all" spc="0" normalizeH="0" baseline="0" noProof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636555-3D1B-4416-9308-B0579D70A5DB}" type="slidenum">
              <a:rPr kumimoji="0" lang="pt-PT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Tw Cen MT Condensed" panose="020B0606020104020203" pitchFamily="34" charset="0"/>
                <a:ea typeface="+mn-ea"/>
                <a:cs typeface="+mn-cs"/>
              </a:rPr>
              <a:t>‹nº›</a:t>
            </a:fld>
            <a:endParaRPr kumimoji="0" lang="pt-PT" altLang="en-US" sz="1000" b="0" i="0" u="none" strike="noStrike" kern="1200" cap="none" spc="0" normalizeH="0" baseline="0" noProof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Tw Cen MT Condensed" panose="020B06060201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1212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056C43-2D44-4AA0-9F60-1D17E0C41AB0}" type="datetime1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07/10/2026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pt-PT" sz="1000" b="0" i="0" u="none" strike="noStrike" kern="1200" cap="all" spc="0" normalizeH="0" baseline="0" noProof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636555-3D1B-4416-9308-B0579D70A5DB}" type="slidenum">
              <a:rPr kumimoji="0" lang="pt-PT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Tw Cen MT Condensed" panose="020B0606020104020203" pitchFamily="34" charset="0"/>
                <a:ea typeface="+mn-ea"/>
                <a:cs typeface="+mn-cs"/>
              </a:rPr>
              <a:t>‹nº›</a:t>
            </a:fld>
            <a:endParaRPr kumimoji="0" lang="pt-PT" altLang="en-US" sz="1000" b="0" i="0" u="none" strike="noStrike" kern="1200" cap="none" spc="0" normalizeH="0" baseline="0" noProof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Tw Cen MT Condensed" panose="020B06060201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9325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999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9890D06-E9AE-8F03-358A-71217EDE6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487863"/>
            <a:ext cx="8534400" cy="150653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xmlns="" id="{6EC7FF63-1BBA-6EC0-B837-0E7C160DE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685800"/>
            <a:ext cx="8534400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1BC7AB8-83E6-AA9B-0DE6-F1D2E0D23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04413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A5C41711-BAAE-4BDB-A12A-371F15FA4D86}" type="datetime1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6F9089C-0474-881D-1C85-5358C154A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4213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A95E069-E462-3A0E-5ED1-E1FCA9FF6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3000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32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CEC704D9-9568-4213-8D58-9E458B3C0F06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  <p:grpSp>
        <p:nvGrpSpPr>
          <p:cNvPr id="1031" name="Group 12">
            <a:extLst>
              <a:ext uri="{FF2B5EF4-FFF2-40B4-BE49-F238E27FC236}">
                <a16:creationId xmlns:a16="http://schemas.microsoft.com/office/drawing/2014/main" xmlns="" id="{6B13CA1E-7907-9AB6-908D-32161B0BD30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201399" y="4067175"/>
            <a:ext cx="836613" cy="2790825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xmlns="" id="{D522650F-7975-6F37-4042-51852AC61418}"/>
                </a:ext>
              </a:extLst>
            </p:cNvPr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xmlns="" id="{23E9F241-085F-350D-7D44-CD2B30443A19}"/>
                </a:ext>
              </a:extLst>
            </p:cNvPr>
            <p:cNvCxnSpPr/>
            <p:nvPr/>
          </p:nvCxnSpPr>
          <p:spPr>
            <a:xfrm flipH="1">
              <a:off x="9206969" y="3189669"/>
              <a:ext cx="2981858" cy="298253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xmlns="" id="{6E0FAACB-49E0-E6BF-D33C-FC3A456E497B}"/>
                </a:ext>
              </a:extLst>
            </p:cNvPr>
            <p:cNvCxnSpPr/>
            <p:nvPr/>
          </p:nvCxnSpPr>
          <p:spPr>
            <a:xfrm flipH="1">
              <a:off x="10290950" y="3284585"/>
              <a:ext cx="1897877" cy="189648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xmlns="" id="{D433AA4A-CBCA-3D61-EA1B-F136D8B1A963}"/>
                </a:ext>
              </a:extLst>
            </p:cNvPr>
            <p:cNvCxnSpPr/>
            <p:nvPr/>
          </p:nvCxnSpPr>
          <p:spPr>
            <a:xfrm flipH="1">
              <a:off x="10444240" y="3131260"/>
              <a:ext cx="1744587" cy="1744981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00A5788E-D8F1-605B-31C0-32ADC2166684}"/>
                </a:ext>
              </a:extLst>
            </p:cNvPr>
            <p:cNvCxnSpPr/>
            <p:nvPr/>
          </p:nvCxnSpPr>
          <p:spPr>
            <a:xfrm flipH="1">
              <a:off x="10918709" y="3682499"/>
              <a:ext cx="1270118" cy="12704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93" r:id="rId2"/>
    <p:sldLayoutId id="2147483705" r:id="rId3"/>
    <p:sldLayoutId id="2147483706" r:id="rId4"/>
    <p:sldLayoutId id="2147483707" r:id="rId5"/>
  </p:sldLayoutIdLst>
  <p:hf hdr="0" ftr="0" dt="0"/>
  <p:txStyles>
    <p:titleStyle>
      <a:lvl1pPr algn="l" defTabSz="457200" rtl="0" fontAlgn="base">
        <a:spcBef>
          <a:spcPct val="0"/>
        </a:spcBef>
        <a:spcAft>
          <a:spcPct val="0"/>
        </a:spcAft>
        <a:defRPr sz="3600" kern="12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>
          <a:solidFill>
            <a:srgbClr val="0F496F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ern="1200">
          <a:solidFill>
            <a:srgbClr val="0F496F"/>
          </a:solidFill>
          <a:latin typeface="+mn-lt"/>
          <a:ea typeface="+mn-ea"/>
          <a:cs typeface="+mn-cs"/>
        </a:defRPr>
      </a:lvl2pPr>
      <a:lvl3pPr marL="12001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>
          <a:solidFill>
            <a:srgbClr val="0F496F"/>
          </a:solidFill>
          <a:latin typeface="+mn-lt"/>
          <a:ea typeface="+mn-ea"/>
          <a:cs typeface="+mn-cs"/>
        </a:defRPr>
      </a:lvl3pPr>
      <a:lvl4pPr marL="15430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4pPr>
      <a:lvl5pPr marL="20002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18" Type="http://schemas.microsoft.com/office/2007/relationships/diagramDrawing" Target="../diagrams/drawing3.xml"/><Relationship Id="rId26" Type="http://schemas.openxmlformats.org/officeDocument/2006/relationships/diagramQuickStyle" Target="../diagrams/quickStyle5.xml"/><Relationship Id="rId3" Type="http://schemas.openxmlformats.org/officeDocument/2006/relationships/image" Target="../media/image6.png"/><Relationship Id="rId21" Type="http://schemas.openxmlformats.org/officeDocument/2006/relationships/diagramQuickStyle" Target="../diagrams/quickStyle4.xml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17" Type="http://schemas.openxmlformats.org/officeDocument/2006/relationships/diagramColors" Target="../diagrams/colors3.xml"/><Relationship Id="rId25" Type="http://schemas.openxmlformats.org/officeDocument/2006/relationships/diagramLayout" Target="../diagrams/layout5.xml"/><Relationship Id="rId2" Type="http://schemas.openxmlformats.org/officeDocument/2006/relationships/notesSlide" Target="../notesSlides/notesSlide2.xml"/><Relationship Id="rId16" Type="http://schemas.openxmlformats.org/officeDocument/2006/relationships/diagramQuickStyle" Target="../diagrams/quickStyle3.xml"/><Relationship Id="rId20" Type="http://schemas.openxmlformats.org/officeDocument/2006/relationships/diagramLayout" Target="../diagrams/layout4.xm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24" Type="http://schemas.openxmlformats.org/officeDocument/2006/relationships/diagramData" Target="../diagrams/data5.xml"/><Relationship Id="rId5" Type="http://schemas.openxmlformats.org/officeDocument/2006/relationships/diagramLayout" Target="../diagrams/layout1.xml"/><Relationship Id="rId15" Type="http://schemas.openxmlformats.org/officeDocument/2006/relationships/diagramLayout" Target="../diagrams/layout3.xml"/><Relationship Id="rId23" Type="http://schemas.microsoft.com/office/2007/relationships/diagramDrawing" Target="../diagrams/drawing4.xml"/><Relationship Id="rId28" Type="http://schemas.microsoft.com/office/2007/relationships/diagramDrawing" Target="../diagrams/drawing5.xml"/><Relationship Id="rId10" Type="http://schemas.openxmlformats.org/officeDocument/2006/relationships/diagramLayout" Target="../diagrams/layout2.xml"/><Relationship Id="rId19" Type="http://schemas.openxmlformats.org/officeDocument/2006/relationships/diagramData" Target="../diagrams/data4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Relationship Id="rId14" Type="http://schemas.openxmlformats.org/officeDocument/2006/relationships/diagramData" Target="../diagrams/data3.xml"/><Relationship Id="rId22" Type="http://schemas.openxmlformats.org/officeDocument/2006/relationships/diagramColors" Target="../diagrams/colors4.xml"/><Relationship Id="rId27" Type="http://schemas.openxmlformats.org/officeDocument/2006/relationships/diagramColors" Target="../diagrams/colors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686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xmlns="" id="{A4012CFA-58F9-3F43-704D-7C6D4C70C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900" y="5457825"/>
            <a:ext cx="9783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Maputo, Outubro de 2026</a:t>
            </a:r>
            <a:endParaRPr lang="en-US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xmlns="" id="{5C866598-F616-1F5F-A9F9-9B89097F1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939" y="1179581"/>
            <a:ext cx="9029700" cy="18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Serviços</a:t>
            </a: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Representação do Estado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</a:t>
            </a:r>
            <a:r>
              <a:rPr lang="pt-PT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Saúde</a:t>
            </a:r>
            <a:endParaRPr lang="pt-PT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580" name="Picture 7" descr="C:\Users\DACUNHA\Pictures\image_preview.png">
            <a:extLst>
              <a:ext uri="{FF2B5EF4-FFF2-40B4-BE49-F238E27FC236}">
                <a16:creationId xmlns:a16="http://schemas.microsoft.com/office/drawing/2014/main" xmlns="" id="{FA5EF871-EDDE-BAD2-1693-91DAF3A24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901" y="174625"/>
            <a:ext cx="1109609" cy="75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xmlns="" id="{DF74C49A-5555-F6DF-2344-48955F797FD8}"/>
              </a:ext>
            </a:extLst>
          </p:cNvPr>
          <p:cNvSpPr txBox="1"/>
          <p:nvPr/>
        </p:nvSpPr>
        <p:spPr>
          <a:xfrm>
            <a:off x="698643" y="3575878"/>
            <a:ext cx="10705672" cy="10474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1" hangingPunct="1">
              <a:defRPr/>
            </a:pPr>
            <a:r>
              <a:rPr lang="pt-BR" altLang="en-US" sz="3200" b="1" dirty="0">
                <a:solidFill>
                  <a:schemeClr val="bg1"/>
                </a:solidFill>
                <a:ea typeface="MS PGothic" panose="020B0600070205080204" pitchFamily="34" charset="-128"/>
              </a:rPr>
              <a:t>Tema: </a:t>
            </a:r>
            <a:r>
              <a:rPr lang="pt-PT" altLang="en-US" sz="3200" b="1" cap="all" spc="100" dirty="0">
                <a:solidFill>
                  <a:schemeClr val="bg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Saúde Materno Infantil </a:t>
            </a:r>
            <a:endParaRPr lang="pt-BR" sz="3200" b="1" dirty="0">
              <a:solidFill>
                <a:schemeClr val="bg1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1290" y="57543"/>
            <a:ext cx="11214815" cy="1025524"/>
          </a:xfrm>
          <a:solidFill>
            <a:schemeClr val="tx1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>
            <a:normAutofit/>
          </a:bodyPr>
          <a:lstStyle/>
          <a:p>
            <a:r>
              <a:rPr lang="pt-PT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tencil" panose="040409050D0802020404" pitchFamily="82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pt-PT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Contextualização do distrito de KAMUBUKWANA</a:t>
            </a:r>
            <a:endParaRPr lang="pt-PT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Picture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41290" y="1900841"/>
            <a:ext cx="5331853" cy="4762500"/>
          </a:xfrm>
          <a:prstGeom prst="rect">
            <a:avLst/>
          </a:prstGeom>
        </p:spPr>
      </p:pic>
      <p:pic>
        <p:nvPicPr>
          <p:cNvPr id="6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5999" y="1950847"/>
            <a:ext cx="5662411" cy="4662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1290" y="1307288"/>
            <a:ext cx="114171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tencil" panose="040409050D0802020404" pitchFamily="82" charset="0"/>
                <a:ea typeface="Tahoma" panose="020B0604030504040204" pitchFamily="34" charset="0"/>
                <a:cs typeface="Tahoma" panose="020B0604030504040204" pitchFamily="34" charset="0"/>
              </a:rPr>
              <a:t>População Estimada 338.464 em Habitantes (INE, </a:t>
            </a:r>
            <a:r>
              <a:rPr lang="pt-PT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tencil" panose="040409050D0802020404" pitchFamily="82" charset="0"/>
                <a:ea typeface="Tahoma" panose="020B0604030504040204" pitchFamily="34" charset="0"/>
                <a:cs typeface="Tahoma" panose="020B0604030504040204" pitchFamily="34" charset="0"/>
              </a:rPr>
              <a:t>Projecção</a:t>
            </a:r>
            <a:r>
              <a:rPr lang="pt-P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tencil" panose="040409050D0802020404" pitchFamily="82" charset="0"/>
                <a:ea typeface="Tahoma" panose="020B0604030504040204" pitchFamily="34" charset="0"/>
                <a:cs typeface="Tahoma" panose="020B0604030504040204" pitchFamily="34" charset="0"/>
              </a:rPr>
              <a:t> de Censo 2017)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 flipH="1">
            <a:off x="11556105" y="6439417"/>
            <a:ext cx="404610" cy="34783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636555-3D1B-4416-9308-B0579D70A5DB}" type="slidenum">
              <a:rPr kumimoji="0" lang="pt-PT" altLang="en-US" b="0" i="0" u="none" strike="noStrike" kern="1200" cap="none" spc="0" normalizeH="0" baseline="0" noProof="0" smtClean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Tw Cen MT Condensed" panose="020B0606020104020203" pitchFamily="34" charset="0"/>
                <a:ea typeface="+mn-ea"/>
                <a:cs typeface="+mn-cs"/>
              </a:rPr>
              <a:t>3</a:t>
            </a:fld>
            <a:endParaRPr kumimoji="0" lang="pt-PT" altLang="en-US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Tw Cen MT Condensed" panose="020B06060201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4578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72720" y="223520"/>
            <a:ext cx="11744960" cy="985520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 kern="1200">
                <a:solidFill>
                  <a:schemeClr val="lt1"/>
                </a:solidFill>
                <a:latin typeface="+mj-lt"/>
                <a:ea typeface="+mj-ea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9pPr>
          </a:lstStyle>
          <a:p>
            <a:pPr algn="l"/>
            <a:r>
              <a:rPr lang="pt-PT" sz="3200" dirty="0">
                <a:solidFill>
                  <a:schemeClr val="tx1"/>
                </a:solidFill>
                <a:latin typeface="Arial Narrow" panose="020B0606020202030204" pitchFamily="34" charset="0"/>
              </a:rPr>
              <a:t>Conteúdos da apresentação</a:t>
            </a: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8797635" y="4021923"/>
            <a:ext cx="2900541" cy="59767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457200" indent="-457200" algn="just" defTabSz="121920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/>
            </a:pPr>
            <a:r>
              <a:rPr lang="pt-PT" altLang="pt-PT" sz="2400" dirty="0" smtClean="0">
                <a:solidFill>
                  <a:schemeClr val="tx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  <a:sym typeface="+mn-ea"/>
              </a:rPr>
              <a:t>Maternidade</a:t>
            </a:r>
            <a:endParaRPr lang="pt-PT" altLang="pt-PT" sz="2400" dirty="0">
              <a:solidFill>
                <a:schemeClr val="tx2">
                  <a:lumMod val="10000"/>
                </a:schemeClr>
              </a:solidFill>
              <a:latin typeface="Arial Narrow" panose="020B0606020202030204" pitchFamily="34" charset="0"/>
              <a:cs typeface="Times New Roman" panose="02020603050405020304" pitchFamily="18" charset="0"/>
              <a:sym typeface="+mn-ea"/>
            </a:endParaRPr>
          </a:p>
          <a:p>
            <a:pPr indent="0" algn="just" defTabSz="121920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None/>
              <a:defRPr/>
            </a:pPr>
            <a:endParaRPr lang="pt-PT" altLang="pt-PT" sz="2000" dirty="0">
              <a:solidFill>
                <a:schemeClr val="tx2">
                  <a:lumMod val="10000"/>
                </a:schemeClr>
              </a:solidFill>
              <a:latin typeface="Arial Narrow" panose="020B0606020202030204" pitchFamily="34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346" y="1924288"/>
            <a:ext cx="1924962" cy="192496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07417" y="1381713"/>
            <a:ext cx="191430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just" defTabSz="121920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/>
            </a:pPr>
            <a:r>
              <a:rPr lang="pt-BR" altLang="pt-PT" sz="2400" kern="0" dirty="0" smtClean="0">
                <a:solidFill>
                  <a:schemeClr val="tx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  <a:sym typeface="+mn-ea"/>
              </a:rPr>
              <a:t>Introdução </a:t>
            </a:r>
            <a:endParaRPr lang="pt-BR" altLang="pt-PT" sz="2400" kern="0" dirty="0">
              <a:solidFill>
                <a:schemeClr val="tx2">
                  <a:lumMod val="10000"/>
                </a:schemeClr>
              </a:solidFill>
              <a:latin typeface="Arial Narrow" panose="020B0606020202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79568" y="1398905"/>
            <a:ext cx="3106941" cy="5764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just" defTabSz="121920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/>
            </a:pPr>
            <a:r>
              <a:rPr lang="pt-PT" altLang="pt-PT" sz="2400" kern="0" dirty="0" smtClean="0">
                <a:solidFill>
                  <a:schemeClr val="tx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  <a:sym typeface="+mn-ea"/>
              </a:rPr>
              <a:t>Planeamento Familiar</a:t>
            </a:r>
            <a:endParaRPr lang="pt-BR" altLang="pt-PT" sz="2400" kern="0" dirty="0">
              <a:solidFill>
                <a:schemeClr val="tx2">
                  <a:lumMod val="10000"/>
                </a:schemeClr>
              </a:solidFill>
              <a:latin typeface="Arial Narrow" panose="020B0606020202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10973" y="1386590"/>
            <a:ext cx="144783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just" defTabSz="121920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/>
            </a:pPr>
            <a:r>
              <a:rPr lang="pt-PT" altLang="pt-PT" sz="2400" kern="0" dirty="0" smtClean="0">
                <a:solidFill>
                  <a:schemeClr val="tx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  <a:sym typeface="+mn-ea"/>
              </a:rPr>
              <a:t>Cacum</a:t>
            </a:r>
            <a:endParaRPr lang="pt-BR" altLang="pt-PT" sz="2400" kern="0" dirty="0">
              <a:solidFill>
                <a:schemeClr val="tx2">
                  <a:lumMod val="10000"/>
                </a:schemeClr>
              </a:solidFill>
              <a:latin typeface="Arial Narrow" panose="020B0606020202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20455" y="4068659"/>
            <a:ext cx="22393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 defTabSz="121920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/>
            </a:pPr>
            <a:r>
              <a:rPr lang="pt-PT" altLang="pt-PT" sz="2400" dirty="0" smtClean="0">
                <a:solidFill>
                  <a:schemeClr val="tx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  <a:sym typeface="+mn-ea"/>
              </a:rPr>
              <a:t>Saaj</a:t>
            </a:r>
            <a:endParaRPr lang="pt-PT" altLang="pt-PT" sz="2400" dirty="0">
              <a:solidFill>
                <a:schemeClr val="tx2">
                  <a:lumMod val="10000"/>
                </a:schemeClr>
              </a:solidFill>
              <a:latin typeface="Arial Narrow" panose="020B0606020202030204" pitchFamily="34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86484" y="4074257"/>
            <a:ext cx="17844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just" defTabSz="121920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/>
            </a:pPr>
            <a:r>
              <a:rPr lang="pt-PT" altLang="pt-PT" sz="2400" dirty="0" smtClean="0">
                <a:solidFill>
                  <a:schemeClr val="tx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  <a:sym typeface="+mn-ea"/>
              </a:rPr>
              <a:t>Pre- Natal</a:t>
            </a:r>
            <a:endParaRPr lang="pt-PT" altLang="pt-PT" sz="2400" dirty="0">
              <a:solidFill>
                <a:schemeClr val="tx2">
                  <a:lumMod val="10000"/>
                </a:schemeClr>
              </a:solidFill>
              <a:latin typeface="Arial Narrow" panose="020B0606020202030204" pitchFamily="34" charset="0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16" name="Diagrama 15"/>
          <p:cNvGraphicFramePr/>
          <p:nvPr>
            <p:extLst/>
          </p:nvPr>
        </p:nvGraphicFramePr>
        <p:xfrm>
          <a:off x="4811100" y="1975346"/>
          <a:ext cx="1597469" cy="12349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8" name="Diagrama 17"/>
          <p:cNvGraphicFramePr/>
          <p:nvPr>
            <p:extLst/>
          </p:nvPr>
        </p:nvGraphicFramePr>
        <p:xfrm>
          <a:off x="9110973" y="1288074"/>
          <a:ext cx="3086100" cy="23894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aphicFrame>
        <p:nvGraphicFramePr>
          <p:cNvPr id="20" name="Diagrama 19"/>
          <p:cNvGraphicFramePr/>
          <p:nvPr>
            <p:extLst/>
          </p:nvPr>
        </p:nvGraphicFramePr>
        <p:xfrm>
          <a:off x="8797635" y="4040030"/>
          <a:ext cx="2622363" cy="2468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4" r:lo="rId15" r:qs="rId16" r:cs="rId17"/>
          </a:graphicData>
        </a:graphic>
      </p:graphicFrame>
      <p:graphicFrame>
        <p:nvGraphicFramePr>
          <p:cNvPr id="22" name="Diagrama 21"/>
          <p:cNvGraphicFramePr/>
          <p:nvPr>
            <p:extLst/>
          </p:nvPr>
        </p:nvGraphicFramePr>
        <p:xfrm>
          <a:off x="5396949" y="4320762"/>
          <a:ext cx="2504660" cy="2137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9" r:lo="rId20" r:qs="rId21" r:cs="rId22"/>
          </a:graphicData>
        </a:graphic>
      </p:graphicFrame>
      <p:graphicFrame>
        <p:nvGraphicFramePr>
          <p:cNvPr id="24" name="Diagrama 23"/>
          <p:cNvGraphicFramePr/>
          <p:nvPr>
            <p:extLst/>
          </p:nvPr>
        </p:nvGraphicFramePr>
        <p:xfrm>
          <a:off x="354476" y="4564498"/>
          <a:ext cx="3086100" cy="20976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4" r:lo="rId25" r:qs="rId26" r:cs="rId27"/>
          </a:graphicData>
        </a:graphic>
      </p:graphicFrame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 flipH="1">
            <a:off x="11353800" y="6356350"/>
            <a:ext cx="424758" cy="365125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636555-3D1B-4416-9308-B0579D70A5DB}" type="slidenum">
              <a:rPr kumimoji="0" lang="pt-PT" altLang="en-US" b="0" i="0" u="none" strike="noStrike" kern="1200" cap="none" spc="0" normalizeH="0" baseline="0" noProof="0" smtClean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Tw Cen MT Condensed" panose="020B0606020104020203" pitchFamily="34" charset="0"/>
                <a:ea typeface="+mn-ea"/>
                <a:cs typeface="+mn-cs"/>
              </a:rPr>
              <a:t>4</a:t>
            </a:fld>
            <a:endParaRPr kumimoji="0" lang="pt-PT" altLang="en-US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Tw Cen MT Condensed" panose="020B06060201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56128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5678C29-B991-E318-C6A6-550E6CF7E735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BR" altLang="pt-PT" sz="2800" kern="0" dirty="0">
                <a:solidFill>
                  <a:schemeClr val="tx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  <a:sym typeface="+mn-ea"/>
              </a:rPr>
              <a:t>Introdução - 1/2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630B5270-1A52-5D76-CC54-0DD60D9E4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  <p:sp>
        <p:nvSpPr>
          <p:cNvPr id="4" name="Rectangle 2"/>
          <p:cNvSpPr/>
          <p:nvPr/>
        </p:nvSpPr>
        <p:spPr>
          <a:xfrm>
            <a:off x="326992" y="1049808"/>
            <a:ext cx="1125540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A saúde da mulher e da criança constitui uma das áreas prioritárias para o fortalecimento do sistema de saúde e para a melhoria dos indicadores de saúde da população. </a:t>
            </a:r>
            <a:endParaRPr lang="pt-BR" sz="2000" dirty="0" smtClean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algn="just">
              <a:lnSpc>
                <a:spcPct val="150000"/>
              </a:lnSpc>
            </a:pPr>
            <a:endParaRPr lang="pt-B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 smtClean="0">
                <a:solidFill>
                  <a:srgbClr val="222222"/>
                </a:solidFill>
                <a:latin typeface="Arial Narrow" panose="020B0606020202030204" pitchFamily="34" charset="0"/>
              </a:rPr>
              <a:t>A </a:t>
            </a:r>
            <a:r>
              <a:rPr lang="pt-B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garantia de cuidados adequados durante a gravidez, parto, pós-parto, infância e adolescência é fundamental para prevenir doenças, reduzir complicações e mortes evitáveis e promover o desenvolvimento saudável das famílias e comunidades</a:t>
            </a:r>
            <a:r>
              <a:rPr lang="pt-BR" sz="2000" dirty="0" smtClean="0">
                <a:solidFill>
                  <a:srgbClr val="222222"/>
                </a:solidFill>
                <a:latin typeface="Arial Narrow" panose="020B0606020202030204" pitchFamily="34" charset="0"/>
              </a:rPr>
              <a:t>.</a:t>
            </a:r>
          </a:p>
          <a:p>
            <a:pPr lvl="2" algn="just">
              <a:lnSpc>
                <a:spcPct val="150000"/>
              </a:lnSpc>
            </a:pPr>
            <a:endParaRPr lang="pt-B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Barreiras geográficas, económicas, socioculturais e relacionadas com a organização dos serviços podem dificultar que mulheres e crianças recebam, no momento adequado, os cuidados de que necessitam</a:t>
            </a:r>
            <a:r>
              <a:rPr lang="pt-BR" sz="2000" dirty="0" smtClean="0">
                <a:solidFill>
                  <a:srgbClr val="222222"/>
                </a:solidFill>
                <a:latin typeface="Arial Narrow" panose="020B0606020202030204" pitchFamily="34" charset="0"/>
              </a:rPr>
              <a:t>.</a:t>
            </a:r>
            <a:endParaRPr lang="pt-BR" sz="2000" dirty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000" dirty="0" smtClean="0">
                <a:solidFill>
                  <a:srgbClr val="222222"/>
                </a:solidFill>
                <a:latin typeface="Arial Narrow" panose="020B0606020202030204" pitchFamily="34" charset="0"/>
              </a:rPr>
              <a:t>Apesar </a:t>
            </a:r>
            <a:r>
              <a:rPr lang="pt-BR" sz="2000" dirty="0">
                <a:solidFill>
                  <a:srgbClr val="222222"/>
                </a:solidFill>
                <a:latin typeface="Arial Narrow" panose="020B0606020202030204" pitchFamily="34" charset="0"/>
              </a:rPr>
              <a:t>dos progressos alcançados, persistem desafios relacionados com o acesso oportuno aos serviços, a continuidade dos cuidados e a qualidade das intervenções. </a:t>
            </a:r>
            <a:endParaRPr lang="pt-BR" sz="2000" dirty="0" smtClean="0">
              <a:solidFill>
                <a:srgbClr val="222222"/>
              </a:solidFill>
              <a:latin typeface="Arial Narrow" panose="020B0606020202030204" pitchFamily="34" charset="0"/>
            </a:endParaRPr>
          </a:p>
          <a:p>
            <a:pPr algn="just">
              <a:lnSpc>
                <a:spcPct val="150000"/>
              </a:lnSpc>
            </a:pPr>
            <a:endParaRPr lang="pt-BR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791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CD7E823-D380-E273-595E-61F6F2EB7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06D8B86-B83D-4C8D-3792-B16F375CBE53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BR" altLang="pt-PT" sz="2800" kern="0" dirty="0">
                <a:solidFill>
                  <a:schemeClr val="tx2">
                    <a:lumMod val="10000"/>
                  </a:schemeClr>
                </a:solidFill>
                <a:latin typeface="Arial Narrow" panose="020B0606020202030204" pitchFamily="34" charset="0"/>
                <a:cs typeface="Times New Roman" panose="02020603050405020304" pitchFamily="18" charset="0"/>
                <a:sym typeface="+mn-ea"/>
              </a:rPr>
              <a:t>Introdução - 2/2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C7A3970E-9389-B344-A17C-EDC562656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  <p:sp>
        <p:nvSpPr>
          <p:cNvPr id="4" name="Rectangle 2"/>
          <p:cNvSpPr/>
          <p:nvPr/>
        </p:nvSpPr>
        <p:spPr>
          <a:xfrm>
            <a:off x="374560" y="1298361"/>
            <a:ext cx="11216426" cy="51469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pt-B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Neste contexto, é necessário avançar para uma abordagem integrada, centrada na pessoa e na comunidade, garantindo que cada mulher e cada criança tenha acesso aos serviços essenciais, seja acompanhada ao longo do ciclo de vida e receba cuidados seguros, eficazes, equitativos e de qualidade.</a:t>
            </a:r>
          </a:p>
          <a:p>
            <a:pPr algn="just">
              <a:lnSpc>
                <a:spcPct val="200000"/>
              </a:lnSpc>
            </a:pPr>
            <a:r>
              <a:rPr lang="pt-BR" sz="2400" dirty="0">
                <a:solidFill>
                  <a:srgbClr val="222222"/>
                </a:solidFill>
                <a:latin typeface="Arial Narrow" panose="020B0606020202030204" pitchFamily="34" charset="0"/>
              </a:rPr>
              <a:t>A presente apresentação aborda, assim, os principais desafios e oportunidades para melhorar o acesso, a continuidade e a qualidade dos cuidados de saúde da mulher e da criança, com enfoque no fortalecimento dos serviços de saúde e na aproximação dos cuidados às comunidades.</a:t>
            </a:r>
          </a:p>
        </p:txBody>
      </p:sp>
    </p:spTree>
    <p:extLst>
      <p:ext uri="{BB962C8B-B14F-4D97-AF65-F5344CB8AC3E}">
        <p14:creationId xmlns:p14="http://schemas.microsoft.com/office/powerpoint/2010/main" val="34944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637151C-0345-7F15-F974-6C44ADA0E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B1C7059-FD03-7587-4203-038EDFDDC552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BR" sz="2800">
                <a:solidFill>
                  <a:schemeClr val="bg1"/>
                </a:solidFill>
                <a:latin typeface="Arial Narrow" panose="020B0606020202030204" pitchFamily="34" charset="0"/>
              </a:rPr>
              <a:t>Avaliação do desempenho dos indicadores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C5F6B58-9E13-B434-88A5-50020F4FC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  <p:sp>
        <p:nvSpPr>
          <p:cNvPr id="4" name="Rounded Rectangle 2"/>
          <p:cNvSpPr/>
          <p:nvPr/>
        </p:nvSpPr>
        <p:spPr>
          <a:xfrm>
            <a:off x="838200" y="1880316"/>
            <a:ext cx="10379299" cy="3773510"/>
          </a:xfrm>
          <a:prstGeom prst="roundRect">
            <a:avLst/>
          </a:prstGeom>
          <a:solidFill>
            <a:schemeClr val="accent4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400" b="1" dirty="0" smtClean="0">
                <a:solidFill>
                  <a:schemeClr val="bg1"/>
                </a:solidFill>
              </a:rPr>
              <a:t>Planeamento familiar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400" b="1" dirty="0" smtClean="0">
                <a:solidFill>
                  <a:schemeClr val="bg1"/>
                </a:solidFill>
              </a:rPr>
              <a:t>CACUM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400" b="1" dirty="0" smtClean="0">
                <a:solidFill>
                  <a:schemeClr val="bg1"/>
                </a:solidFill>
              </a:rPr>
              <a:t>SAAJ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400" b="1" dirty="0" smtClean="0">
                <a:solidFill>
                  <a:schemeClr val="bg1"/>
                </a:solidFill>
              </a:rPr>
              <a:t>CPN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400" b="1" dirty="0" smtClean="0">
                <a:solidFill>
                  <a:schemeClr val="bg1"/>
                </a:solidFill>
              </a:rPr>
              <a:t>Maternidade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pt-BR" dirty="0" smtClean="0">
              <a:solidFill>
                <a:schemeClr val="bg1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63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34DA2DE-BD14-4970-0E1D-527BD4576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4109F61-7516-D6FF-0B58-876EAC067054}"/>
              </a:ext>
            </a:extLst>
          </p:cNvPr>
          <p:cNvSpPr txBox="1"/>
          <p:nvPr/>
        </p:nvSpPr>
        <p:spPr>
          <a:xfrm>
            <a:off x="1361661" y="221163"/>
            <a:ext cx="98496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cap="all" spc="100" dirty="0">
                <a:solidFill>
                  <a:schemeClr val="bg1"/>
                </a:solidFill>
                <a:latin typeface="Arial Narrow" panose="020B0606020202030204" pitchFamily="34" charset="0"/>
              </a:rPr>
              <a:t>SSR -</a:t>
            </a:r>
            <a:r>
              <a:rPr lang="pt-PT" sz="2800" spc="100" dirty="0">
                <a:solidFill>
                  <a:schemeClr val="bg1"/>
                </a:solidFill>
                <a:latin typeface="Arial Narrow" panose="020B0606020202030204" pitchFamily="34" charset="0"/>
              </a:rPr>
              <a:t>Planeamento familiar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C96ED76-8F06-5B0E-0907-38C4A604F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560558"/>
              </p:ext>
            </p:extLst>
          </p:nvPr>
        </p:nvGraphicFramePr>
        <p:xfrm>
          <a:off x="515158" y="1390594"/>
          <a:ext cx="10908402" cy="4286721"/>
        </p:xfrm>
        <a:graphic>
          <a:graphicData uri="http://schemas.openxmlformats.org/drawingml/2006/table">
            <a:tbl>
              <a:tblPr firstRow="1" firstCol="1" bandRow="1">
                <a:tableStyleId>{91EBBBCC-DAD2-459C-BE2E-F6DE35CF9A28}</a:tableStyleId>
              </a:tblPr>
              <a:tblGrid>
                <a:gridCol w="1410569"/>
                <a:gridCol w="1410569"/>
                <a:gridCol w="1410569"/>
                <a:gridCol w="1410569"/>
                <a:gridCol w="1410569"/>
                <a:gridCol w="1410569"/>
                <a:gridCol w="1316532"/>
                <a:gridCol w="1128456"/>
              </a:tblGrid>
              <a:tr h="441206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</a:rPr>
                        <a:t>US</a:t>
                      </a:r>
                      <a:endParaRPr lang="pt-PT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2025</a:t>
                      </a:r>
                      <a:endParaRPr lang="pt-PT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2026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Evolução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endParaRPr lang="pt-PT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</a:tr>
              <a:tr h="44120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Meta 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Realizado 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I.C  (%)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Meta 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Realizado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I.C (%)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</a:tr>
              <a:tr h="4412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Bagamoio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4257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1825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150%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3 817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3059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129%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-23%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</a:tr>
              <a:tr h="4412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Zimpeto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7043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5664</a:t>
                      </a:r>
                      <a:endParaRPr lang="pt-PT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173%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5 676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5210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180%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-16%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</a:tr>
              <a:tr h="4412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Inhagoia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2730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1535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113%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1 852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1578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167%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</a:tr>
              <a:tr h="7914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Magoanine A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3310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1593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99%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1 862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1560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159%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-10%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</a:tr>
              <a:tr h="8480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Magoanine Tendas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2258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1413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172%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1 693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1598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177%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-23%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</a:tr>
              <a:tr h="44120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Distrito</a:t>
                      </a:r>
                      <a:endParaRPr lang="pt-PT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19597</a:t>
                      </a:r>
                      <a:endParaRPr lang="pt-PT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28805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147%</a:t>
                      </a:r>
                      <a:endParaRPr lang="pt-PT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14 901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24195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162%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-16%</a:t>
                      </a:r>
                      <a:endParaRPr lang="pt-PT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</a:tr>
            </a:tbl>
          </a:graphicData>
        </a:graphic>
      </p:graphicFrame>
      <p:sp>
        <p:nvSpPr>
          <p:cNvPr id="5" name="Rectangle 7"/>
          <p:cNvSpPr/>
          <p:nvPr/>
        </p:nvSpPr>
        <p:spPr>
          <a:xfrm>
            <a:off x="401021" y="5981878"/>
            <a:ext cx="2647044" cy="4097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Fonte: SISMA</a:t>
            </a:r>
            <a:endParaRPr kumimoji="0" lang="pt-PT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1639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1A3E60D-CA30-7621-A324-FE080EC4F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BB1DAB2-44BE-44E1-05E5-0CDD90CB9EBB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sz="2800" b="1">
                <a:solidFill>
                  <a:schemeClr val="bg1"/>
                </a:solidFill>
              </a:rPr>
              <a:t>Novas Utentes no PF -2025/2026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EF28538C-1797-43F2-72AC-B4FE2FF73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xmlns="" id="{4EA0CE12-9269-4911-9DC5-B43D1C6AB7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9978357"/>
              </p:ext>
            </p:extLst>
          </p:nvPr>
        </p:nvGraphicFramePr>
        <p:xfrm>
          <a:off x="474133" y="1320268"/>
          <a:ext cx="11561523" cy="46239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7"/>
          <p:cNvSpPr/>
          <p:nvPr/>
        </p:nvSpPr>
        <p:spPr>
          <a:xfrm>
            <a:off x="669378" y="6056179"/>
            <a:ext cx="2647044" cy="4097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Fonte: SISMA</a:t>
            </a:r>
            <a:endParaRPr kumimoji="0" lang="pt-PT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8549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E210325-FEEA-839B-EF4C-CBC8CB8E8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AF187D9-43B4-BCEC-1672-FD9EE13C5993}"/>
              </a:ext>
            </a:extLst>
          </p:cNvPr>
          <p:cNvSpPr txBox="1"/>
          <p:nvPr/>
        </p:nvSpPr>
        <p:spPr>
          <a:xfrm>
            <a:off x="1390650" y="221163"/>
            <a:ext cx="94869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BR" sz="2800" cap="all" spc="100" dirty="0">
                <a:solidFill>
                  <a:schemeClr val="bg1"/>
                </a:solidFill>
                <a:latin typeface="Arial Narrow" panose="020B0606020202030204" pitchFamily="34" charset="0"/>
              </a:rPr>
              <a:t>Contracepção – iniciadoras de PF por US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E8D205FA-01C5-2873-6358-DC0E14739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  <p:graphicFrame>
        <p:nvGraphicFramePr>
          <p:cNvPr id="4" name="Espaço Reservado para Conteúdo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94125130"/>
              </p:ext>
            </p:extLst>
          </p:nvPr>
        </p:nvGraphicFramePr>
        <p:xfrm>
          <a:off x="112713" y="1223963"/>
          <a:ext cx="11903075" cy="5094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7"/>
          <p:cNvSpPr/>
          <p:nvPr/>
        </p:nvSpPr>
        <p:spPr>
          <a:xfrm>
            <a:off x="401022" y="6391672"/>
            <a:ext cx="2647044" cy="4097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Fonte: SISMA</a:t>
            </a:r>
            <a:endParaRPr kumimoji="0" lang="pt-PT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7821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B1E72F1-18FF-AA75-1BE2-8011DC31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93114C0-E92A-2665-4919-33C14DF9AAFA}"/>
              </a:ext>
            </a:extLst>
          </p:cNvPr>
          <p:cNvSpPr txBox="1"/>
          <p:nvPr/>
        </p:nvSpPr>
        <p:spPr>
          <a:xfrm>
            <a:off x="1053548" y="221163"/>
            <a:ext cx="101478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Rastreio de Cancro do Utero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78969944-D08B-2C87-C626-A2C84491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11</a:t>
            </a:fld>
            <a:endParaRPr lang="en-GB" dirty="0"/>
          </a:p>
        </p:txBody>
      </p:sp>
      <p:graphicFrame>
        <p:nvGraphicFramePr>
          <p:cNvPr id="4" name="Espaço Reservado para Conteúdo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27578509"/>
              </p:ext>
            </p:extLst>
          </p:nvPr>
        </p:nvGraphicFramePr>
        <p:xfrm>
          <a:off x="339707" y="1163446"/>
          <a:ext cx="10805109" cy="4424531"/>
        </p:xfrm>
        <a:graphic>
          <a:graphicData uri="http://schemas.openxmlformats.org/drawingml/2006/table">
            <a:tbl>
              <a:tblPr firstRow="1" firstCol="1" bandRow="1">
                <a:tableStyleId>{EB9631B5-78F2-41C9-869B-9F39066F8104}</a:tableStyleId>
              </a:tblPr>
              <a:tblGrid>
                <a:gridCol w="1193985"/>
                <a:gridCol w="886749"/>
                <a:gridCol w="1041603"/>
                <a:gridCol w="1103083"/>
                <a:gridCol w="1046909"/>
                <a:gridCol w="724154"/>
                <a:gridCol w="724154"/>
                <a:gridCol w="1046909"/>
                <a:gridCol w="831397"/>
                <a:gridCol w="1103083"/>
                <a:gridCol w="1103083"/>
              </a:tblGrid>
              <a:tr h="1202385"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US</a:t>
                      </a:r>
                      <a:endParaRPr lang="pt-PT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Metas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 Mulheres Rastreada</a:t>
                      </a:r>
                      <a:endParaRPr lang="pt-PT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 Mulheres Rastreada</a:t>
                      </a:r>
                      <a:endParaRPr lang="pt-PT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 Mulheres Rastreadas  com VIA/HPV DNA 2026</a:t>
                      </a:r>
                      <a:endParaRPr lang="pt-PT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IC%</a:t>
                      </a:r>
                      <a:endParaRPr lang="pt-PT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Ev 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Rastreadas pela 1ªvez 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Percentagem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Rastreio de Segmento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Percentagem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</a:tr>
              <a:tr h="333995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26%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 dirty="0">
                          <a:effectLst/>
                        </a:rPr>
                        <a:t>2025</a:t>
                      </a:r>
                      <a:endParaRPr lang="pt-PT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2026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</a:tr>
              <a:tr h="70807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Bagamoyo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2760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1152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913</a:t>
                      </a:r>
                      <a:endParaRPr lang="pt-PT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913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33%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-21%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262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29%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651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71%</a:t>
                      </a:r>
                      <a:endParaRPr lang="pt-PT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</a:tr>
              <a:tr h="36071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Zimpeto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3036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991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847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847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28%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-15%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615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73%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232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27%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</a:tr>
              <a:tr h="36071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Inhagoia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539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166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120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120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22%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-28%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98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82%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22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18%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</a:tr>
              <a:tr h="36071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Mag. A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1504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608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427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427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28%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-30%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150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35%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277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65%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</a:tr>
              <a:tr h="70807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Mag.Tenda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1233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417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175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175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14%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-58%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35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20%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140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80%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</a:tr>
              <a:tr h="36071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600">
                          <a:effectLst/>
                        </a:rPr>
                        <a:t>Distrito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9072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3334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2482</a:t>
                      </a:r>
                      <a:endParaRPr lang="pt-PT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2482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27%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-26%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600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24%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871</a:t>
                      </a:r>
                      <a:endParaRPr lang="pt-PT" sz="160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35%</a:t>
                      </a:r>
                      <a:endParaRPr lang="pt-PT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</a:tr>
            </a:tbl>
          </a:graphicData>
        </a:graphic>
      </p:graphicFrame>
      <p:sp>
        <p:nvSpPr>
          <p:cNvPr id="5" name="Rectangle 7"/>
          <p:cNvSpPr/>
          <p:nvPr/>
        </p:nvSpPr>
        <p:spPr>
          <a:xfrm>
            <a:off x="391083" y="6056179"/>
            <a:ext cx="2647044" cy="4097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Fonte: SISMA</a:t>
            </a:r>
            <a:endParaRPr kumimoji="0" lang="pt-PT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3454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5D6C364-33E8-0DBE-B881-CE18B2A9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71E5213-67D7-62F9-547B-DF0C7F4D6C54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sz="2800" b="1" cap="all" spc="100" dirty="0">
                <a:solidFill>
                  <a:schemeClr val="bg1"/>
                </a:solidFill>
              </a:rPr>
              <a:t>CONSULTAS DE SAAJ 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2B1CF0B2-5F72-A708-23DB-3EF090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766788"/>
              </p:ext>
            </p:extLst>
          </p:nvPr>
        </p:nvGraphicFramePr>
        <p:xfrm>
          <a:off x="616226" y="1272209"/>
          <a:ext cx="10485783" cy="4904185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1886865"/>
                <a:gridCol w="1886865"/>
                <a:gridCol w="1411549"/>
                <a:gridCol w="1469162"/>
                <a:gridCol w="1469162"/>
                <a:gridCol w="1181090"/>
                <a:gridCol w="1181090"/>
              </a:tblGrid>
              <a:tr h="281183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pt-PT" sz="2200" u="none" strike="noStrike" dirty="0">
                          <a:effectLst/>
                        </a:rPr>
                        <a:t>U.S</a:t>
                      </a:r>
                      <a:endParaRPr lang="pt-PT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63" marR="6863" marT="68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pt-PT" sz="1800" u="none" strike="noStrike" dirty="0">
                          <a:effectLst/>
                        </a:rPr>
                        <a:t>CONSULTAS</a:t>
                      </a:r>
                      <a:endParaRPr lang="pt-PT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63" marR="6863" marT="68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</a:tr>
              <a:tr h="41528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pt-PT" sz="2200" u="none" strike="noStrike" dirty="0">
                          <a:effectLst/>
                        </a:rPr>
                        <a:t>1a Consulta</a:t>
                      </a:r>
                      <a:endParaRPr lang="pt-PT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63" marR="6863" marT="68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pt-PT" sz="2200" u="none" strike="noStrike" dirty="0">
                          <a:effectLst/>
                        </a:rPr>
                        <a:t>Seguintes</a:t>
                      </a:r>
                      <a:endParaRPr lang="pt-PT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63" marR="6863" marT="68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</a:tr>
              <a:tr h="41528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800" u="none" strike="noStrike">
                          <a:effectLst/>
                        </a:rPr>
                        <a:t>2025</a:t>
                      </a:r>
                      <a:endParaRPr lang="pt-PT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63" marR="6863" marT="68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200" u="none" strike="noStrike">
                          <a:effectLst/>
                        </a:rPr>
                        <a:t>2026</a:t>
                      </a:r>
                      <a:endParaRPr lang="pt-PT" sz="2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63" marR="6863" marT="68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200" u="none" strike="noStrike">
                          <a:effectLst/>
                        </a:rPr>
                        <a:t>Ev</a:t>
                      </a:r>
                      <a:endParaRPr lang="pt-PT" sz="2200" b="1" i="0" u="none" strike="noStrike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863" marR="6863" marT="68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200" u="none" strike="noStrike">
                          <a:effectLst/>
                        </a:rPr>
                        <a:t>2025</a:t>
                      </a:r>
                      <a:endParaRPr lang="pt-PT" sz="2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63" marR="6863" marT="68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200" u="none" strike="noStrike">
                          <a:effectLst/>
                        </a:rPr>
                        <a:t>2026</a:t>
                      </a:r>
                      <a:endParaRPr lang="pt-PT" sz="2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63" marR="6863" marT="68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200" u="none" strike="noStrike">
                          <a:effectLst/>
                        </a:rPr>
                        <a:t>Ev</a:t>
                      </a:r>
                      <a:endParaRPr lang="pt-PT" sz="2200" b="1" i="0" u="none" strike="noStrike">
                        <a:solidFill>
                          <a:srgbClr val="FF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863" marR="6863" marT="68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1018628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800" u="none" strike="noStrike" dirty="0">
                          <a:effectLst/>
                        </a:rPr>
                        <a:t>Bagamoio</a:t>
                      </a:r>
                      <a:endParaRPr lang="pt-PT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63" marR="6863" marT="68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2500" u="none" strike="noStrike" dirty="0">
                          <a:effectLst/>
                        </a:rPr>
                        <a:t>1429</a:t>
                      </a:r>
                      <a:endParaRPr lang="pt-PT" sz="2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2500" u="none" strike="noStrike" dirty="0">
                          <a:effectLst/>
                        </a:rPr>
                        <a:t>1526</a:t>
                      </a:r>
                      <a:endParaRPr lang="pt-PT" sz="2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200" u="none" strike="noStrike" dirty="0">
                          <a:effectLst/>
                        </a:rPr>
                        <a:t>7%</a:t>
                      </a:r>
                      <a:endParaRPr lang="pt-PT" sz="22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2200" u="none" strike="noStrike">
                          <a:effectLst/>
                        </a:rPr>
                        <a:t>1549</a:t>
                      </a:r>
                      <a:endParaRPr lang="pt-PT" sz="2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2200" u="none" strike="noStrike">
                          <a:effectLst/>
                        </a:rPr>
                        <a:t>1823</a:t>
                      </a:r>
                      <a:endParaRPr lang="pt-PT" sz="2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200" u="none" strike="noStrike" dirty="0">
                          <a:effectLst/>
                        </a:rPr>
                        <a:t>18%</a:t>
                      </a:r>
                      <a:endParaRPr lang="pt-PT" sz="22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70136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800" u="none" strike="noStrike" dirty="0">
                          <a:effectLst/>
                        </a:rPr>
                        <a:t>Zimpeto</a:t>
                      </a:r>
                      <a:endParaRPr lang="pt-PT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63" marR="6863" marT="68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2500" u="none" strike="noStrike" dirty="0">
                          <a:effectLst/>
                        </a:rPr>
                        <a:t>1607</a:t>
                      </a:r>
                      <a:endParaRPr lang="pt-PT" sz="2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2500" u="none" strike="noStrike" dirty="0">
                          <a:effectLst/>
                        </a:rPr>
                        <a:t>2560</a:t>
                      </a:r>
                      <a:endParaRPr lang="pt-PT" sz="2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200" u="none" strike="noStrike" dirty="0">
                          <a:effectLst/>
                        </a:rPr>
                        <a:t>59%</a:t>
                      </a:r>
                      <a:endParaRPr lang="pt-PT" sz="22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2200" u="none" strike="noStrike">
                          <a:effectLst/>
                        </a:rPr>
                        <a:t>1024</a:t>
                      </a:r>
                      <a:endParaRPr lang="pt-PT" sz="2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2200" u="none" strike="noStrike">
                          <a:effectLst/>
                        </a:rPr>
                        <a:t>2295</a:t>
                      </a:r>
                      <a:endParaRPr lang="pt-PT" sz="2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200" u="none" strike="noStrike" dirty="0">
                          <a:effectLst/>
                        </a:rPr>
                        <a:t>124%</a:t>
                      </a:r>
                      <a:endParaRPr lang="pt-PT" sz="22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70136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800" u="none" strike="noStrike">
                          <a:effectLst/>
                        </a:rPr>
                        <a:t>Inhagoia</a:t>
                      </a:r>
                      <a:endParaRPr lang="pt-PT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63" marR="6863" marT="68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2500" u="none" strike="noStrike" dirty="0">
                          <a:effectLst/>
                        </a:rPr>
                        <a:t>1281</a:t>
                      </a:r>
                      <a:endParaRPr lang="pt-PT" sz="2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2500" u="none" strike="noStrike">
                          <a:effectLst/>
                        </a:rPr>
                        <a:t>141</a:t>
                      </a:r>
                      <a:endParaRPr lang="pt-PT" sz="2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200" u="none" strike="noStrike">
                          <a:effectLst/>
                        </a:rPr>
                        <a:t>-89%</a:t>
                      </a:r>
                      <a:endParaRPr lang="pt-PT" sz="2200" b="1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2200" u="none" strike="noStrike">
                          <a:effectLst/>
                        </a:rPr>
                        <a:t>356</a:t>
                      </a:r>
                      <a:endParaRPr lang="pt-PT" sz="2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2200" u="none" strike="noStrike">
                          <a:effectLst/>
                        </a:rPr>
                        <a:t>114</a:t>
                      </a:r>
                      <a:endParaRPr lang="pt-PT" sz="2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200" u="none" strike="noStrike">
                          <a:effectLst/>
                        </a:rPr>
                        <a:t>-68%</a:t>
                      </a:r>
                      <a:endParaRPr lang="pt-PT" sz="2200" b="1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81697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800" u="none" strike="noStrike">
                          <a:effectLst/>
                        </a:rPr>
                        <a:t>Magoanine A</a:t>
                      </a:r>
                      <a:endParaRPr lang="pt-PT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63" marR="6863" marT="68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2500" u="none" strike="noStrike" dirty="0">
                          <a:effectLst/>
                        </a:rPr>
                        <a:t>242</a:t>
                      </a:r>
                      <a:endParaRPr lang="pt-PT" sz="2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2500" u="none" strike="noStrike" dirty="0">
                          <a:effectLst/>
                        </a:rPr>
                        <a:t>171</a:t>
                      </a:r>
                      <a:endParaRPr lang="pt-PT" sz="25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200" u="none" strike="noStrike" dirty="0">
                          <a:effectLst/>
                        </a:rPr>
                        <a:t>-29%</a:t>
                      </a:r>
                      <a:endParaRPr lang="pt-PT" sz="22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2200" u="none" strike="noStrike" dirty="0">
                          <a:effectLst/>
                        </a:rPr>
                        <a:t>102</a:t>
                      </a:r>
                      <a:endParaRPr lang="pt-PT" sz="2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2200" u="none" strike="noStrike" dirty="0">
                          <a:effectLst/>
                        </a:rPr>
                        <a:t>126</a:t>
                      </a:r>
                      <a:endParaRPr lang="pt-PT" sz="2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200" u="none" strike="noStrike">
                          <a:effectLst/>
                        </a:rPr>
                        <a:t>24%</a:t>
                      </a:r>
                      <a:endParaRPr lang="pt-PT" sz="2200" b="1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681697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800" u="none" strike="noStrike">
                          <a:effectLst/>
                        </a:rPr>
                        <a:t>Magoanine Tendas</a:t>
                      </a:r>
                      <a:endParaRPr lang="pt-PT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63" marR="6863" marT="68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2500" u="none" strike="noStrike">
                          <a:effectLst/>
                        </a:rPr>
                        <a:t>1004</a:t>
                      </a:r>
                      <a:endParaRPr lang="pt-PT" sz="2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2500" u="none" strike="noStrike">
                          <a:effectLst/>
                        </a:rPr>
                        <a:t>3393</a:t>
                      </a:r>
                      <a:endParaRPr lang="pt-PT" sz="25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200" u="none" strike="noStrike">
                          <a:effectLst/>
                        </a:rPr>
                        <a:t>238%</a:t>
                      </a:r>
                      <a:endParaRPr lang="pt-PT" sz="2200" b="1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2200" u="none" strike="noStrike">
                          <a:effectLst/>
                        </a:rPr>
                        <a:t>733</a:t>
                      </a:r>
                      <a:endParaRPr lang="pt-PT" sz="2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2200" u="none" strike="noStrike">
                          <a:effectLst/>
                        </a:rPr>
                        <a:t>809</a:t>
                      </a:r>
                      <a:endParaRPr lang="pt-PT" sz="22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200" u="none" strike="noStrike" dirty="0">
                          <a:effectLst/>
                        </a:rPr>
                        <a:t>10%</a:t>
                      </a:r>
                      <a:endParaRPr lang="pt-PT" sz="22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70136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800" u="none" strike="noStrike" dirty="0">
                          <a:effectLst/>
                        </a:rPr>
                        <a:t>Distrito</a:t>
                      </a:r>
                      <a:endParaRPr lang="pt-PT" sz="1800" b="1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863" marR="6863" marT="68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2500" u="none" strike="noStrike">
                          <a:effectLst/>
                        </a:rPr>
                        <a:t>5563</a:t>
                      </a:r>
                      <a:endParaRPr lang="pt-PT" sz="2500" b="1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u="none" strike="noStrike">
                          <a:effectLst/>
                        </a:rPr>
                        <a:t>7791</a:t>
                      </a:r>
                      <a:endParaRPr lang="pt-PT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200" u="none" strike="noStrike">
                          <a:effectLst/>
                        </a:rPr>
                        <a:t>40%</a:t>
                      </a:r>
                      <a:endParaRPr lang="pt-PT" sz="2200" b="1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2200" u="none" strike="noStrike">
                          <a:effectLst/>
                        </a:rPr>
                        <a:t>3764</a:t>
                      </a:r>
                      <a:endParaRPr lang="pt-PT" sz="2200" b="1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PT" sz="2200" u="none" strike="noStrike">
                          <a:effectLst/>
                        </a:rPr>
                        <a:t>5167</a:t>
                      </a:r>
                      <a:endParaRPr lang="pt-PT" sz="2200" b="1" i="0" u="none" strike="noStrike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200" u="none" strike="noStrike" dirty="0">
                          <a:effectLst/>
                        </a:rPr>
                        <a:t>37%</a:t>
                      </a:r>
                      <a:endParaRPr lang="pt-PT" sz="2200" b="1" i="0" u="none" strike="noStrike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63" marR="6863" marT="68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5" name="Rectangle 7"/>
          <p:cNvSpPr/>
          <p:nvPr/>
        </p:nvSpPr>
        <p:spPr>
          <a:xfrm>
            <a:off x="391082" y="6448206"/>
            <a:ext cx="2647044" cy="4097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Fonte: SISMA</a:t>
            </a:r>
            <a:endParaRPr kumimoji="0" lang="pt-PT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2967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E43D7FD-2C80-3C1B-425F-BA20B5301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7354D0C-5457-C632-DE00-A712CE83E86E}"/>
              </a:ext>
            </a:extLst>
          </p:cNvPr>
          <p:cNvSpPr txBox="1"/>
          <p:nvPr/>
        </p:nvSpPr>
        <p:spPr>
          <a:xfrm>
            <a:off x="2445570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BR" altLang="en-US" sz="2800" cap="all" spc="100" dirty="0">
                <a:solidFill>
                  <a:schemeClr val="bg1"/>
                </a:solidFill>
                <a:latin typeface="Arial Narrow" panose="020B0606020202030204" pitchFamily="34" charset="0"/>
              </a:rPr>
              <a:t>% de Ofertas de PF no SAAJ 2026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A8455A9D-0727-9EEE-8E54-B1849F0F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13</a:t>
            </a:fld>
            <a:endParaRPr lang="en-GB" dirty="0"/>
          </a:p>
        </p:txBody>
      </p:sp>
      <p:graphicFrame>
        <p:nvGraphicFramePr>
          <p:cNvPr id="4" name="Espaço Reservado para Conteúdo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4443425"/>
              </p:ext>
            </p:extLst>
          </p:nvPr>
        </p:nvGraphicFramePr>
        <p:xfrm>
          <a:off x="556592" y="1738727"/>
          <a:ext cx="10694504" cy="42744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7"/>
          <p:cNvSpPr/>
          <p:nvPr/>
        </p:nvSpPr>
        <p:spPr>
          <a:xfrm>
            <a:off x="291692" y="6304658"/>
            <a:ext cx="2647044" cy="4097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Fonte: SISMA</a:t>
            </a:r>
            <a:endParaRPr kumimoji="0" lang="pt-PT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8350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5CDCB32-7B67-C829-2FFC-548D4B30A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AE5259F-4583-3753-18AE-3ED376E2130C}"/>
              </a:ext>
            </a:extLst>
          </p:cNvPr>
          <p:cNvSpPr txBox="1"/>
          <p:nvPr/>
        </p:nvSpPr>
        <p:spPr>
          <a:xfrm>
            <a:off x="1162878" y="221163"/>
            <a:ext cx="103366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GB" sz="2800" b="1" dirty="0" err="1" smtClean="0">
                <a:solidFill>
                  <a:schemeClr val="bg1"/>
                </a:solidFill>
                <a:sym typeface="+mn-ea"/>
              </a:rPr>
              <a:t>Consultas</a:t>
            </a:r>
            <a:r>
              <a:rPr lang="en-GB" sz="2800" b="1" dirty="0" smtClean="0">
                <a:solidFill>
                  <a:schemeClr val="bg1"/>
                </a:solidFill>
                <a:sym typeface="+mn-ea"/>
              </a:rPr>
              <a:t> </a:t>
            </a:r>
            <a:r>
              <a:rPr lang="en-GB" sz="2800" b="1" dirty="0" err="1">
                <a:solidFill>
                  <a:schemeClr val="bg1"/>
                </a:solidFill>
                <a:sym typeface="+mn-ea"/>
              </a:rPr>
              <a:t>Pré-Natais</a:t>
            </a:r>
            <a:endParaRPr lang="en-US" sz="2800" dirty="0">
              <a:solidFill>
                <a:schemeClr val="bg1"/>
              </a:solidFill>
            </a:endParaRPr>
          </a:p>
          <a:p>
            <a:pPr algn="ctr" defTabSz="914400"/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78409460-626D-3C44-B40F-F7CB58050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14</a:t>
            </a:fld>
            <a:endParaRPr lang="en-GB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499108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7"/>
          <p:cNvSpPr/>
          <p:nvPr/>
        </p:nvSpPr>
        <p:spPr>
          <a:xfrm>
            <a:off x="669378" y="6056179"/>
            <a:ext cx="2647044" cy="4097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Fonte: SISMA</a:t>
            </a:r>
            <a:endParaRPr kumimoji="0" lang="pt-PT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9052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C202F7C-DDBD-8142-D0E3-EF3726F60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6E17143-E239-9868-2895-B935497C8A81}"/>
              </a:ext>
            </a:extLst>
          </p:cNvPr>
          <p:cNvSpPr txBox="1"/>
          <p:nvPr/>
        </p:nvSpPr>
        <p:spPr>
          <a:xfrm>
            <a:off x="1190625" y="221163"/>
            <a:ext cx="106489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914400"/>
            <a:r>
              <a:rPr lang="pt-PT" sz="2800" b="1" spc="1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  <a:cs typeface="Calibri Light" panose="020F0302020204030204" pitchFamily="34" charset="0"/>
              </a:rPr>
              <a:t>Distribuição </a:t>
            </a:r>
            <a:r>
              <a:rPr lang="pt-PT" sz="2800" b="1" spc="1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  <a:cs typeface="Calibri Light" panose="020F0302020204030204" pitchFamily="34" charset="0"/>
              </a:rPr>
              <a:t>das gestantes por faixa etária  </a:t>
            </a:r>
          </a:p>
          <a:p>
            <a:pPr algn="ctr" defTabSz="914400"/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08AC0EA7-09F8-32D9-95C4-554524DCD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15</a:t>
            </a:fld>
            <a:endParaRPr lang="en-GB" dirty="0"/>
          </a:p>
        </p:txBody>
      </p:sp>
      <p:graphicFrame>
        <p:nvGraphicFramePr>
          <p:cNvPr id="4" name="Content Placeholder 6"/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1669096"/>
              </p:ext>
            </p:extLst>
          </p:nvPr>
        </p:nvGraphicFramePr>
        <p:xfrm>
          <a:off x="1024255" y="1295400"/>
          <a:ext cx="4754880" cy="5013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ontent Placeholder 7"/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36044978"/>
              </p:ext>
            </p:extLst>
          </p:nvPr>
        </p:nvGraphicFramePr>
        <p:xfrm>
          <a:off x="6048375" y="1295400"/>
          <a:ext cx="5459730" cy="47263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Rectangle 7"/>
          <p:cNvSpPr/>
          <p:nvPr/>
        </p:nvSpPr>
        <p:spPr>
          <a:xfrm>
            <a:off x="500413" y="6203334"/>
            <a:ext cx="2647044" cy="4097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Fonte: SISMA</a:t>
            </a:r>
            <a:endParaRPr kumimoji="0" lang="pt-PT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524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24A7A21-613B-8D72-820D-6AAFF58D4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4C19C47-3607-7A8C-10D7-9B498303F99D}"/>
              </a:ext>
            </a:extLst>
          </p:cNvPr>
          <p:cNvSpPr txBox="1"/>
          <p:nvPr/>
        </p:nvSpPr>
        <p:spPr>
          <a:xfrm>
            <a:off x="964096" y="221163"/>
            <a:ext cx="1098025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altLang="x-none" sz="2800" b="1" dirty="0" smtClean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 Narrow" panose="020B0606020202030204" pitchFamily="34" charset="0"/>
                <a:cs typeface="Calibri Light" panose="020F0302020204030204" pitchFamily="34" charset="0"/>
                <a:sym typeface="+mn-ea"/>
              </a:rPr>
              <a:t>Diagnostic </a:t>
            </a:r>
            <a:r>
              <a:rPr lang="en-US" altLang="x-none" sz="28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 Narrow" panose="020B0606020202030204" pitchFamily="34" charset="0"/>
                <a:cs typeface="Calibri Light" panose="020F0302020204030204" pitchFamily="34" charset="0"/>
                <a:sym typeface="+mn-ea"/>
              </a:rPr>
              <a:t>da </a:t>
            </a:r>
            <a:r>
              <a:rPr lang="en-US" altLang="x-none" sz="2800" b="1" dirty="0" err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 Narrow" panose="020B0606020202030204" pitchFamily="34" charset="0"/>
                <a:cs typeface="Calibri Light" panose="020F0302020204030204" pitchFamily="34" charset="0"/>
                <a:sym typeface="+mn-ea"/>
              </a:rPr>
              <a:t>situa</a:t>
            </a:r>
            <a:r>
              <a:rPr lang="az-Cyrl-AZ" altLang="x-none" sz="28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 Narrow" panose="020B0606020202030204" pitchFamily="34" charset="0"/>
                <a:cs typeface="Calibri Light" panose="020F0302020204030204" pitchFamily="34" charset="0"/>
                <a:sym typeface="+mn-ea"/>
              </a:rPr>
              <a:t>ҫ</a:t>
            </a:r>
            <a:r>
              <a:rPr lang="en-US" altLang="x-none" sz="2800" b="1" dirty="0" err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 Narrow" panose="020B0606020202030204" pitchFamily="34" charset="0"/>
                <a:cs typeface="Calibri Light" panose="020F0302020204030204" pitchFamily="34" charset="0"/>
                <a:sym typeface="+mn-ea"/>
              </a:rPr>
              <a:t>ão</a:t>
            </a:r>
            <a:r>
              <a:rPr lang="en-US" altLang="x-none" sz="28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 Narrow" panose="020B0606020202030204" pitchFamily="34" charset="0"/>
                <a:cs typeface="Calibri Light" panose="020F0302020204030204" pitchFamily="34" charset="0"/>
                <a:sym typeface="+mn-ea"/>
              </a:rPr>
              <a:t> da </a:t>
            </a:r>
            <a:r>
              <a:rPr lang="en-US" altLang="x-none" sz="2800" b="1" dirty="0" err="1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 Narrow" panose="020B0606020202030204" pitchFamily="34" charset="0"/>
                <a:cs typeface="Calibri Light" panose="020F0302020204030204" pitchFamily="34" charset="0"/>
                <a:sym typeface="+mn-ea"/>
              </a:rPr>
              <a:t>cpn</a:t>
            </a:r>
            <a:r>
              <a:rPr lang="en-US" altLang="x-none" sz="28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 Narrow" panose="020B0606020202030204" pitchFamily="34" charset="0"/>
                <a:cs typeface="Calibri Light" panose="020F0302020204030204" pitchFamily="34" charset="0"/>
                <a:sym typeface="+mn-ea"/>
              </a:rPr>
              <a:t> 202</a:t>
            </a:r>
            <a:r>
              <a:rPr lang="pt-PT" altLang="x-none" sz="28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 Narrow" panose="020B0606020202030204" pitchFamily="34" charset="0"/>
                <a:cs typeface="Calibri Light" panose="020F0302020204030204" pitchFamily="34" charset="0"/>
                <a:sym typeface="+mn-ea"/>
              </a:rPr>
              <a:t>4/2025</a:t>
            </a:r>
            <a:r>
              <a:rPr lang="pt-PT" altLang="en-US" sz="28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 Narrow" panose="020B0606020202030204" pitchFamily="34" charset="0"/>
                <a:cs typeface="Calibri Light" panose="020F0302020204030204" pitchFamily="34" charset="0"/>
                <a:sym typeface="+mn-ea"/>
              </a:rPr>
              <a:t> </a:t>
            </a:r>
            <a:br>
              <a:rPr lang="pt-PT" altLang="en-US" sz="28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 Narrow" panose="020B0606020202030204" pitchFamily="34" charset="0"/>
                <a:cs typeface="Calibri Light" panose="020F0302020204030204" pitchFamily="34" charset="0"/>
                <a:sym typeface="+mn-ea"/>
              </a:rPr>
            </a:br>
            <a:r>
              <a:rPr lang="pt-PT" altLang="en-US" sz="2800" b="1" dirty="0">
                <a:solidFill>
                  <a:schemeClr val="bg1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 Narrow" panose="020B0606020202030204" pitchFamily="34" charset="0"/>
                <a:cs typeface="Calibri Light" panose="020F0302020204030204" pitchFamily="34" charset="0"/>
                <a:sym typeface="+mn-ea"/>
              </a:rPr>
              <a:t>meta-18,6%</a:t>
            </a:r>
          </a:p>
          <a:p>
            <a:pPr algn="ctr" defTabSz="914400"/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C449C5E6-BBA5-2160-534F-681DDD6D1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16</a:t>
            </a:fld>
            <a:endParaRPr lang="en-GB" dirty="0"/>
          </a:p>
        </p:txBody>
      </p:sp>
      <p:graphicFrame>
        <p:nvGraphicFramePr>
          <p:cNvPr id="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5484917"/>
              </p:ext>
            </p:extLst>
          </p:nvPr>
        </p:nvGraphicFramePr>
        <p:xfrm>
          <a:off x="0" y="898525"/>
          <a:ext cx="12266761" cy="51757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7"/>
          <p:cNvSpPr/>
          <p:nvPr/>
        </p:nvSpPr>
        <p:spPr>
          <a:xfrm>
            <a:off x="410961" y="6284779"/>
            <a:ext cx="2647044" cy="4097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Fonte: SISMA</a:t>
            </a:r>
            <a:endParaRPr kumimoji="0" lang="pt-PT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7752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C45D9AF-A281-CFDB-38F2-005F82EAC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AE5B842-12F7-C430-A018-F7A51C8B9042}"/>
              </a:ext>
            </a:extLst>
          </p:cNvPr>
          <p:cNvSpPr txBox="1"/>
          <p:nvPr/>
        </p:nvSpPr>
        <p:spPr>
          <a:xfrm>
            <a:off x="1171575" y="457200"/>
            <a:ext cx="103155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>
                <a:solidFill>
                  <a:schemeClr val="bg1"/>
                </a:solidFill>
              </a:rPr>
              <a:t>Avaliação da coorte 2026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A4FB73E5-0A5C-56B1-CCF7-7C26A40E1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17</a:t>
            </a:fld>
            <a:endParaRPr lang="en-GB" dirty="0"/>
          </a:p>
        </p:txBody>
      </p:sp>
      <p:graphicFrame>
        <p:nvGraphicFramePr>
          <p:cNvPr id="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5025834"/>
              </p:ext>
            </p:extLst>
          </p:nvPr>
        </p:nvGraphicFramePr>
        <p:xfrm>
          <a:off x="838199" y="1263650"/>
          <a:ext cx="10848975" cy="5229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32960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02994EC-5820-08F7-57BB-CDE4CE230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BAAF1CE-03EA-A783-4F4F-E18F13A3A642}"/>
              </a:ext>
            </a:extLst>
          </p:cNvPr>
          <p:cNvSpPr txBox="1"/>
          <p:nvPr/>
        </p:nvSpPr>
        <p:spPr>
          <a:xfrm>
            <a:off x="1257300" y="221163"/>
            <a:ext cx="1042987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914400"/>
            <a:r>
              <a:rPr lang="pt-PT" altLang="en-US" sz="28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Capitulo: </a:t>
            </a:r>
            <a:r>
              <a:rPr lang="en-US" altLang="en-US" sz="2800" b="1" spc="100" dirty="0" err="1" smtClean="0">
                <a:solidFill>
                  <a:schemeClr val="bg1"/>
                </a:solidFill>
                <a:latin typeface="Arial Narrow" panose="020B0606020202030204" pitchFamily="34" charset="0"/>
              </a:rPr>
              <a:t>Prevenção</a:t>
            </a:r>
            <a:r>
              <a:rPr lang="en-US" altLang="en-US" sz="2800" b="1" spc="100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 </a:t>
            </a:r>
            <a:r>
              <a:rPr lang="en-US" altLang="en-US" sz="2800" b="1" spc="100" dirty="0">
                <a:solidFill>
                  <a:schemeClr val="bg1"/>
                </a:solidFill>
                <a:latin typeface="Arial Narrow" panose="020B0606020202030204" pitchFamily="34" charset="0"/>
              </a:rPr>
              <a:t>de </a:t>
            </a:r>
            <a:r>
              <a:rPr lang="en-US" altLang="en-US" sz="2800" b="1" spc="100" dirty="0" err="1">
                <a:solidFill>
                  <a:schemeClr val="bg1"/>
                </a:solidFill>
                <a:latin typeface="Arial Narrow" panose="020B0606020202030204" pitchFamily="34" charset="0"/>
              </a:rPr>
              <a:t>transmissão</a:t>
            </a:r>
            <a:r>
              <a:rPr lang="en-US" altLang="en-US" sz="2800" b="1" spc="100" dirty="0">
                <a:solidFill>
                  <a:schemeClr val="bg1"/>
                </a:solidFill>
                <a:latin typeface="Arial Narrow" panose="020B0606020202030204" pitchFamily="34" charset="0"/>
              </a:rPr>
              <a:t> vertical-2026</a:t>
            </a:r>
          </a:p>
          <a:p>
            <a:pPr algn="ctr" defTabSz="914400"/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E8230FD7-46BC-586A-D4D2-0E76F4082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18</a:t>
            </a:fld>
            <a:endParaRPr lang="en-GB" dirty="0"/>
          </a:p>
        </p:txBody>
      </p:sp>
      <p:graphicFrame>
        <p:nvGraphicFramePr>
          <p:cNvPr id="4" name="Content Placeholder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2150437"/>
              </p:ext>
            </p:extLst>
          </p:nvPr>
        </p:nvGraphicFramePr>
        <p:xfrm>
          <a:off x="542925" y="1143000"/>
          <a:ext cx="11077575" cy="5248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7"/>
          <p:cNvSpPr/>
          <p:nvPr/>
        </p:nvSpPr>
        <p:spPr>
          <a:xfrm>
            <a:off x="361265" y="6391672"/>
            <a:ext cx="2647044" cy="4097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Fonte: SISMA</a:t>
            </a:r>
            <a:endParaRPr kumimoji="0" lang="pt-PT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8250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92C6CF4-A4CA-9C37-9399-AC2A4AB94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8F4B222-4AC4-01D0-FF2F-A9E4B8D92072}"/>
              </a:ext>
            </a:extLst>
          </p:cNvPr>
          <p:cNvSpPr txBox="1"/>
          <p:nvPr/>
        </p:nvSpPr>
        <p:spPr>
          <a:xfrm>
            <a:off x="1162050" y="0"/>
            <a:ext cx="1060132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Capitulo: </a:t>
            </a:r>
            <a:r>
              <a:rPr lang="en-US" altLang="pt-PT" sz="2800" b="1" dirty="0" err="1" smtClean="0">
                <a:solidFill>
                  <a:schemeClr val="bg1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Cascata</a:t>
            </a:r>
            <a:r>
              <a:rPr lang="en-US" altLang="pt-PT" sz="2800" b="1" dirty="0" smtClean="0">
                <a:solidFill>
                  <a:schemeClr val="bg1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pt-PT" sz="2800" b="1" dirty="0">
                <a:solidFill>
                  <a:schemeClr val="bg1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do PTV/HIV </a:t>
            </a:r>
            <a:r>
              <a:rPr lang="en-US" altLang="pt-PT" sz="2800" b="1" dirty="0" err="1">
                <a:solidFill>
                  <a:schemeClr val="bg1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nos</a:t>
            </a:r>
            <a:r>
              <a:rPr lang="en-US" altLang="pt-PT" sz="2800" b="1" dirty="0">
                <a:solidFill>
                  <a:schemeClr val="bg1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pt-PT" sz="2800" b="1" dirty="0" err="1">
                <a:solidFill>
                  <a:schemeClr val="bg1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serviços</a:t>
            </a:r>
            <a:r>
              <a:rPr lang="en-US" altLang="pt-PT" sz="2800" b="1" dirty="0">
                <a:solidFill>
                  <a:schemeClr val="bg1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 CPN</a:t>
            </a:r>
            <a:r>
              <a:rPr lang="en-US" altLang="pt-PT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– </a:t>
            </a:r>
            <a:r>
              <a:rPr lang="en-US" altLang="pt-PT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Cobertura</a:t>
            </a:r>
            <a:r>
              <a:rPr lang="en-US" altLang="pt-PT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TARV</a:t>
            </a:r>
            <a:endParaRPr lang="pt-PT" altLang="pt-PT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ctr" defTabSz="914400"/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A55A72C8-D25C-3633-A308-70DE610AD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19</a:t>
            </a:fld>
            <a:endParaRPr lang="en-GB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xmlns="" id="{E6AFEBF9-1B5B-0C79-95FE-B3D953291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15982"/>
              </p:ext>
            </p:extLst>
          </p:nvPr>
        </p:nvGraphicFramePr>
        <p:xfrm>
          <a:off x="419878" y="1825625"/>
          <a:ext cx="11504643" cy="4351339"/>
        </p:xfrm>
        <a:graphic>
          <a:graphicData uri="http://schemas.openxmlformats.org/drawingml/2006/table">
            <a:tbl>
              <a:tblPr>
                <a:tableStyleId>{74C1A8A3-306A-4EB7-A6B1-4F7E0EB9C5D6}</a:tableStyleId>
              </a:tblPr>
              <a:tblGrid>
                <a:gridCol w="1700011">
                  <a:extLst>
                    <a:ext uri="{9D8B030D-6E8A-4147-A177-3AD203B41FA5}">
                      <a16:colId xmlns:a16="http://schemas.microsoft.com/office/drawing/2014/main" xmlns="" val="4282768949"/>
                    </a:ext>
                  </a:extLst>
                </a:gridCol>
                <a:gridCol w="1528380">
                  <a:extLst>
                    <a:ext uri="{9D8B030D-6E8A-4147-A177-3AD203B41FA5}">
                      <a16:colId xmlns:a16="http://schemas.microsoft.com/office/drawing/2014/main" xmlns="" val="2254156939"/>
                    </a:ext>
                  </a:extLst>
                </a:gridCol>
                <a:gridCol w="1709033">
                  <a:extLst>
                    <a:ext uri="{9D8B030D-6E8A-4147-A177-3AD203B41FA5}">
                      <a16:colId xmlns:a16="http://schemas.microsoft.com/office/drawing/2014/main" xmlns="" val="3620469302"/>
                    </a:ext>
                  </a:extLst>
                </a:gridCol>
                <a:gridCol w="1507837">
                  <a:extLst>
                    <a:ext uri="{9D8B030D-6E8A-4147-A177-3AD203B41FA5}">
                      <a16:colId xmlns:a16="http://schemas.microsoft.com/office/drawing/2014/main" xmlns="" val="3859158779"/>
                    </a:ext>
                  </a:extLst>
                </a:gridCol>
                <a:gridCol w="1005224">
                  <a:extLst>
                    <a:ext uri="{9D8B030D-6E8A-4147-A177-3AD203B41FA5}">
                      <a16:colId xmlns:a16="http://schemas.microsoft.com/office/drawing/2014/main" xmlns="" val="2999361861"/>
                    </a:ext>
                  </a:extLst>
                </a:gridCol>
                <a:gridCol w="1034790">
                  <a:extLst>
                    <a:ext uri="{9D8B030D-6E8A-4147-A177-3AD203B41FA5}">
                      <a16:colId xmlns:a16="http://schemas.microsoft.com/office/drawing/2014/main" xmlns="" val="755055507"/>
                    </a:ext>
                  </a:extLst>
                </a:gridCol>
                <a:gridCol w="1275008">
                  <a:extLst>
                    <a:ext uri="{9D8B030D-6E8A-4147-A177-3AD203B41FA5}">
                      <a16:colId xmlns:a16="http://schemas.microsoft.com/office/drawing/2014/main" xmlns="" val="729104401"/>
                    </a:ext>
                  </a:extLst>
                </a:gridCol>
                <a:gridCol w="1034790">
                  <a:extLst>
                    <a:ext uri="{9D8B030D-6E8A-4147-A177-3AD203B41FA5}">
                      <a16:colId xmlns:a16="http://schemas.microsoft.com/office/drawing/2014/main" xmlns="" val="2464551483"/>
                    </a:ext>
                  </a:extLst>
                </a:gridCol>
                <a:gridCol w="709570">
                  <a:extLst>
                    <a:ext uri="{9D8B030D-6E8A-4147-A177-3AD203B41FA5}">
                      <a16:colId xmlns:a16="http://schemas.microsoft.com/office/drawing/2014/main" xmlns="" val="2630693266"/>
                    </a:ext>
                  </a:extLst>
                </a:gridCol>
              </a:tblGrid>
              <a:tr h="166325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>
                          <a:effectLst/>
                        </a:rPr>
                        <a:t>US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00" marR="8400" marT="840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# MG </a:t>
                      </a:r>
                      <a:r>
                        <a:rPr lang="en-US" sz="1600" u="none" strike="noStrike" dirty="0" err="1">
                          <a:effectLst/>
                        </a:rPr>
                        <a:t>inscritas</a:t>
                      </a:r>
                      <a:r>
                        <a:rPr lang="en-US" sz="1600" u="none" strike="noStrike" dirty="0">
                          <a:effectLst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</a:rPr>
                        <a:t>na</a:t>
                      </a:r>
                      <a:r>
                        <a:rPr lang="en-US" sz="1600" u="none" strike="noStrike" dirty="0">
                          <a:effectLst/>
                        </a:rPr>
                        <a:t> </a:t>
                      </a:r>
                      <a:r>
                        <a:rPr lang="en-US" sz="1600" u="none" strike="noStrike" dirty="0" err="1">
                          <a:effectLst/>
                        </a:rPr>
                        <a:t>coorte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00" marR="8400" marT="840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u="none" strike="noStrike" dirty="0">
                          <a:effectLst/>
                        </a:rPr>
                        <a:t># MG na 1ª CPN com </a:t>
                      </a:r>
                      <a:r>
                        <a:rPr lang="pt-BR" sz="1600" u="none" strike="noStrike" dirty="0" err="1">
                          <a:effectLst/>
                        </a:rPr>
                        <a:t>seroestado</a:t>
                      </a:r>
                      <a:r>
                        <a:rPr lang="pt-BR" sz="1600" u="none" strike="noStrike" dirty="0">
                          <a:effectLst/>
                        </a:rPr>
                        <a:t> desconhecido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00" marR="8400" marT="840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% de MG </a:t>
                      </a:r>
                      <a:r>
                        <a:rPr lang="en-US" sz="1600" u="none" strike="noStrike" dirty="0" err="1">
                          <a:effectLst/>
                        </a:rPr>
                        <a:t>testadas</a:t>
                      </a:r>
                      <a:r>
                        <a:rPr lang="en-US" sz="1600" u="none" strike="noStrike" dirty="0">
                          <a:effectLst/>
                        </a:rPr>
                        <a:t> para HIV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00" marR="8400" marT="840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u="none" strike="noStrike">
                          <a:effectLst/>
                        </a:rPr>
                        <a:t>% de MG HIV + na CPN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00" marR="8400" marT="840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u="none" strike="noStrike">
                          <a:effectLst/>
                        </a:rPr>
                        <a:t>% de MG HIV + em TARV </a:t>
                      </a:r>
                      <a:endParaRPr lang="pt-BR" sz="16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00" marR="8400" marT="840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600" u="none" strike="noStrike" dirty="0">
                          <a:effectLst/>
                        </a:rPr>
                        <a:t>%parceiros presentes na 1ª CPN</a:t>
                      </a: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00" marR="8400" marT="840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>
                          <a:effectLst/>
                        </a:rPr>
                        <a:t>% de parceiros testados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00" marR="8400" marT="8400" marB="0"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% de </a:t>
                      </a:r>
                      <a:r>
                        <a:rPr lang="en-US" sz="1600" u="none" strike="noStrike" dirty="0" err="1">
                          <a:effectLst/>
                        </a:rPr>
                        <a:t>parceiros</a:t>
                      </a:r>
                      <a:r>
                        <a:rPr lang="en-US" sz="1600" u="none" strike="noStrike" dirty="0">
                          <a:effectLst/>
                        </a:rPr>
                        <a:t> HIV </a:t>
                      </a:r>
                      <a:r>
                        <a:rPr lang="en-US" sz="1600" u="none" strike="noStrike" dirty="0" err="1">
                          <a:effectLst/>
                        </a:rPr>
                        <a:t>Positivos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400" marR="8400" marT="8400" marB="0"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36883448"/>
                  </a:ext>
                </a:extLst>
              </a:tr>
              <a:tr h="3696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err="1">
                          <a:effectLst/>
                        </a:rPr>
                        <a:t>Bagamoyo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>
                          <a:effectLst/>
                        </a:rPr>
                        <a:t>1094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u="none" strike="noStrike" dirty="0">
                          <a:effectLst/>
                        </a:rPr>
                        <a:t>985</a:t>
                      </a:r>
                      <a:endParaRPr lang="pt-PT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90%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>
                          <a:effectLst/>
                        </a:rPr>
                        <a:t>13%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100%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>
                          <a:effectLst/>
                        </a:rPr>
                        <a:t>61%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>
                          <a:effectLst/>
                        </a:rPr>
                        <a:t>100%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>
                          <a:effectLst/>
                        </a:rPr>
                        <a:t>1%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extLst>
                  <a:ext uri="{0D108BD9-81ED-4DB2-BD59-A6C34878D82A}">
                    <a16:rowId xmlns:a16="http://schemas.microsoft.com/office/drawing/2014/main" xmlns="" val="1180714564"/>
                  </a:ext>
                </a:extLst>
              </a:tr>
              <a:tr h="3696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>
                          <a:effectLst/>
                        </a:rPr>
                        <a:t>Zimpeto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>
                          <a:effectLst/>
                        </a:rPr>
                        <a:t>2050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u="none" strike="noStrike">
                          <a:effectLst/>
                        </a:rPr>
                        <a:t>1897</a:t>
                      </a:r>
                      <a:endParaRPr lang="pt-PT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>
                          <a:effectLst/>
                        </a:rPr>
                        <a:t>93%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9</a:t>
                      </a:r>
                      <a:r>
                        <a:rPr lang="en-US" sz="1600" u="none" strike="noStrike" dirty="0" smtClean="0">
                          <a:effectLst/>
                        </a:rPr>
                        <a:t>%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>
                          <a:effectLst/>
                        </a:rPr>
                        <a:t>99%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>
                          <a:effectLst/>
                        </a:rPr>
                        <a:t>45%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>
                          <a:effectLst/>
                        </a:rPr>
                        <a:t>100%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r>
                        <a:rPr lang="en-US" sz="1600" u="none" strike="noStrike" dirty="0" smtClean="0">
                          <a:effectLst/>
                        </a:rPr>
                        <a:t>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extLst>
                  <a:ext uri="{0D108BD9-81ED-4DB2-BD59-A6C34878D82A}">
                    <a16:rowId xmlns:a16="http://schemas.microsoft.com/office/drawing/2014/main" xmlns="" val="930704526"/>
                  </a:ext>
                </a:extLst>
              </a:tr>
              <a:tr h="3696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>
                          <a:effectLst/>
                        </a:rPr>
                        <a:t>Inhagoia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>
                          <a:effectLst/>
                        </a:rPr>
                        <a:t>871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u="none" strike="noStrike">
                          <a:effectLst/>
                        </a:rPr>
                        <a:t>845</a:t>
                      </a:r>
                      <a:endParaRPr lang="pt-PT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>
                          <a:effectLst/>
                        </a:rPr>
                        <a:t>97%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4</a:t>
                      </a:r>
                      <a:r>
                        <a:rPr lang="en-US" sz="1600" u="none" strike="noStrike" dirty="0" smtClean="0">
                          <a:effectLst/>
                        </a:rPr>
                        <a:t>%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100%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>
                          <a:effectLst/>
                        </a:rPr>
                        <a:t>58%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100%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0%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extLst>
                  <a:ext uri="{0D108BD9-81ED-4DB2-BD59-A6C34878D82A}">
                    <a16:rowId xmlns:a16="http://schemas.microsoft.com/office/drawing/2014/main" xmlns="" val="148326357"/>
                  </a:ext>
                </a:extLst>
              </a:tr>
              <a:tr h="6048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err="1">
                          <a:effectLst/>
                        </a:rPr>
                        <a:t>Magoanine</a:t>
                      </a:r>
                      <a:r>
                        <a:rPr lang="en-US" sz="1600" u="none" strike="noStrike" dirty="0">
                          <a:effectLst/>
                        </a:rPr>
                        <a:t> A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>
                          <a:effectLst/>
                        </a:rPr>
                        <a:t>397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u="none" strike="noStrike">
                          <a:effectLst/>
                        </a:rPr>
                        <a:t>363</a:t>
                      </a:r>
                      <a:endParaRPr lang="pt-PT" sz="1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>
                          <a:effectLst/>
                        </a:rPr>
                        <a:t>91%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>
                          <a:effectLst/>
                        </a:rPr>
                        <a:t>12%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>
                          <a:effectLst/>
                        </a:rPr>
                        <a:t>100%</a:t>
                      </a:r>
                      <a:endParaRPr lang="en-US" sz="1600" b="1" i="0" u="none" strike="noStrike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>
                          <a:effectLst/>
                        </a:rPr>
                        <a:t>48%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>
                          <a:effectLst/>
                        </a:rPr>
                        <a:t>100%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1%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extLst>
                  <a:ext uri="{0D108BD9-81ED-4DB2-BD59-A6C34878D82A}">
                    <a16:rowId xmlns:a16="http://schemas.microsoft.com/office/drawing/2014/main" xmlns="" val="1492530778"/>
                  </a:ext>
                </a:extLst>
              </a:tr>
              <a:tr h="6048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>
                          <a:effectLst/>
                        </a:rPr>
                        <a:t>Magoanine Tendas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>
                          <a:effectLst/>
                        </a:rPr>
                        <a:t>383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u="none" strike="noStrike" dirty="0">
                          <a:effectLst/>
                        </a:rPr>
                        <a:t>326</a:t>
                      </a:r>
                      <a:endParaRPr lang="pt-PT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87%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>
                          <a:effectLst/>
                        </a:rPr>
                        <a:t>17%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100%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>
                          <a:effectLst/>
                        </a:rPr>
                        <a:t>53%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>
                          <a:effectLst/>
                        </a:rPr>
                        <a:t>86%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0%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extLst>
                  <a:ext uri="{0D108BD9-81ED-4DB2-BD59-A6C34878D82A}">
                    <a16:rowId xmlns:a16="http://schemas.microsoft.com/office/drawing/2014/main" xmlns="" val="3540433037"/>
                  </a:ext>
                </a:extLst>
              </a:tr>
              <a:tr h="36961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>
                          <a:effectLst/>
                        </a:rPr>
                        <a:t>Distrito</a:t>
                      </a:r>
                      <a:endParaRPr lang="en-US" sz="1600" b="1" i="0" u="none" strike="noStrike">
                        <a:solidFill>
                          <a:srgbClr val="FF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>
                          <a:effectLst/>
                        </a:rPr>
                        <a:t>4795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u="none" strike="noStrike" dirty="0">
                          <a:effectLst/>
                        </a:rPr>
                        <a:t>4416</a:t>
                      </a:r>
                      <a:endParaRPr lang="pt-PT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>
                          <a:effectLst/>
                        </a:rPr>
                        <a:t>92%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>
                          <a:effectLst/>
                        </a:rPr>
                        <a:t>10%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>
                          <a:effectLst/>
                        </a:rPr>
                        <a:t>99%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>
                          <a:effectLst/>
                        </a:rPr>
                        <a:t>52%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smtClean="0">
                          <a:effectLst/>
                        </a:rPr>
                        <a:t>99%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1%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extLst>
                  <a:ext uri="{0D108BD9-81ED-4DB2-BD59-A6C34878D82A}">
                    <a16:rowId xmlns:a16="http://schemas.microsoft.com/office/drawing/2014/main" xmlns="" val="2994060571"/>
                  </a:ext>
                </a:extLst>
              </a:tr>
            </a:tbl>
          </a:graphicData>
        </a:graphic>
      </p:graphicFrame>
      <p:sp>
        <p:nvSpPr>
          <p:cNvPr id="7" name="Rectangle 7"/>
          <p:cNvSpPr/>
          <p:nvPr/>
        </p:nvSpPr>
        <p:spPr>
          <a:xfrm>
            <a:off x="490474" y="6314596"/>
            <a:ext cx="2647044" cy="4097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Fonte: SISMA</a:t>
            </a:r>
            <a:endParaRPr kumimoji="0" lang="pt-PT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5754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C98266E-2034-8891-D4EF-8A2BD31CB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B4CD34FC-242A-9435-663B-16AB5ACC44BE}"/>
              </a:ext>
            </a:extLst>
          </p:cNvPr>
          <p:cNvSpPr txBox="1"/>
          <p:nvPr/>
        </p:nvSpPr>
        <p:spPr>
          <a:xfrm>
            <a:off x="1247776" y="221163"/>
            <a:ext cx="105441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altLang="pt-PT" sz="2800" b="1" dirty="0" err="1" smtClean="0">
                <a:solidFill>
                  <a:schemeClr val="bg1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Prevenção</a:t>
            </a:r>
            <a:r>
              <a:rPr lang="en-US" altLang="pt-PT" sz="2800" b="1" dirty="0" smtClean="0">
                <a:solidFill>
                  <a:schemeClr val="bg1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pt-PT" sz="2800" b="1" dirty="0">
                <a:solidFill>
                  <a:schemeClr val="bg1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da </a:t>
            </a:r>
            <a:r>
              <a:rPr lang="en-US" altLang="pt-PT" sz="2800" b="1" dirty="0" err="1">
                <a:solidFill>
                  <a:schemeClr val="bg1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Transmissão</a:t>
            </a:r>
            <a:r>
              <a:rPr lang="en-US" altLang="pt-PT" sz="2800" b="1" dirty="0">
                <a:solidFill>
                  <a:schemeClr val="bg1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 Vertical:</a:t>
            </a:r>
            <a:br>
              <a:rPr lang="en-US" altLang="pt-PT" sz="2800" b="1" dirty="0">
                <a:solidFill>
                  <a:schemeClr val="bg1"/>
                </a:solidFill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en-US" altLang="pt-PT" sz="2800" b="1" dirty="0" err="1">
                <a:solidFill>
                  <a:schemeClr val="bg1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Cascata</a:t>
            </a:r>
            <a:r>
              <a:rPr lang="en-US" altLang="pt-PT" sz="2800" b="1" dirty="0">
                <a:solidFill>
                  <a:schemeClr val="bg1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 do PTV/</a:t>
            </a:r>
            <a:r>
              <a:rPr lang="en-US" altLang="pt-PT" sz="2800" b="1" dirty="0" err="1">
                <a:solidFill>
                  <a:schemeClr val="bg1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Sífilis</a:t>
            </a:r>
            <a:r>
              <a:rPr lang="en-US" altLang="pt-PT" sz="2800" b="1" dirty="0">
                <a:solidFill>
                  <a:schemeClr val="bg1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pt-PT" sz="2800" b="1" dirty="0" err="1">
                <a:solidFill>
                  <a:schemeClr val="bg1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nos</a:t>
            </a:r>
            <a:r>
              <a:rPr lang="en-US" altLang="pt-PT" sz="2800" b="1" dirty="0">
                <a:solidFill>
                  <a:schemeClr val="bg1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pt-PT" sz="2800" b="1" dirty="0" err="1">
                <a:solidFill>
                  <a:schemeClr val="bg1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serviços</a:t>
            </a:r>
            <a:r>
              <a:rPr lang="en-US" altLang="pt-PT" sz="2800" b="1" dirty="0">
                <a:solidFill>
                  <a:schemeClr val="bg1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 CPN  </a:t>
            </a:r>
            <a:endParaRPr lang="pt-PT" altLang="pt-PT" sz="2800" b="1" dirty="0">
              <a:solidFill>
                <a:schemeClr val="bg1"/>
              </a:solidFill>
              <a:cs typeface="Calibri" panose="020F0502020204030204" pitchFamily="34" charset="0"/>
              <a:sym typeface="Calibri" panose="020F0502020204030204" pitchFamily="34" charset="0"/>
            </a:endParaRPr>
          </a:p>
          <a:p>
            <a:pPr algn="ctr" defTabSz="914400"/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B7A05847-961C-134C-F17B-892520400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20</a:t>
            </a:fld>
            <a:endParaRPr lang="en-GB" dirty="0"/>
          </a:p>
        </p:txBody>
      </p:sp>
      <p:graphicFrame>
        <p:nvGraphicFramePr>
          <p:cNvPr id="4" name="Google Shape;247;p18">
            <a:extLst>
              <a:ext uri="{FF2B5EF4-FFF2-40B4-BE49-F238E27FC236}">
                <a16:creationId xmlns:a16="http://schemas.microsoft.com/office/drawing/2014/main" xmlns="" id="{BAE51652-5F75-4986-B4F5-31F749704A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4406053"/>
              </p:ext>
            </p:extLst>
          </p:nvPr>
        </p:nvGraphicFramePr>
        <p:xfrm>
          <a:off x="130174" y="1301750"/>
          <a:ext cx="12061826" cy="488042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57150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1375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04587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0674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15453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76940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46298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 smtClean="0">
                          <a:sym typeface="Calibri"/>
                        </a:rPr>
                        <a:t>US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8" marR="91458" marT="45709" marB="45709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ym typeface="Calibri"/>
                        </a:rPr>
                        <a:t>MG </a:t>
                      </a:r>
                      <a:r>
                        <a:rPr lang="en-US" sz="1800" u="none" strike="noStrike" cap="none" dirty="0" err="1">
                          <a:sym typeface="Calibri"/>
                        </a:rPr>
                        <a:t>inscritas</a:t>
                      </a:r>
                      <a:r>
                        <a:rPr lang="en-US" sz="1800" u="none" strike="noStrike" cap="none" dirty="0">
                          <a:sym typeface="Calibri"/>
                        </a:rPr>
                        <a:t> </a:t>
                      </a:r>
                      <a:r>
                        <a:rPr lang="en-US" sz="1800" u="none" strike="noStrike" cap="none" dirty="0" err="1">
                          <a:sym typeface="Calibri"/>
                        </a:rPr>
                        <a:t>na</a:t>
                      </a:r>
                      <a:r>
                        <a:rPr lang="en-US" sz="1800" u="none" strike="noStrike" cap="none" dirty="0">
                          <a:sym typeface="Calibri"/>
                        </a:rPr>
                        <a:t> 1ª CPN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8" marR="91458" marT="45709" marB="45709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ym typeface="Calibri"/>
                        </a:rPr>
                        <a:t>% de MG testadas para Sífilis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8" marR="91458" marT="45709" marB="45709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ym typeface="Calibri"/>
                        </a:rPr>
                        <a:t>% de MG </a:t>
                      </a:r>
                      <a:endParaRPr sz="1800" u="none" strike="noStrike" cap="none"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ym typeface="Calibri"/>
                        </a:rPr>
                        <a:t>Sífilis +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8" marR="91458" marT="45709" marB="45709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ym typeface="Calibri"/>
                        </a:rPr>
                        <a:t>% de MG com Sífilis que completaram tratamento (3 doses)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8" marR="91458" marT="45709" marB="45709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ym typeface="Calibri"/>
                        </a:rPr>
                        <a:t>% de parceiros tratados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8" marR="91458" marT="45709" marB="45709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6791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Bagamoyo</a:t>
                      </a:r>
                      <a:endParaRPr sz="1400" u="none" strike="noStrike" cap="none" dirty="0"/>
                    </a:p>
                  </a:txBody>
                  <a:tcPr marL="91458" marR="91458" marT="45709" marB="45709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u="none" strike="noStrike" dirty="0" smtClean="0">
                          <a:effectLst/>
                        </a:rPr>
                        <a:t>1094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800" u="none" strike="noStrike" cap="none" dirty="0">
                          <a:sym typeface="Arial Narrow"/>
                        </a:rPr>
                        <a:t>100%</a:t>
                      </a:r>
                      <a:endParaRPr sz="2800" b="1" i="0" u="none" strike="noStrike" cap="none" dirty="0">
                        <a:solidFill>
                          <a:srgbClr val="000000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1" marR="6351" marT="634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u="none" strike="noStrike" dirty="0" smtClean="0">
                          <a:effectLst/>
                        </a:rPr>
                        <a:t>1%</a:t>
                      </a:r>
                      <a:endParaRPr lang="en-US" sz="3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2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sym typeface="Arial Narrow"/>
                        </a:rPr>
                        <a:t>100%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1" marR="6351" marT="6348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800" u="none" strike="noStrike" cap="none" dirty="0">
                          <a:sym typeface="Arial Narrow"/>
                        </a:rPr>
                        <a:t>100%</a:t>
                      </a:r>
                      <a:endParaRPr sz="2800" b="1" i="0" u="none" strike="noStrike" cap="none" dirty="0">
                        <a:solidFill>
                          <a:srgbClr val="000000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1" marR="6351" marT="6348" marB="0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7039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 err="1"/>
                        <a:t>Zimpeto</a:t>
                      </a:r>
                      <a:endParaRPr sz="1800" u="none" strike="noStrike" cap="none" dirty="0"/>
                    </a:p>
                  </a:txBody>
                  <a:tcPr marL="91458" marR="91458" marT="45709" marB="45709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u="none" strike="noStrike" dirty="0" smtClean="0">
                          <a:effectLst/>
                        </a:rPr>
                        <a:t>2050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800" u="none" strike="noStrike" cap="none" dirty="0">
                          <a:sym typeface="Arial Narrow"/>
                        </a:rPr>
                        <a:t>100%</a:t>
                      </a:r>
                      <a:endParaRPr sz="2800" b="1" i="0" u="none" strike="noStrike" cap="none" dirty="0">
                        <a:solidFill>
                          <a:srgbClr val="000000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1" marR="6351" marT="634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u="none" strike="noStrike" dirty="0">
                          <a:effectLst/>
                        </a:rPr>
                        <a:t>6</a:t>
                      </a:r>
                      <a:r>
                        <a:rPr lang="en-US" sz="3200" u="none" strike="noStrike" dirty="0" smtClean="0">
                          <a:effectLst/>
                        </a:rPr>
                        <a:t>%</a:t>
                      </a:r>
                      <a:endParaRPr lang="en-US" sz="3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2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sym typeface="Arial Narrow"/>
                        </a:rPr>
                        <a:t>100%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1" marR="6351" marT="6348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800" u="none" strike="noStrike" cap="none" dirty="0">
                          <a:sym typeface="Arial Narrow"/>
                        </a:rPr>
                        <a:t>100%</a:t>
                      </a:r>
                      <a:endParaRPr sz="2800" b="1" i="0" u="none" strike="noStrike" cap="none" dirty="0">
                        <a:solidFill>
                          <a:srgbClr val="000000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1" marR="6351" marT="6348" marB="0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6791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 err="1"/>
                        <a:t>Inhagoia</a:t>
                      </a:r>
                      <a:endParaRPr sz="1800" u="none" strike="noStrike" cap="none" dirty="0"/>
                    </a:p>
                  </a:txBody>
                  <a:tcPr marL="91458" marR="91458" marT="45709" marB="45709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u="none" strike="noStrike" dirty="0" smtClean="0">
                          <a:effectLst/>
                        </a:rPr>
                        <a:t>871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800" u="none" strike="noStrike" cap="none" dirty="0">
                          <a:sym typeface="Arial Narrow"/>
                        </a:rPr>
                        <a:t>100%</a:t>
                      </a:r>
                      <a:endParaRPr sz="2800" b="1" i="0" u="none" strike="noStrike" cap="none" dirty="0">
                        <a:solidFill>
                          <a:srgbClr val="000000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1" marR="6351" marT="634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u="none" strike="noStrike" dirty="0" smtClean="0">
                          <a:effectLst/>
                        </a:rPr>
                        <a:t>1%</a:t>
                      </a:r>
                      <a:endParaRPr lang="en-US" sz="3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2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sym typeface="Arial Narrow"/>
                        </a:rPr>
                        <a:t>100%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1" marR="6351" marT="6348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800" u="none" strike="noStrike" cap="none" dirty="0">
                          <a:sym typeface="Arial Narrow"/>
                        </a:rPr>
                        <a:t>100%</a:t>
                      </a:r>
                      <a:endParaRPr sz="2800" b="1" i="0" u="none" strike="noStrike" cap="none" dirty="0">
                        <a:solidFill>
                          <a:srgbClr val="000000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1" marR="6351" marT="6348" marB="0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7039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 err="1"/>
                        <a:t>Magoanine</a:t>
                      </a:r>
                      <a:r>
                        <a:rPr lang="en-US" sz="1800" u="none" strike="noStrike" cap="none" dirty="0"/>
                        <a:t> A</a:t>
                      </a:r>
                      <a:endParaRPr sz="1800" u="none" strike="noStrike" cap="none" dirty="0"/>
                    </a:p>
                  </a:txBody>
                  <a:tcPr marL="91458" marR="91458" marT="45709" marB="45709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u="none" strike="noStrike" dirty="0" smtClean="0">
                          <a:effectLst/>
                        </a:rPr>
                        <a:t>397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800" u="none" strike="noStrike" cap="none" dirty="0">
                          <a:sym typeface="Arial Narrow"/>
                        </a:rPr>
                        <a:t>100%</a:t>
                      </a:r>
                      <a:endParaRPr sz="2800" b="1" i="0" u="none" strike="noStrike" cap="none" dirty="0">
                        <a:solidFill>
                          <a:srgbClr val="000000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1" marR="6351" marT="634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u="none" strike="noStrike" dirty="0">
                          <a:effectLst/>
                        </a:rPr>
                        <a:t>1%</a:t>
                      </a:r>
                      <a:endParaRPr lang="en-US" sz="3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2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sym typeface="Arial Narrow"/>
                        </a:rPr>
                        <a:t>100%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1" marR="6351" marT="6348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800" u="none" strike="noStrike" cap="none" dirty="0">
                          <a:sym typeface="Arial Narrow"/>
                        </a:rPr>
                        <a:t>100%</a:t>
                      </a:r>
                      <a:endParaRPr sz="2800" b="1" i="0" u="none" strike="noStrike" cap="none" dirty="0">
                        <a:solidFill>
                          <a:srgbClr val="000000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1" marR="6351" marT="6348" marB="0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7039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 err="1"/>
                        <a:t>Magoanine</a:t>
                      </a:r>
                      <a:r>
                        <a:rPr lang="en-US" sz="1800" u="none" strike="noStrike" cap="none" dirty="0"/>
                        <a:t> </a:t>
                      </a:r>
                      <a:r>
                        <a:rPr lang="en-US" sz="1800" u="none" strike="noStrike" cap="none" dirty="0" err="1"/>
                        <a:t>Tendas</a:t>
                      </a:r>
                      <a:endParaRPr sz="1800" u="none" strike="noStrike" cap="none" dirty="0"/>
                    </a:p>
                  </a:txBody>
                  <a:tcPr marL="91458" marR="91458" marT="45709" marB="45709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u="none" strike="noStrike" dirty="0" smtClean="0">
                          <a:effectLst/>
                        </a:rPr>
                        <a:t>383</a:t>
                      </a:r>
                      <a:endParaRPr lang="en-US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800" u="none" strike="noStrike" cap="none" dirty="0">
                          <a:sym typeface="Arial Narrow"/>
                        </a:rPr>
                        <a:t>100%</a:t>
                      </a:r>
                      <a:endParaRPr sz="2800" b="1" i="0" u="none" strike="noStrike" cap="none" dirty="0">
                        <a:solidFill>
                          <a:srgbClr val="000000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1" marR="6351" marT="634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u="none" strike="noStrike" dirty="0">
                          <a:effectLst/>
                        </a:rPr>
                        <a:t>1%</a:t>
                      </a:r>
                      <a:endParaRPr lang="en-US" sz="3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2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sym typeface="Arial Narrow"/>
                        </a:rPr>
                        <a:t>100%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1" marR="6351" marT="6348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2800" u="none" strike="noStrike" cap="none" dirty="0">
                          <a:sym typeface="Arial Narrow"/>
                        </a:rPr>
                        <a:t>100%</a:t>
                      </a:r>
                      <a:endParaRPr sz="2800" b="1" i="0" u="none" strike="noStrike" cap="none" dirty="0">
                        <a:solidFill>
                          <a:srgbClr val="000000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1" marR="6351" marT="6348" marB="0" anchor="ctr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7039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PT" sz="1800" u="none" strike="noStrike" cap="none" dirty="0"/>
                        <a:t>Distrito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8" marR="91458" marT="45709" marB="45709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u="none" strike="noStrike" dirty="0" smtClean="0">
                          <a:effectLst/>
                        </a:rPr>
                        <a:t>4795</a:t>
                      </a:r>
                      <a:endParaRPr lang="en-US" sz="2800" b="1" i="0" u="none" strike="noStrike" dirty="0">
                        <a:solidFill>
                          <a:schemeClr val="tx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8400" marR="8400" marT="840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pt-PT" sz="2800" u="none" strike="noStrike" cap="none" dirty="0">
                          <a:sym typeface="Arial Narrow"/>
                        </a:rPr>
                        <a:t>1</a:t>
                      </a:r>
                      <a:r>
                        <a:rPr lang="en-US" sz="2800" u="none" strike="noStrike" cap="none" dirty="0">
                          <a:sym typeface="Arial Narrow"/>
                        </a:rPr>
                        <a:t>00%</a:t>
                      </a:r>
                      <a:endParaRPr sz="2800" b="1" i="0" u="none" strike="noStrike" cap="none" dirty="0">
                        <a:solidFill>
                          <a:schemeClr val="tx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1" marR="6351" marT="6348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200" u="none" strike="noStrike" dirty="0">
                          <a:effectLst/>
                        </a:rPr>
                        <a:t>1%</a:t>
                      </a:r>
                      <a:endParaRPr lang="en-US" sz="3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  <a:tabLst/>
                        <a:defRPr/>
                      </a:pPr>
                      <a:r>
                        <a:rPr kumimoji="0" lang="pt-PT" sz="280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  <a:sym typeface="Arial Narrow"/>
                        </a:rPr>
                        <a:t>100%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1" marR="6351" marT="6348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pt-PT" sz="2800" u="none" strike="noStrike" cap="none" dirty="0">
                          <a:sym typeface="Arial Narrow"/>
                        </a:rPr>
                        <a:t>100%</a:t>
                      </a:r>
                      <a:endParaRPr sz="2800" b="1" i="0" u="none" strike="noStrike" cap="none" dirty="0">
                        <a:solidFill>
                          <a:schemeClr val="tx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1" marR="6351" marT="6348" marB="0" anchor="ctr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7" name="Rectangle 7"/>
          <p:cNvSpPr/>
          <p:nvPr/>
        </p:nvSpPr>
        <p:spPr>
          <a:xfrm>
            <a:off x="251934" y="6304657"/>
            <a:ext cx="2647044" cy="4097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Fonte: SISMA</a:t>
            </a:r>
            <a:endParaRPr kumimoji="0" lang="pt-PT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5663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3D03B3-33A7-A339-51FF-7A88C2513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6E1EF7C-7D69-4013-128E-042FBF7F5E3F}"/>
              </a:ext>
            </a:extLst>
          </p:cNvPr>
          <p:cNvSpPr txBox="1"/>
          <p:nvPr/>
        </p:nvSpPr>
        <p:spPr>
          <a:xfrm>
            <a:off x="1333500" y="221163"/>
            <a:ext cx="1035367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 smtClean="0">
                <a:solidFill>
                  <a:schemeClr val="bg1"/>
                </a:solidFill>
                <a:latin typeface="Arial Black" panose="020B0A04020102020204" pitchFamily="34" charset="0"/>
                <a:sym typeface="+mn-ea"/>
              </a:rPr>
              <a:t>Cascata </a:t>
            </a:r>
            <a:r>
              <a:rPr lang="pt-PT" altLang="en-US" sz="2800" b="1" dirty="0">
                <a:solidFill>
                  <a:schemeClr val="bg1"/>
                </a:solidFill>
                <a:latin typeface="Arial Black" panose="020B0A04020102020204" pitchFamily="34" charset="0"/>
                <a:sym typeface="+mn-ea"/>
              </a:rPr>
              <a:t>de Tratamento da Sífilis - 2026</a:t>
            </a:r>
          </a:p>
          <a:p>
            <a:pPr algn="ctr" defTabSz="914400"/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A25E22C1-BE77-744B-94BC-82F835001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21</a:t>
            </a:fld>
            <a:endParaRPr lang="en-GB" dirty="0"/>
          </a:p>
        </p:txBody>
      </p:sp>
      <p:graphicFrame>
        <p:nvGraphicFramePr>
          <p:cNvPr id="4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1415557"/>
              </p:ext>
            </p:extLst>
          </p:nvPr>
        </p:nvGraphicFramePr>
        <p:xfrm>
          <a:off x="130175" y="1215390"/>
          <a:ext cx="11804650" cy="5580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96886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328A9DD-44A8-D2FA-3974-8A97611F1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8F8F0D1-978A-80E7-F6EC-EF146B101FDE}"/>
              </a:ext>
            </a:extLst>
          </p:cNvPr>
          <p:cNvSpPr txBox="1"/>
          <p:nvPr/>
        </p:nvSpPr>
        <p:spPr>
          <a:xfrm>
            <a:off x="752475" y="221163"/>
            <a:ext cx="1110615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en-US" altLang="pt-PT" sz="2800" b="1" dirty="0" err="1" smtClean="0">
                <a:solidFill>
                  <a:srgbClr val="000000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Prevenção</a:t>
            </a:r>
            <a:r>
              <a:rPr lang="en-US" altLang="pt-PT" sz="2800" b="1" dirty="0" smtClean="0">
                <a:solidFill>
                  <a:srgbClr val="000000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pt-PT" sz="2800" b="1" dirty="0">
                <a:solidFill>
                  <a:srgbClr val="000000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da </a:t>
            </a:r>
            <a:r>
              <a:rPr lang="en-US" altLang="pt-PT" sz="2800" b="1" dirty="0" err="1">
                <a:solidFill>
                  <a:srgbClr val="000000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Transmissão</a:t>
            </a:r>
            <a:r>
              <a:rPr lang="en-US" altLang="pt-PT" sz="2800" b="1" dirty="0">
                <a:solidFill>
                  <a:srgbClr val="000000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 Vertical:</a:t>
            </a:r>
            <a:br>
              <a:rPr lang="en-US" altLang="pt-PT" sz="2800" b="1" dirty="0">
                <a:solidFill>
                  <a:srgbClr val="000000"/>
                </a:solidFill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en-US" altLang="pt-PT" sz="2800" b="1" dirty="0" err="1">
                <a:solidFill>
                  <a:srgbClr val="000000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Cascata</a:t>
            </a:r>
            <a:r>
              <a:rPr lang="en-US" altLang="pt-PT" sz="2800" b="1" dirty="0">
                <a:solidFill>
                  <a:srgbClr val="000000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 do PTV/HIV </a:t>
            </a:r>
            <a:r>
              <a:rPr lang="en-US" altLang="pt-PT" sz="2800" b="1" dirty="0" err="1">
                <a:solidFill>
                  <a:srgbClr val="000000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nos</a:t>
            </a:r>
            <a:r>
              <a:rPr lang="en-US" altLang="pt-PT" sz="2800" b="1" dirty="0">
                <a:solidFill>
                  <a:srgbClr val="000000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pt-PT" sz="2800" b="1" dirty="0" err="1">
                <a:solidFill>
                  <a:srgbClr val="000000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serviços</a:t>
            </a:r>
            <a:r>
              <a:rPr lang="en-US" altLang="pt-PT" sz="2800" b="1" dirty="0">
                <a:solidFill>
                  <a:srgbClr val="000000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 CCR (</a:t>
            </a:r>
            <a:r>
              <a:rPr lang="en-US" altLang="pt-PT" sz="2800" b="1" dirty="0" err="1">
                <a:solidFill>
                  <a:srgbClr val="000000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Coorte</a:t>
            </a:r>
            <a:r>
              <a:rPr lang="en-US" altLang="pt-PT" sz="2800" b="1" dirty="0">
                <a:solidFill>
                  <a:srgbClr val="000000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 dos 9M)</a:t>
            </a:r>
            <a:endParaRPr lang="pt-PT" altLang="pt-PT" sz="2800" b="1" dirty="0">
              <a:solidFill>
                <a:srgbClr val="000000"/>
              </a:solidFill>
              <a:cs typeface="Calibri" panose="020F0502020204030204" pitchFamily="34" charset="0"/>
              <a:sym typeface="Calibri" panose="020F0502020204030204" pitchFamily="34" charset="0"/>
            </a:endParaRPr>
          </a:p>
          <a:p>
            <a:pPr algn="ctr" defTabSz="914400"/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FD91F2CC-CD31-973E-DC38-EFD0C2D40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22</a:t>
            </a:fld>
            <a:endParaRPr lang="en-GB" dirty="0"/>
          </a:p>
        </p:txBody>
      </p:sp>
      <p:graphicFrame>
        <p:nvGraphicFramePr>
          <p:cNvPr id="4" name="Google Shape;227;p16">
            <a:extLst>
              <a:ext uri="{FF2B5EF4-FFF2-40B4-BE49-F238E27FC236}">
                <a16:creationId xmlns:a16="http://schemas.microsoft.com/office/drawing/2014/main" xmlns="" id="{275EDB05-1911-4618-9CB7-CA3E88F154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861070"/>
              </p:ext>
            </p:extLst>
          </p:nvPr>
        </p:nvGraphicFramePr>
        <p:xfrm>
          <a:off x="781878" y="1302025"/>
          <a:ext cx="11279947" cy="4711149"/>
        </p:xfrm>
        <a:graphic>
          <a:graphicData uri="http://schemas.openxmlformats.org/drawingml/2006/table">
            <a:tbl>
              <a:tblPr/>
              <a:tblGrid>
                <a:gridCol w="123576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8336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5293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02026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72817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12312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321904"/>
                <a:gridCol w="964096"/>
                <a:gridCol w="780912"/>
              </a:tblGrid>
              <a:tr h="1460377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Calibri" panose="020F0502020204030204" pitchFamily="34" charset="0"/>
                        </a:rPr>
                        <a:t>US</a:t>
                      </a:r>
                      <a:endParaRPr kumimoji="0" lang="pt-PT" altLang="pt-PT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  <a:sym typeface="Calibri" panose="020F0502020204030204" pitchFamily="34" charset="0"/>
                      </a:endParaRPr>
                    </a:p>
                  </a:txBody>
                  <a:tcPr marL="91448" marR="91448" marT="45728" marB="45728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Calibri" panose="020F0502020204030204" pitchFamily="34" charset="0"/>
                        </a:rPr>
                        <a:t>CE </a:t>
                      </a:r>
                      <a:r>
                        <a:rPr kumimoji="0" lang="en-US" altLang="pt-PT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Calibri" panose="020F0502020204030204" pitchFamily="34" charset="0"/>
                        </a:rPr>
                        <a:t>inscritas</a:t>
                      </a:r>
                      <a:r>
                        <a:rPr kumimoji="0" lang="en-US" altLang="pt-PT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Calibri" panose="020F0502020204030204" pitchFamily="34" charset="0"/>
                        </a:rPr>
                        <a:t> </a:t>
                      </a:r>
                      <a:r>
                        <a:rPr kumimoji="0" lang="en-US" altLang="pt-PT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Calibri" panose="020F0502020204030204" pitchFamily="34" charset="0"/>
                        </a:rPr>
                        <a:t>na</a:t>
                      </a:r>
                      <a:r>
                        <a:rPr kumimoji="0" lang="en-US" altLang="pt-PT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Calibri" panose="020F0502020204030204" pitchFamily="34" charset="0"/>
                        </a:rPr>
                        <a:t> CCR</a:t>
                      </a:r>
                      <a:endParaRPr kumimoji="0" lang="pt-PT" altLang="pt-PT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  <a:sym typeface="Calibri" panose="020F0502020204030204" pitchFamily="34" charset="0"/>
                      </a:endParaRPr>
                    </a:p>
                  </a:txBody>
                  <a:tcPr marL="91448" marR="91448" marT="45728" marB="45728" anchor="ctr" horzOverflow="overflow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Calibri" panose="020F0502020204030204" pitchFamily="34" charset="0"/>
                        </a:rPr>
                        <a:t>%Total </a:t>
                      </a:r>
                      <a:r>
                        <a:rPr kumimoji="0" lang="en-US" altLang="pt-PT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Calibri" panose="020F0502020204030204" pitchFamily="34" charset="0"/>
                        </a:rPr>
                        <a:t>de PCR </a:t>
                      </a:r>
                      <a:r>
                        <a:rPr kumimoji="0" lang="en-US" altLang="pt-PT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Calibri" panose="020F0502020204030204" pitchFamily="34" charset="0"/>
                        </a:rPr>
                        <a:t>colhidos</a:t>
                      </a:r>
                      <a:endParaRPr kumimoji="0" lang="pt-PT" altLang="pt-PT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  <a:sym typeface="Calibri" panose="020F0502020204030204" pitchFamily="34" charset="0"/>
                      </a:endParaRPr>
                    </a:p>
                  </a:txBody>
                  <a:tcPr marL="91448" marR="91448" marT="45728" marB="45728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Calibri" panose="020F0502020204030204" pitchFamily="34" charset="0"/>
                        </a:rPr>
                        <a:t>%de </a:t>
                      </a:r>
                      <a:r>
                        <a:rPr kumimoji="0" lang="en-US" altLang="pt-PT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Calibri" panose="020F0502020204030204" pitchFamily="34" charset="0"/>
                        </a:rPr>
                        <a:t>CE com </a:t>
                      </a:r>
                      <a:r>
                        <a:rPr kumimoji="0" lang="en-US" altLang="pt-PT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Calibri" panose="020F0502020204030204" pitchFamily="34" charset="0"/>
                        </a:rPr>
                        <a:t>colheita</a:t>
                      </a:r>
                      <a:r>
                        <a:rPr kumimoji="0" lang="en-US" altLang="pt-PT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Calibri" panose="020F0502020204030204" pitchFamily="34" charset="0"/>
                        </a:rPr>
                        <a:t> do PCR &lt;2M</a:t>
                      </a:r>
                      <a:endParaRPr kumimoji="0" lang="pt-PT" altLang="pt-PT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  <a:sym typeface="Calibri" panose="020F0502020204030204" pitchFamily="34" charset="0"/>
                      </a:endParaRPr>
                    </a:p>
                  </a:txBody>
                  <a:tcPr marL="91448" marR="91448" marT="45728" marB="45728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Calibri" panose="020F0502020204030204" pitchFamily="34" charset="0"/>
                        </a:rPr>
                        <a:t> %de </a:t>
                      </a:r>
                      <a:r>
                        <a:rPr kumimoji="0" lang="en-US" altLang="pt-PT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Calibri" panose="020F0502020204030204" pitchFamily="34" charset="0"/>
                        </a:rPr>
                        <a:t>CE com </a:t>
                      </a:r>
                      <a:r>
                        <a:rPr kumimoji="0" lang="en-US" altLang="pt-PT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Calibri" panose="020F0502020204030204" pitchFamily="34" charset="0"/>
                        </a:rPr>
                        <a:t>colheita</a:t>
                      </a:r>
                      <a:r>
                        <a:rPr kumimoji="0" lang="en-US" altLang="pt-PT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Calibri" panose="020F0502020204030204" pitchFamily="34" charset="0"/>
                        </a:rPr>
                        <a:t> do PCR ≥ 2 M</a:t>
                      </a:r>
                      <a:endParaRPr kumimoji="0" lang="pt-PT" altLang="pt-PT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  <a:sym typeface="Calibri" panose="020F0502020204030204" pitchFamily="34" charset="0"/>
                      </a:endParaRPr>
                    </a:p>
                  </a:txBody>
                  <a:tcPr marL="91448" marR="91448" marT="45728" marB="45728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Calibri" panose="020F0502020204030204" pitchFamily="34" charset="0"/>
                        </a:rPr>
                        <a:t>% CE PCR + &lt; 2M</a:t>
                      </a:r>
                      <a:endParaRPr kumimoji="0" lang="pt-PT" altLang="pt-PT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  <a:sym typeface="Calibri" panose="020F0502020204030204" pitchFamily="34" charset="0"/>
                      </a:endParaRPr>
                    </a:p>
                  </a:txBody>
                  <a:tcPr marL="91448" marR="91448" marT="45728" marB="45728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Calibri" panose="020F0502020204030204" pitchFamily="34" charset="0"/>
                        </a:rPr>
                        <a:t>% CE PCR+ ≥ 2M</a:t>
                      </a:r>
                      <a:endParaRPr kumimoji="0" lang="pt-PT" altLang="pt-PT" sz="16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  <a:sym typeface="Calibri" panose="020F0502020204030204" pitchFamily="34" charset="0"/>
                      </a:endParaRPr>
                    </a:p>
                  </a:txBody>
                  <a:tcPr marL="91448" marR="91448" marT="45728" marB="45728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Calibri" panose="020F0502020204030204" pitchFamily="34" charset="0"/>
                        </a:rPr>
                        <a:t>%Positividade pcr total</a:t>
                      </a:r>
                      <a:endParaRPr kumimoji="0" lang="pt-PT" altLang="pt-PT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  <a:sym typeface="Calibri" panose="020F0502020204030204" pitchFamily="34" charset="0"/>
                      </a:endParaRPr>
                    </a:p>
                  </a:txBody>
                  <a:tcPr marL="91448" marR="91448" marT="45728" marB="45728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Calibri" panose="020F0502020204030204" pitchFamily="34" charset="0"/>
                        </a:rPr>
                        <a:t>%Positividade pcr</a:t>
                      </a:r>
                      <a:r>
                        <a:rPr kumimoji="0" lang="pt-PT" altLang="pt-PT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 panose="020F0502020204030204" pitchFamily="34" charset="0"/>
                        </a:rPr>
                        <a:t>&lt;2m</a:t>
                      </a:r>
                      <a:endParaRPr kumimoji="0" lang="pt-PT" altLang="pt-PT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  <a:sym typeface="Calibri" panose="020F0502020204030204" pitchFamily="34" charset="0"/>
                      </a:endParaRPr>
                    </a:p>
                  </a:txBody>
                  <a:tcPr marL="91448" marR="91448" marT="45728" marB="45728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  <a:sym typeface="Calibri" panose="020F0502020204030204" pitchFamily="34" charset="0"/>
                        </a:rPr>
                        <a:t>%Positividade pcr </a:t>
                      </a:r>
                      <a:r>
                        <a:rPr kumimoji="0" lang="pt-PT" altLang="pt-PT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Calibri" panose="020F0502020204030204" pitchFamily="34" charset="0"/>
                        </a:rPr>
                        <a:t>&gt;2m</a:t>
                      </a:r>
                      <a:endParaRPr kumimoji="0" lang="pt-PT" altLang="pt-PT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  <a:sym typeface="Calibri" panose="020F0502020204030204" pitchFamily="34" charset="0"/>
                      </a:endParaRPr>
                    </a:p>
                  </a:txBody>
                  <a:tcPr marL="91448" marR="91448" marT="45728" marB="45728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1807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 MT" panose="020B0502020104020203" pitchFamily="34" charset="0"/>
                        </a:rPr>
                        <a:t>Bagamoyo</a:t>
                      </a:r>
                      <a:endParaRPr kumimoji="0" lang="pt-PT" altLang="pt-PT" sz="16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1448" marR="91448" marT="45728" marB="45728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136</a:t>
                      </a: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100%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99%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1%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1%</a:t>
                      </a: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0%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1%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1%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0%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9031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 MT" panose="020B0502020104020203" pitchFamily="34" charset="0"/>
                        </a:rPr>
                        <a:t>Zimpeto</a:t>
                      </a:r>
                      <a:endParaRPr kumimoji="0" lang="pt-PT" altLang="pt-PT" sz="16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1448" marR="91448" marT="45728" marB="45728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1</a:t>
                      </a:r>
                      <a:r>
                        <a:rPr kumimoji="0" lang="en-US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73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100%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96%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4%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1%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0%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1%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1%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0%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521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 MT" panose="020B0502020104020203" pitchFamily="34" charset="0"/>
                        </a:rPr>
                        <a:t>Inhagoia</a:t>
                      </a:r>
                      <a:endParaRPr kumimoji="0" lang="pt-PT" altLang="pt-PT" sz="16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1448" marR="91448" marT="45728" marB="45728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30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100%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97%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1</a:t>
                      </a: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3%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0%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0%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0%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0%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0%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49031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 MT" panose="020B0502020104020203" pitchFamily="34" charset="0"/>
                        </a:rPr>
                        <a:t>Magoanine A</a:t>
                      </a:r>
                      <a:endParaRPr kumimoji="0" lang="pt-PT" altLang="pt-PT" sz="16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1448" marR="91448" marT="45728" marB="45728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44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100%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100%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0%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0</a:t>
                      </a:r>
                      <a:r>
                        <a:rPr kumimoji="0" lang="en-US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0%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0%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0%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0%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06653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 MT" panose="020B0502020104020203" pitchFamily="34" charset="0"/>
                        </a:rPr>
                        <a:t>Magoanine</a:t>
                      </a:r>
                      <a:r>
                        <a:rPr kumimoji="0" lang="en-US" altLang="pt-PT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 MT" panose="020B0502020104020203" pitchFamily="34" charset="0"/>
                        </a:rPr>
                        <a:t> </a:t>
                      </a:r>
                      <a:r>
                        <a:rPr kumimoji="0" lang="en-US" altLang="pt-PT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ill Sans MT" panose="020B0502020104020203" pitchFamily="34" charset="0"/>
                        </a:rPr>
                        <a:t>Tendas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1448" marR="91448" marT="45728" marB="45728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5</a:t>
                      </a:r>
                      <a:r>
                        <a:rPr kumimoji="0" lang="en-US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1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100%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96%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4%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0%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0%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0%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0%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0%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7D31">
                        <a:alpha val="1803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52125"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600"/>
                        <a:buFont typeface="Arial Narrow" panose="020B0606020202030204" pitchFamily="34" charset="0"/>
                        <a:buNone/>
                        <a:tabLst/>
                      </a:pPr>
                      <a:r>
                        <a:rPr kumimoji="0" lang="en-US" altLang="pt-PT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Total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Gill Sans MT" panose="020B0502020104020203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434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100%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97%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3%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1%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120000"/>
                        </a:lnSpc>
                        <a:spcBef>
                          <a:spcPts val="10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1pPr>
                      <a:lvl2pPr marL="742950" indent="-28575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2pPr>
                      <a:lvl3pPr marL="11430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3pPr>
                      <a:lvl4pPr marL="16002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4pPr>
                      <a:lvl5pPr marL="2057400" indent="-228600">
                        <a:lnSpc>
                          <a:spcPct val="120000"/>
                        </a:lnSpc>
                        <a:spcBef>
                          <a:spcPts val="500"/>
                        </a:spcBef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12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Arial" panose="020B0604020202020204" pitchFamily="34" charset="0"/>
                        <a:defRPr sz="1000">
                          <a:solidFill>
                            <a:schemeClr val="tx1"/>
                          </a:solidFill>
                          <a:latin typeface="Gill Sans MT" panose="020B0502020104020203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US" altLang="pt-PT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0%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1%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1%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2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pt-PT" altLang="pt-PT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 Narrow" panose="020B0606020202030204" pitchFamily="34" charset="0"/>
                          <a:ea typeface="Arial Narrow" panose="020B0606020202030204" pitchFamily="34" charset="0"/>
                          <a:cs typeface="Arial Narrow" panose="020B0606020202030204" pitchFamily="34" charset="0"/>
                          <a:sym typeface="Arial Narrow" panose="020B0606020202030204" pitchFamily="34" charset="0"/>
                        </a:rPr>
                        <a:t>0%</a:t>
                      </a:r>
                      <a:endParaRPr kumimoji="0" lang="pt-PT" altLang="pt-PT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 Narrow" panose="020B0606020202030204" pitchFamily="34" charset="0"/>
                        <a:ea typeface="Arial Narrow" panose="020B0606020202030204" pitchFamily="34" charset="0"/>
                        <a:cs typeface="Arial Narrow" panose="020B0606020202030204" pitchFamily="34" charset="0"/>
                        <a:sym typeface="Arial Narrow" panose="020B0606020202030204" pitchFamily="34" charset="0"/>
                      </a:endParaRPr>
                    </a:p>
                  </a:txBody>
                  <a:tcPr marL="9525" marR="9525" marT="9526" marB="0" anchor="ctr" horzOverflow="overflow">
                    <a:lnL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BE4D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7" name="Rectangle 7"/>
          <p:cNvSpPr/>
          <p:nvPr/>
        </p:nvSpPr>
        <p:spPr>
          <a:xfrm>
            <a:off x="752475" y="6391672"/>
            <a:ext cx="2647044" cy="4097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Fonte: SISMA</a:t>
            </a:r>
            <a:endParaRPr kumimoji="0" lang="pt-PT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4747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46C6350-EB89-C72D-AB1C-F38AE2F8B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F2F8982-E48A-812C-186B-B68EA55A9DFC}"/>
              </a:ext>
            </a:extLst>
          </p:cNvPr>
          <p:cNvSpPr txBox="1"/>
          <p:nvPr/>
        </p:nvSpPr>
        <p:spPr>
          <a:xfrm>
            <a:off x="942976" y="221163"/>
            <a:ext cx="1100137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altLang="pt-PT" sz="2800" b="1" dirty="0" err="1" smtClean="0">
                <a:solidFill>
                  <a:schemeClr val="bg1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Cascata</a:t>
            </a:r>
            <a:r>
              <a:rPr lang="en-US" altLang="pt-PT" sz="2800" b="1" dirty="0" smtClean="0">
                <a:solidFill>
                  <a:schemeClr val="bg1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pt-PT" sz="2800" b="1" dirty="0">
                <a:solidFill>
                  <a:schemeClr val="bg1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do PTV/HIV </a:t>
            </a:r>
            <a:r>
              <a:rPr lang="en-US" altLang="pt-PT" sz="2800" b="1" dirty="0" err="1">
                <a:solidFill>
                  <a:schemeClr val="bg1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nos</a:t>
            </a:r>
            <a:r>
              <a:rPr lang="en-US" altLang="pt-PT" sz="2800" b="1" dirty="0">
                <a:solidFill>
                  <a:schemeClr val="bg1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pt-PT" sz="2800" b="1" dirty="0" err="1">
                <a:solidFill>
                  <a:schemeClr val="bg1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serviços</a:t>
            </a:r>
            <a:r>
              <a:rPr lang="en-US" altLang="pt-PT" sz="2800" b="1" dirty="0">
                <a:solidFill>
                  <a:schemeClr val="bg1"/>
                </a:solidFill>
                <a:cs typeface="Calibri" panose="020F0502020204030204" pitchFamily="34" charset="0"/>
                <a:sym typeface="Calibri" panose="020F0502020204030204" pitchFamily="34" charset="0"/>
              </a:rPr>
              <a:t> CCR</a:t>
            </a:r>
            <a:endParaRPr lang="pt-PT" altLang="pt-PT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ctr" defTabSz="914400"/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60512BEF-A72F-1630-6753-0D3FAB9D5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23</a:t>
            </a:fld>
            <a:endParaRPr lang="en-GB" dirty="0"/>
          </a:p>
        </p:txBody>
      </p:sp>
      <p:graphicFrame>
        <p:nvGraphicFramePr>
          <p:cNvPr id="4" name="Google Shape;218;p15">
            <a:extLst>
              <a:ext uri="{FF2B5EF4-FFF2-40B4-BE49-F238E27FC236}">
                <a16:creationId xmlns:a16="http://schemas.microsoft.com/office/drawing/2014/main" xmlns="" id="{CDB9EF04-14E7-4A7C-8D2C-653FF08229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6672387"/>
              </p:ext>
            </p:extLst>
          </p:nvPr>
        </p:nvGraphicFramePr>
        <p:xfrm>
          <a:off x="-146050" y="982663"/>
          <a:ext cx="12074525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7"/>
          <p:cNvSpPr/>
          <p:nvPr/>
        </p:nvSpPr>
        <p:spPr>
          <a:xfrm>
            <a:off x="410961" y="6186775"/>
            <a:ext cx="2647044" cy="4097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Fonte: SISMA</a:t>
            </a:r>
            <a:endParaRPr kumimoji="0" lang="pt-PT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7395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785FF09-0596-91E2-FE10-36B88C251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B7A1C71-0162-29F9-F905-6082869F0FCA}"/>
              </a:ext>
            </a:extLst>
          </p:cNvPr>
          <p:cNvSpPr txBox="1"/>
          <p:nvPr/>
        </p:nvSpPr>
        <p:spPr>
          <a:xfrm>
            <a:off x="1095375" y="221163"/>
            <a:ext cx="10591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pt-PT" altLang="en-US" sz="2800" dirty="0" smtClean="0">
                <a:solidFill>
                  <a:schemeClr val="bg1"/>
                </a:solidFill>
              </a:rPr>
              <a:t>Maternidade </a:t>
            </a:r>
            <a:r>
              <a:rPr lang="pt-PT" altLang="en-US" sz="2800" dirty="0">
                <a:solidFill>
                  <a:schemeClr val="bg1"/>
                </a:solidFill>
              </a:rPr>
              <a:t>- Total de Partos Institicionais </a:t>
            </a:r>
          </a:p>
          <a:p>
            <a:pPr algn="ctr" defTabSz="914400"/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A0FB200-FA5D-B897-F741-6BE8146F4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24</a:t>
            </a:fld>
            <a:endParaRPr lang="en-GB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8109862"/>
              </p:ext>
            </p:extLst>
          </p:nvPr>
        </p:nvGraphicFramePr>
        <p:xfrm>
          <a:off x="297287" y="1618008"/>
          <a:ext cx="11191461" cy="4738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7"/>
          <p:cNvSpPr/>
          <p:nvPr/>
        </p:nvSpPr>
        <p:spPr>
          <a:xfrm>
            <a:off x="669378" y="6056179"/>
            <a:ext cx="2647044" cy="4097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Fonte: SISMA</a:t>
            </a:r>
            <a:endParaRPr kumimoji="0" lang="pt-PT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248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D3A8C58-1739-D5A7-57A5-43838CD68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84DD76E-46FA-7385-F141-6AA331E9C034}"/>
              </a:ext>
            </a:extLst>
          </p:cNvPr>
          <p:cNvSpPr txBox="1"/>
          <p:nvPr/>
        </p:nvSpPr>
        <p:spPr>
          <a:xfrm>
            <a:off x="1057275" y="221163"/>
            <a:ext cx="10515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en-US" sz="2800" dirty="0" err="1" smtClean="0">
                <a:solidFill>
                  <a:schemeClr val="bg1"/>
                </a:solidFill>
                <a:latin typeface="Arial Narrow" panose="020B0606020202030204" pitchFamily="34" charset="0"/>
              </a:rPr>
              <a:t>Proporção</a:t>
            </a:r>
            <a:r>
              <a:rPr lang="en-US" sz="2800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 </a:t>
            </a:r>
            <a:r>
              <a:rPr lang="en-US" sz="2800" dirty="0">
                <a:solidFill>
                  <a:schemeClr val="bg1"/>
                </a:solidFill>
                <a:latin typeface="Arial Narrow" panose="020B0606020202030204" pitchFamily="34" charset="0"/>
              </a:rPr>
              <a:t>dos </a:t>
            </a:r>
            <a:r>
              <a:rPr lang="en-US" sz="2800" dirty="0" err="1">
                <a:solidFill>
                  <a:schemeClr val="bg1"/>
                </a:solidFill>
                <a:latin typeface="Arial Narrow" panose="020B0606020202030204" pitchFamily="34" charset="0"/>
              </a:rPr>
              <a:t>Partos</a:t>
            </a:r>
            <a:r>
              <a:rPr lang="en-US" sz="2800" dirty="0">
                <a:solidFill>
                  <a:schemeClr val="bg1"/>
                </a:solidFill>
                <a:latin typeface="Arial Narrow" panose="020B0606020202030204" pitchFamily="34" charset="0"/>
              </a:rPr>
              <a:t> Fora da </a:t>
            </a:r>
            <a:r>
              <a:rPr lang="en-US" sz="2800" dirty="0" err="1">
                <a:solidFill>
                  <a:schemeClr val="bg1"/>
                </a:solidFill>
                <a:latin typeface="Arial Narrow" panose="020B0606020202030204" pitchFamily="34" charset="0"/>
              </a:rPr>
              <a:t>Maternidade</a:t>
            </a:r>
            <a:endParaRPr lang="en-US" sz="28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algn="ctr" defTabSz="914400"/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E359BD8D-EB2E-9780-F51E-1E6C5AD44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25</a:t>
            </a:fld>
            <a:endParaRPr lang="en-GB" dirty="0"/>
          </a:p>
        </p:txBody>
      </p:sp>
      <p:graphicFrame>
        <p:nvGraphicFramePr>
          <p:cNvPr id="4" name="Content Placeholder 9">
            <a:extLst>
              <a:ext uri="{FF2B5EF4-FFF2-40B4-BE49-F238E27FC236}">
                <a16:creationId xmlns:a16="http://schemas.microsoft.com/office/drawing/2014/main" xmlns="" id="{C26372FE-4588-8008-D361-476FF18B56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2308980"/>
              </p:ext>
            </p:extLst>
          </p:nvPr>
        </p:nvGraphicFramePr>
        <p:xfrm>
          <a:off x="735497" y="1175270"/>
          <a:ext cx="11031189" cy="44999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75884">
                  <a:extLst>
                    <a:ext uri="{9D8B030D-6E8A-4147-A177-3AD203B41FA5}">
                      <a16:colId xmlns:a16="http://schemas.microsoft.com/office/drawing/2014/main" xmlns="" val="861567692"/>
                    </a:ext>
                  </a:extLst>
                </a:gridCol>
                <a:gridCol w="1804273">
                  <a:extLst>
                    <a:ext uri="{9D8B030D-6E8A-4147-A177-3AD203B41FA5}">
                      <a16:colId xmlns:a16="http://schemas.microsoft.com/office/drawing/2014/main" xmlns="" val="3886543179"/>
                    </a:ext>
                  </a:extLst>
                </a:gridCol>
                <a:gridCol w="1347495">
                  <a:extLst>
                    <a:ext uri="{9D8B030D-6E8A-4147-A177-3AD203B41FA5}">
                      <a16:colId xmlns:a16="http://schemas.microsoft.com/office/drawing/2014/main" xmlns="" val="1094978352"/>
                    </a:ext>
                  </a:extLst>
                </a:gridCol>
                <a:gridCol w="1575884">
                  <a:extLst>
                    <a:ext uri="{9D8B030D-6E8A-4147-A177-3AD203B41FA5}">
                      <a16:colId xmlns:a16="http://schemas.microsoft.com/office/drawing/2014/main" xmlns="" val="3723484623"/>
                    </a:ext>
                  </a:extLst>
                </a:gridCol>
                <a:gridCol w="1711073">
                  <a:extLst>
                    <a:ext uri="{9D8B030D-6E8A-4147-A177-3AD203B41FA5}">
                      <a16:colId xmlns:a16="http://schemas.microsoft.com/office/drawing/2014/main" xmlns="" val="952597616"/>
                    </a:ext>
                  </a:extLst>
                </a:gridCol>
                <a:gridCol w="1440696">
                  <a:extLst>
                    <a:ext uri="{9D8B030D-6E8A-4147-A177-3AD203B41FA5}">
                      <a16:colId xmlns:a16="http://schemas.microsoft.com/office/drawing/2014/main" xmlns="" val="2671362274"/>
                    </a:ext>
                  </a:extLst>
                </a:gridCol>
                <a:gridCol w="1575884">
                  <a:extLst>
                    <a:ext uri="{9D8B030D-6E8A-4147-A177-3AD203B41FA5}">
                      <a16:colId xmlns:a16="http://schemas.microsoft.com/office/drawing/2014/main" xmlns="" val="3422781255"/>
                    </a:ext>
                  </a:extLst>
                </a:gridCol>
              </a:tblGrid>
              <a:tr h="669039"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PT" sz="1600" dirty="0" smtClean="0"/>
                        <a:t>2025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PT" sz="1600" dirty="0" smtClean="0"/>
                        <a:t>2026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97313056"/>
                  </a:ext>
                </a:extLst>
              </a:tr>
              <a:tr h="1154780">
                <a:tc>
                  <a:txBody>
                    <a:bodyPr/>
                    <a:lstStyle/>
                    <a:p>
                      <a:r>
                        <a:rPr lang="pt-PT" sz="1600" dirty="0"/>
                        <a:t>US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600" dirty="0"/>
                        <a:t>Partos Institucionais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600" dirty="0"/>
                        <a:t>Partos Fora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600" dirty="0"/>
                        <a:t>% partos fora 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600" dirty="0"/>
                        <a:t>Partos Institucionais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600" dirty="0"/>
                        <a:t>Partos Fora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600" dirty="0"/>
                        <a:t>% partos fora 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407796578"/>
                  </a:ext>
                </a:extLst>
              </a:tr>
              <a:tr h="6690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err="1">
                          <a:effectLst/>
                        </a:rPr>
                        <a:t>Bagamoio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386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 smtClean="0"/>
                        <a:t>23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6</a:t>
                      </a:r>
                      <a:r>
                        <a:rPr lang="pt-PT" sz="1600" dirty="0" smtClean="0"/>
                        <a:t>%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432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 smtClean="0"/>
                        <a:t>19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3</a:t>
                      </a:r>
                      <a:r>
                        <a:rPr lang="pt-PT" sz="1600" dirty="0" smtClean="0"/>
                        <a:t>%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7140370"/>
                  </a:ext>
                </a:extLst>
              </a:tr>
              <a:tr h="6690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err="1">
                          <a:effectLst/>
                        </a:rPr>
                        <a:t>Zimpeto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999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 smtClean="0"/>
                        <a:t>35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4</a:t>
                      </a:r>
                      <a:r>
                        <a:rPr lang="pt-PT" sz="1600" dirty="0" smtClean="0"/>
                        <a:t>%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906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 smtClean="0"/>
                        <a:t>39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4</a:t>
                      </a:r>
                      <a:r>
                        <a:rPr lang="pt-PT" sz="1600" dirty="0" smtClean="0"/>
                        <a:t>%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92673203"/>
                  </a:ext>
                </a:extLst>
              </a:tr>
              <a:tr h="669039">
                <a:tc>
                  <a:txBody>
                    <a:bodyPr/>
                    <a:lstStyle/>
                    <a:p>
                      <a:r>
                        <a:rPr lang="pt-PT" sz="1600" dirty="0"/>
                        <a:t>Magoanine A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u="none" strike="noStrike" dirty="0">
                          <a:effectLst/>
                        </a:rPr>
                        <a:t>5</a:t>
                      </a:r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 smtClean="0"/>
                        <a:t>3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6</a:t>
                      </a:r>
                      <a:r>
                        <a:rPr lang="pt-PT" sz="1600" dirty="0" smtClean="0"/>
                        <a:t>%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600" u="none" strike="noStrike" dirty="0" smtClean="0">
                          <a:effectLst/>
                        </a:rPr>
                        <a:t>130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 smtClean="0"/>
                        <a:t>2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2</a:t>
                      </a:r>
                      <a:r>
                        <a:rPr lang="pt-PT" sz="1600" dirty="0" smtClean="0"/>
                        <a:t>%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42544414"/>
                  </a:ext>
                </a:extLst>
              </a:tr>
              <a:tr h="669039">
                <a:tc>
                  <a:txBody>
                    <a:bodyPr/>
                    <a:lstStyle/>
                    <a:p>
                      <a:r>
                        <a:rPr lang="pt-PT" sz="1600" dirty="0"/>
                        <a:t>Distrito 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1436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 smtClean="0"/>
                        <a:t>61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4</a:t>
                      </a:r>
                      <a:r>
                        <a:rPr lang="pt-PT" sz="1600" dirty="0" smtClean="0"/>
                        <a:t>%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 smtClean="0">
                          <a:effectLst/>
                        </a:rPr>
                        <a:t>1468</a:t>
                      </a:r>
                      <a:endParaRPr 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60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600" dirty="0"/>
                        <a:t>4</a:t>
                      </a:r>
                      <a:r>
                        <a:rPr lang="pt-PT" sz="1600" dirty="0" smtClean="0"/>
                        <a:t>%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298304438"/>
                  </a:ext>
                </a:extLst>
              </a:tr>
            </a:tbl>
          </a:graphicData>
        </a:graphic>
      </p:graphicFrame>
      <p:sp>
        <p:nvSpPr>
          <p:cNvPr id="7" name="Rectangle 7"/>
          <p:cNvSpPr/>
          <p:nvPr/>
        </p:nvSpPr>
        <p:spPr>
          <a:xfrm>
            <a:off x="152543" y="6203334"/>
            <a:ext cx="2647044" cy="4097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Fonte: SISMA</a:t>
            </a:r>
            <a:endParaRPr kumimoji="0" lang="pt-PT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667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1EF55B1-6102-8F67-0E65-64A762885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F239EF4-28FD-DD7C-C815-781675FC0D01}"/>
              </a:ext>
            </a:extLst>
          </p:cNvPr>
          <p:cNvSpPr txBox="1"/>
          <p:nvPr/>
        </p:nvSpPr>
        <p:spPr>
          <a:xfrm>
            <a:off x="1162878" y="221163"/>
            <a:ext cx="109429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 </a:t>
            </a:r>
            <a:r>
              <a:rPr lang="pt-PT" sz="2800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Situação </a:t>
            </a:r>
            <a:r>
              <a:rPr lang="pt-PT" sz="2800" dirty="0">
                <a:solidFill>
                  <a:schemeClr val="bg1"/>
                </a:solidFill>
                <a:latin typeface="Arial Narrow" panose="020B0606020202030204" pitchFamily="34" charset="0"/>
              </a:rPr>
              <a:t>da mortalidade Materna</a:t>
            </a:r>
          </a:p>
          <a:p>
            <a:pPr algn="ctr" defTabSz="914400"/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E7DBC8AF-27D6-DF8A-66A1-CB1C49DDE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26</a:t>
            </a:fld>
            <a:endParaRPr lang="en-GB" dirty="0"/>
          </a:p>
        </p:txBody>
      </p:sp>
      <p:graphicFrame>
        <p:nvGraphicFramePr>
          <p:cNvPr id="4" name="Gráfico 3"/>
          <p:cNvGraphicFramePr/>
          <p:nvPr>
            <p:extLst>
              <p:ext uri="{D42A27DB-BD31-4B8C-83A1-F6EECF244321}">
                <p14:modId xmlns:p14="http://schemas.microsoft.com/office/powerpoint/2010/main" val="1777767160"/>
              </p:ext>
            </p:extLst>
          </p:nvPr>
        </p:nvGraphicFramePr>
        <p:xfrm>
          <a:off x="399245" y="1229471"/>
          <a:ext cx="10900373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95629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AEEAF50-A930-0834-FC47-943309B43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A12BB10-9014-71DA-0405-C24F09961EDA}"/>
              </a:ext>
            </a:extLst>
          </p:cNvPr>
          <p:cNvSpPr txBox="1"/>
          <p:nvPr/>
        </p:nvSpPr>
        <p:spPr>
          <a:xfrm>
            <a:off x="1152939" y="221163"/>
            <a:ext cx="1077401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Partos/Pós-Parto</a:t>
            </a:r>
            <a:endParaRPr lang="en-US" sz="2800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algn="ctr" defTabSz="914400"/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4A7B33B0-7FFF-CC12-8C22-7D046919F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27</a:t>
            </a:fld>
            <a:endParaRPr lang="en-GB" dirty="0"/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xmlns="" id="{3D5EA97E-1242-2A4B-1C5C-D00FADBBCD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3060947"/>
              </p:ext>
            </p:extLst>
          </p:nvPr>
        </p:nvGraphicFramePr>
        <p:xfrm>
          <a:off x="616226" y="1825625"/>
          <a:ext cx="10737574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7"/>
          <p:cNvSpPr/>
          <p:nvPr/>
        </p:nvSpPr>
        <p:spPr>
          <a:xfrm>
            <a:off x="401021" y="6424790"/>
            <a:ext cx="2647044" cy="40979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Fonte: SISMA</a:t>
            </a:r>
            <a:endParaRPr kumimoji="0" lang="pt-PT" sz="1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2679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5EA286F-66C3-B003-F7E8-F55E30299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BC3544E-8D7D-7C0A-F382-C13EBEC558CA}"/>
              </a:ext>
            </a:extLst>
          </p:cNvPr>
          <p:cNvSpPr txBox="1"/>
          <p:nvPr/>
        </p:nvSpPr>
        <p:spPr>
          <a:xfrm>
            <a:off x="1222512" y="221163"/>
            <a:ext cx="106754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dirty="0">
                <a:solidFill>
                  <a:schemeClr val="bg1"/>
                </a:solidFill>
                <a:latin typeface="Arial Narrow" panose="020B0606020202030204" pitchFamily="34" charset="0"/>
              </a:rPr>
              <a:t>Constrangimentos na oferta de serviços 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E864C11B-45CA-AEC6-748B-C0686795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28</a:t>
            </a:fld>
            <a:endParaRPr lang="en-GB" dirty="0"/>
          </a:p>
        </p:txBody>
      </p:sp>
      <p:sp>
        <p:nvSpPr>
          <p:cNvPr id="4" name="Marcador de Posição de Conteúdo 2"/>
          <p:cNvSpPr txBox="1">
            <a:spLocks/>
          </p:cNvSpPr>
          <p:nvPr/>
        </p:nvSpPr>
        <p:spPr>
          <a:xfrm>
            <a:off x="838200" y="1825625"/>
            <a:ext cx="5498206" cy="48585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>
            <a:normAutofit fontScale="25000" lnSpcReduction="20000"/>
          </a:bodyPr>
          <a:lstStyle>
            <a:lvl1pPr marL="2857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3pPr>
            <a:lvl4pPr marL="1543050" indent="-1714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70000"/>
              </a:lnSpc>
            </a:pPr>
            <a:r>
              <a:rPr lang="pt-BR" sz="6400" b="1" smtClean="0">
                <a:latin typeface="Arial Narrow" panose="020B0606020202030204" pitchFamily="34" charset="0"/>
              </a:rPr>
              <a:t>Interrupções no funcionamento de maternidades</a:t>
            </a:r>
            <a:r>
              <a:rPr lang="pt-BR" sz="6400" smtClean="0">
                <a:latin typeface="Arial Narrow" panose="020B0606020202030204" pitchFamily="34" charset="0"/>
              </a:rPr>
              <a:t>, como no caso da maternidade de Magoanine, comprometendo a continuidade e a adesão aos serviços.</a:t>
            </a:r>
          </a:p>
          <a:p>
            <a:pPr eaLnBrk="1" hangingPunct="1">
              <a:lnSpc>
                <a:spcPct val="170000"/>
              </a:lnSpc>
            </a:pPr>
            <a:r>
              <a:rPr lang="pt-BR" sz="6400" b="1" smtClean="0">
                <a:latin typeface="Arial Narrow" panose="020B0606020202030204" pitchFamily="34" charset="0"/>
              </a:rPr>
              <a:t>Dificuldades no seguimento pós-parto</a:t>
            </a:r>
            <a:r>
              <a:rPr lang="pt-BR" sz="6400" smtClean="0">
                <a:latin typeface="Arial Narrow" panose="020B0606020202030204" pitchFamily="34" charset="0"/>
              </a:rPr>
              <a:t>, incluindo limitações na realização atempada das consultas de revisão pós-parto.</a:t>
            </a:r>
          </a:p>
          <a:p>
            <a:pPr eaLnBrk="1" hangingPunct="1">
              <a:lnSpc>
                <a:spcPct val="170000"/>
              </a:lnSpc>
            </a:pPr>
            <a:r>
              <a:rPr lang="pt-BR" sz="6400" b="1" smtClean="0">
                <a:latin typeface="Arial Narrow" panose="020B0606020202030204" pitchFamily="34" charset="0"/>
              </a:rPr>
              <a:t>Oferta limitada e pouco integrada dos serviços de Planeamento Familiar (PF) e CACUM</a:t>
            </a:r>
            <a:r>
              <a:rPr lang="pt-BR" sz="6400" smtClean="0">
                <a:latin typeface="Arial Narrow" panose="020B0606020202030204" pitchFamily="34" charset="0"/>
              </a:rPr>
              <a:t>, com realização de diferentes serviços no mesmo gabinete, podendo afetar a privacidade e a qualidade do atendimento.</a:t>
            </a:r>
          </a:p>
          <a:p>
            <a:pPr eaLnBrk="1" hangingPunct="1">
              <a:lnSpc>
                <a:spcPct val="170000"/>
              </a:lnSpc>
            </a:pPr>
            <a:r>
              <a:rPr lang="pt-BR" sz="6400" b="1" smtClean="0">
                <a:latin typeface="Arial Narrow" panose="020B0606020202030204" pitchFamily="34" charset="0"/>
              </a:rPr>
              <a:t>Falta de transporte para brigadas móveis</a:t>
            </a:r>
            <a:r>
              <a:rPr lang="pt-BR" sz="6400" smtClean="0">
                <a:latin typeface="Arial Narrow" panose="020B0606020202030204" pitchFamily="34" charset="0"/>
              </a:rPr>
              <a:t>, reduzindo a capacidade de levar serviços de saúde sexual e reprodutiva às comunidades mais distantes.</a:t>
            </a:r>
          </a:p>
          <a:p>
            <a:pPr eaLnBrk="1" hangingPunct="1"/>
            <a:endParaRPr lang="en-US" smtClean="0">
              <a:solidFill>
                <a:srgbClr val="FF0000"/>
              </a:solidFill>
            </a:endParaRPr>
          </a:p>
          <a:p>
            <a:pPr eaLnBrk="1" hangingPunct="1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Marcador de Posição de Conteúdo 2"/>
          <p:cNvSpPr txBox="1">
            <a:spLocks/>
          </p:cNvSpPr>
          <p:nvPr/>
        </p:nvSpPr>
        <p:spPr>
          <a:xfrm>
            <a:off x="6606862" y="1825625"/>
            <a:ext cx="5291070" cy="48585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</a:pPr>
            <a:r>
              <a:rPr lang="pt-BR" sz="56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Ausência de ambulância permanente e insuficiência de combustível</a:t>
            </a:r>
            <a:r>
              <a:rPr lang="pt-BR" sz="5600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, dificultando o transporte e a referência atempada de mulheres com complicações obstétricas.</a:t>
            </a:r>
          </a:p>
          <a:p>
            <a:pPr>
              <a:lnSpc>
                <a:spcPct val="170000"/>
              </a:lnSpc>
            </a:pPr>
            <a:r>
              <a:rPr lang="pt-BR" sz="56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Interrupções no fornecimento de energia elétrica</a:t>
            </a:r>
            <a:r>
              <a:rPr lang="pt-BR" sz="5600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, afetando a continuidade e segurança dos serviços, particularmente nas maternidades.</a:t>
            </a:r>
          </a:p>
          <a:p>
            <a:pPr>
              <a:lnSpc>
                <a:spcPct val="170000"/>
              </a:lnSpc>
            </a:pPr>
            <a:r>
              <a:rPr lang="pt-BR" sz="56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Deficiências de iluminação nas salas de parto</a:t>
            </a:r>
            <a:r>
              <a:rPr lang="pt-BR" sz="5600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, comprometendo as condições adequadas para a assistência ao parto.</a:t>
            </a:r>
          </a:p>
          <a:p>
            <a:pPr>
              <a:lnSpc>
                <a:spcPct val="170000"/>
              </a:lnSpc>
            </a:pPr>
            <a:r>
              <a:rPr lang="pt-BR" sz="56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Fragilidades no sistema de referência e contra-referência</a:t>
            </a:r>
            <a:r>
              <a:rPr lang="pt-BR" sz="5600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, associadas à limitação de transporte e à indisponibilidade de meios para seguimento das utentes.</a:t>
            </a:r>
          </a:p>
          <a:p>
            <a:pPr>
              <a:lnSpc>
                <a:spcPct val="170000"/>
              </a:lnSpc>
            </a:pPr>
            <a:r>
              <a:rPr lang="pt-BR" sz="56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Dificuldade de garantir seguimento contínuo das mulheres após o parto</a:t>
            </a:r>
            <a:r>
              <a:rPr lang="pt-BR" sz="5600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, especialmente quando existem barreiras geográficas, de transporte ou interrupções na oferta de serviços.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438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603B698-E3DB-43F7-A4ED-52D1ED40B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B9EAA49-C535-FA80-473D-319E944E459E}"/>
              </a:ext>
            </a:extLst>
          </p:cNvPr>
          <p:cNvSpPr txBox="1"/>
          <p:nvPr/>
        </p:nvSpPr>
        <p:spPr>
          <a:xfrm>
            <a:off x="1026554" y="306888"/>
            <a:ext cx="107588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Principais </a:t>
            </a:r>
            <a:r>
              <a:rPr lang="pt-PT" sz="2800" dirty="0">
                <a:solidFill>
                  <a:schemeClr val="bg1"/>
                </a:solidFill>
                <a:latin typeface="Arial Narrow" panose="020B0606020202030204" pitchFamily="34" charset="0"/>
              </a:rPr>
              <a:t>acções de mitigação 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C7211D87-21DD-AAF4-8CF4-1EE2F5565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29</a:t>
            </a:fld>
            <a:endParaRPr lang="en-GB" dirty="0"/>
          </a:p>
        </p:txBody>
      </p:sp>
      <p:sp>
        <p:nvSpPr>
          <p:cNvPr id="4" name="Marcador de Posição de Conteúdo 2"/>
          <p:cNvSpPr txBox="1">
            <a:spLocks/>
          </p:cNvSpPr>
          <p:nvPr/>
        </p:nvSpPr>
        <p:spPr>
          <a:xfrm>
            <a:off x="154547" y="1016806"/>
            <a:ext cx="6091707" cy="5680207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>
            <a:normAutofit fontScale="92500" lnSpcReduction="10000"/>
          </a:bodyPr>
          <a:lstStyle>
            <a:lvl1pPr marL="2857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3pPr>
            <a:lvl4pPr marL="1543050" indent="-1714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 eaLnBrk="1" hangingPunct="1">
              <a:lnSpc>
                <a:spcPct val="170000"/>
              </a:lnSpc>
            </a:pPr>
            <a:r>
              <a:rPr lang="pt-BR" sz="1600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Capacitação das enfermeiras do distrito no novo pacote de Prevenção da Transmissão Vertical (PTV), visando melhorar a qualidade da assistência às mulheres grávidas e seus recém-nascidos.</a:t>
            </a:r>
          </a:p>
          <a:p>
            <a:pPr algn="just" eaLnBrk="1" hangingPunct="1">
              <a:lnSpc>
                <a:spcPct val="170000"/>
              </a:lnSpc>
            </a:pPr>
            <a:r>
              <a:rPr lang="pt-BR" sz="1600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Realização de duas visitas de </a:t>
            </a:r>
            <a:r>
              <a:rPr lang="pt-BR" sz="1600" dirty="0" err="1" smtClean="0">
                <a:solidFill>
                  <a:schemeClr val="bg1"/>
                </a:solidFill>
                <a:latin typeface="Arial Narrow" panose="020B0606020202030204" pitchFamily="34" charset="0"/>
              </a:rPr>
              <a:t>mentoria</a:t>
            </a:r>
            <a:r>
              <a:rPr lang="pt-BR" sz="1600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 e apoio técnico, com suporte da </a:t>
            </a:r>
            <a:r>
              <a:rPr lang="pt-BR" sz="1600" dirty="0" err="1" smtClean="0">
                <a:solidFill>
                  <a:schemeClr val="bg1"/>
                </a:solidFill>
                <a:latin typeface="Arial Narrow" panose="020B0606020202030204" pitchFamily="34" charset="0"/>
              </a:rPr>
              <a:t>Pathfinder</a:t>
            </a:r>
            <a:r>
              <a:rPr lang="pt-BR" sz="1600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, para reforço das competências das equipas de saúde.</a:t>
            </a:r>
          </a:p>
          <a:p>
            <a:pPr algn="just" eaLnBrk="1" hangingPunct="1">
              <a:lnSpc>
                <a:spcPct val="170000"/>
              </a:lnSpc>
            </a:pPr>
            <a:r>
              <a:rPr lang="pt-BR" sz="1600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Envolvimento e capacitação das parteiras tradicionais, fortalecendo a identificação precoce de sinais de perigo, referência atempada e ligação com os serviços de saúde.</a:t>
            </a:r>
          </a:p>
          <a:p>
            <a:pPr algn="just" eaLnBrk="1" hangingPunct="1">
              <a:lnSpc>
                <a:spcPct val="170000"/>
              </a:lnSpc>
            </a:pPr>
            <a:r>
              <a:rPr lang="pt-BR" sz="1600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Realização regular de reuniões de análise de dados, permitindo identificar lacunas, monitorar indicadores e implementar ações corretivas para redução da mortalidade materna</a:t>
            </a:r>
            <a:r>
              <a:rPr lang="pt-BR" sz="1600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.</a:t>
            </a:r>
          </a:p>
          <a:p>
            <a:pPr algn="just" eaLnBrk="1" hangingPunct="1">
              <a:lnSpc>
                <a:spcPct val="170000"/>
              </a:lnSpc>
            </a:pPr>
            <a:r>
              <a:rPr lang="pt-BR" sz="1600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Criação de núcleo </a:t>
            </a:r>
            <a:r>
              <a:rPr lang="pt-BR" sz="1600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d</a:t>
            </a:r>
            <a:r>
              <a:rPr lang="pt-BR" sz="1600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istrital de coordenação de Transferências (Distrito e Hospital).</a:t>
            </a:r>
            <a:endParaRPr lang="pt-BR" sz="1600" dirty="0" smtClean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marL="114300" indent="0" eaLnBrk="1" hangingPunct="1">
              <a:buNone/>
            </a:pPr>
            <a:endParaRPr lang="pt-PT" sz="16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42900" eaLnBrk="1" hangingPunct="1"/>
            <a:endParaRPr lang="pt-PT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Marcador de Posição de Conteúdo 2"/>
          <p:cNvSpPr txBox="1">
            <a:spLocks/>
          </p:cNvSpPr>
          <p:nvPr/>
        </p:nvSpPr>
        <p:spPr>
          <a:xfrm>
            <a:off x="6883758" y="869125"/>
            <a:ext cx="5308242" cy="579034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</a:pPr>
            <a:r>
              <a:rPr lang="pt-BR" sz="1600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Realização de brigadas móveis do SAAJ, aproximando os serviços de saúde sexual e reprodutiva das adolescentes e mulheres nas comunidades.</a:t>
            </a:r>
          </a:p>
          <a:p>
            <a:pPr>
              <a:lnSpc>
                <a:spcPct val="170000"/>
              </a:lnSpc>
            </a:pPr>
            <a:r>
              <a:rPr lang="pt-BR" sz="1600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Realização de visitas de apoio técnico às Unidades Sanitárias, com enfoque na melhoria da qualidade dos cuidados maternos e na resolução de constrangimentos identificados.</a:t>
            </a:r>
          </a:p>
          <a:p>
            <a:pPr>
              <a:lnSpc>
                <a:spcPct val="170000"/>
              </a:lnSpc>
            </a:pPr>
            <a:r>
              <a:rPr lang="pt-BR" sz="1600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Capacitação dos provedores das maternidades em cuidados neonatais, contribuindo para a redução da mortalidade neonatal e melhoria da continuidade dos cuidados mãe–recém-nascido.</a:t>
            </a:r>
          </a:p>
          <a:p>
            <a:pPr>
              <a:lnSpc>
                <a:spcPct val="170000"/>
              </a:lnSpc>
            </a:pPr>
            <a:r>
              <a:rPr lang="pt-BR" sz="1600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Realização do balanço trimestral de Saúde Materno-Infantil (SMI) com os responsáveis das Unidades Sanitárias, para análise do desempenho, identificação de problemas e definição de medidas de melhoria.</a:t>
            </a:r>
            <a:r>
              <a:rPr lang="pt-PT" sz="1600" dirty="0" smtClean="0">
                <a:solidFill>
                  <a:schemeClr val="bg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 indent="-342900"/>
            <a:endParaRPr lang="pt-PT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572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E0F5722-B152-B37D-B206-56B9AB1DE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E0478BA-8382-1208-04D8-0DB6CAC8F00E}"/>
              </a:ext>
            </a:extLst>
          </p:cNvPr>
          <p:cNvSpPr txBox="1"/>
          <p:nvPr/>
        </p:nvSpPr>
        <p:spPr>
          <a:xfrm>
            <a:off x="1156750" y="159097"/>
            <a:ext cx="107828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Perspectivas </a:t>
            </a:r>
            <a:r>
              <a:rPr lang="pt-PT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de melhorias na oferta de serviços 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03A293A9-0637-FC3E-B9C2-477EBF44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30</a:t>
            </a:fld>
            <a:endParaRPr lang="en-GB" dirty="0"/>
          </a:p>
        </p:txBody>
      </p:sp>
      <p:sp>
        <p:nvSpPr>
          <p:cNvPr id="4" name="Marcador de Posição de Conteúdo 2"/>
          <p:cNvSpPr txBox="1">
            <a:spLocks/>
          </p:cNvSpPr>
          <p:nvPr/>
        </p:nvSpPr>
        <p:spPr>
          <a:xfrm>
            <a:off x="242879" y="972779"/>
            <a:ext cx="5898524" cy="5892083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>
            <a:noAutofit/>
          </a:bodyPr>
          <a:lstStyle>
            <a:lvl1pPr marL="2857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3pPr>
            <a:lvl4pPr marL="1543050" indent="-1714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457200" rtl="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>
                <a:solidFill>
                  <a:srgbClr val="0F496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sz="1400" dirty="0" smtClean="0"/>
              <a:t>Fortalecer o envolvimento dos Comités de Saúde na promoção da saúde materna, planeamento familiar e procura atempada dos serviços.</a:t>
            </a:r>
          </a:p>
          <a:p>
            <a:pPr eaLnBrk="1" hangingPunct="1">
              <a:lnSpc>
                <a:spcPct val="150000"/>
              </a:lnSpc>
            </a:pPr>
            <a:r>
              <a:rPr lang="pt-BR" sz="1400" dirty="0" smtClean="0"/>
              <a:t>Implementar um plano regular de apoio técnico e </a:t>
            </a:r>
            <a:r>
              <a:rPr lang="pt-BR" sz="1400" dirty="0" err="1" smtClean="0"/>
              <a:t>mentoria</a:t>
            </a:r>
            <a:r>
              <a:rPr lang="pt-BR" sz="1400" dirty="0" smtClean="0"/>
              <a:t> às Unidades Sanitárias, com enfoque na qualidade e continuidade dos cuidados.</a:t>
            </a:r>
          </a:p>
          <a:p>
            <a:pPr eaLnBrk="1" hangingPunct="1">
              <a:lnSpc>
                <a:spcPct val="150000"/>
              </a:lnSpc>
            </a:pPr>
            <a:r>
              <a:rPr lang="pt-BR" sz="1400" dirty="0" smtClean="0"/>
              <a:t>Expandir as brigadas móveis para comunidades e escolas mais distantes das Unidades Sanitárias, reduzindo barreiras geográficas de acesso.</a:t>
            </a:r>
          </a:p>
          <a:p>
            <a:pPr eaLnBrk="1" hangingPunct="1">
              <a:lnSpc>
                <a:spcPct val="150000"/>
              </a:lnSpc>
            </a:pPr>
            <a:r>
              <a:rPr lang="pt-BR" sz="1400" dirty="0" smtClean="0"/>
              <a:t>Reforçar as competências dos provedores em Planeamento Familiar, aborto seguro e cuidados de saúde sexual e reprodutiva, de acordo com as normas nacionais.</a:t>
            </a:r>
            <a:endParaRPr lang="pt-BR" sz="1400" dirty="0"/>
          </a:p>
        </p:txBody>
      </p:sp>
      <p:sp>
        <p:nvSpPr>
          <p:cNvPr id="5" name="Marcador de Posição de Conteúdo 2"/>
          <p:cNvSpPr txBox="1">
            <a:spLocks/>
          </p:cNvSpPr>
          <p:nvPr/>
        </p:nvSpPr>
        <p:spPr>
          <a:xfrm>
            <a:off x="6301409" y="972778"/>
            <a:ext cx="5638178" cy="5885221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pt-BR" sz="1400" dirty="0" smtClean="0">
                <a:solidFill>
                  <a:schemeClr val="bg1"/>
                </a:solidFill>
              </a:rPr>
              <a:t>Melhorar a oferta integrada de serviços nas maternidades, incluindo PF no pós-parto e métodos contraceptivos de longa duração.</a:t>
            </a:r>
          </a:p>
          <a:p>
            <a:pPr>
              <a:lnSpc>
                <a:spcPct val="150000"/>
              </a:lnSpc>
            </a:pPr>
            <a:r>
              <a:rPr lang="pt-BR" sz="1400" dirty="0" smtClean="0">
                <a:solidFill>
                  <a:schemeClr val="bg1"/>
                </a:solidFill>
              </a:rPr>
              <a:t>Reforçar o seguimento pós-parto e pós-aborto, garantindo aconselhamento, referência e continuidade dos cuidados.</a:t>
            </a:r>
          </a:p>
          <a:p>
            <a:pPr>
              <a:lnSpc>
                <a:spcPct val="150000"/>
              </a:lnSpc>
            </a:pPr>
            <a:r>
              <a:rPr lang="pt-BR" sz="1400" dirty="0" smtClean="0">
                <a:solidFill>
                  <a:schemeClr val="bg1"/>
                </a:solidFill>
              </a:rPr>
              <a:t>Fortalecer o sistema de referência e contra-referência, incluindo mecanismos de transporte para situações de emergência obstétrica.</a:t>
            </a:r>
          </a:p>
          <a:p>
            <a:pPr>
              <a:lnSpc>
                <a:spcPct val="150000"/>
              </a:lnSpc>
            </a:pPr>
            <a:r>
              <a:rPr lang="pt-BR" sz="1400" dirty="0" smtClean="0">
                <a:solidFill>
                  <a:schemeClr val="bg1"/>
                </a:solidFill>
              </a:rPr>
              <a:t>Garantir disponibilidade regular de medicamentos, contraceptivos, consumíveis e equipamentos essenciais para a prestação dos serviços.</a:t>
            </a:r>
            <a:endParaRPr lang="pt-BR" sz="1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pt-BR" sz="1400" dirty="0" smtClean="0">
                <a:solidFill>
                  <a:schemeClr val="bg1"/>
                </a:solidFill>
              </a:rPr>
              <a:t>Utilizar dados de forma sistemática para monitoria e tomada de decisão, identificando atempadamente as principais lacunas na oferta de serviços.</a:t>
            </a:r>
          </a:p>
        </p:txBody>
      </p:sp>
    </p:spTree>
    <p:extLst>
      <p:ext uri="{BB962C8B-B14F-4D97-AF65-F5344CB8AC3E}">
        <p14:creationId xmlns:p14="http://schemas.microsoft.com/office/powerpoint/2010/main" val="589840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80EF744-ECF8-7C40-64AC-2FE1F92F7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41ECD0E-566E-2A0A-350D-3A67ACF9EEBA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Anexos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90EBB7CC-EE86-0B54-8DE3-BC8BF5720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31</a:t>
            </a:fld>
            <a:endParaRPr lang="en-GB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25" y="942009"/>
            <a:ext cx="5667375" cy="5449663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942009"/>
            <a:ext cx="5591175" cy="544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927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80EF744-ECF8-7C40-64AC-2FE1F92F7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41ECD0E-566E-2A0A-350D-3A67ACF9EEBA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 smtClean="0">
                <a:solidFill>
                  <a:schemeClr val="bg1"/>
                </a:solidFill>
                <a:cs typeface="Arial" panose="020B0604020202020204" pitchFamily="34" charset="0"/>
              </a:rPr>
              <a:t>Anexos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90EBB7CC-EE86-0B54-8DE3-BC8BF5720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32</a:t>
            </a:fld>
            <a:endParaRPr lang="en-GB" dirty="0"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75" y="1047750"/>
            <a:ext cx="5143500" cy="5343922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275" y="975916"/>
            <a:ext cx="5391150" cy="2757884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275" y="2488561"/>
            <a:ext cx="5391150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191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3">
            <a:extLst>
              <a:ext uri="{FF2B5EF4-FFF2-40B4-BE49-F238E27FC236}">
                <a16:creationId xmlns:a16="http://schemas.microsoft.com/office/drawing/2014/main" xmlns="" id="{ED9512A6-4B03-4E2D-B89A-2C313E59E00C}"/>
              </a:ext>
            </a:extLst>
          </p:cNvPr>
          <p:cNvSpPr txBox="1"/>
          <p:nvPr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" name="CaixaDeTexto 3">
            <a:extLst>
              <a:ext uri="{FF2B5EF4-FFF2-40B4-BE49-F238E27FC236}">
                <a16:creationId xmlns:a16="http://schemas.microsoft.com/office/drawing/2014/main" xmlns="" id="{9A4DD2E7-4F49-8D49-8B50-82758105787C}"/>
              </a:ext>
            </a:extLst>
          </p:cNvPr>
          <p:cNvSpPr txBox="1"/>
          <p:nvPr/>
        </p:nvSpPr>
        <p:spPr>
          <a:xfrm>
            <a:off x="1345915" y="2274283"/>
            <a:ext cx="9185095" cy="1154717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n-US" sz="4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Obrigado</a:t>
            </a: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!”</a:t>
            </a:r>
            <a:endParaRPr 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607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0337,3320345,3321926,3321402,3322870,3321610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Slic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okey Glas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9156</TotalTime>
  <Words>1936</Words>
  <Application>Microsoft Office PowerPoint</Application>
  <PresentationFormat>Widescreen</PresentationFormat>
  <Paragraphs>578</Paragraphs>
  <Slides>33</Slides>
  <Notes>4</Notes>
  <HiddenSlides>1</HiddenSlides>
  <MMClips>0</MMClips>
  <ScaleCrop>false</ScaleCrop>
  <HeadingPairs>
    <vt:vector size="6" baseType="variant">
      <vt:variant>
        <vt:lpstr>Fontes usadas</vt:lpstr>
      </vt:variant>
      <vt:variant>
        <vt:i4>23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57" baseType="lpstr">
      <vt:lpstr>Arial Unicode MS</vt:lpstr>
      <vt:lpstr>MS PGothic</vt:lpstr>
      <vt:lpstr>宋体</vt:lpstr>
      <vt:lpstr>宋体</vt:lpstr>
      <vt:lpstr>Aptos</vt:lpstr>
      <vt:lpstr>Arial</vt:lpstr>
      <vt:lpstr>Arial Black</vt:lpstr>
      <vt:lpstr>Arial Narrow</vt:lpstr>
      <vt:lpstr>Baskerville Old Face</vt:lpstr>
      <vt:lpstr>Calibri</vt:lpstr>
      <vt:lpstr>Calibri Light</vt:lpstr>
      <vt:lpstr>Century Gothic</vt:lpstr>
      <vt:lpstr>Comic Sans MS</vt:lpstr>
      <vt:lpstr>Garet Bold</vt:lpstr>
      <vt:lpstr>Garet Bold Italics</vt:lpstr>
      <vt:lpstr>Gill Sans MT</vt:lpstr>
      <vt:lpstr>Stencil</vt:lpstr>
      <vt:lpstr>Tahoma</vt:lpstr>
      <vt:lpstr>Times New Roman</vt:lpstr>
      <vt:lpstr>Tw Cen MT</vt:lpstr>
      <vt:lpstr>Tw Cen MT Condensed</vt:lpstr>
      <vt:lpstr>Wingdings</vt:lpstr>
      <vt:lpstr>Wingdings 3</vt:lpstr>
      <vt:lpstr>Slice</vt:lpstr>
      <vt:lpstr>Apresentação do PowerPoint</vt:lpstr>
      <vt:lpstr>Apresentação do PowerPoint</vt:lpstr>
      <vt:lpstr> Contextualização do distrito de KAMUBUKWANA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acer</cp:lastModifiedBy>
  <cp:revision>178</cp:revision>
  <dcterms:created xsi:type="dcterms:W3CDTF">2025-07-14T08:03:00Z</dcterms:created>
  <dcterms:modified xsi:type="dcterms:W3CDTF">2026-10-07T12:33:31Z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2CAEBBA65D8B41AC85F32BF362082C4A_13</vt:lpwstr>
  </property>
  <property fmtid="{D5CDD505-2E9C-101B-9397-08002B2CF9AE}" pid="3" name="KSOProductBuildVer">
    <vt:lpwstr>1033-12.2.0.22549</vt:lpwstr>
  </property>
</Properties>
</file>