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8" r:id="rId3"/>
    <p:sldId id="358" r:id="rId4"/>
    <p:sldId id="359" r:id="rId5"/>
    <p:sldId id="368" r:id="rId6"/>
    <p:sldId id="369" r:id="rId7"/>
    <p:sldId id="370" r:id="rId8"/>
    <p:sldId id="347" r:id="rId9"/>
    <p:sldId id="348" r:id="rId10"/>
    <p:sldId id="349" r:id="rId11"/>
    <p:sldId id="366" r:id="rId12"/>
    <p:sldId id="351" r:id="rId13"/>
    <p:sldId id="352" r:id="rId14"/>
    <p:sldId id="353" r:id="rId15"/>
    <p:sldId id="362" r:id="rId16"/>
    <p:sldId id="361" r:id="rId17"/>
    <p:sldId id="356" r:id="rId18"/>
    <p:sldId id="357" r:id="rId19"/>
    <p:sldId id="343" r:id="rId20"/>
  </p:sldIdLst>
  <p:sldSz cx="12192000" cy="6858000"/>
  <p:notesSz cx="7010400" cy="9296400"/>
  <p:custDataLst>
    <p:tags r:id="rId23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6D14"/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Destaqu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Destaqu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7140" autoAdjust="0"/>
  </p:normalViewPr>
  <p:slideViewPr>
    <p:cSldViewPr snapToGrid="0">
      <p:cViewPr varScale="1">
        <p:scale>
          <a:sx n="103" d="100"/>
          <a:sy n="103" d="100"/>
        </p:scale>
        <p:origin x="114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7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HGJM!$D$11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HGJM!$C$12:$C$15</c:f>
              <c:strCache>
                <c:ptCount val="4"/>
                <c:pt idx="0">
                  <c:v>CS Zimpeto </c:v>
                </c:pt>
                <c:pt idx="1">
                  <c:v>CS Bagamoio </c:v>
                </c:pt>
                <c:pt idx="2">
                  <c:v>CS Xipamanine </c:v>
                </c:pt>
                <c:pt idx="3">
                  <c:v>CS Catembe </c:v>
                </c:pt>
              </c:strCache>
            </c:strRef>
          </c:cat>
          <c:val>
            <c:numRef>
              <c:f>HGJM!$D$12:$D$15</c:f>
              <c:numCache>
                <c:formatCode>#,##0</c:formatCode>
                <c:ptCount val="4"/>
                <c:pt idx="0">
                  <c:v>21345</c:v>
                </c:pt>
                <c:pt idx="1">
                  <c:v>32997</c:v>
                </c:pt>
                <c:pt idx="2">
                  <c:v>7990</c:v>
                </c:pt>
                <c:pt idx="3">
                  <c:v>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8D-490E-9396-74E0FC39FFA6}"/>
            </c:ext>
          </c:extLst>
        </c:ser>
        <c:ser>
          <c:idx val="1"/>
          <c:order val="1"/>
          <c:tx>
            <c:strRef>
              <c:f>HGJM!$E$11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HGJM!$C$12:$C$15</c:f>
              <c:strCache>
                <c:ptCount val="4"/>
                <c:pt idx="0">
                  <c:v>CS Zimpeto </c:v>
                </c:pt>
                <c:pt idx="1">
                  <c:v>CS Bagamoio </c:v>
                </c:pt>
                <c:pt idx="2">
                  <c:v>CS Xipamanine </c:v>
                </c:pt>
                <c:pt idx="3">
                  <c:v>CS Catembe </c:v>
                </c:pt>
              </c:strCache>
            </c:strRef>
          </c:cat>
          <c:val>
            <c:numRef>
              <c:f>HGJM!$E$12:$E$15</c:f>
              <c:numCache>
                <c:formatCode>#,##0</c:formatCode>
                <c:ptCount val="4"/>
                <c:pt idx="0">
                  <c:v>23438</c:v>
                </c:pt>
                <c:pt idx="1">
                  <c:v>30657</c:v>
                </c:pt>
                <c:pt idx="2">
                  <c:v>8869</c:v>
                </c:pt>
                <c:pt idx="3">
                  <c:v>870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8D-490E-9396-74E0FC39FFA6}"/>
            </c:ext>
          </c:extLst>
        </c:ser>
        <c:ser>
          <c:idx val="2"/>
          <c:order val="2"/>
          <c:tx>
            <c:strRef>
              <c:f>HGJM!$F$11</c:f>
              <c:strCache>
                <c:ptCount val="1"/>
                <c:pt idx="0">
                  <c:v>Evolução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c:spPr>
          <c:invertIfNegative val="0"/>
          <c:dLbls>
            <c:dLbl>
              <c:idx val="1"/>
              <c:layout>
                <c:manualLayout>
                  <c:x val="0"/>
                  <c:y val="6.91749181309093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C81-42C9-B8CD-147DAE5D4A2C}"/>
                </c:ext>
              </c:extLst>
            </c:dLbl>
            <c:dLbl>
              <c:idx val="3"/>
              <c:layout>
                <c:manualLayout>
                  <c:x val="-1.1378022802453604E-3"/>
                  <c:y val="7.42989861406065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81-42C9-B8CD-147DAE5D4A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HGJM!$C$12:$C$15</c:f>
              <c:strCache>
                <c:ptCount val="4"/>
                <c:pt idx="0">
                  <c:v>CS Zimpeto </c:v>
                </c:pt>
                <c:pt idx="1">
                  <c:v>CS Bagamoio </c:v>
                </c:pt>
                <c:pt idx="2">
                  <c:v>CS Xipamanine </c:v>
                </c:pt>
                <c:pt idx="3">
                  <c:v>CS Catembe </c:v>
                </c:pt>
              </c:strCache>
            </c:strRef>
          </c:cat>
          <c:val>
            <c:numRef>
              <c:f>HGJM!$F$12:$F$15</c:f>
              <c:numCache>
                <c:formatCode>0%</c:formatCode>
                <c:ptCount val="4"/>
                <c:pt idx="0">
                  <c:v>9.8055750761302407E-2</c:v>
                </c:pt>
                <c:pt idx="1">
                  <c:v>-7.0915537776161469E-2</c:v>
                </c:pt>
                <c:pt idx="2">
                  <c:v>0.11001251564455569</c:v>
                </c:pt>
                <c:pt idx="3">
                  <c:v>-5.2287581699346407E-2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8D-490E-9396-74E0FC39F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488512"/>
        <c:axId val="59498496"/>
      </c:barChart>
      <c:catAx>
        <c:axId val="59488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59498496"/>
        <c:crosses val="autoZero"/>
        <c:auto val="1"/>
        <c:lblAlgn val="ctr"/>
        <c:lblOffset val="100"/>
        <c:noMultiLvlLbl val="0"/>
      </c:catAx>
      <c:valAx>
        <c:axId val="59498496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5948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800" b="1">
          <a:latin typeface="Arial Narrow" panose="020B0606020202030204" pitchFamily="34" charset="0"/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HGJM!$C$25</c:f>
              <c:strCache>
                <c:ptCount val="1"/>
                <c:pt idx="0">
                  <c:v>CS Zimpeto  (Pediatrico)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HGJM!$D$24:$J$24</c:f>
              <c:strCache>
                <c:ptCount val="7"/>
                <c:pt idx="0">
                  <c:v>Nº total de Atendimentos no BS (1 Semestre 2026)</c:v>
                </c:pt>
                <c:pt idx="1">
                  <c:v>Nº de Altas</c:v>
                </c:pt>
                <c:pt idx="2">
                  <c:v>% de Altas</c:v>
                </c:pt>
                <c:pt idx="3">
                  <c:v> Nº de Transferência (para HGJM)</c:v>
                </c:pt>
                <c:pt idx="4">
                  <c:v>% de Transferencias para HGJM</c:v>
                </c:pt>
                <c:pt idx="5">
                  <c:v>Nº de Óbito</c:v>
                </c:pt>
                <c:pt idx="6">
                  <c:v>% de Óbitos</c:v>
                </c:pt>
              </c:strCache>
            </c:strRef>
          </c:cat>
          <c:val>
            <c:numRef>
              <c:f>HGJM!$D$25:$J$25</c:f>
              <c:numCache>
                <c:formatCode>General</c:formatCode>
                <c:ptCount val="7"/>
                <c:pt idx="0">
                  <c:v>23438</c:v>
                </c:pt>
                <c:pt idx="1">
                  <c:v>23232</c:v>
                </c:pt>
                <c:pt idx="2" formatCode="0%">
                  <c:v>0.99121085416844446</c:v>
                </c:pt>
                <c:pt idx="3">
                  <c:v>206</c:v>
                </c:pt>
                <c:pt idx="4" formatCode="0%">
                  <c:v>8.7891458315555934E-3</c:v>
                </c:pt>
                <c:pt idx="5">
                  <c:v>0</c:v>
                </c:pt>
                <c:pt idx="6" formatCode="0.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CD-4B86-86D0-E9977AB9C999}"/>
            </c:ext>
          </c:extLst>
        </c:ser>
        <c:ser>
          <c:idx val="1"/>
          <c:order val="1"/>
          <c:tx>
            <c:strRef>
              <c:f>HGJM!$C$26</c:f>
              <c:strCache>
                <c:ptCount val="1"/>
                <c:pt idx="0">
                  <c:v>CS Bagamoio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HGJM!$D$24:$J$24</c:f>
              <c:strCache>
                <c:ptCount val="7"/>
                <c:pt idx="0">
                  <c:v>Nº total de Atendimentos no BS (1 Semestre 2026)</c:v>
                </c:pt>
                <c:pt idx="1">
                  <c:v>Nº de Altas</c:v>
                </c:pt>
                <c:pt idx="2">
                  <c:v>% de Altas</c:v>
                </c:pt>
                <c:pt idx="3">
                  <c:v> Nº de Transferência (para HGJM)</c:v>
                </c:pt>
                <c:pt idx="4">
                  <c:v>% de Transferencias para HGJM</c:v>
                </c:pt>
                <c:pt idx="5">
                  <c:v>Nº de Óbito</c:v>
                </c:pt>
                <c:pt idx="6">
                  <c:v>% de Óbitos</c:v>
                </c:pt>
              </c:strCache>
            </c:strRef>
          </c:cat>
          <c:val>
            <c:numRef>
              <c:f>HGJM!$D$26:$J$26</c:f>
              <c:numCache>
                <c:formatCode>General</c:formatCode>
                <c:ptCount val="7"/>
                <c:pt idx="0">
                  <c:v>30657</c:v>
                </c:pt>
                <c:pt idx="1">
                  <c:v>30324</c:v>
                </c:pt>
                <c:pt idx="2" formatCode="0%">
                  <c:v>0.98913788041882766</c:v>
                </c:pt>
                <c:pt idx="3">
                  <c:v>332</c:v>
                </c:pt>
                <c:pt idx="4" formatCode="0%">
                  <c:v>1.0829500603451088E-2</c:v>
                </c:pt>
                <c:pt idx="5">
                  <c:v>1</c:v>
                </c:pt>
                <c:pt idx="6" formatCode="0%">
                  <c:v>3.2977179791584222E-5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CD-4B86-86D0-E9977AB9C999}"/>
            </c:ext>
          </c:extLst>
        </c:ser>
        <c:ser>
          <c:idx val="2"/>
          <c:order val="2"/>
          <c:tx>
            <c:strRef>
              <c:f>HGJM!$C$27</c:f>
              <c:strCache>
                <c:ptCount val="1"/>
                <c:pt idx="0">
                  <c:v>CS Xipamanine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HGJM!$D$24:$J$24</c:f>
              <c:strCache>
                <c:ptCount val="7"/>
                <c:pt idx="0">
                  <c:v>Nº total de Atendimentos no BS (1 Semestre 2026)</c:v>
                </c:pt>
                <c:pt idx="1">
                  <c:v>Nº de Altas</c:v>
                </c:pt>
                <c:pt idx="2">
                  <c:v>% de Altas</c:v>
                </c:pt>
                <c:pt idx="3">
                  <c:v> Nº de Transferência (para HGJM)</c:v>
                </c:pt>
                <c:pt idx="4">
                  <c:v>% de Transferencias para HGJM</c:v>
                </c:pt>
                <c:pt idx="5">
                  <c:v>Nº de Óbito</c:v>
                </c:pt>
                <c:pt idx="6">
                  <c:v>% de Óbitos</c:v>
                </c:pt>
              </c:strCache>
            </c:strRef>
          </c:cat>
          <c:val>
            <c:numRef>
              <c:f>HGJM!$D$27:$J$27</c:f>
              <c:numCache>
                <c:formatCode>General</c:formatCode>
                <c:ptCount val="7"/>
                <c:pt idx="0">
                  <c:v>8869</c:v>
                </c:pt>
                <c:pt idx="1">
                  <c:v>8702</c:v>
                </c:pt>
                <c:pt idx="2" formatCode="0%">
                  <c:v>0.98117036869996621</c:v>
                </c:pt>
                <c:pt idx="3">
                  <c:v>166</c:v>
                </c:pt>
                <c:pt idx="4" formatCode="0%">
                  <c:v>1.8716879016800091E-2</c:v>
                </c:pt>
                <c:pt idx="5">
                  <c:v>1</c:v>
                </c:pt>
                <c:pt idx="6" formatCode="0.00%">
                  <c:v>1.1491611123879568E-4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CD-4B86-86D0-E9977AB9C999}"/>
            </c:ext>
          </c:extLst>
        </c:ser>
        <c:ser>
          <c:idx val="3"/>
          <c:order val="3"/>
          <c:tx>
            <c:strRef>
              <c:f>HGJM!$C$28</c:f>
              <c:strCache>
                <c:ptCount val="1"/>
                <c:pt idx="0">
                  <c:v>CS Catembe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HGJM!$D$24:$J$24</c:f>
              <c:strCache>
                <c:ptCount val="7"/>
                <c:pt idx="0">
                  <c:v>Nº total de Atendimentos no BS (1 Semestre 2026)</c:v>
                </c:pt>
                <c:pt idx="1">
                  <c:v>Nº de Altas</c:v>
                </c:pt>
                <c:pt idx="2">
                  <c:v>% de Altas</c:v>
                </c:pt>
                <c:pt idx="3">
                  <c:v> Nº de Transferência (para HGJM)</c:v>
                </c:pt>
                <c:pt idx="4">
                  <c:v>% de Transferencias para HGJM</c:v>
                </c:pt>
                <c:pt idx="5">
                  <c:v>Nº de Óbito</c:v>
                </c:pt>
                <c:pt idx="6">
                  <c:v>% de Óbitos</c:v>
                </c:pt>
              </c:strCache>
            </c:strRef>
          </c:cat>
          <c:val>
            <c:numRef>
              <c:f>HGJM!$D$28:$J$28</c:f>
              <c:numCache>
                <c:formatCode>General</c:formatCode>
                <c:ptCount val="7"/>
                <c:pt idx="0">
                  <c:v>870</c:v>
                </c:pt>
                <c:pt idx="1">
                  <c:v>648</c:v>
                </c:pt>
                <c:pt idx="2" formatCode="0%">
                  <c:v>0.7448275862068966</c:v>
                </c:pt>
                <c:pt idx="3">
                  <c:v>220</c:v>
                </c:pt>
                <c:pt idx="4" formatCode="0%">
                  <c:v>0.25287356321839083</c:v>
                </c:pt>
                <c:pt idx="5">
                  <c:v>2</c:v>
                </c:pt>
                <c:pt idx="6" formatCode="0.0%">
                  <c:v>3.0864197530864196E-3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CD-4B86-86D0-E9977AB9C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319232"/>
        <c:axId val="60320768"/>
      </c:barChart>
      <c:catAx>
        <c:axId val="6031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60320768"/>
        <c:crosses val="autoZero"/>
        <c:auto val="1"/>
        <c:lblAlgn val="ctr"/>
        <c:lblOffset val="100"/>
        <c:noMultiLvlLbl val="0"/>
      </c:catAx>
      <c:valAx>
        <c:axId val="60320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 sz="1000" b="0"/>
            </a:pPr>
            <a:endParaRPr lang="en-US"/>
          </a:p>
        </c:txPr>
        <c:crossAx val="60319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4633613927685746E-2"/>
          <c:y val="0.13878650419308924"/>
          <c:w val="0.97026434593921129"/>
          <c:h val="0.719309174505847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HGJM!$D$39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Lbl>
              <c:idx val="4"/>
              <c:layout>
                <c:manualLayout>
                  <c:x val="1.1206643086242442E-3"/>
                  <c:y val="2.44708468396672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D11-4CE0-BB2A-1563D42522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HGJM!$C$40:$C$51</c:f>
              <c:strCache>
                <c:ptCount val="12"/>
                <c:pt idx="0">
                  <c:v>CS Bagamoio </c:v>
                </c:pt>
                <c:pt idx="1">
                  <c:v>CS Ingagoia</c:v>
                </c:pt>
                <c:pt idx="2">
                  <c:v>CS Magoanine</c:v>
                </c:pt>
                <c:pt idx="3">
                  <c:v>CS Magoanite Tenda</c:v>
                </c:pt>
                <c:pt idx="4">
                  <c:v>CS Zimpeto</c:v>
                </c:pt>
                <c:pt idx="5">
                  <c:v>CS Xipamanine</c:v>
                </c:pt>
                <c:pt idx="6">
                  <c:v>CS Jose Macamo</c:v>
                </c:pt>
                <c:pt idx="7">
                  <c:v>CS Chamanculo</c:v>
                </c:pt>
                <c:pt idx="8">
                  <c:v>CS Catembe</c:v>
                </c:pt>
                <c:pt idx="9">
                  <c:v>CS Chamissava</c:v>
                </c:pt>
                <c:pt idx="10">
                  <c:v>CS Incassane</c:v>
                </c:pt>
                <c:pt idx="11">
                  <c:v>CS Mutsekua</c:v>
                </c:pt>
              </c:strCache>
            </c:strRef>
          </c:cat>
          <c:val>
            <c:numRef>
              <c:f>HGJM!$D$40:$D$51</c:f>
              <c:numCache>
                <c:formatCode>General</c:formatCode>
                <c:ptCount val="12"/>
                <c:pt idx="0">
                  <c:v>43688</c:v>
                </c:pt>
                <c:pt idx="1">
                  <c:v>10236</c:v>
                </c:pt>
                <c:pt idx="2">
                  <c:v>13488</c:v>
                </c:pt>
                <c:pt idx="3">
                  <c:v>19036</c:v>
                </c:pt>
                <c:pt idx="4">
                  <c:v>62535</c:v>
                </c:pt>
                <c:pt idx="5">
                  <c:v>17269</c:v>
                </c:pt>
                <c:pt idx="6">
                  <c:v>52624</c:v>
                </c:pt>
                <c:pt idx="7">
                  <c:v>18741</c:v>
                </c:pt>
                <c:pt idx="8">
                  <c:v>8383</c:v>
                </c:pt>
                <c:pt idx="9">
                  <c:v>4356</c:v>
                </c:pt>
                <c:pt idx="10">
                  <c:v>5385</c:v>
                </c:pt>
                <c:pt idx="11">
                  <c:v>762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73-4C6C-87E5-E3905F1E213E}"/>
            </c:ext>
          </c:extLst>
        </c:ser>
        <c:ser>
          <c:idx val="1"/>
          <c:order val="1"/>
          <c:tx>
            <c:strRef>
              <c:f>HGJM!$E$39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dLbl>
              <c:idx val="4"/>
              <c:layout>
                <c:manualLayout>
                  <c:x val="0"/>
                  <c:y val="4.8941693679334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11-4CE0-BB2A-1563D42522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HGJM!$C$40:$C$51</c:f>
              <c:strCache>
                <c:ptCount val="12"/>
                <c:pt idx="0">
                  <c:v>CS Bagamoio </c:v>
                </c:pt>
                <c:pt idx="1">
                  <c:v>CS Ingagoia</c:v>
                </c:pt>
                <c:pt idx="2">
                  <c:v>CS Magoanine</c:v>
                </c:pt>
                <c:pt idx="3">
                  <c:v>CS Magoanite Tenda</c:v>
                </c:pt>
                <c:pt idx="4">
                  <c:v>CS Zimpeto</c:v>
                </c:pt>
                <c:pt idx="5">
                  <c:v>CS Xipamanine</c:v>
                </c:pt>
                <c:pt idx="6">
                  <c:v>CS Jose Macamo</c:v>
                </c:pt>
                <c:pt idx="7">
                  <c:v>CS Chamanculo</c:v>
                </c:pt>
                <c:pt idx="8">
                  <c:v>CS Catembe</c:v>
                </c:pt>
                <c:pt idx="9">
                  <c:v>CS Chamissava</c:v>
                </c:pt>
                <c:pt idx="10">
                  <c:v>CS Incassane</c:v>
                </c:pt>
                <c:pt idx="11">
                  <c:v>CS Mutsekua</c:v>
                </c:pt>
              </c:strCache>
            </c:strRef>
          </c:cat>
          <c:val>
            <c:numRef>
              <c:f>HGJM!$E$40:$E$51</c:f>
              <c:numCache>
                <c:formatCode>General</c:formatCode>
                <c:ptCount val="12"/>
                <c:pt idx="0">
                  <c:v>37469</c:v>
                </c:pt>
                <c:pt idx="1">
                  <c:v>23217</c:v>
                </c:pt>
                <c:pt idx="2">
                  <c:v>15822</c:v>
                </c:pt>
                <c:pt idx="3">
                  <c:v>15275</c:v>
                </c:pt>
                <c:pt idx="4">
                  <c:v>64545</c:v>
                </c:pt>
                <c:pt idx="5">
                  <c:v>32519</c:v>
                </c:pt>
                <c:pt idx="6">
                  <c:v>76953</c:v>
                </c:pt>
                <c:pt idx="7">
                  <c:v>21366</c:v>
                </c:pt>
                <c:pt idx="8">
                  <c:v>8536</c:v>
                </c:pt>
                <c:pt idx="9">
                  <c:v>4221</c:v>
                </c:pt>
                <c:pt idx="10">
                  <c:v>5471</c:v>
                </c:pt>
                <c:pt idx="11">
                  <c:v>1309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73-4C6C-87E5-E3905F1E213E}"/>
            </c:ext>
          </c:extLst>
        </c:ser>
        <c:ser>
          <c:idx val="2"/>
          <c:order val="2"/>
          <c:tx>
            <c:strRef>
              <c:f>HGJM!$F$39</c:f>
              <c:strCache>
                <c:ptCount val="1"/>
                <c:pt idx="0">
                  <c:v>Evolução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Lbls>
            <c:dLbl>
              <c:idx val="0"/>
              <c:layout>
                <c:manualLayout>
                  <c:x val="2.2413286172484784E-3"/>
                  <c:y val="5.13887783633012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D11-4CE0-BB2A-1563D4252240}"/>
                </c:ext>
              </c:extLst>
            </c:dLbl>
            <c:dLbl>
              <c:idx val="1"/>
              <c:layout>
                <c:manualLayout>
                  <c:x val="4.48265723449697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D11-4CE0-BB2A-1563D4252240}"/>
                </c:ext>
              </c:extLst>
            </c:dLbl>
            <c:dLbl>
              <c:idx val="2"/>
              <c:layout>
                <c:manualLayout>
                  <c:x val="2.2413286172484883E-3"/>
                  <c:y val="7.34125405190016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D11-4CE0-BB2A-1563D4252240}"/>
                </c:ext>
              </c:extLst>
            </c:dLbl>
            <c:dLbl>
              <c:idx val="3"/>
              <c:layout>
                <c:manualLayout>
                  <c:x val="4.4826572344969767E-3"/>
                  <c:y val="5.13887783633011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11-4CE0-BB2A-1563D4252240}"/>
                </c:ext>
              </c:extLst>
            </c:dLbl>
            <c:dLbl>
              <c:idx val="9"/>
              <c:layout>
                <c:manualLayout>
                  <c:x val="3.3619929258727329E-3"/>
                  <c:y val="5.13887783633012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D11-4CE0-BB2A-1563D42522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HGJM!$C$40:$C$51</c:f>
              <c:strCache>
                <c:ptCount val="12"/>
                <c:pt idx="0">
                  <c:v>CS Bagamoio </c:v>
                </c:pt>
                <c:pt idx="1">
                  <c:v>CS Ingagoia</c:v>
                </c:pt>
                <c:pt idx="2">
                  <c:v>CS Magoanine</c:v>
                </c:pt>
                <c:pt idx="3">
                  <c:v>CS Magoanite Tenda</c:v>
                </c:pt>
                <c:pt idx="4">
                  <c:v>CS Zimpeto</c:v>
                </c:pt>
                <c:pt idx="5">
                  <c:v>CS Xipamanine</c:v>
                </c:pt>
                <c:pt idx="6">
                  <c:v>CS Jose Macamo</c:v>
                </c:pt>
                <c:pt idx="7">
                  <c:v>CS Chamanculo</c:v>
                </c:pt>
                <c:pt idx="8">
                  <c:v>CS Catembe</c:v>
                </c:pt>
                <c:pt idx="9">
                  <c:v>CS Chamissava</c:v>
                </c:pt>
                <c:pt idx="10">
                  <c:v>CS Incassane</c:v>
                </c:pt>
                <c:pt idx="11">
                  <c:v>CS Mutsekua</c:v>
                </c:pt>
              </c:strCache>
            </c:strRef>
          </c:cat>
          <c:val>
            <c:numRef>
              <c:f>HGJM!$F$40:$F$51</c:f>
              <c:numCache>
                <c:formatCode>0%</c:formatCode>
                <c:ptCount val="12"/>
                <c:pt idx="0">
                  <c:v>-0.14235030214246475</c:v>
                </c:pt>
                <c:pt idx="1">
                  <c:v>1.2681711606096131</c:v>
                </c:pt>
                <c:pt idx="2">
                  <c:v>0.17304270462633453</c:v>
                </c:pt>
                <c:pt idx="3">
                  <c:v>-0.19757301954192058</c:v>
                </c:pt>
                <c:pt idx="4">
                  <c:v>3.2142000479731349E-2</c:v>
                </c:pt>
                <c:pt idx="5">
                  <c:v>0.8830852973536395</c:v>
                </c:pt>
                <c:pt idx="6">
                  <c:v>0.46231757373061722</c:v>
                </c:pt>
                <c:pt idx="7">
                  <c:v>0.14006723227149032</c:v>
                </c:pt>
                <c:pt idx="8">
                  <c:v>1.8251222712632711E-2</c:v>
                </c:pt>
                <c:pt idx="9">
                  <c:v>-3.0991735537190084E-2</c:v>
                </c:pt>
                <c:pt idx="10">
                  <c:v>1.5970287836583101E-2</c:v>
                </c:pt>
                <c:pt idx="11">
                  <c:v>0.71784776902887137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73-4C6C-87E5-E3905F1E2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669376"/>
        <c:axId val="61670912"/>
      </c:barChart>
      <c:catAx>
        <c:axId val="61669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61670912"/>
        <c:crosses val="autoZero"/>
        <c:auto val="1"/>
        <c:lblAlgn val="ctr"/>
        <c:lblOffset val="100"/>
        <c:noMultiLvlLbl val="0"/>
      </c:catAx>
      <c:valAx>
        <c:axId val="616709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61669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100" b="1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HGJM!$C$72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HGJM!$D$71:$H$71</c:f>
              <c:strCache>
                <c:ptCount val="5"/>
                <c:pt idx="0">
                  <c:v>Nº de atendimentos</c:v>
                </c:pt>
                <c:pt idx="1">
                  <c:v>Internados  </c:v>
                </c:pt>
                <c:pt idx="2">
                  <c:v>Altas </c:v>
                </c:pt>
                <c:pt idx="3">
                  <c:v>Obitos  </c:v>
                </c:pt>
                <c:pt idx="4">
                  <c:v>Transferidos para HCM</c:v>
                </c:pt>
              </c:strCache>
            </c:strRef>
          </c:cat>
          <c:val>
            <c:numRef>
              <c:f>HGJM!$D$72:$H$72</c:f>
              <c:numCache>
                <c:formatCode>#,##0</c:formatCode>
                <c:ptCount val="5"/>
                <c:pt idx="0">
                  <c:v>31809</c:v>
                </c:pt>
                <c:pt idx="1">
                  <c:v>6050</c:v>
                </c:pt>
                <c:pt idx="2">
                  <c:v>30864</c:v>
                </c:pt>
                <c:pt idx="3">
                  <c:v>73</c:v>
                </c:pt>
                <c:pt idx="4">
                  <c:v>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4A-4204-AB43-29A64D25BF67}"/>
            </c:ext>
          </c:extLst>
        </c:ser>
        <c:ser>
          <c:idx val="1"/>
          <c:order val="1"/>
          <c:tx>
            <c:strRef>
              <c:f>HGJM!$C$73</c:f>
              <c:strCache>
                <c:ptCount val="1"/>
                <c:pt idx="0">
                  <c:v>2026</c:v>
                </c:pt>
              </c:strCache>
            </c:strRef>
          </c:tx>
          <c:spPr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HGJM!$D$71:$H$71</c:f>
              <c:strCache>
                <c:ptCount val="5"/>
                <c:pt idx="0">
                  <c:v>Nº de atendimentos</c:v>
                </c:pt>
                <c:pt idx="1">
                  <c:v>Internados  </c:v>
                </c:pt>
                <c:pt idx="2">
                  <c:v>Altas </c:v>
                </c:pt>
                <c:pt idx="3">
                  <c:v>Obitos  </c:v>
                </c:pt>
                <c:pt idx="4">
                  <c:v>Transferidos para HCM</c:v>
                </c:pt>
              </c:strCache>
            </c:strRef>
          </c:cat>
          <c:val>
            <c:numRef>
              <c:f>HGJM!$D$73:$H$73</c:f>
              <c:numCache>
                <c:formatCode>#,##0</c:formatCode>
                <c:ptCount val="5"/>
                <c:pt idx="0">
                  <c:v>49936</c:v>
                </c:pt>
                <c:pt idx="1">
                  <c:v>7652</c:v>
                </c:pt>
                <c:pt idx="2">
                  <c:v>48487</c:v>
                </c:pt>
                <c:pt idx="3">
                  <c:v>130</c:v>
                </c:pt>
                <c:pt idx="4">
                  <c:v>1319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F-CC47-A3D8-7C18157B70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5112960"/>
        <c:axId val="155114496"/>
      </c:barChart>
      <c:catAx>
        <c:axId val="15511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114496"/>
        <c:crosses val="autoZero"/>
        <c:auto val="1"/>
        <c:lblAlgn val="ctr"/>
        <c:lblOffset val="100"/>
        <c:noMultiLvlLbl val="0"/>
      </c:catAx>
      <c:valAx>
        <c:axId val="155114496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effectLst/>
        </c:spPr>
        <c:txPr>
          <a:bodyPr rot="-60000000" vert="horz"/>
          <a:lstStyle/>
          <a:p>
            <a:pPr>
              <a:defRPr sz="1000" b="0"/>
            </a:pPr>
            <a:endParaRPr lang="en-US"/>
          </a:p>
        </c:txPr>
        <c:crossAx val="155112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 b="1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HGJM!$D$85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6FC6">
                <a:lumMod val="60000"/>
                <a:lumOff val="40000"/>
              </a:srgbClr>
            </a:solidFill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HGJM!$C$86:$C$90</c:f>
              <c:strCache>
                <c:ptCount val="5"/>
                <c:pt idx="0">
                  <c:v>CS Zimpeto  (Pediatrico)</c:v>
                </c:pt>
                <c:pt idx="1">
                  <c:v>CS Bagamoio </c:v>
                </c:pt>
                <c:pt idx="2">
                  <c:v>CS Xipamanine </c:v>
                </c:pt>
                <c:pt idx="3">
                  <c:v>CS Catembe </c:v>
                </c:pt>
                <c:pt idx="4">
                  <c:v>Total</c:v>
                </c:pt>
              </c:strCache>
            </c:strRef>
          </c:cat>
          <c:val>
            <c:numRef>
              <c:f>HGJM!$D$86:$D$90</c:f>
              <c:numCache>
                <c:formatCode>General</c:formatCode>
                <c:ptCount val="5"/>
                <c:pt idx="0">
                  <c:v>186</c:v>
                </c:pt>
                <c:pt idx="1">
                  <c:v>310</c:v>
                </c:pt>
                <c:pt idx="2">
                  <c:v>98</c:v>
                </c:pt>
                <c:pt idx="3">
                  <c:v>176</c:v>
                </c:pt>
                <c:pt idx="4">
                  <c:v>770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BC-463F-91CD-C5FCB1328D32}"/>
            </c:ext>
          </c:extLst>
        </c:ser>
        <c:ser>
          <c:idx val="1"/>
          <c:order val="1"/>
          <c:tx>
            <c:strRef>
              <c:f>HGJM!$E$85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66D14"/>
            </a:solidFill>
            <a:scene3d>
              <a:camera prst="orthographicFront"/>
              <a:lightRig rig="threePt" dir="t"/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HGJM!$C$86:$C$90</c:f>
              <c:strCache>
                <c:ptCount val="5"/>
                <c:pt idx="0">
                  <c:v>CS Zimpeto  (Pediatrico)</c:v>
                </c:pt>
                <c:pt idx="1">
                  <c:v>CS Bagamoio </c:v>
                </c:pt>
                <c:pt idx="2">
                  <c:v>CS Xipamanine </c:v>
                </c:pt>
                <c:pt idx="3">
                  <c:v>CS Catembe </c:v>
                </c:pt>
                <c:pt idx="4">
                  <c:v>Total</c:v>
                </c:pt>
              </c:strCache>
            </c:strRef>
          </c:cat>
          <c:val>
            <c:numRef>
              <c:f>HGJM!$E$86:$E$90</c:f>
              <c:numCache>
                <c:formatCode>General</c:formatCode>
                <c:ptCount val="5"/>
                <c:pt idx="0">
                  <c:v>206</c:v>
                </c:pt>
                <c:pt idx="1">
                  <c:v>332</c:v>
                </c:pt>
                <c:pt idx="2">
                  <c:v>166</c:v>
                </c:pt>
                <c:pt idx="3">
                  <c:v>220</c:v>
                </c:pt>
                <c:pt idx="4">
                  <c:v>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C1-1C4C-A781-03B01ADF09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04819328"/>
        <c:axId val="104833408"/>
      </c:barChart>
      <c:catAx>
        <c:axId val="1048193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2000"/>
            </a:pPr>
            <a:endParaRPr lang="en-US"/>
          </a:p>
        </c:txPr>
        <c:crossAx val="104833408"/>
        <c:crosses val="autoZero"/>
        <c:auto val="1"/>
        <c:lblAlgn val="ctr"/>
        <c:lblOffset val="100"/>
        <c:noMultiLvlLbl val="0"/>
      </c:catAx>
      <c:valAx>
        <c:axId val="1048334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0481932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2400" b="1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8131629844538448E-2"/>
          <c:y val="2.7761130086416612E-2"/>
          <c:w val="0.93973087782393272"/>
          <c:h val="0.678233771388564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HGJM!$C$72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HGJM!$D$71:$J$71</c:f>
              <c:strCache>
                <c:ptCount val="7"/>
                <c:pt idx="0">
                  <c:v>Nº de atendimentos </c:v>
                </c:pt>
                <c:pt idx="1">
                  <c:v>Nº de Altas</c:v>
                </c:pt>
                <c:pt idx="2">
                  <c:v>% de Altas</c:v>
                </c:pt>
                <c:pt idx="3">
                  <c:v> Nº de Transferência para HCM</c:v>
                </c:pt>
                <c:pt idx="4">
                  <c:v>% de Transferencias para HCM</c:v>
                </c:pt>
                <c:pt idx="5">
                  <c:v>Nº de Óbito</c:v>
                </c:pt>
                <c:pt idx="6">
                  <c:v>% de Óbitos</c:v>
                </c:pt>
              </c:strCache>
            </c:strRef>
          </c:cat>
          <c:val>
            <c:numRef>
              <c:f>HGJM!$D$72:$J$72</c:f>
              <c:numCache>
                <c:formatCode>#,##0</c:formatCode>
                <c:ptCount val="7"/>
                <c:pt idx="0">
                  <c:v>18680</c:v>
                </c:pt>
                <c:pt idx="1">
                  <c:v>18034</c:v>
                </c:pt>
                <c:pt idx="2" formatCode="0%">
                  <c:v>0.9654175588865096</c:v>
                </c:pt>
                <c:pt idx="3">
                  <c:v>576</c:v>
                </c:pt>
                <c:pt idx="4" formatCode="0%">
                  <c:v>3.0835117773019272E-2</c:v>
                </c:pt>
                <c:pt idx="5">
                  <c:v>70</c:v>
                </c:pt>
                <c:pt idx="6" formatCode="0.0%">
                  <c:v>3.8815570588887657E-3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4A-4204-AB43-29A64D25BF67}"/>
            </c:ext>
          </c:extLst>
        </c:ser>
        <c:ser>
          <c:idx val="1"/>
          <c:order val="1"/>
          <c:tx>
            <c:strRef>
              <c:f>HGJM!$C$73</c:f>
              <c:strCache>
                <c:ptCount val="1"/>
                <c:pt idx="0">
                  <c:v>2026</c:v>
                </c:pt>
              </c:strCache>
            </c:strRef>
          </c:tx>
          <c:spPr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HGJM!$D$71:$J$71</c:f>
              <c:strCache>
                <c:ptCount val="7"/>
                <c:pt idx="0">
                  <c:v>Nº de atendimentos </c:v>
                </c:pt>
                <c:pt idx="1">
                  <c:v>Nº de Altas</c:v>
                </c:pt>
                <c:pt idx="2">
                  <c:v>% de Altas</c:v>
                </c:pt>
                <c:pt idx="3">
                  <c:v> Nº de Transferência para HCM</c:v>
                </c:pt>
                <c:pt idx="4">
                  <c:v>% de Transferencias para HCM</c:v>
                </c:pt>
                <c:pt idx="5">
                  <c:v>Nº de Óbito</c:v>
                </c:pt>
                <c:pt idx="6">
                  <c:v>% de Óbitos</c:v>
                </c:pt>
              </c:strCache>
            </c:strRef>
          </c:cat>
          <c:val>
            <c:numRef>
              <c:f>HGJM!$D$73:$J$73</c:f>
              <c:numCache>
                <c:formatCode>#,##0</c:formatCode>
                <c:ptCount val="7"/>
                <c:pt idx="0">
                  <c:v>20691</c:v>
                </c:pt>
                <c:pt idx="1">
                  <c:v>19390</c:v>
                </c:pt>
                <c:pt idx="2" formatCode="0%">
                  <c:v>0.9371224203760089</c:v>
                </c:pt>
                <c:pt idx="3">
                  <c:v>1180</c:v>
                </c:pt>
                <c:pt idx="4" formatCode="0%">
                  <c:v>5.7029626407616836E-2</c:v>
                </c:pt>
                <c:pt idx="5">
                  <c:v>121</c:v>
                </c:pt>
                <c:pt idx="6" formatCode="0.0%">
                  <c:v>6.2403300670448685E-3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63-264C-8768-BB48A490F6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5527424"/>
        <c:axId val="155553792"/>
      </c:barChart>
      <c:catAx>
        <c:axId val="15552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553792"/>
        <c:crosses val="autoZero"/>
        <c:auto val="1"/>
        <c:lblAlgn val="ctr"/>
        <c:lblOffset val="100"/>
        <c:noMultiLvlLbl val="0"/>
      </c:catAx>
      <c:valAx>
        <c:axId val="155553792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effectLst/>
        </c:spPr>
        <c:txPr>
          <a:bodyPr rot="-60000000" vert="horz"/>
          <a:lstStyle/>
          <a:p>
            <a:pPr>
              <a:defRPr sz="1000" b="0"/>
            </a:pPr>
            <a:endParaRPr lang="en-US"/>
          </a:p>
        </c:txPr>
        <c:crossAx val="155527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 b="1"/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4633613927685746E-2"/>
          <c:y val="0.13878650419308924"/>
          <c:w val="0.97026434593921129"/>
          <c:h val="0.719309174505847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HGJM!$D$39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dLbl>
              <c:idx val="4"/>
              <c:layout>
                <c:manualLayout>
                  <c:x val="1.1206643086242442E-3"/>
                  <c:y val="2.44708468396672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FAA-45F7-9866-9F8BB2C862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HGJM!$C$40:$C$46</c:f>
              <c:strCache>
                <c:ptCount val="7"/>
                <c:pt idx="0">
                  <c:v>Bercario</c:v>
                </c:pt>
                <c:pt idx="1">
                  <c:v>Pediatria</c:v>
                </c:pt>
                <c:pt idx="2">
                  <c:v>Medicina</c:v>
                </c:pt>
                <c:pt idx="3">
                  <c:v>Cirurgia</c:v>
                </c:pt>
                <c:pt idx="4">
                  <c:v>Ginecologia</c:v>
                </c:pt>
                <c:pt idx="5">
                  <c:v>Obstetricia</c:v>
                </c:pt>
                <c:pt idx="6">
                  <c:v>Geral</c:v>
                </c:pt>
              </c:strCache>
            </c:strRef>
          </c:cat>
          <c:val>
            <c:numRef>
              <c:f>HGJM!$D$40:$D$46</c:f>
              <c:numCache>
                <c:formatCode>0%</c:formatCode>
                <c:ptCount val="7"/>
                <c:pt idx="0">
                  <c:v>0.53</c:v>
                </c:pt>
                <c:pt idx="1">
                  <c:v>0.23</c:v>
                </c:pt>
                <c:pt idx="2">
                  <c:v>0</c:v>
                </c:pt>
                <c:pt idx="3">
                  <c:v>0.17</c:v>
                </c:pt>
                <c:pt idx="4">
                  <c:v>0.73</c:v>
                </c:pt>
                <c:pt idx="5">
                  <c:v>1.02</c:v>
                </c:pt>
                <c:pt idx="6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73-4C6C-87E5-E3905F1E213E}"/>
            </c:ext>
          </c:extLst>
        </c:ser>
        <c:ser>
          <c:idx val="1"/>
          <c:order val="1"/>
          <c:tx>
            <c:strRef>
              <c:f>HGJM!$E$39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dLbl>
              <c:idx val="4"/>
              <c:layout>
                <c:manualLayout>
                  <c:x val="0"/>
                  <c:y val="4.8941693679334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AA-45F7-9866-9F8BB2C862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HGJM!$C$40:$C$46</c:f>
              <c:strCache>
                <c:ptCount val="7"/>
                <c:pt idx="0">
                  <c:v>Bercario</c:v>
                </c:pt>
                <c:pt idx="1">
                  <c:v>Pediatria</c:v>
                </c:pt>
                <c:pt idx="2">
                  <c:v>Medicina</c:v>
                </c:pt>
                <c:pt idx="3">
                  <c:v>Cirurgia</c:v>
                </c:pt>
                <c:pt idx="4">
                  <c:v>Ginecologia</c:v>
                </c:pt>
                <c:pt idx="5">
                  <c:v>Obstetricia</c:v>
                </c:pt>
                <c:pt idx="6">
                  <c:v>Geral</c:v>
                </c:pt>
              </c:strCache>
            </c:strRef>
          </c:cat>
          <c:val>
            <c:numRef>
              <c:f>HGJM!$E$40:$E$46</c:f>
              <c:numCache>
                <c:formatCode>0%</c:formatCode>
                <c:ptCount val="7"/>
                <c:pt idx="0">
                  <c:v>0.81</c:v>
                </c:pt>
                <c:pt idx="1">
                  <c:v>0.36</c:v>
                </c:pt>
                <c:pt idx="2">
                  <c:v>0.54</c:v>
                </c:pt>
                <c:pt idx="3">
                  <c:v>0.48</c:v>
                </c:pt>
                <c:pt idx="4">
                  <c:v>0.76</c:v>
                </c:pt>
                <c:pt idx="5">
                  <c:v>1.08</c:v>
                </c:pt>
                <c:pt idx="6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73-4C6C-87E5-E3905F1E2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700224"/>
        <c:axId val="155706112"/>
      </c:barChart>
      <c:catAx>
        <c:axId val="15570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706112"/>
        <c:crosses val="autoZero"/>
        <c:auto val="1"/>
        <c:lblAlgn val="ctr"/>
        <c:lblOffset val="100"/>
        <c:noMultiLvlLbl val="0"/>
      </c:catAx>
      <c:valAx>
        <c:axId val="1557061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5700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100" b="1"/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4633613927685746E-2"/>
          <c:y val="0.13878650419308924"/>
          <c:w val="0.97026434593921129"/>
          <c:h val="0.719309174505847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HGJM!$D$39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dLbl>
              <c:idx val="4"/>
              <c:layout>
                <c:manualLayout>
                  <c:x val="1.1206643086242442E-3"/>
                  <c:y val="2.44708468396672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9F0-4FCB-AE7D-140A69ED05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HGJM!$C$40:$C$46</c:f>
              <c:strCache>
                <c:ptCount val="7"/>
                <c:pt idx="0">
                  <c:v>Bercario</c:v>
                </c:pt>
                <c:pt idx="1">
                  <c:v>Pediatria</c:v>
                </c:pt>
                <c:pt idx="2">
                  <c:v>Medicina</c:v>
                </c:pt>
                <c:pt idx="3">
                  <c:v>Cirurgia</c:v>
                </c:pt>
                <c:pt idx="4">
                  <c:v>Ginecologia</c:v>
                </c:pt>
                <c:pt idx="5">
                  <c:v>Obstetricia</c:v>
                </c:pt>
                <c:pt idx="6">
                  <c:v>Geral</c:v>
                </c:pt>
              </c:strCache>
            </c:strRef>
          </c:cat>
          <c:val>
            <c:numRef>
              <c:f>HGJM!$D$40:$D$46</c:f>
              <c:numCache>
                <c:formatCode>General</c:formatCode>
                <c:ptCount val="7"/>
                <c:pt idx="0">
                  <c:v>7</c:v>
                </c:pt>
                <c:pt idx="1">
                  <c:v>3</c:v>
                </c:pt>
                <c:pt idx="2">
                  <c:v>0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73-4C6C-87E5-E3905F1E213E}"/>
            </c:ext>
          </c:extLst>
        </c:ser>
        <c:ser>
          <c:idx val="1"/>
          <c:order val="1"/>
          <c:tx>
            <c:strRef>
              <c:f>HGJM!$E$39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cene3d>
              <a:camera prst="orthographicFront"/>
              <a:lightRig rig="harsh" dir="t">
                <a:rot lat="0" lon="0" rev="3000000"/>
              </a:lightRig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dLbl>
              <c:idx val="4"/>
              <c:layout>
                <c:manualLayout>
                  <c:x val="0"/>
                  <c:y val="4.8941693679334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9F0-4FCB-AE7D-140A69ED05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HGJM!$C$40:$C$46</c:f>
              <c:strCache>
                <c:ptCount val="7"/>
                <c:pt idx="0">
                  <c:v>Bercario</c:v>
                </c:pt>
                <c:pt idx="1">
                  <c:v>Pediatria</c:v>
                </c:pt>
                <c:pt idx="2">
                  <c:v>Medicina</c:v>
                </c:pt>
                <c:pt idx="3">
                  <c:v>Cirurgia</c:v>
                </c:pt>
                <c:pt idx="4">
                  <c:v>Ginecologia</c:v>
                </c:pt>
                <c:pt idx="5">
                  <c:v>Obstetricia</c:v>
                </c:pt>
                <c:pt idx="6">
                  <c:v>Geral</c:v>
                </c:pt>
              </c:strCache>
            </c:strRef>
          </c:cat>
          <c:val>
            <c:numRef>
              <c:f>HGJM!$E$40:$E$46</c:f>
              <c:numCache>
                <c:formatCode>General</c:formatCode>
                <c:ptCount val="7"/>
                <c:pt idx="0">
                  <c:v>7</c:v>
                </c:pt>
                <c:pt idx="1">
                  <c:v>4</c:v>
                </c:pt>
                <c:pt idx="2">
                  <c:v>5</c:v>
                </c:pt>
                <c:pt idx="3">
                  <c:v>8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73-4C6C-87E5-E3905F1E2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328896"/>
        <c:axId val="155330432"/>
      </c:barChart>
      <c:catAx>
        <c:axId val="15532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5330432"/>
        <c:crosses val="autoZero"/>
        <c:auto val="1"/>
        <c:lblAlgn val="ctr"/>
        <c:lblOffset val="100"/>
        <c:noMultiLvlLbl val="0"/>
      </c:catAx>
      <c:valAx>
        <c:axId val="1553304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5328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100" b="1"/>
      </a:pPr>
      <a:endParaRPr lang="en-US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FC6F4B-9725-4004-9682-6B7773E9FACA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AE2599-B168-4E01-A12B-62564786D104}">
      <dgm:prSet phldrT="[Text]" custT="1"/>
      <dgm:spPr>
        <a:solidFill>
          <a:srgbClr val="00B050"/>
        </a:solidFill>
      </dgm:spPr>
      <dgm:t>
        <a:bodyPr/>
        <a:lstStyle/>
        <a:p>
          <a:pPr algn="l"/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Popula</a:t>
          </a:r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ção</a:t>
          </a:r>
          <a:endParaRPr lang="en-US" sz="2400" b="1" dirty="0">
            <a:solidFill>
              <a:schemeClr val="bg1"/>
            </a:solidFill>
            <a:effectLst/>
            <a:latin typeface="Garamond" panose="02020404030301010803" pitchFamily="18" charset="0"/>
          </a:endParaRPr>
        </a:p>
      </dgm:t>
    </dgm:pt>
    <dgm:pt modelId="{1D98E718-80DD-4C87-ADAE-2FE2057BC302}" type="parTrans" cxnId="{E5EFDCE8-9C1D-420E-AA5C-9B87A42CDE3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C5B641CA-B374-4330-ACC9-11E65D75DA38}" type="sibTrans" cxnId="{E5EFDCE8-9C1D-420E-AA5C-9B87A42CDE3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01823134-6E01-4E0A-9E3C-05BD10505644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Área</a:t>
          </a:r>
          <a:r>
            <a:rPr lang="en-US" sz="2000" b="1" dirty="0">
              <a:solidFill>
                <a:srgbClr val="000000"/>
              </a:solidFill>
              <a:effectLst/>
              <a:latin typeface="Trebuchet MS" pitchFamily="34" charset="0"/>
              <a:cs typeface="Times New Roman"/>
            </a:rPr>
            <a:t> </a:t>
          </a:r>
          <a:endParaRPr lang="en-US" sz="2000" b="1" dirty="0">
            <a:solidFill>
              <a:srgbClr val="000000"/>
            </a:solidFill>
            <a:effectLst/>
            <a:latin typeface="Trebuchet MS" pitchFamily="34" charset="0"/>
          </a:endParaRPr>
        </a:p>
      </dgm:t>
    </dgm:pt>
    <dgm:pt modelId="{CDF0020B-98CD-444B-AF93-15B46F71BCE0}" type="parTrans" cxnId="{C8A0F796-83D9-498A-8B6D-05FC0228B031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9FCDA6F5-0407-46CA-897D-C386ECB0DDBB}" type="sibTrans" cxnId="{C8A0F796-83D9-498A-8B6D-05FC0228B031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E720AADF-A7F1-40DD-A8D1-6F19D7121090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Rede </a:t>
          </a:r>
          <a:r>
            <a:rPr lang="en-US" sz="2000" b="1" dirty="0" err="1">
              <a:solidFill>
                <a:schemeClr val="bg1"/>
              </a:solidFill>
              <a:effectLst/>
              <a:latin typeface="Garamond" panose="02020404030301010803" pitchFamily="18" charset="0"/>
            </a:rPr>
            <a:t>Sanit</a:t>
          </a:r>
          <a:r>
            <a:rPr lang="en-US" sz="2000" b="1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ária</a:t>
          </a:r>
          <a:r>
            <a:rPr lang="en-US" sz="20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: (11) 1 Hospital e 10 </a:t>
          </a:r>
          <a:r>
            <a:rPr lang="en-US" sz="2000" b="1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Centros</a:t>
          </a:r>
          <a:r>
            <a:rPr lang="en-US" sz="20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 de </a:t>
          </a:r>
          <a:r>
            <a:rPr lang="en-US" sz="2000" b="1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Saúde</a:t>
          </a:r>
          <a:r>
            <a:rPr lang="en-US" sz="20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 </a:t>
          </a:r>
          <a:endParaRPr lang="en-US" sz="2000" b="1" dirty="0">
            <a:solidFill>
              <a:schemeClr val="bg1"/>
            </a:solidFill>
            <a:effectLst/>
            <a:latin typeface="Garamond" panose="02020404030301010803" pitchFamily="18" charset="0"/>
          </a:endParaRPr>
        </a:p>
      </dgm:t>
    </dgm:pt>
    <dgm:pt modelId="{F545D2AE-9BDF-4808-AB00-111CB8A007B6}" type="parTrans" cxnId="{A95B18D8-03BA-4C40-8701-00797A1A3C74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5F29FCB8-C301-4627-A70B-2CEF8A13F4F4}" type="sibTrans" cxnId="{A95B18D8-03BA-4C40-8701-00797A1A3C74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7DB37F08-B55B-4B14-9054-25AE19E01F76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Limites</a:t>
          </a:r>
        </a:p>
      </dgm:t>
    </dgm:pt>
    <dgm:pt modelId="{5892A4F1-5050-48DC-85DD-3E10CF74EAD8}" type="parTrans" cxnId="{D7E7CF2B-841E-4410-8C5B-386ACB125C56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00C93A2A-86C3-4E0E-88C0-1FE67CF5A05F}" type="sibTrans" cxnId="{D7E7CF2B-841E-4410-8C5B-386ACB125C56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D91C02A0-A28E-487F-A31C-FC348B1CEEE8}">
      <dgm:prSet custT="1"/>
      <dgm:spPr/>
      <dgm:t>
        <a:bodyPr/>
        <a:lstStyle/>
        <a:p>
          <a:pPr rtl="0"/>
          <a:r>
            <a:rPr lang="pt-PT" sz="2000" b="1" dirty="0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412.092Habitantes, (Censo 2017)</a:t>
          </a:r>
          <a:endParaRPr lang="en-US" sz="2000" b="1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013DDEEE-D9FB-4755-8101-C7C7459CF8D9}" type="parTrans" cxnId="{4C35A71B-4110-4C24-8463-0F915543422A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C739D63E-AD9B-46D6-AF4A-308DC85887A5}" type="sibTrans" cxnId="{4C35A71B-4110-4C24-8463-0F915543422A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746D007C-6498-44C8-A4BC-FD50CBF31C93}">
      <dgm:prSet custT="1"/>
      <dgm:spPr/>
      <dgm:t>
        <a:bodyPr/>
        <a:lstStyle/>
        <a:p>
          <a:pPr algn="just" rtl="0"/>
          <a:r>
            <a:rPr lang="en-US" sz="1800" b="1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Norte: 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Distrito de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Marracuene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Localidade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de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Michafutene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10EC8EE8-3187-4566-B2CD-BDC7181C4A0B}" type="parTrans" cxnId="{400021B7-D449-4A60-B681-6D04999D79A6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9652945A-5353-4AFB-AA35-099516CC5025}" type="sibTrans" cxnId="{400021B7-D449-4A60-B681-6D04999D79A6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50D9C742-E6F5-407A-8A0F-7B6A4BC5D4EB}">
      <dgm:prSet custT="1"/>
      <dgm:spPr/>
      <dgm:t>
        <a:bodyPr/>
        <a:lstStyle/>
        <a:p>
          <a:pPr algn="just"/>
          <a:r>
            <a:rPr lang="pt-PT" sz="1800" b="1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Sul: Distrito de Matutuine – 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Bela vista e Baia de Maputo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E2AE6593-ADF3-468B-A693-7EE72D6DE956}" type="parTrans" cxnId="{EB40ECD4-CFF2-425D-B40F-73BCF1028FD1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BD87D1BA-AFBF-4E38-8424-112A0FBE56FE}" type="sibTrans" cxnId="{EB40ECD4-CFF2-425D-B40F-73BCF1028FD1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B98D8770-3CB9-4B97-BBB6-A5B715E97E3F}">
      <dgm:prSet custT="1"/>
      <dgm:spPr/>
      <dgm:t>
        <a:bodyPr/>
        <a:lstStyle/>
        <a:p>
          <a:pPr algn="just" rtl="0"/>
          <a:r>
            <a:rPr lang="pt-PT" sz="2000" b="1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Respons</a:t>
          </a:r>
          <a:r>
            <a:rPr lang="pt-PT" sz="20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ável pelos Distritos </a:t>
          </a:r>
          <a:r>
            <a:rPr lang="pt-PT" sz="2000" b="1" dirty="0">
              <a:solidFill>
                <a:srgbClr val="000000"/>
              </a:solidFill>
              <a:latin typeface="Garamond" panose="02020404030301010803" pitchFamily="18" charset="0"/>
            </a:rPr>
            <a:t>Urbanos Nlhamanculo, Kamubukwane e Ka Tembe</a:t>
          </a:r>
          <a:endParaRPr lang="en-US" sz="2000" b="1" dirty="0">
            <a:solidFill>
              <a:schemeClr val="tx1"/>
            </a:solidFill>
            <a:effectLst/>
            <a:latin typeface="Garamond" panose="02020404030301010803" pitchFamily="18" charset="0"/>
          </a:endParaRPr>
        </a:p>
      </dgm:t>
    </dgm:pt>
    <dgm:pt modelId="{F6C8B8AB-BE96-42A4-9732-3B05159D33D5}" type="parTrans" cxnId="{53872671-6C63-4C3C-9323-1AA9F2096AE3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E298ACBC-BDCD-46FF-95EF-0EE8171A0CC4}" type="sibTrans" cxnId="{53872671-6C63-4C3C-9323-1AA9F2096AE3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A576E861-95E2-409B-896E-4657097FA894}">
      <dgm:prSet custT="1"/>
      <dgm:spPr/>
      <dgm:t>
        <a:bodyPr/>
        <a:lstStyle/>
        <a:p>
          <a:pPr rtl="0"/>
          <a:endParaRPr lang="en-US" sz="1400" b="1" dirty="0">
            <a:solidFill>
              <a:srgbClr val="000000"/>
            </a:solidFill>
            <a:effectLst/>
            <a:latin typeface="Garamond" pitchFamily="18" charset="0"/>
          </a:endParaRPr>
        </a:p>
      </dgm:t>
    </dgm:pt>
    <dgm:pt modelId="{9EACF331-AD7F-43F5-A85A-B4FAB5893181}" type="parTrans" cxnId="{C9820A91-A76B-4121-9A8F-C2259A3D828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C585A3E5-B2B7-4FCE-A3E0-84167A432DAA}" type="sibTrans" cxnId="{C9820A91-A76B-4121-9A8F-C2259A3D828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612F64B2-1B30-4830-A46D-EC9F9A763BE8}">
      <dgm:prSet custT="1"/>
      <dgm:spPr/>
      <dgm:t>
        <a:bodyPr/>
        <a:lstStyle/>
        <a:p>
          <a:pPr algn="just"/>
          <a:r>
            <a:rPr lang="pt-PT" sz="1800" b="1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Oeste: 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Vale do Infulene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F4C481F5-2253-48A0-96F2-74C7B1C080CF}" type="parTrans" cxnId="{7DF78920-058C-410D-82D7-D7D831AD46F5}">
      <dgm:prSet/>
      <dgm:spPr/>
      <dgm:t>
        <a:bodyPr/>
        <a:lstStyle/>
        <a:p>
          <a:endParaRPr lang="en-US">
            <a:solidFill>
              <a:schemeClr val="tx1"/>
            </a:solidFill>
            <a:effectLst/>
          </a:endParaRPr>
        </a:p>
      </dgm:t>
    </dgm:pt>
    <dgm:pt modelId="{618C51CC-97B4-47A0-B7D3-B65214815FC9}" type="sibTrans" cxnId="{7DF78920-058C-410D-82D7-D7D831AD46F5}">
      <dgm:prSet/>
      <dgm:spPr/>
      <dgm:t>
        <a:bodyPr/>
        <a:lstStyle/>
        <a:p>
          <a:endParaRPr lang="en-US">
            <a:solidFill>
              <a:schemeClr val="tx1"/>
            </a:solidFill>
            <a:effectLst/>
          </a:endParaRPr>
        </a:p>
      </dgm:t>
    </dgm:pt>
    <dgm:pt modelId="{32A90E3B-96A1-43A9-8791-B80D9C15AED4}">
      <dgm:prSet custT="1"/>
      <dgm:spPr/>
      <dgm:t>
        <a:bodyPr/>
        <a:lstStyle/>
        <a:p>
          <a:pPr algn="l"/>
          <a:endParaRPr lang="en-US" sz="1400" b="1" dirty="0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A5712AFF-DE66-4681-B1C1-6E32EA99F2D7}" type="parTrans" cxnId="{B2D21666-56E7-4F28-A1F3-A6C9352E9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0C02EB5-1292-49DC-A7A1-934FAFC27E6D}" type="sibTrans" cxnId="{B2D21666-56E7-4F28-A1F3-A6C9352E9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EA544D1-A564-4621-9188-32B7F9D17421}">
      <dgm:prSet custT="1"/>
      <dgm:spPr/>
      <dgm:t>
        <a:bodyPr/>
        <a:lstStyle/>
        <a:p>
          <a:pPr algn="just"/>
          <a:r>
            <a:rPr lang="en-US" sz="1800" b="1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Este: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Bairros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de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Chamanculo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Xipamanine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Distrito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KaMavota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AD6CDFD6-7CB7-4EAD-B6E4-13281FBF953A}" type="parTrans" cxnId="{4746C133-D123-4829-B30D-D9F5CDCFED73}">
      <dgm:prSet/>
      <dgm:spPr/>
      <dgm:t>
        <a:bodyPr/>
        <a:lstStyle/>
        <a:p>
          <a:endParaRPr lang="en-US"/>
        </a:p>
      </dgm:t>
    </dgm:pt>
    <dgm:pt modelId="{B5BA6580-9219-40BF-869D-EF35C50FA5D6}" type="sibTrans" cxnId="{4746C133-D123-4829-B30D-D9F5CDCFED73}">
      <dgm:prSet/>
      <dgm:spPr/>
      <dgm:t>
        <a:bodyPr/>
        <a:lstStyle/>
        <a:p>
          <a:endParaRPr lang="en-US"/>
        </a:p>
      </dgm:t>
    </dgm:pt>
    <dgm:pt modelId="{F5FDCA0F-38F2-433F-9BCA-1EB85BF61709}">
      <dgm:prSet custT="1"/>
      <dgm:spPr/>
      <dgm:t>
        <a:bodyPr/>
        <a:lstStyle/>
        <a:p>
          <a:pPr rtl="0"/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HG. José Macamo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4EB4AB49-FE86-4DCA-8F1F-3A8CCCC617DD}" type="parTrans" cxnId="{E1C14428-F0C6-40B7-B244-34C150E1467E}">
      <dgm:prSet/>
      <dgm:spPr/>
      <dgm:t>
        <a:bodyPr/>
        <a:lstStyle/>
        <a:p>
          <a:endParaRPr lang="en-US"/>
        </a:p>
      </dgm:t>
    </dgm:pt>
    <dgm:pt modelId="{E905FAB3-57FB-4D2A-A976-8656BF8A3543}" type="sibTrans" cxnId="{E1C14428-F0C6-40B7-B244-34C150E1467E}">
      <dgm:prSet/>
      <dgm:spPr/>
      <dgm:t>
        <a:bodyPr/>
        <a:lstStyle/>
        <a:p>
          <a:endParaRPr lang="en-US"/>
        </a:p>
      </dgm:t>
    </dgm:pt>
    <dgm:pt modelId="{6DFA7AF0-DB06-4AD4-A669-34A045E138C6}">
      <dgm:prSet custT="1"/>
      <dgm:spPr/>
      <dgm:t>
        <a:bodyPr/>
        <a:lstStyle/>
        <a:p>
          <a:pPr rtl="0"/>
          <a:r>
            <a:rPr lang="pt-PT" sz="2000" b="1" dirty="0" err="1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Superficie</a:t>
          </a:r>
          <a:r>
            <a:rPr lang="pt-PT" sz="2000" b="1" dirty="0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 de 52 </a:t>
          </a:r>
          <a:r>
            <a:rPr lang="pt-PT" sz="2000" b="1" dirty="0" err="1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km²</a:t>
          </a:r>
          <a:endParaRPr lang="en-US" sz="2000" b="1" dirty="0">
            <a:solidFill>
              <a:srgbClr val="000000"/>
            </a:solidFill>
            <a:effectLst/>
            <a:latin typeface="Garamond" panose="02020404030301010803" pitchFamily="18" charset="0"/>
            <a:cs typeface="Arial" pitchFamily="34" charset="0"/>
          </a:endParaRPr>
        </a:p>
      </dgm:t>
    </dgm:pt>
    <dgm:pt modelId="{51C6150A-4C4C-45E0-B4D6-5D5AEF4CC08E}" type="parTrans" cxnId="{36FC7388-F5D5-49D2-977D-AD3297EB2566}">
      <dgm:prSet/>
      <dgm:spPr/>
      <dgm:t>
        <a:bodyPr/>
        <a:lstStyle/>
        <a:p>
          <a:endParaRPr lang="en-US"/>
        </a:p>
      </dgm:t>
    </dgm:pt>
    <dgm:pt modelId="{B49D9090-88D8-4D92-86A6-FED2E4E1FA28}" type="sibTrans" cxnId="{36FC7388-F5D5-49D2-977D-AD3297EB2566}">
      <dgm:prSet/>
      <dgm:spPr/>
      <dgm:t>
        <a:bodyPr/>
        <a:lstStyle/>
        <a:p>
          <a:endParaRPr lang="en-US"/>
        </a:p>
      </dgm:t>
    </dgm:pt>
    <dgm:pt modelId="{0F38DD82-BB1D-4927-AEB1-03DFDE2196D5}">
      <dgm:prSet custT="1"/>
      <dgm:spPr/>
      <dgm:t>
        <a:bodyPr/>
        <a:lstStyle/>
        <a:p>
          <a:pPr rtl="0"/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CS José Macamo,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Bagamoyo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Zimpeto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Magoanine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Magoanine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Tendas,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Inhagoia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Katembe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Incassane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Mutsécua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CS </a:t>
          </a:r>
          <a:r>
            <a:rPr lang="pt-PT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Chamissava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.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75A9B771-D45B-44E7-A2E4-23C26FDDDE35}" type="parTrans" cxnId="{C7D9C842-27FA-4B54-990B-F757CE6191AF}">
      <dgm:prSet/>
      <dgm:spPr/>
      <dgm:t>
        <a:bodyPr/>
        <a:lstStyle/>
        <a:p>
          <a:endParaRPr lang="pt-PT"/>
        </a:p>
      </dgm:t>
    </dgm:pt>
    <dgm:pt modelId="{13583BBA-FBA2-4293-8599-55E0D821480A}" type="sibTrans" cxnId="{C7D9C842-27FA-4B54-990B-F757CE6191AF}">
      <dgm:prSet/>
      <dgm:spPr/>
      <dgm:t>
        <a:bodyPr/>
        <a:lstStyle/>
        <a:p>
          <a:endParaRPr lang="pt-PT"/>
        </a:p>
      </dgm:t>
    </dgm:pt>
    <dgm:pt modelId="{54193438-D791-4F8E-847A-7B11321F136D}" type="pres">
      <dgm:prSet presAssocID="{67FC6F4B-9725-4004-9682-6B7773E9FACA}" presName="linear" presStyleCnt="0">
        <dgm:presLayoutVars>
          <dgm:dir/>
          <dgm:animLvl val="lvl"/>
          <dgm:resizeHandles val="exact"/>
        </dgm:presLayoutVars>
      </dgm:prSet>
      <dgm:spPr/>
    </dgm:pt>
    <dgm:pt modelId="{A610B688-0621-4001-B01D-3DF387A75B91}" type="pres">
      <dgm:prSet presAssocID="{8AAE2599-B168-4E01-A12B-62564786D104}" presName="parentLin" presStyleCnt="0"/>
      <dgm:spPr/>
    </dgm:pt>
    <dgm:pt modelId="{0DA049F8-EF9B-45CE-A07B-D243575CB5F4}" type="pres">
      <dgm:prSet presAssocID="{8AAE2599-B168-4E01-A12B-62564786D104}" presName="parentLeftMargin" presStyleLbl="node1" presStyleIdx="0" presStyleCnt="4"/>
      <dgm:spPr/>
    </dgm:pt>
    <dgm:pt modelId="{9C0D17F4-4164-4810-81D0-F77A2ED9E3B2}" type="pres">
      <dgm:prSet presAssocID="{8AAE2599-B168-4E01-A12B-62564786D104}" presName="parentText" presStyleLbl="node1" presStyleIdx="0" presStyleCnt="4" custScaleX="94286" custScaleY="195733" custLinFactNeighborX="-16735" custLinFactNeighborY="-98167">
        <dgm:presLayoutVars>
          <dgm:chMax val="0"/>
          <dgm:bulletEnabled val="1"/>
        </dgm:presLayoutVars>
      </dgm:prSet>
      <dgm:spPr/>
    </dgm:pt>
    <dgm:pt modelId="{93E00FDB-4CDC-4520-9D12-A067FAF25D28}" type="pres">
      <dgm:prSet presAssocID="{8AAE2599-B168-4E01-A12B-62564786D104}" presName="negativeSpace" presStyleCnt="0"/>
      <dgm:spPr/>
    </dgm:pt>
    <dgm:pt modelId="{5DEC277F-3FE4-43A5-B9A7-1190B3549ABA}" type="pres">
      <dgm:prSet presAssocID="{8AAE2599-B168-4E01-A12B-62564786D104}" presName="childText" presStyleLbl="conFgAcc1" presStyleIdx="0" presStyleCnt="4" custScaleY="78056" custLinFactNeighborX="-1408" custLinFactNeighborY="93062">
        <dgm:presLayoutVars>
          <dgm:bulletEnabled val="1"/>
        </dgm:presLayoutVars>
      </dgm:prSet>
      <dgm:spPr/>
    </dgm:pt>
    <dgm:pt modelId="{8D25F399-12EE-4E6F-AF2A-D97D6BC47DEA}" type="pres">
      <dgm:prSet presAssocID="{C5B641CA-B374-4330-ACC9-11E65D75DA38}" presName="spaceBetweenRectangles" presStyleCnt="0"/>
      <dgm:spPr/>
    </dgm:pt>
    <dgm:pt modelId="{8ED57CFA-E05C-40B6-867E-2BBA233F6C77}" type="pres">
      <dgm:prSet presAssocID="{7DB37F08-B55B-4B14-9054-25AE19E01F76}" presName="parentLin" presStyleCnt="0"/>
      <dgm:spPr/>
    </dgm:pt>
    <dgm:pt modelId="{2F3C6247-1F71-4F56-B396-43C33C15D759}" type="pres">
      <dgm:prSet presAssocID="{7DB37F08-B55B-4B14-9054-25AE19E01F76}" presName="parentLeftMargin" presStyleLbl="node1" presStyleIdx="0" presStyleCnt="4"/>
      <dgm:spPr/>
    </dgm:pt>
    <dgm:pt modelId="{5C3ED794-0ED4-4BC9-8EC5-6D8E029CCA45}" type="pres">
      <dgm:prSet presAssocID="{7DB37F08-B55B-4B14-9054-25AE19E01F76}" presName="parentText" presStyleLbl="node1" presStyleIdx="1" presStyleCnt="4" custScaleX="101240" custScaleY="209060" custLinFactNeighborX="-30766" custLinFactNeighborY="11228">
        <dgm:presLayoutVars>
          <dgm:chMax val="0"/>
          <dgm:bulletEnabled val="1"/>
        </dgm:presLayoutVars>
      </dgm:prSet>
      <dgm:spPr/>
    </dgm:pt>
    <dgm:pt modelId="{4051C454-3271-4B36-BF0F-38DAD1FD193C}" type="pres">
      <dgm:prSet presAssocID="{7DB37F08-B55B-4B14-9054-25AE19E01F76}" presName="negativeSpace" presStyleCnt="0"/>
      <dgm:spPr/>
    </dgm:pt>
    <dgm:pt modelId="{B0ED1D48-73A8-4006-BFF6-79A2046D30CC}" type="pres">
      <dgm:prSet presAssocID="{7DB37F08-B55B-4B14-9054-25AE19E01F76}" presName="childText" presStyleLbl="conFgAcc1" presStyleIdx="1" presStyleCnt="4" custScaleY="92259" custLinFactY="2198" custLinFactNeighborY="100000">
        <dgm:presLayoutVars>
          <dgm:bulletEnabled val="1"/>
        </dgm:presLayoutVars>
      </dgm:prSet>
      <dgm:spPr/>
    </dgm:pt>
    <dgm:pt modelId="{E94EA2E4-A16B-4B23-B17B-6A2BBF5B3DA8}" type="pres">
      <dgm:prSet presAssocID="{00C93A2A-86C3-4E0E-88C0-1FE67CF5A05F}" presName="spaceBetweenRectangles" presStyleCnt="0"/>
      <dgm:spPr/>
    </dgm:pt>
    <dgm:pt modelId="{041AC677-60C9-42EB-B76A-BF3087190F4C}" type="pres">
      <dgm:prSet presAssocID="{01823134-6E01-4E0A-9E3C-05BD10505644}" presName="parentLin" presStyleCnt="0"/>
      <dgm:spPr/>
    </dgm:pt>
    <dgm:pt modelId="{5952E32C-4A9C-4B92-BE4C-1B241ACC0588}" type="pres">
      <dgm:prSet presAssocID="{01823134-6E01-4E0A-9E3C-05BD10505644}" presName="parentLeftMargin" presStyleLbl="node1" presStyleIdx="1" presStyleCnt="4"/>
      <dgm:spPr/>
    </dgm:pt>
    <dgm:pt modelId="{96A03DC7-B069-4AC3-8DEC-0BF40B40A85B}" type="pres">
      <dgm:prSet presAssocID="{01823134-6E01-4E0A-9E3C-05BD10505644}" presName="parentText" presStyleLbl="node1" presStyleIdx="2" presStyleCnt="4" custScaleX="106753" custScaleY="193482" custLinFactNeighborX="-25926" custLinFactNeighborY="-18875">
        <dgm:presLayoutVars>
          <dgm:chMax val="0"/>
          <dgm:bulletEnabled val="1"/>
        </dgm:presLayoutVars>
      </dgm:prSet>
      <dgm:spPr/>
    </dgm:pt>
    <dgm:pt modelId="{1D8D5747-55C0-4C6B-AB66-E37290703A76}" type="pres">
      <dgm:prSet presAssocID="{01823134-6E01-4E0A-9E3C-05BD10505644}" presName="negativeSpace" presStyleCnt="0"/>
      <dgm:spPr/>
    </dgm:pt>
    <dgm:pt modelId="{1EDEDB4A-23BE-4418-8B27-D39C5FBDAFF3}" type="pres">
      <dgm:prSet presAssocID="{01823134-6E01-4E0A-9E3C-05BD10505644}" presName="childText" presStyleLbl="conFgAcc1" presStyleIdx="2" presStyleCnt="4" custScaleY="69305">
        <dgm:presLayoutVars>
          <dgm:bulletEnabled val="1"/>
        </dgm:presLayoutVars>
      </dgm:prSet>
      <dgm:spPr/>
    </dgm:pt>
    <dgm:pt modelId="{CAD9F9FA-0930-4288-8489-E99783B76ED8}" type="pres">
      <dgm:prSet presAssocID="{9FCDA6F5-0407-46CA-897D-C386ECB0DDBB}" presName="spaceBetweenRectangles" presStyleCnt="0"/>
      <dgm:spPr/>
    </dgm:pt>
    <dgm:pt modelId="{94702080-6FE5-4C1B-A3F2-FAA9AC8FD43E}" type="pres">
      <dgm:prSet presAssocID="{E720AADF-A7F1-40DD-A8D1-6F19D7121090}" presName="parentLin" presStyleCnt="0"/>
      <dgm:spPr/>
    </dgm:pt>
    <dgm:pt modelId="{5CF2B9FF-834D-42D8-9331-C6503565EC87}" type="pres">
      <dgm:prSet presAssocID="{E720AADF-A7F1-40DD-A8D1-6F19D7121090}" presName="parentLeftMargin" presStyleLbl="node1" presStyleIdx="2" presStyleCnt="4"/>
      <dgm:spPr/>
    </dgm:pt>
    <dgm:pt modelId="{2651B706-259B-41E0-BE39-E64D1219EF7D}" type="pres">
      <dgm:prSet presAssocID="{E720AADF-A7F1-40DD-A8D1-6F19D7121090}" presName="parentText" presStyleLbl="node1" presStyleIdx="3" presStyleCnt="4" custScaleX="210786" custScaleY="185195" custLinFactNeighborX="-39391" custLinFactNeighborY="-10562">
        <dgm:presLayoutVars>
          <dgm:chMax val="0"/>
          <dgm:bulletEnabled val="1"/>
        </dgm:presLayoutVars>
      </dgm:prSet>
      <dgm:spPr/>
    </dgm:pt>
    <dgm:pt modelId="{B2F467E3-DCC1-4B3E-B2C1-EF21FBD13DF2}" type="pres">
      <dgm:prSet presAssocID="{E720AADF-A7F1-40DD-A8D1-6F19D7121090}" presName="negativeSpace" presStyleCnt="0"/>
      <dgm:spPr/>
    </dgm:pt>
    <dgm:pt modelId="{61948C22-1610-4ECF-8B6F-09226636CC15}" type="pres">
      <dgm:prSet presAssocID="{E720AADF-A7F1-40DD-A8D1-6F19D7121090}" presName="childText" presStyleLbl="conFgAcc1" presStyleIdx="3" presStyleCnt="4" custScaleY="77710" custLinFactY="248" custLinFactNeighborY="100000">
        <dgm:presLayoutVars>
          <dgm:bulletEnabled val="1"/>
        </dgm:presLayoutVars>
      </dgm:prSet>
      <dgm:spPr/>
    </dgm:pt>
  </dgm:ptLst>
  <dgm:cxnLst>
    <dgm:cxn modelId="{50F09B00-276B-40BB-82D3-BA18FF195BB9}" type="presOf" srcId="{746D007C-6498-44C8-A4BC-FD50CBF31C93}" destId="{B0ED1D48-73A8-4006-BFF6-79A2046D30CC}" srcOrd="0" destOrd="0" presId="urn:microsoft.com/office/officeart/2005/8/layout/list1"/>
    <dgm:cxn modelId="{F054C802-3182-46FC-B385-2B82F4C4203F}" type="presOf" srcId="{01823134-6E01-4E0A-9E3C-05BD10505644}" destId="{96A03DC7-B069-4AC3-8DEC-0BF40B40A85B}" srcOrd="1" destOrd="0" presId="urn:microsoft.com/office/officeart/2005/8/layout/list1"/>
    <dgm:cxn modelId="{775FF002-76C6-4F0B-9CF6-4A6B8FE101BE}" type="presOf" srcId="{01823134-6E01-4E0A-9E3C-05BD10505644}" destId="{5952E32C-4A9C-4B92-BE4C-1B241ACC0588}" srcOrd="0" destOrd="0" presId="urn:microsoft.com/office/officeart/2005/8/layout/list1"/>
    <dgm:cxn modelId="{18EDD60C-1E00-412E-920C-138FAE259799}" type="presOf" srcId="{0F38DD82-BB1D-4927-AEB1-03DFDE2196D5}" destId="{61948C22-1610-4ECF-8B6F-09226636CC15}" srcOrd="0" destOrd="1" presId="urn:microsoft.com/office/officeart/2005/8/layout/list1"/>
    <dgm:cxn modelId="{AFDD3311-13CD-4042-9614-C5302DD284AE}" type="presOf" srcId="{D91C02A0-A28E-487F-A31C-FC348B1CEEE8}" destId="{5DEC277F-3FE4-43A5-B9A7-1190B3549ABA}" srcOrd="0" destOrd="0" presId="urn:microsoft.com/office/officeart/2005/8/layout/list1"/>
    <dgm:cxn modelId="{6528D718-0235-4048-B117-AE02D74C8471}" type="presOf" srcId="{7DB37F08-B55B-4B14-9054-25AE19E01F76}" destId="{5C3ED794-0ED4-4BC9-8EC5-6D8E029CCA45}" srcOrd="1" destOrd="0" presId="urn:microsoft.com/office/officeart/2005/8/layout/list1"/>
    <dgm:cxn modelId="{4C35A71B-4110-4C24-8463-0F915543422A}" srcId="{8AAE2599-B168-4E01-A12B-62564786D104}" destId="{D91C02A0-A28E-487F-A31C-FC348B1CEEE8}" srcOrd="0" destOrd="0" parTransId="{013DDEEE-D9FB-4755-8101-C7C7459CF8D9}" sibTransId="{C739D63E-AD9B-46D6-AF4A-308DC85887A5}"/>
    <dgm:cxn modelId="{7DF78920-058C-410D-82D7-D7D831AD46F5}" srcId="{7DB37F08-B55B-4B14-9054-25AE19E01F76}" destId="{612F64B2-1B30-4830-A46D-EC9F9A763BE8}" srcOrd="2" destOrd="0" parTransId="{F4C481F5-2253-48A0-96F2-74C7B1C080CF}" sibTransId="{618C51CC-97B4-47A0-B7D3-B65214815FC9}"/>
    <dgm:cxn modelId="{E1C14428-F0C6-40B7-B244-34C150E1467E}" srcId="{E720AADF-A7F1-40DD-A8D1-6F19D7121090}" destId="{F5FDCA0F-38F2-433F-9BCA-1EB85BF61709}" srcOrd="0" destOrd="0" parTransId="{4EB4AB49-FE86-4DCA-8F1F-3A8CCCC617DD}" sibTransId="{E905FAB3-57FB-4D2A-A976-8656BF8A3543}"/>
    <dgm:cxn modelId="{4746B629-943A-4305-A4EF-1F5FE3B30112}" type="presOf" srcId="{6DFA7AF0-DB06-4AD4-A669-34A045E138C6}" destId="{5DEC277F-3FE4-43A5-B9A7-1190B3549ABA}" srcOrd="0" destOrd="1" presId="urn:microsoft.com/office/officeart/2005/8/layout/list1"/>
    <dgm:cxn modelId="{D7E7CF2B-841E-4410-8C5B-386ACB125C56}" srcId="{67FC6F4B-9725-4004-9682-6B7773E9FACA}" destId="{7DB37F08-B55B-4B14-9054-25AE19E01F76}" srcOrd="1" destOrd="0" parTransId="{5892A4F1-5050-48DC-85DD-3E10CF74EAD8}" sibTransId="{00C93A2A-86C3-4E0E-88C0-1FE67CF5A05F}"/>
    <dgm:cxn modelId="{4746C133-D123-4829-B30D-D9F5CDCFED73}" srcId="{7DB37F08-B55B-4B14-9054-25AE19E01F76}" destId="{1EA544D1-A564-4621-9188-32B7F9D17421}" srcOrd="3" destOrd="0" parTransId="{AD6CDFD6-7CB7-4EAD-B6E4-13281FBF953A}" sibTransId="{B5BA6580-9219-40BF-869D-EF35C50FA5D6}"/>
    <dgm:cxn modelId="{C7D9C842-27FA-4B54-990B-F757CE6191AF}" srcId="{E720AADF-A7F1-40DD-A8D1-6F19D7121090}" destId="{0F38DD82-BB1D-4927-AEB1-03DFDE2196D5}" srcOrd="1" destOrd="0" parTransId="{75A9B771-D45B-44E7-A2E4-23C26FDDDE35}" sibTransId="{13583BBA-FBA2-4293-8599-55E0D821480A}"/>
    <dgm:cxn modelId="{B6480A45-4C2F-4B29-8753-702CD5F02C34}" type="presOf" srcId="{7DB37F08-B55B-4B14-9054-25AE19E01F76}" destId="{2F3C6247-1F71-4F56-B396-43C33C15D759}" srcOrd="0" destOrd="0" presId="urn:microsoft.com/office/officeart/2005/8/layout/list1"/>
    <dgm:cxn modelId="{B2D21666-56E7-4F28-A1F3-A6C9352E92B7}" srcId="{01823134-6E01-4E0A-9E3C-05BD10505644}" destId="{32A90E3B-96A1-43A9-8791-B80D9C15AED4}" srcOrd="1" destOrd="0" parTransId="{A5712AFF-DE66-4681-B1C1-6E32EA99F2D7}" sibTransId="{D0C02EB5-1292-49DC-A7A1-934FAFC27E6D}"/>
    <dgm:cxn modelId="{A3E5FD66-B5DC-4577-8109-815756F9DBBF}" type="presOf" srcId="{B98D8770-3CB9-4B97-BBB6-A5B715E97E3F}" destId="{1EDEDB4A-23BE-4418-8B27-D39C5FBDAFF3}" srcOrd="0" destOrd="0" presId="urn:microsoft.com/office/officeart/2005/8/layout/list1"/>
    <dgm:cxn modelId="{53872671-6C63-4C3C-9323-1AA9F2096AE3}" srcId="{01823134-6E01-4E0A-9E3C-05BD10505644}" destId="{B98D8770-3CB9-4B97-BBB6-A5B715E97E3F}" srcOrd="0" destOrd="0" parTransId="{F6C8B8AB-BE96-42A4-9732-3B05159D33D5}" sibTransId="{E298ACBC-BDCD-46FF-95EF-0EE8171A0CC4}"/>
    <dgm:cxn modelId="{7DF47F51-717F-4035-BF53-C16474EAE19C}" type="presOf" srcId="{8AAE2599-B168-4E01-A12B-62564786D104}" destId="{9C0D17F4-4164-4810-81D0-F77A2ED9E3B2}" srcOrd="1" destOrd="0" presId="urn:microsoft.com/office/officeart/2005/8/layout/list1"/>
    <dgm:cxn modelId="{70903E57-1ED0-482A-8BD1-267850CFEEC2}" type="presOf" srcId="{A576E861-95E2-409B-896E-4657097FA894}" destId="{61948C22-1610-4ECF-8B6F-09226636CC15}" srcOrd="0" destOrd="2" presId="urn:microsoft.com/office/officeart/2005/8/layout/list1"/>
    <dgm:cxn modelId="{21F07458-C850-4F6C-B888-4861C3C07630}" type="presOf" srcId="{50D9C742-E6F5-407A-8A0F-7B6A4BC5D4EB}" destId="{B0ED1D48-73A8-4006-BFF6-79A2046D30CC}" srcOrd="0" destOrd="1" presId="urn:microsoft.com/office/officeart/2005/8/layout/list1"/>
    <dgm:cxn modelId="{36FC7388-F5D5-49D2-977D-AD3297EB2566}" srcId="{8AAE2599-B168-4E01-A12B-62564786D104}" destId="{6DFA7AF0-DB06-4AD4-A669-34A045E138C6}" srcOrd="1" destOrd="0" parTransId="{51C6150A-4C4C-45E0-B4D6-5D5AEF4CC08E}" sibTransId="{B49D9090-88D8-4D92-86A6-FED2E4E1FA28}"/>
    <dgm:cxn modelId="{C9820A91-A76B-4121-9A8F-C2259A3D8287}" srcId="{E720AADF-A7F1-40DD-A8D1-6F19D7121090}" destId="{A576E861-95E2-409B-896E-4657097FA894}" srcOrd="2" destOrd="0" parTransId="{9EACF331-AD7F-43F5-A85A-B4FAB5893181}" sibTransId="{C585A3E5-B2B7-4FCE-A3E0-84167A432DAA}"/>
    <dgm:cxn modelId="{886D3493-14CC-4D60-8964-D5DD6509F58A}" type="presOf" srcId="{E720AADF-A7F1-40DD-A8D1-6F19D7121090}" destId="{5CF2B9FF-834D-42D8-9331-C6503565EC87}" srcOrd="0" destOrd="0" presId="urn:microsoft.com/office/officeart/2005/8/layout/list1"/>
    <dgm:cxn modelId="{C8A0F796-83D9-498A-8B6D-05FC0228B031}" srcId="{67FC6F4B-9725-4004-9682-6B7773E9FACA}" destId="{01823134-6E01-4E0A-9E3C-05BD10505644}" srcOrd="2" destOrd="0" parTransId="{CDF0020B-98CD-444B-AF93-15B46F71BCE0}" sibTransId="{9FCDA6F5-0407-46CA-897D-C386ECB0DDBB}"/>
    <dgm:cxn modelId="{400021B7-D449-4A60-B681-6D04999D79A6}" srcId="{7DB37F08-B55B-4B14-9054-25AE19E01F76}" destId="{746D007C-6498-44C8-A4BC-FD50CBF31C93}" srcOrd="0" destOrd="0" parTransId="{10EC8EE8-3187-4566-B2CD-BDC7181C4A0B}" sibTransId="{9652945A-5353-4AFB-AA35-099516CC5025}"/>
    <dgm:cxn modelId="{1CF699B8-93C3-4442-8E3C-71C78C22E9D0}" type="presOf" srcId="{1EA544D1-A564-4621-9188-32B7F9D17421}" destId="{B0ED1D48-73A8-4006-BFF6-79A2046D30CC}" srcOrd="0" destOrd="3" presId="urn:microsoft.com/office/officeart/2005/8/layout/list1"/>
    <dgm:cxn modelId="{540CF4B8-9731-4375-AF48-390094F618F2}" type="presOf" srcId="{F5FDCA0F-38F2-433F-9BCA-1EB85BF61709}" destId="{61948C22-1610-4ECF-8B6F-09226636CC15}" srcOrd="0" destOrd="0" presId="urn:microsoft.com/office/officeart/2005/8/layout/list1"/>
    <dgm:cxn modelId="{415060C3-7D3A-48A1-AC9D-86E7479C8286}" type="presOf" srcId="{612F64B2-1B30-4830-A46D-EC9F9A763BE8}" destId="{B0ED1D48-73A8-4006-BFF6-79A2046D30CC}" srcOrd="0" destOrd="2" presId="urn:microsoft.com/office/officeart/2005/8/layout/list1"/>
    <dgm:cxn modelId="{8648A8D2-3A6C-4991-A3B5-4F53E17DB376}" type="presOf" srcId="{8AAE2599-B168-4E01-A12B-62564786D104}" destId="{0DA049F8-EF9B-45CE-A07B-D243575CB5F4}" srcOrd="0" destOrd="0" presId="urn:microsoft.com/office/officeart/2005/8/layout/list1"/>
    <dgm:cxn modelId="{EB40ECD4-CFF2-425D-B40F-73BCF1028FD1}" srcId="{7DB37F08-B55B-4B14-9054-25AE19E01F76}" destId="{50D9C742-E6F5-407A-8A0F-7B6A4BC5D4EB}" srcOrd="1" destOrd="0" parTransId="{E2AE6593-ADF3-468B-A693-7EE72D6DE956}" sibTransId="{BD87D1BA-AFBF-4E38-8424-112A0FBE56FE}"/>
    <dgm:cxn modelId="{A95B18D8-03BA-4C40-8701-00797A1A3C74}" srcId="{67FC6F4B-9725-4004-9682-6B7773E9FACA}" destId="{E720AADF-A7F1-40DD-A8D1-6F19D7121090}" srcOrd="3" destOrd="0" parTransId="{F545D2AE-9BDF-4808-AB00-111CB8A007B6}" sibTransId="{5F29FCB8-C301-4627-A70B-2CEF8A13F4F4}"/>
    <dgm:cxn modelId="{000CF4E4-9E7A-4434-B03A-A2750437705B}" type="presOf" srcId="{32A90E3B-96A1-43A9-8791-B80D9C15AED4}" destId="{1EDEDB4A-23BE-4418-8B27-D39C5FBDAFF3}" srcOrd="0" destOrd="1" presId="urn:microsoft.com/office/officeart/2005/8/layout/list1"/>
    <dgm:cxn modelId="{E5EFDCE8-9C1D-420E-AA5C-9B87A42CDE37}" srcId="{67FC6F4B-9725-4004-9682-6B7773E9FACA}" destId="{8AAE2599-B168-4E01-A12B-62564786D104}" srcOrd="0" destOrd="0" parTransId="{1D98E718-80DD-4C87-ADAE-2FE2057BC302}" sibTransId="{C5B641CA-B374-4330-ACC9-11E65D75DA38}"/>
    <dgm:cxn modelId="{B7F662F5-E3C9-4C3F-A898-28977529DD85}" type="presOf" srcId="{67FC6F4B-9725-4004-9682-6B7773E9FACA}" destId="{54193438-D791-4F8E-847A-7B11321F136D}" srcOrd="0" destOrd="0" presId="urn:microsoft.com/office/officeart/2005/8/layout/list1"/>
    <dgm:cxn modelId="{FAB83BF9-EE6B-42F9-A5D4-B888DC4CB021}" type="presOf" srcId="{E720AADF-A7F1-40DD-A8D1-6F19D7121090}" destId="{2651B706-259B-41E0-BE39-E64D1219EF7D}" srcOrd="1" destOrd="0" presId="urn:microsoft.com/office/officeart/2005/8/layout/list1"/>
    <dgm:cxn modelId="{EF0A1588-68C0-4336-8A81-67EFA98179BC}" type="presParOf" srcId="{54193438-D791-4F8E-847A-7B11321F136D}" destId="{A610B688-0621-4001-B01D-3DF387A75B91}" srcOrd="0" destOrd="0" presId="urn:microsoft.com/office/officeart/2005/8/layout/list1"/>
    <dgm:cxn modelId="{243C30A3-1657-4F28-995D-71DB8FE284D0}" type="presParOf" srcId="{A610B688-0621-4001-B01D-3DF387A75B91}" destId="{0DA049F8-EF9B-45CE-A07B-D243575CB5F4}" srcOrd="0" destOrd="0" presId="urn:microsoft.com/office/officeart/2005/8/layout/list1"/>
    <dgm:cxn modelId="{073CAF07-EFB1-4A49-9433-2D87E1A9366B}" type="presParOf" srcId="{A610B688-0621-4001-B01D-3DF387A75B91}" destId="{9C0D17F4-4164-4810-81D0-F77A2ED9E3B2}" srcOrd="1" destOrd="0" presId="urn:microsoft.com/office/officeart/2005/8/layout/list1"/>
    <dgm:cxn modelId="{7180EB1F-45DA-4BF5-9E9C-14BC0F828655}" type="presParOf" srcId="{54193438-D791-4F8E-847A-7B11321F136D}" destId="{93E00FDB-4CDC-4520-9D12-A067FAF25D28}" srcOrd="1" destOrd="0" presId="urn:microsoft.com/office/officeart/2005/8/layout/list1"/>
    <dgm:cxn modelId="{B71264EE-7391-4709-A2FD-D73B78B6CC22}" type="presParOf" srcId="{54193438-D791-4F8E-847A-7B11321F136D}" destId="{5DEC277F-3FE4-43A5-B9A7-1190B3549ABA}" srcOrd="2" destOrd="0" presId="urn:microsoft.com/office/officeart/2005/8/layout/list1"/>
    <dgm:cxn modelId="{77B5BAD0-F437-4342-8500-0CB43FAE65D4}" type="presParOf" srcId="{54193438-D791-4F8E-847A-7B11321F136D}" destId="{8D25F399-12EE-4E6F-AF2A-D97D6BC47DEA}" srcOrd="3" destOrd="0" presId="urn:microsoft.com/office/officeart/2005/8/layout/list1"/>
    <dgm:cxn modelId="{5CF1C248-B4E9-4800-A6D6-8BC37C06CFB8}" type="presParOf" srcId="{54193438-D791-4F8E-847A-7B11321F136D}" destId="{8ED57CFA-E05C-40B6-867E-2BBA233F6C77}" srcOrd="4" destOrd="0" presId="urn:microsoft.com/office/officeart/2005/8/layout/list1"/>
    <dgm:cxn modelId="{B71B9A44-5935-4558-8637-91F92E131ACB}" type="presParOf" srcId="{8ED57CFA-E05C-40B6-867E-2BBA233F6C77}" destId="{2F3C6247-1F71-4F56-B396-43C33C15D759}" srcOrd="0" destOrd="0" presId="urn:microsoft.com/office/officeart/2005/8/layout/list1"/>
    <dgm:cxn modelId="{D3867D6D-824D-4797-8F61-144C1C8BC330}" type="presParOf" srcId="{8ED57CFA-E05C-40B6-867E-2BBA233F6C77}" destId="{5C3ED794-0ED4-4BC9-8EC5-6D8E029CCA45}" srcOrd="1" destOrd="0" presId="urn:microsoft.com/office/officeart/2005/8/layout/list1"/>
    <dgm:cxn modelId="{DE567C5D-F079-4E93-AFA9-1CF0C8CCD496}" type="presParOf" srcId="{54193438-D791-4F8E-847A-7B11321F136D}" destId="{4051C454-3271-4B36-BF0F-38DAD1FD193C}" srcOrd="5" destOrd="0" presId="urn:microsoft.com/office/officeart/2005/8/layout/list1"/>
    <dgm:cxn modelId="{70CE205F-1042-4849-BBBB-EAAD8E97EAEE}" type="presParOf" srcId="{54193438-D791-4F8E-847A-7B11321F136D}" destId="{B0ED1D48-73A8-4006-BFF6-79A2046D30CC}" srcOrd="6" destOrd="0" presId="urn:microsoft.com/office/officeart/2005/8/layout/list1"/>
    <dgm:cxn modelId="{252EDE3A-AD5A-48E3-B43E-804BDED219CA}" type="presParOf" srcId="{54193438-D791-4F8E-847A-7B11321F136D}" destId="{E94EA2E4-A16B-4B23-B17B-6A2BBF5B3DA8}" srcOrd="7" destOrd="0" presId="urn:microsoft.com/office/officeart/2005/8/layout/list1"/>
    <dgm:cxn modelId="{CB1A70F8-774F-4729-B484-93BF768C80E8}" type="presParOf" srcId="{54193438-D791-4F8E-847A-7B11321F136D}" destId="{041AC677-60C9-42EB-B76A-BF3087190F4C}" srcOrd="8" destOrd="0" presId="urn:microsoft.com/office/officeart/2005/8/layout/list1"/>
    <dgm:cxn modelId="{B9406332-B89B-4DB1-AF57-695BA2258692}" type="presParOf" srcId="{041AC677-60C9-42EB-B76A-BF3087190F4C}" destId="{5952E32C-4A9C-4B92-BE4C-1B241ACC0588}" srcOrd="0" destOrd="0" presId="urn:microsoft.com/office/officeart/2005/8/layout/list1"/>
    <dgm:cxn modelId="{FE651E41-5378-420B-A15C-9E77D2C8F72C}" type="presParOf" srcId="{041AC677-60C9-42EB-B76A-BF3087190F4C}" destId="{96A03DC7-B069-4AC3-8DEC-0BF40B40A85B}" srcOrd="1" destOrd="0" presId="urn:microsoft.com/office/officeart/2005/8/layout/list1"/>
    <dgm:cxn modelId="{6D13A202-1277-44C5-8508-1CFD078A3A91}" type="presParOf" srcId="{54193438-D791-4F8E-847A-7B11321F136D}" destId="{1D8D5747-55C0-4C6B-AB66-E37290703A76}" srcOrd="9" destOrd="0" presId="urn:microsoft.com/office/officeart/2005/8/layout/list1"/>
    <dgm:cxn modelId="{7C3BEE46-8443-4179-88CE-A364C031721E}" type="presParOf" srcId="{54193438-D791-4F8E-847A-7B11321F136D}" destId="{1EDEDB4A-23BE-4418-8B27-D39C5FBDAFF3}" srcOrd="10" destOrd="0" presId="urn:microsoft.com/office/officeart/2005/8/layout/list1"/>
    <dgm:cxn modelId="{2FDC2639-81D4-4831-894B-A9B620C2B723}" type="presParOf" srcId="{54193438-D791-4F8E-847A-7B11321F136D}" destId="{CAD9F9FA-0930-4288-8489-E99783B76ED8}" srcOrd="11" destOrd="0" presId="urn:microsoft.com/office/officeart/2005/8/layout/list1"/>
    <dgm:cxn modelId="{90DDB835-74D1-4713-90F9-BF212F7BD270}" type="presParOf" srcId="{54193438-D791-4F8E-847A-7B11321F136D}" destId="{94702080-6FE5-4C1B-A3F2-FAA9AC8FD43E}" srcOrd="12" destOrd="0" presId="urn:microsoft.com/office/officeart/2005/8/layout/list1"/>
    <dgm:cxn modelId="{A21454D5-4510-4AE6-AF53-9B0FD2911BAE}" type="presParOf" srcId="{94702080-6FE5-4C1B-A3F2-FAA9AC8FD43E}" destId="{5CF2B9FF-834D-42D8-9331-C6503565EC87}" srcOrd="0" destOrd="0" presId="urn:microsoft.com/office/officeart/2005/8/layout/list1"/>
    <dgm:cxn modelId="{C9ED5F42-11D4-48E5-9EB8-92DF1E0CAD5F}" type="presParOf" srcId="{94702080-6FE5-4C1B-A3F2-FAA9AC8FD43E}" destId="{2651B706-259B-41E0-BE39-E64D1219EF7D}" srcOrd="1" destOrd="0" presId="urn:microsoft.com/office/officeart/2005/8/layout/list1"/>
    <dgm:cxn modelId="{B592E617-3FC6-450F-808E-76F02D1482F2}" type="presParOf" srcId="{54193438-D791-4F8E-847A-7B11321F136D}" destId="{B2F467E3-DCC1-4B3E-B2C1-EF21FBD13DF2}" srcOrd="13" destOrd="0" presId="urn:microsoft.com/office/officeart/2005/8/layout/list1"/>
    <dgm:cxn modelId="{72CC9197-DCE6-4827-A620-3C56BCD17AE2}" type="presParOf" srcId="{54193438-D791-4F8E-847A-7B11321F136D}" destId="{61948C22-1610-4ECF-8B6F-09226636CC15}" srcOrd="14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C277F-3FE4-43A5-B9A7-1190B3549ABA}">
      <dsp:nvSpPr>
        <dsp:cNvPr id="0" name=""/>
        <dsp:cNvSpPr/>
      </dsp:nvSpPr>
      <dsp:spPr>
        <a:xfrm>
          <a:off x="0" y="473445"/>
          <a:ext cx="7086600" cy="69637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999" tIns="187452" rIns="549999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b="1" kern="1200" dirty="0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412.092Habitantes, (Censo 2017)</a:t>
          </a:r>
          <a:endParaRPr lang="en-US" sz="2000" b="1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b="1" kern="1200" dirty="0" err="1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Superficie</a:t>
          </a:r>
          <a:r>
            <a:rPr lang="pt-PT" sz="2000" b="1" kern="1200" dirty="0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 de 52 </a:t>
          </a:r>
          <a:r>
            <a:rPr lang="pt-PT" sz="2000" b="1" kern="1200" dirty="0" err="1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km²</a:t>
          </a:r>
          <a:endParaRPr lang="en-US" sz="2000" b="1" kern="1200" dirty="0">
            <a:solidFill>
              <a:srgbClr val="000000"/>
            </a:solidFill>
            <a:effectLst/>
            <a:latin typeface="Garamond" panose="02020404030301010803" pitchFamily="18" charset="0"/>
            <a:cs typeface="Arial" pitchFamily="34" charset="0"/>
          </a:endParaRPr>
        </a:p>
      </dsp:txBody>
      <dsp:txXfrm>
        <a:off x="0" y="473445"/>
        <a:ext cx="7086600" cy="696378"/>
      </dsp:txXfrm>
    </dsp:sp>
    <dsp:sp modelId="{9C0D17F4-4164-4810-81D0-F77A2ED9E3B2}">
      <dsp:nvSpPr>
        <dsp:cNvPr id="0" name=""/>
        <dsp:cNvSpPr/>
      </dsp:nvSpPr>
      <dsp:spPr>
        <a:xfrm>
          <a:off x="295032" y="0"/>
          <a:ext cx="4677170" cy="519515"/>
        </a:xfrm>
        <a:prstGeom prst="roundRect">
          <a:avLst/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Popula</a:t>
          </a: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ção</a:t>
          </a:r>
          <a:endParaRPr lang="en-US" sz="2400" b="1" kern="1200" dirty="0">
            <a:solidFill>
              <a:schemeClr val="bg1"/>
            </a:solidFill>
            <a:effectLst/>
            <a:latin typeface="Garamond" panose="02020404030301010803" pitchFamily="18" charset="0"/>
          </a:endParaRPr>
        </a:p>
      </dsp:txBody>
      <dsp:txXfrm>
        <a:off x="320393" y="25361"/>
        <a:ext cx="4626448" cy="468793"/>
      </dsp:txXfrm>
    </dsp:sp>
    <dsp:sp modelId="{B0ED1D48-73A8-4006-BFF6-79A2046D30CC}">
      <dsp:nvSpPr>
        <dsp:cNvPr id="0" name=""/>
        <dsp:cNvSpPr/>
      </dsp:nvSpPr>
      <dsp:spPr>
        <a:xfrm>
          <a:off x="0" y="1673804"/>
          <a:ext cx="7086600" cy="12542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279374"/>
              <a:satOff val="-3219"/>
              <a:lumOff val="72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999" tIns="187452" rIns="549999" bIns="128016" numCol="1" spcCol="1270" anchor="t" anchorCtr="0">
          <a:noAutofit/>
        </a:bodyPr>
        <a:lstStyle/>
        <a:p>
          <a:pPr marL="171450" lvl="1" indent="-171450" algn="just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Norte: 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Distrito de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Marracuene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Localidade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de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Michafutene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Sul: Distrito de Matutuine – 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Bela vista e Baia de Maputo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Oeste: 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Vale do Infulene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Este: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Bairros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de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Chamanculo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Xipamanine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Distrito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KaMavota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sp:txBody>
      <dsp:txXfrm>
        <a:off x="0" y="1673804"/>
        <a:ext cx="7086600" cy="1254234"/>
      </dsp:txXfrm>
    </dsp:sp>
    <dsp:sp modelId="{5C3ED794-0ED4-4BC9-8EC5-6D8E029CCA45}">
      <dsp:nvSpPr>
        <dsp:cNvPr id="0" name=""/>
        <dsp:cNvSpPr/>
      </dsp:nvSpPr>
      <dsp:spPr>
        <a:xfrm>
          <a:off x="245316" y="1202994"/>
          <a:ext cx="5022131" cy="554888"/>
        </a:xfrm>
        <a:prstGeom prst="roundRect">
          <a:avLst/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Limites</a:t>
          </a:r>
        </a:p>
      </dsp:txBody>
      <dsp:txXfrm>
        <a:off x="272403" y="1230081"/>
        <a:ext cx="4967957" cy="500714"/>
      </dsp:txXfrm>
    </dsp:sp>
    <dsp:sp modelId="{1EDEDB4A-23BE-4418-8B27-D39C5FBDAFF3}">
      <dsp:nvSpPr>
        <dsp:cNvPr id="0" name=""/>
        <dsp:cNvSpPr/>
      </dsp:nvSpPr>
      <dsp:spPr>
        <a:xfrm>
          <a:off x="0" y="3278988"/>
          <a:ext cx="7086600" cy="74589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558749"/>
              <a:satOff val="-6439"/>
              <a:lumOff val="143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999" tIns="187452" rIns="549999" bIns="142240" numCol="1" spcCol="1270" anchor="t" anchorCtr="0">
          <a:noAutofit/>
        </a:bodyPr>
        <a:lstStyle/>
        <a:p>
          <a:pPr marL="228600" lvl="1" indent="-228600" algn="just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b="1" kern="1200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Respons</a:t>
          </a:r>
          <a:r>
            <a:rPr lang="pt-PT" sz="20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ável pelos Distritos </a:t>
          </a:r>
          <a:r>
            <a:rPr lang="pt-PT" sz="2000" b="1" kern="1200" dirty="0">
              <a:solidFill>
                <a:srgbClr val="000000"/>
              </a:solidFill>
              <a:latin typeface="Garamond" panose="02020404030301010803" pitchFamily="18" charset="0"/>
            </a:rPr>
            <a:t>Urbanos Nlhamanculo, Kamubukwane e Ka Tembe</a:t>
          </a:r>
          <a:endParaRPr lang="en-US" sz="2000" b="1" kern="1200" dirty="0">
            <a:solidFill>
              <a:schemeClr val="tx1"/>
            </a:solidFill>
            <a:effectLst/>
            <a:latin typeface="Garamond" panose="02020404030301010803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b="1" kern="1200" dirty="0">
            <a:solidFill>
              <a:schemeClr val="tx1"/>
            </a:solidFill>
            <a:effectLst/>
            <a:latin typeface="Garamond" pitchFamily="18" charset="0"/>
          </a:endParaRPr>
        </a:p>
      </dsp:txBody>
      <dsp:txXfrm>
        <a:off x="0" y="3278988"/>
        <a:ext cx="7086600" cy="745893"/>
      </dsp:txXfrm>
    </dsp:sp>
    <dsp:sp modelId="{96A03DC7-B069-4AC3-8DEC-0BF40B40A85B}">
      <dsp:nvSpPr>
        <dsp:cNvPr id="0" name=""/>
        <dsp:cNvSpPr/>
      </dsp:nvSpPr>
      <dsp:spPr>
        <a:xfrm>
          <a:off x="262466" y="2848059"/>
          <a:ext cx="5295610" cy="513540"/>
        </a:xfrm>
        <a:prstGeom prst="roundRect">
          <a:avLst/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Área</a:t>
          </a:r>
          <a:r>
            <a:rPr lang="en-US" sz="2000" b="1" kern="1200" dirty="0">
              <a:solidFill>
                <a:srgbClr val="000000"/>
              </a:solidFill>
              <a:effectLst/>
              <a:latin typeface="Trebuchet MS" pitchFamily="34" charset="0"/>
              <a:cs typeface="Times New Roman"/>
            </a:rPr>
            <a:t> </a:t>
          </a:r>
          <a:endParaRPr lang="en-US" sz="2000" b="1" kern="1200" dirty="0">
            <a:solidFill>
              <a:srgbClr val="000000"/>
            </a:solidFill>
            <a:effectLst/>
            <a:latin typeface="Trebuchet MS" pitchFamily="34" charset="0"/>
          </a:endParaRPr>
        </a:p>
      </dsp:txBody>
      <dsp:txXfrm>
        <a:off x="287535" y="2873128"/>
        <a:ext cx="5245472" cy="463402"/>
      </dsp:txXfrm>
    </dsp:sp>
    <dsp:sp modelId="{61948C22-1610-4ECF-8B6F-09226636CC15}">
      <dsp:nvSpPr>
        <dsp:cNvPr id="0" name=""/>
        <dsp:cNvSpPr/>
      </dsp:nvSpPr>
      <dsp:spPr>
        <a:xfrm>
          <a:off x="0" y="4473726"/>
          <a:ext cx="7086600" cy="11664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999" tIns="187452" rIns="549999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HG. José Macamo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CS José Macamo,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Bagamoyo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Zimpeto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Magoanine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Magoanine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Tendas,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Inhagoia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Katembe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Incassane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Mutsécua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CS </a:t>
          </a:r>
          <a:r>
            <a:rPr lang="pt-PT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Chamissava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.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b="1" kern="1200" dirty="0">
            <a:solidFill>
              <a:srgbClr val="000000"/>
            </a:solidFill>
            <a:effectLst/>
            <a:latin typeface="Garamond" pitchFamily="18" charset="0"/>
          </a:endParaRPr>
        </a:p>
      </dsp:txBody>
      <dsp:txXfrm>
        <a:off x="0" y="4473726"/>
        <a:ext cx="7086600" cy="1166491"/>
      </dsp:txXfrm>
    </dsp:sp>
    <dsp:sp modelId="{2651B706-259B-41E0-BE39-E64D1219EF7D}">
      <dsp:nvSpPr>
        <dsp:cNvPr id="0" name=""/>
        <dsp:cNvSpPr/>
      </dsp:nvSpPr>
      <dsp:spPr>
        <a:xfrm>
          <a:off x="140723" y="4045401"/>
          <a:ext cx="6851730" cy="491545"/>
        </a:xfrm>
        <a:prstGeom prst="roundRect">
          <a:avLst/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7500" tIns="0" rIns="1875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Rede </a:t>
          </a:r>
          <a:r>
            <a:rPr lang="en-US" sz="2000" b="1" kern="1200" dirty="0" err="1">
              <a:solidFill>
                <a:schemeClr val="bg1"/>
              </a:solidFill>
              <a:effectLst/>
              <a:latin typeface="Garamond" panose="02020404030301010803" pitchFamily="18" charset="0"/>
            </a:rPr>
            <a:t>Sanit</a:t>
          </a:r>
          <a:r>
            <a:rPr lang="en-US" sz="2000" b="1" kern="1200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ária</a:t>
          </a:r>
          <a:r>
            <a:rPr lang="en-US" sz="20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: (11) 1 Hospital e 10 </a:t>
          </a:r>
          <a:r>
            <a:rPr lang="en-US" sz="2000" b="1" kern="1200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Centros</a:t>
          </a:r>
          <a:r>
            <a:rPr lang="en-US" sz="20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 de </a:t>
          </a:r>
          <a:r>
            <a:rPr lang="en-US" sz="2000" b="1" kern="1200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Saúde</a:t>
          </a:r>
          <a:r>
            <a:rPr lang="en-US" sz="20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 </a:t>
          </a:r>
          <a:endParaRPr lang="en-US" sz="2000" b="1" kern="1200" dirty="0">
            <a:solidFill>
              <a:schemeClr val="bg1"/>
            </a:solidFill>
            <a:effectLst/>
            <a:latin typeface="Garamond" panose="02020404030301010803" pitchFamily="18" charset="0"/>
          </a:endParaRPr>
        </a:p>
      </dsp:txBody>
      <dsp:txXfrm>
        <a:off x="164718" y="4069396"/>
        <a:ext cx="6803740" cy="4435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605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62377" indent="-232943" defTabSz="465887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3028264" indent="-232943" defTabSz="465887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94151" indent="-232943" defTabSz="465887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960038" indent="-232943" defTabSz="465887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355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0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532" y="5704161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920248"/>
            <a:ext cx="902970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 GERAL JOSE MACAMO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224852" y="3575877"/>
            <a:ext cx="11587397" cy="183557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Tema: “</a:t>
            </a:r>
            <a:r>
              <a:rPr lang="pt-PT" altLang="en-US" sz="3200" b="1" dirty="0">
                <a:ea typeface="MS PGothic" panose="020B0600070205080204" pitchFamily="34" charset="-128"/>
              </a:rPr>
              <a:t>Organização da Rede Assistencial: Fluxo de Utentes, Referência, </a:t>
            </a:r>
            <a:r>
              <a:rPr lang="pt-PT" altLang="en-US" sz="3200" b="1" dirty="0" err="1">
                <a:ea typeface="MS PGothic" panose="020B0600070205080204" pitchFamily="34" charset="-128"/>
              </a:rPr>
              <a:t>Contra-Referência</a:t>
            </a:r>
            <a:r>
              <a:rPr lang="pt-PT" altLang="en-US" sz="3200" b="1" dirty="0">
                <a:ea typeface="MS PGothic" panose="020B0600070205080204" pitchFamily="34" charset="-128"/>
              </a:rPr>
              <a:t> e Pressão sobre os Hospitais - Área do HGJM</a:t>
            </a:r>
            <a:r>
              <a:rPr lang="en-US" altLang="en-US" sz="3200" b="1" dirty="0">
                <a:ea typeface="MS PGothic" panose="020B0600070205080204" pitchFamily="34" charset="-128"/>
              </a:rPr>
              <a:t>” 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1184223" y="221163"/>
            <a:ext cx="10463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Rede Sanitária Do Hospital Geral José Macamo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pic>
        <p:nvPicPr>
          <p:cNvPr id="4" name="Picture 4" descr="Map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35822"/>
            <a:ext cx="5242034" cy="5669753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Table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566207"/>
              </p:ext>
            </p:extLst>
          </p:nvPr>
        </p:nvGraphicFramePr>
        <p:xfrm>
          <a:off x="5105400" y="835822"/>
          <a:ext cx="7086600" cy="5640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4367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1184223" y="221163"/>
            <a:ext cx="10463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Objectivos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482183" y="1228002"/>
            <a:ext cx="1139568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914400">
              <a:buFont typeface="Wingdings" pitchFamily="2" charset="2"/>
              <a:buChar char="q"/>
            </a:pPr>
            <a:r>
              <a:rPr lang="en-US" sz="2800" dirty="0" err="1">
                <a:solidFill>
                  <a:schemeClr val="bg1"/>
                </a:solidFill>
              </a:rPr>
              <a:t>Analisar</a:t>
            </a:r>
            <a:r>
              <a:rPr lang="en-US" sz="2800" dirty="0">
                <a:solidFill>
                  <a:schemeClr val="bg1"/>
                </a:solidFill>
              </a:rPr>
              <a:t> o </a:t>
            </a:r>
            <a:r>
              <a:rPr lang="en-US" sz="2800" dirty="0" err="1">
                <a:solidFill>
                  <a:schemeClr val="bg1"/>
                </a:solidFill>
              </a:rPr>
              <a:t>funcionamento</a:t>
            </a:r>
            <a:r>
              <a:rPr lang="en-US" sz="2800" dirty="0">
                <a:solidFill>
                  <a:schemeClr val="bg1"/>
                </a:solidFill>
              </a:rPr>
              <a:t> da rede </a:t>
            </a:r>
            <a:r>
              <a:rPr lang="en-US" sz="2800" dirty="0" err="1">
                <a:solidFill>
                  <a:schemeClr val="bg1"/>
                </a:solidFill>
              </a:rPr>
              <a:t>assistencial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na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área</a:t>
            </a:r>
            <a:r>
              <a:rPr lang="en-US" sz="2800" dirty="0">
                <a:solidFill>
                  <a:schemeClr val="bg1"/>
                </a:solidFill>
              </a:rPr>
              <a:t> do HGJM, </a:t>
            </a:r>
            <a:r>
              <a:rPr lang="en-US" sz="2800" dirty="0" err="1">
                <a:solidFill>
                  <a:schemeClr val="bg1"/>
                </a:solidFill>
              </a:rPr>
              <a:t>desde</a:t>
            </a:r>
            <a:r>
              <a:rPr lang="en-US" sz="2800" dirty="0">
                <a:solidFill>
                  <a:schemeClr val="bg1"/>
                </a:solidFill>
              </a:rPr>
              <a:t> as </a:t>
            </a:r>
            <a:r>
              <a:rPr lang="en-US" sz="2800" dirty="0" err="1">
                <a:solidFill>
                  <a:schemeClr val="bg1"/>
                </a:solidFill>
              </a:rPr>
              <a:t>unidades</a:t>
            </a:r>
            <a:r>
              <a:rPr lang="en-US" sz="2800" dirty="0">
                <a:solidFill>
                  <a:schemeClr val="bg1"/>
                </a:solidFill>
              </a:rPr>
              <a:t> de </a:t>
            </a:r>
            <a:r>
              <a:rPr lang="en-US" sz="2800" dirty="0" err="1">
                <a:solidFill>
                  <a:schemeClr val="bg1"/>
                </a:solidFill>
              </a:rPr>
              <a:t>origem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até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ao</a:t>
            </a:r>
            <a:r>
              <a:rPr lang="en-US" sz="2800" dirty="0">
                <a:solidFill>
                  <a:schemeClr val="bg1"/>
                </a:solidFill>
              </a:rPr>
              <a:t> hospital de </a:t>
            </a:r>
            <a:r>
              <a:rPr lang="en-US" sz="2800" dirty="0" err="1">
                <a:solidFill>
                  <a:schemeClr val="bg1"/>
                </a:solidFill>
              </a:rPr>
              <a:t>referência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avaliando</a:t>
            </a:r>
            <a:r>
              <a:rPr lang="en-US" sz="2800" dirty="0">
                <a:solidFill>
                  <a:schemeClr val="bg1"/>
                </a:solidFill>
              </a:rPr>
              <a:t> o </a:t>
            </a:r>
            <a:r>
              <a:rPr lang="en-US" sz="2800" dirty="0" err="1">
                <a:solidFill>
                  <a:schemeClr val="bg1"/>
                </a:solidFill>
              </a:rPr>
              <a:t>fluxo</a:t>
            </a:r>
            <a:r>
              <a:rPr lang="en-US" sz="2800" dirty="0">
                <a:solidFill>
                  <a:schemeClr val="bg1"/>
                </a:solidFill>
              </a:rPr>
              <a:t> de </a:t>
            </a:r>
            <a:r>
              <a:rPr lang="en-US" sz="2800" dirty="0" err="1">
                <a:solidFill>
                  <a:schemeClr val="bg1"/>
                </a:solidFill>
              </a:rPr>
              <a:t>atendimento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referência</a:t>
            </a:r>
            <a:r>
              <a:rPr lang="en-US" sz="2800" dirty="0">
                <a:solidFill>
                  <a:schemeClr val="bg1"/>
                </a:solidFill>
              </a:rPr>
              <a:t> e contra-</a:t>
            </a:r>
            <a:r>
              <a:rPr lang="en-US" sz="2800" dirty="0" err="1">
                <a:solidFill>
                  <a:schemeClr val="bg1"/>
                </a:solidFill>
              </a:rPr>
              <a:t>referência</a:t>
            </a:r>
            <a:r>
              <a:rPr lang="en-US" sz="2800" dirty="0">
                <a:solidFill>
                  <a:schemeClr val="bg1"/>
                </a:solidFill>
              </a:rPr>
              <a:t> e </a:t>
            </a:r>
            <a:r>
              <a:rPr lang="en-US" sz="2800" dirty="0" err="1">
                <a:solidFill>
                  <a:schemeClr val="bg1"/>
                </a:solidFill>
              </a:rPr>
              <a:t>os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respectivos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desfechos</a:t>
            </a:r>
            <a:r>
              <a:rPr lang="en-US" sz="2800" dirty="0">
                <a:solidFill>
                  <a:schemeClr val="bg1"/>
                </a:solidFill>
              </a:rPr>
              <a:t>, com vista a </a:t>
            </a:r>
            <a:r>
              <a:rPr lang="en-US" sz="2800" dirty="0" err="1">
                <a:solidFill>
                  <a:schemeClr val="bg1"/>
                </a:solidFill>
              </a:rPr>
              <a:t>identificar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pontos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críticos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na</a:t>
            </a:r>
            <a:r>
              <a:rPr lang="en-US" sz="2800" dirty="0">
                <a:solidFill>
                  <a:schemeClr val="bg1"/>
                </a:solidFill>
              </a:rPr>
              <a:t> rede e </a:t>
            </a:r>
            <a:r>
              <a:rPr lang="en-US" sz="2800" dirty="0" err="1">
                <a:solidFill>
                  <a:schemeClr val="bg1"/>
                </a:solidFill>
              </a:rPr>
              <a:t>orientar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medidas</a:t>
            </a:r>
            <a:r>
              <a:rPr lang="en-US" sz="2800" dirty="0">
                <a:solidFill>
                  <a:schemeClr val="bg1"/>
                </a:solidFill>
              </a:rPr>
              <a:t> para </a:t>
            </a:r>
            <a:r>
              <a:rPr lang="en-US" sz="2800" dirty="0" err="1">
                <a:solidFill>
                  <a:schemeClr val="bg1"/>
                </a:solidFill>
              </a:rPr>
              <a:t>optimizar</a:t>
            </a:r>
            <a:r>
              <a:rPr lang="en-US" sz="2800" dirty="0">
                <a:solidFill>
                  <a:schemeClr val="bg1"/>
                </a:solidFill>
              </a:rPr>
              <a:t> a </a:t>
            </a:r>
            <a:r>
              <a:rPr lang="en-US" sz="2800" dirty="0" err="1">
                <a:solidFill>
                  <a:schemeClr val="bg1"/>
                </a:solidFill>
              </a:rPr>
              <a:t>distribuição</a:t>
            </a:r>
            <a:r>
              <a:rPr lang="en-US" sz="2800" dirty="0">
                <a:solidFill>
                  <a:schemeClr val="bg1"/>
                </a:solidFill>
              </a:rPr>
              <a:t> da </a:t>
            </a:r>
            <a:r>
              <a:rPr lang="en-US" sz="2800" dirty="0" err="1">
                <a:solidFill>
                  <a:schemeClr val="bg1"/>
                </a:solidFill>
              </a:rPr>
              <a:t>procura</a:t>
            </a:r>
            <a:r>
              <a:rPr lang="en-US" sz="2800" dirty="0">
                <a:solidFill>
                  <a:schemeClr val="bg1"/>
                </a:solidFill>
              </a:rPr>
              <a:t> e </a:t>
            </a:r>
            <a:r>
              <a:rPr lang="en-US" sz="2800" dirty="0" err="1">
                <a:solidFill>
                  <a:schemeClr val="bg1"/>
                </a:solidFill>
              </a:rPr>
              <a:t>reduzir</a:t>
            </a:r>
            <a:r>
              <a:rPr lang="en-US" sz="2800" dirty="0">
                <a:solidFill>
                  <a:schemeClr val="bg1"/>
                </a:solidFill>
              </a:rPr>
              <a:t> a </a:t>
            </a:r>
            <a:r>
              <a:rPr lang="en-US" sz="2800" dirty="0" err="1">
                <a:solidFill>
                  <a:schemeClr val="bg1"/>
                </a:solidFill>
              </a:rPr>
              <a:t>pressão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evitável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sobre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os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serviços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hospitalares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43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1184223" y="221163"/>
            <a:ext cx="10463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Fluxo de Transferência de Pacientes de CS para Hospital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482183" y="1228002"/>
            <a:ext cx="1147402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914400">
              <a:buFont typeface="Wingdings" pitchFamily="2" charset="2"/>
              <a:buChar char="q"/>
            </a:pPr>
            <a:r>
              <a:rPr lang="pt-PT" sz="2400" dirty="0">
                <a:solidFill>
                  <a:schemeClr val="bg1"/>
                </a:solidFill>
                <a:cs typeface="Arial" panose="020B0604020202020204" pitchFamily="34" charset="0"/>
              </a:rPr>
              <a:t>O número</a:t>
            </a:r>
            <a:r>
              <a:rPr lang="pt-BR" sz="2400" dirty="0">
                <a:solidFill>
                  <a:schemeClr val="bg1"/>
                </a:solidFill>
              </a:rPr>
              <a:t> de doentes transferidos para o HGJM aumentou de 903, em 2025, para 1.140, em 2026, correspondendo a um crescimento de 26%, com uma media diaria de 6 doentes.</a:t>
            </a:r>
          </a:p>
          <a:p>
            <a:pPr marL="457200" indent="-457200" algn="just" defTabSz="914400">
              <a:buFont typeface="Wingdings" pitchFamily="2" charset="2"/>
              <a:buChar char="q"/>
            </a:pPr>
            <a:endParaRPr lang="pt-PT" altLang="en-US" sz="28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r>
              <a:rPr lang="pt-BR" sz="2400" dirty="0">
                <a:solidFill>
                  <a:schemeClr val="bg1"/>
                </a:solidFill>
              </a:rPr>
              <a:t>Os doentes são proveniente das Maternidades e dos Bancos de Socorro  dos Centros de Saúde, da area de saude do HGJM.</a:t>
            </a:r>
          </a:p>
          <a:p>
            <a:pPr marL="457200" indent="-457200" algn="just" defTabSz="914400">
              <a:buFont typeface="Wingdings" pitchFamily="2" charset="2"/>
              <a:buChar char="q"/>
            </a:pPr>
            <a:endParaRPr lang="pt-PT" sz="2400" dirty="0">
              <a:solidFill>
                <a:schemeClr val="bg1"/>
              </a:solidFill>
            </a:endParaRPr>
          </a:p>
          <a:p>
            <a:pPr algn="just" defTabSz="914400"/>
            <a:endParaRPr lang="pt-PT" sz="2400" dirty="0">
              <a:solidFill>
                <a:schemeClr val="bg1"/>
              </a:solidFill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r>
              <a:rPr lang="pt-BR" sz="2400" dirty="0">
                <a:solidFill>
                  <a:schemeClr val="bg1"/>
                </a:solidFill>
              </a:rPr>
              <a:t>Para além dos doentes referenciados da área, o hospital tambem recebe doentes transferidos da provincia de Maputo.</a:t>
            </a:r>
            <a:endParaRPr lang="pt-PT" sz="28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686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1783830" y="221163"/>
            <a:ext cx="10028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Capacidade de RH por turno dos CS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482183" y="1228002"/>
            <a:ext cx="1118594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914400">
              <a:buFont typeface="Wingdings" pitchFamily="2" charset="2"/>
              <a:buChar char="q"/>
            </a:pPr>
            <a:r>
              <a:rPr lang="pt-BR" sz="2800" dirty="0">
                <a:solidFill>
                  <a:schemeClr val="bg1"/>
                </a:solidFill>
                <a:cs typeface="Arial" panose="020B0604020202020204" pitchFamily="34" charset="0"/>
              </a:rPr>
              <a:t>Entre 2025 e 2026, o número de técnicos por turno manteve-se inalterado nos  Centros de Saúde analisados.</a:t>
            </a:r>
          </a:p>
          <a:p>
            <a:pPr algn="just" defTabSz="914400"/>
            <a:endParaRPr lang="pt-PT" altLang="en-US" sz="28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r>
              <a:rPr lang="pt-BR" sz="2800" dirty="0">
                <a:solidFill>
                  <a:schemeClr val="bg1"/>
                </a:solidFill>
                <a:cs typeface="Arial" panose="020B0604020202020204" pitchFamily="34" charset="0"/>
              </a:rPr>
              <a:t>Os CS de Zimpeto, Catembe e Xipamanine dispõem de 1 técnico por turno e o CS de Bagamoio funciona com 2 técnicos por turno, devido ao BS que funciona 24h.</a:t>
            </a:r>
            <a:endParaRPr lang="pt-PT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65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1C7059-FD03-7587-4203-038EDFDDC552}"/>
              </a:ext>
            </a:extLst>
          </p:cNvPr>
          <p:cNvSpPr txBox="1"/>
          <p:nvPr/>
        </p:nvSpPr>
        <p:spPr>
          <a:xfrm>
            <a:off x="1064302" y="221163"/>
            <a:ext cx="10942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Capacidade de RH por Turno do Hospital Geral José Macamo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0" y="1027977"/>
            <a:ext cx="121158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/>
            <a:endParaRPr lang="pt-PT" sz="28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O </a:t>
            </a:r>
            <a:r>
              <a:rPr 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Banco de Socorro</a:t>
            </a:r>
            <a:r>
              <a:rPr lang="pt-BR" sz="2800" dirty="0">
                <a:solidFill>
                  <a:schemeClr val="bg1"/>
                </a:solidFill>
                <a:cs typeface="Arial" panose="020B0604020202020204" pitchFamily="34" charset="0"/>
              </a:rPr>
              <a:t>, conta com 2 médicos, 2 TMG, 4 enfermeiros gerais, 1 administrativo e 1 agente de serviço, 1 motorista.</a:t>
            </a:r>
          </a:p>
          <a:p>
            <a:pPr algn="just" defTabSz="914400"/>
            <a:endParaRPr lang="pt-PT" sz="28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just" defTabSz="914400"/>
            <a:endParaRPr lang="pt-PT" sz="28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r>
              <a:rPr 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A Maternidade </a:t>
            </a:r>
            <a:r>
              <a:rPr lang="pt-BR" sz="2800" dirty="0">
                <a:solidFill>
                  <a:schemeClr val="bg1"/>
                </a:solidFill>
                <a:cs typeface="Arial" panose="020B0604020202020204" pitchFamily="34" charset="0"/>
              </a:rPr>
              <a:t>dispõe de 2 médicos, 5 enfermeiros, 1 administrativo e 1 agente de serviço.</a:t>
            </a:r>
          </a:p>
          <a:p>
            <a:pPr marL="457200" indent="-457200" algn="just" defTabSz="914400">
              <a:buFont typeface="Wingdings" pitchFamily="2" charset="2"/>
              <a:buChar char="q"/>
            </a:pPr>
            <a:endParaRPr lang="pt-PT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155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1426819" y="244826"/>
            <a:ext cx="10837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Movimento do Banco de Socorros dos CS – 1º Semestre</a:t>
            </a:r>
            <a:endParaRPr lang="pt-BR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4877798"/>
              </p:ext>
            </p:extLst>
          </p:nvPr>
        </p:nvGraphicFramePr>
        <p:xfrm>
          <a:off x="479834" y="1278910"/>
          <a:ext cx="11343992" cy="511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B1DAB2-44BE-44E1-05E5-0CDD90CB9EBB}"/>
              </a:ext>
            </a:extLst>
          </p:cNvPr>
          <p:cNvSpPr txBox="1"/>
          <p:nvPr/>
        </p:nvSpPr>
        <p:spPr>
          <a:xfrm>
            <a:off x="2416994" y="221163"/>
            <a:ext cx="8780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Desfecho no Banco de socorros ao Nível dos CS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868088"/>
              </p:ext>
            </p:extLst>
          </p:nvPr>
        </p:nvGraphicFramePr>
        <p:xfrm>
          <a:off x="737571" y="1250151"/>
          <a:ext cx="11059688" cy="5090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F187D9-43B4-BCEC-1672-FD9EE13C5993}"/>
              </a:ext>
            </a:extLst>
          </p:cNvPr>
          <p:cNvSpPr txBox="1"/>
          <p:nvPr/>
        </p:nvSpPr>
        <p:spPr>
          <a:xfrm>
            <a:off x="424275" y="92364"/>
            <a:ext cx="1113905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Consultas Externas da Área do HGJM</a:t>
            </a:r>
          </a:p>
          <a:p>
            <a:pPr algn="ctr" defTabSz="914400"/>
            <a:r>
              <a:rPr lang="pt-PT" altLang="en-US" sz="2600" b="1" dirty="0">
                <a:solidFill>
                  <a:schemeClr val="bg1"/>
                </a:solidFill>
                <a:cs typeface="Arial" panose="020B0604020202020204" pitchFamily="34" charset="0"/>
              </a:rPr>
              <a:t> (1ªs e consultas seguintes) – 1º Semestre</a:t>
            </a:r>
            <a:endParaRPr lang="pt-BR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158558"/>
              </p:ext>
            </p:extLst>
          </p:nvPr>
        </p:nvGraphicFramePr>
        <p:xfrm>
          <a:off x="327521" y="1175270"/>
          <a:ext cx="11332564" cy="5189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94085" y="221163"/>
            <a:ext cx="102930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Principais Causas de Transferência dos CS para o Hospital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248819"/>
              </p:ext>
            </p:extLst>
          </p:nvPr>
        </p:nvGraphicFramePr>
        <p:xfrm>
          <a:off x="511955" y="1151164"/>
          <a:ext cx="11056840" cy="491055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64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4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186">
                <a:tc rowSpan="2">
                  <a:txBody>
                    <a:bodyPr/>
                    <a:lstStyle/>
                    <a:p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Diagnósticos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Nº de Casos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1" dirty="0" err="1">
                          <a:solidFill>
                            <a:schemeClr val="bg1"/>
                          </a:solidFill>
                        </a:rPr>
                        <a:t>Evol</a:t>
                      </a:r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pt-PT" b="1" baseline="0" dirty="0">
                          <a:solidFill>
                            <a:schemeClr val="bg1"/>
                          </a:solidFill>
                        </a:rPr>
                        <a:t> (%)</a:t>
                      </a:r>
                      <a:endParaRPr lang="pt-PT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pt-PT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624">
                <a:tc vMerge="1">
                  <a:txBody>
                    <a:bodyPr/>
                    <a:lstStyle/>
                    <a:p>
                      <a:endParaRPr lang="pt-PT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2025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2026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PT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44">
                <a:tc>
                  <a:txBody>
                    <a:bodyPr/>
                    <a:lstStyle/>
                    <a:p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Trauma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GB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465">
                <a:tc>
                  <a:txBody>
                    <a:bodyPr/>
                    <a:lstStyle/>
                    <a:p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Insuficiência Respiratória</a:t>
                      </a:r>
                      <a:r>
                        <a:rPr lang="pt-PT" b="1" baseline="0" dirty="0">
                          <a:solidFill>
                            <a:schemeClr val="bg1"/>
                          </a:solidFill>
                        </a:rPr>
                        <a:t> Aguda</a:t>
                      </a:r>
                      <a:endParaRPr lang="pt-PT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GB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44">
                <a:tc>
                  <a:txBody>
                    <a:bodyPr/>
                    <a:lstStyle/>
                    <a:p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Queda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GB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229">
                <a:tc>
                  <a:txBody>
                    <a:bodyPr/>
                    <a:lstStyle/>
                    <a:p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Distúrbios</a:t>
                      </a:r>
                      <a:r>
                        <a:rPr lang="pt-PT" b="1" baseline="0" dirty="0">
                          <a:solidFill>
                            <a:schemeClr val="bg1"/>
                          </a:solidFill>
                        </a:rPr>
                        <a:t> Gastrointestinais</a:t>
                      </a:r>
                      <a:endParaRPr lang="pt-PT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GB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744">
                <a:tc>
                  <a:txBody>
                    <a:bodyPr/>
                    <a:lstStyle/>
                    <a:p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Malária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GB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141%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225">
                <a:tc>
                  <a:txBody>
                    <a:bodyPr/>
                    <a:lstStyle/>
                    <a:p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Hipertensão arterial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GB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8744">
                <a:tc>
                  <a:txBody>
                    <a:bodyPr/>
                    <a:lstStyle/>
                    <a:p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561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1" dirty="0">
                          <a:solidFill>
                            <a:schemeClr val="bg1"/>
                          </a:solidFill>
                        </a:rPr>
                        <a:t>679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GB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21%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32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1E5213-67D7-62F9-547B-DF0C7F4D6C54}"/>
              </a:ext>
            </a:extLst>
          </p:cNvPr>
          <p:cNvSpPr txBox="1"/>
          <p:nvPr/>
        </p:nvSpPr>
        <p:spPr>
          <a:xfrm>
            <a:off x="1052945" y="230399"/>
            <a:ext cx="108792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Desempenho do Serviço de Urgência no HGJM – 1º Semestre</a:t>
            </a:r>
          </a:p>
          <a:p>
            <a:pPr algn="ctr" defTabSz="914400"/>
            <a:r>
              <a:rPr lang="pt-PT" dirty="0">
                <a:solidFill>
                  <a:schemeClr val="bg1"/>
                </a:solidFill>
                <a:cs typeface="Arial" panose="020B0604020202020204" pitchFamily="34" charset="0"/>
              </a:rPr>
              <a:t>(BS, sala de partos, urgência de ginecologia)</a:t>
            </a:r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6791797"/>
              </p:ext>
            </p:extLst>
          </p:nvPr>
        </p:nvGraphicFramePr>
        <p:xfrm>
          <a:off x="422378" y="1249410"/>
          <a:ext cx="11509791" cy="5079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1043709" y="221163"/>
            <a:ext cx="11065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Proveniência de Pacientes no HGJM-SUR 1º Semestre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0744797"/>
              </p:ext>
            </p:extLst>
          </p:nvPr>
        </p:nvGraphicFramePr>
        <p:xfrm>
          <a:off x="462578" y="1204712"/>
          <a:ext cx="11499573" cy="4986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1059255" y="221163"/>
            <a:ext cx="11009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Movimentos no Banco de Socorros HGJM-1º Semestre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8359845"/>
              </p:ext>
            </p:extLst>
          </p:nvPr>
        </p:nvGraphicFramePr>
        <p:xfrm>
          <a:off x="422378" y="1143000"/>
          <a:ext cx="11509791" cy="527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1636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1048408" y="127534"/>
            <a:ext cx="109137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200" b="1" dirty="0">
                <a:solidFill>
                  <a:schemeClr val="bg1"/>
                </a:solidFill>
                <a:cs typeface="Arial" panose="020B0604020202020204" pitchFamily="34" charset="0"/>
              </a:rPr>
              <a:t>Taxa de Ocupação de Cama no Internamento-HGJM</a:t>
            </a:r>
            <a:endParaRPr lang="pt-BR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graphicFrame>
        <p:nvGraphicFramePr>
          <p:cNvPr id="4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8873474"/>
              </p:ext>
            </p:extLst>
          </p:nvPr>
        </p:nvGraphicFramePr>
        <p:xfrm>
          <a:off x="0" y="970318"/>
          <a:ext cx="12191999" cy="5189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2840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1319134" y="127534"/>
            <a:ext cx="106430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Tempo Médio de Internamento-HGJM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graphicFrame>
        <p:nvGraphicFramePr>
          <p:cNvPr id="4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5009128"/>
              </p:ext>
            </p:extLst>
          </p:nvPr>
        </p:nvGraphicFramePr>
        <p:xfrm>
          <a:off x="0" y="970318"/>
          <a:ext cx="12191999" cy="5189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8587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94085" y="202501"/>
            <a:ext cx="10028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Desafios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207055" y="1002761"/>
            <a:ext cx="11215450" cy="538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914400">
              <a:lnSpc>
                <a:spcPct val="150000"/>
              </a:lnSpc>
              <a:buFont typeface="Wingdings" pitchFamily="2" charset="2"/>
              <a:buChar char="q"/>
            </a:pPr>
            <a:r>
              <a:rPr lang="pt-PT" alt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Garantir a disponibilidade de RH suficientes para melhoria da qualidade de atendimento aos doentes.</a:t>
            </a:r>
          </a:p>
          <a:p>
            <a:pPr marL="457200" indent="-457200" algn="just" defTabSz="914400">
              <a:lnSpc>
                <a:spcPct val="150000"/>
              </a:lnSpc>
              <a:buFont typeface="Wingdings" pitchFamily="2" charset="2"/>
              <a:buChar char="q"/>
            </a:pPr>
            <a:r>
              <a:rPr lang="pt-PT" alt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Fazer a revisão dos RH disponíveis e auferir a existência de RH ociosos com vista a fazer a reorientação dos mesmos.</a:t>
            </a:r>
          </a:p>
          <a:p>
            <a:pPr marL="457200" indent="-457200" algn="just" defTabSz="914400">
              <a:lnSpc>
                <a:spcPct val="150000"/>
              </a:lnSpc>
              <a:buFont typeface="Wingdings" pitchFamily="2" charset="2"/>
              <a:buChar char="q"/>
            </a:pPr>
            <a:r>
              <a:rPr lang="pt-PT" alt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Garantir a disponibilidade de motoristas nos CS de modo que possam fazer a cobertura da US em 24h.</a:t>
            </a:r>
          </a:p>
          <a:p>
            <a:pPr marL="457200" indent="-457200" algn="just" defTabSz="914400">
              <a:lnSpc>
                <a:spcPct val="150000"/>
              </a:lnSpc>
              <a:buFont typeface="Wingdings" pitchFamily="2" charset="2"/>
              <a:buChar char="q"/>
            </a:pPr>
            <a:r>
              <a:rPr lang="pt-BR" sz="24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pt-PT" alt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Ambulâncias funcionais bem como  o combustível para referência de pacientes em toda área do HGJM.</a:t>
            </a:r>
          </a:p>
          <a:p>
            <a:pPr marL="457200" indent="-457200" algn="just" defTabSz="914400">
              <a:lnSpc>
                <a:spcPct val="150000"/>
              </a:lnSpc>
              <a:buFont typeface="Wingdings" pitchFamily="2" charset="2"/>
              <a:buChar char="q"/>
            </a:pPr>
            <a:r>
              <a:rPr lang="pt-BR" sz="2000" b="1" dirty="0">
                <a:solidFill>
                  <a:schemeClr val="bg1"/>
                </a:solidFill>
                <a:cs typeface="Arial" panose="020B0604020202020204" pitchFamily="34" charset="0"/>
              </a:rPr>
              <a:t>Reforço do orçamento e a disponibiidade atempada do mesmo. </a:t>
            </a:r>
            <a:r>
              <a:rPr lang="pt-BR" sz="2000" dirty="0">
                <a:solidFill>
                  <a:schemeClr val="bg1"/>
                </a:solidFill>
                <a:cs typeface="Arial" panose="020B0604020202020204" pitchFamily="34" charset="0"/>
              </a:rPr>
              <a:t>(combustivel, reparação de viaturas, aimentação nos CS etc).</a:t>
            </a:r>
            <a:endParaRPr lang="pt-PT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57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94085" y="217474"/>
            <a:ext cx="10028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Plano de Melhoria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85725" y="1228002"/>
            <a:ext cx="118491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914400">
              <a:buFont typeface="Wingdings" pitchFamily="2" charset="2"/>
              <a:buChar char="q"/>
            </a:pPr>
            <a:r>
              <a:rPr 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Visita trimestrais integradas do HGJM aos CS para supervisão e apoio tecnico.</a:t>
            </a:r>
          </a:p>
          <a:p>
            <a:pPr algn="just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r>
              <a:rPr 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Capacitação das enfermeiras de SMI para melhoria da qualidade da CPN e cuidados obstetricos.</a:t>
            </a:r>
          </a:p>
          <a:p>
            <a:pPr algn="just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buFont typeface="Wingdings" pitchFamily="2" charset="2"/>
              <a:buChar char="q"/>
            </a:pPr>
            <a:r>
              <a:rPr 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Formação em serviço dos técnicos (SMI e TMG) e discusão de casos clinicos.</a:t>
            </a:r>
          </a:p>
        </p:txBody>
      </p:sp>
    </p:spTree>
    <p:extLst>
      <p:ext uri="{BB962C8B-B14F-4D97-AF65-F5344CB8AC3E}">
        <p14:creationId xmlns:p14="http://schemas.microsoft.com/office/powerpoint/2010/main" val="608951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!”k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10199</TotalTime>
  <Words>744</Words>
  <Application>Microsoft Office PowerPoint</Application>
  <PresentationFormat>Ecrã Panorâmico</PresentationFormat>
  <Paragraphs>116</Paragraphs>
  <Slides>19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34" baseType="lpstr">
      <vt:lpstr>Garet Bold</vt:lpstr>
      <vt:lpstr>Garet Bold Italics</vt:lpstr>
      <vt:lpstr>MS PGothic</vt:lpstr>
      <vt:lpstr>Aptos</vt:lpstr>
      <vt:lpstr>Arial</vt:lpstr>
      <vt:lpstr>Arial Narrow</vt:lpstr>
      <vt:lpstr>Calibri</vt:lpstr>
      <vt:lpstr>Century Gothic</vt:lpstr>
      <vt:lpstr>Comic Sans MS</vt:lpstr>
      <vt:lpstr>Garamond</vt:lpstr>
      <vt:lpstr>Times New Roman</vt:lpstr>
      <vt:lpstr>Trebuchet MS</vt:lpstr>
      <vt:lpstr>Wingdings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Jenilson guambe</cp:lastModifiedBy>
  <cp:revision>241</cp:revision>
  <cp:lastPrinted>2026-09-30T05:53:00Z</cp:lastPrinted>
  <dcterms:created xsi:type="dcterms:W3CDTF">2025-07-14T08:03:00Z</dcterms:created>
  <dcterms:modified xsi:type="dcterms:W3CDTF">2026-10-10T18:00:35Z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