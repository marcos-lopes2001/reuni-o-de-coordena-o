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345" r:id="rId4"/>
    <p:sldId id="346" r:id="rId5"/>
    <p:sldId id="347" r:id="rId6"/>
    <p:sldId id="348" r:id="rId7"/>
    <p:sldId id="351" r:id="rId8"/>
    <p:sldId id="352" r:id="rId9"/>
    <p:sldId id="353" r:id="rId10"/>
    <p:sldId id="354" r:id="rId11"/>
    <p:sldId id="344" r:id="rId12"/>
    <p:sldId id="355" r:id="rId13"/>
    <p:sldId id="343" r:id="rId14"/>
  </p:sldIdLst>
  <p:sldSz cx="12192000" cy="6858000"/>
  <p:notesSz cx="6858000" cy="9144000"/>
  <p:custDataLst>
    <p:tags r:id="rId17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" lastIdx="0" clrIdx="0"/>
  <p:cmAuthor id="2" name="Maria da Luz Velho VAZ" initials="" lastIdx="0" clrIdx="1"/>
  <p:cmAuthor id="3" name="Nelita Nassone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8FD"/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35"/>
    <p:restoredTop sz="94648"/>
  </p:normalViewPr>
  <p:slideViewPr>
    <p:cSldViewPr snapToGrid="0">
      <p:cViewPr varScale="1">
        <p:scale>
          <a:sx n="99" d="100"/>
          <a:sy n="99" d="100"/>
        </p:scale>
        <p:origin x="2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76"/>
    </p:cViewPr>
  </p:sorter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1DC68F-8B2C-CA23-8B5B-106CC325D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C4CB5-B549-5A34-AD1E-2D8F527CD7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A9B5E7-730D-47F3-A20F-21BEEC4675EC}" type="datetimeFigureOut">
              <a:rPr lang="en-US"/>
              <a:pPr>
                <a:defRPr/>
              </a:pPr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C1B0C-5C66-58FB-709F-C521B149C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3DECB-0946-2995-68E8-A73D83DC43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CFE4AED-41EF-44BB-A7AE-BB514A6161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B5BD0D-6CA1-CD12-446D-4A1C87137C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4F9314-9251-0913-9B46-0A81B2FF22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C208207-5B48-4395-8D1E-F22232184DB3}" type="datetimeFigureOut">
              <a:rPr lang="en-US"/>
              <a:pPr>
                <a:defRPr/>
              </a:pPr>
              <a:t>10/12/26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216246D-E8C1-22F1-D549-A499F068F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B2171CB-3327-65A7-23E7-B5A842534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3224F-F420-78FC-CD08-97664255BB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CC3C7-5B2A-D444-6A56-F0D9391E5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A9D756-8865-4D09-887F-FA6D13893A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:a16="http://schemas.microsoft.com/office/drawing/2014/main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Posição de Notas 2">
            <a:extLst>
              <a:ext uri="{FF2B5EF4-FFF2-40B4-BE49-F238E27FC236}">
                <a16:creationId xmlns:a16="http://schemas.microsoft.com/office/drawing/2014/main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:a16="http://schemas.microsoft.com/office/drawing/2014/main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3785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84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59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:a16="http://schemas.microsoft.com/office/drawing/2014/main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05" r:id="rId3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686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650" y="5972175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939" y="1179581"/>
            <a:ext cx="9029700" cy="18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</a:t>
            </a:r>
            <a:endParaRPr lang="pt-PT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:a16="http://schemas.microsoft.com/office/drawing/2014/main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01" y="174625"/>
            <a:ext cx="1109609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F74C49A-5555-F6DF-2344-48955F797FD8}"/>
              </a:ext>
            </a:extLst>
          </p:cNvPr>
          <p:cNvSpPr txBox="1"/>
          <p:nvPr/>
        </p:nvSpPr>
        <p:spPr>
          <a:xfrm>
            <a:off x="698643" y="3575878"/>
            <a:ext cx="10705672" cy="104749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BR" altLang="en-US" sz="3200" b="1" dirty="0">
                <a:ea typeface="MS PGothic" panose="020B0600070205080204" pitchFamily="34" charset="-128"/>
              </a:rPr>
              <a:t>Tema: “Problemas de Uso de álcool no trabalhador: implicações para o local de trabalho</a:t>
            </a:r>
            <a:r>
              <a:rPr lang="en-US" altLang="en-US" sz="3200" b="1" dirty="0">
                <a:ea typeface="MS PGothic" panose="020B0600070205080204" pitchFamily="34" charset="-128"/>
              </a:rPr>
              <a:t>” </a:t>
            </a:r>
            <a:endParaRPr lang="pt-BR" sz="3200" b="1" dirty="0">
              <a:solidFill>
                <a:srgbClr val="DBEFF9">
                  <a:lumMod val="25000"/>
                </a:srgbClr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7E823-D380-E273-595E-61F6F2EB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6D8B86-B83D-4C8D-3792-B16F375CBE53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MZ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 da apresentação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A3970E-9389-B344-A17C-EDC56265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83A067-1A16-A849-89BF-C6AE0A813693}"/>
              </a:ext>
            </a:extLst>
          </p:cNvPr>
          <p:cNvCxnSpPr>
            <a:cxnSpLocks/>
          </p:cNvCxnSpPr>
          <p:nvPr/>
        </p:nvCxnSpPr>
        <p:spPr>
          <a:xfrm>
            <a:off x="1782147" y="1096682"/>
            <a:ext cx="0" cy="5527142"/>
          </a:xfrm>
          <a:prstGeom prst="line">
            <a:avLst/>
          </a:prstGeom>
          <a:ln w="1746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C78BE71-9FC1-9C45-95E0-587150C74AF1}"/>
              </a:ext>
            </a:extLst>
          </p:cNvPr>
          <p:cNvSpPr txBox="1"/>
          <p:nvPr/>
        </p:nvSpPr>
        <p:spPr>
          <a:xfrm>
            <a:off x="2314571" y="953802"/>
            <a:ext cx="5818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Z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Epidemiologia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DEC2C4-FB13-9F4B-BAC0-F1A7F222F71C}"/>
              </a:ext>
            </a:extLst>
          </p:cNvPr>
          <p:cNvSpPr txBox="1"/>
          <p:nvPr/>
        </p:nvSpPr>
        <p:spPr>
          <a:xfrm>
            <a:off x="2314571" y="2550006"/>
            <a:ext cx="7369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Z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Factores de Risco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B083A6-9D31-3D4E-8399-C4749D93C55E}"/>
              </a:ext>
            </a:extLst>
          </p:cNvPr>
          <p:cNvSpPr txBox="1"/>
          <p:nvPr/>
        </p:nvSpPr>
        <p:spPr>
          <a:xfrm>
            <a:off x="2314571" y="4029514"/>
            <a:ext cx="7882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Z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 sobre o trabalho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C8DA0E-BB27-3440-AC05-B7D270A12F25}"/>
              </a:ext>
            </a:extLst>
          </p:cNvPr>
          <p:cNvSpPr txBox="1"/>
          <p:nvPr/>
        </p:nvSpPr>
        <p:spPr>
          <a:xfrm>
            <a:off x="2314571" y="5770632"/>
            <a:ext cx="8630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Z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que pode ser feito?</a:t>
            </a:r>
          </a:p>
        </p:txBody>
      </p:sp>
    </p:spTree>
    <p:extLst>
      <p:ext uri="{BB962C8B-B14F-4D97-AF65-F5344CB8AC3E}">
        <p14:creationId xmlns:p14="http://schemas.microsoft.com/office/powerpoint/2010/main" val="34944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7151C-0345-7F15-F974-6C44ADA0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1C7059-FD03-7587-4203-038EDFDDC552}"/>
              </a:ext>
            </a:extLst>
          </p:cNvPr>
          <p:cNvSpPr txBox="1"/>
          <p:nvPr/>
        </p:nvSpPr>
        <p:spPr>
          <a:xfrm>
            <a:off x="1117583" y="200278"/>
            <a:ext cx="105695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Epidemiologia- prevalência de uso de substancias entre trabalhadores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5F6B58-9E13-B434-88A5-50020F4F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2DDF84-D247-DC44-950E-F618E6236E9B}"/>
              </a:ext>
            </a:extLst>
          </p:cNvPr>
          <p:cNvSpPr txBox="1"/>
          <p:nvPr/>
        </p:nvSpPr>
        <p:spPr>
          <a:xfrm>
            <a:off x="625642" y="1299411"/>
            <a:ext cx="112615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800" b="1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Mundo: </a:t>
            </a:r>
            <a:r>
              <a:rPr lang="pt-PT" sz="18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Uso nocivo de álcool resulta em 2,5 milhões de mortes anualmente e é responsável por quase 4% das mortes em todo o mundo (GAPA, 2011; OMS, 2014).</a:t>
            </a:r>
            <a:endParaRPr lang="en-MZ" dirty="0">
              <a:solidFill>
                <a:schemeClr val="bg1"/>
              </a:solidFill>
            </a:endParaRPr>
          </a:p>
          <a:p>
            <a:r>
              <a:rPr lang="en-MZ" b="1" dirty="0">
                <a:solidFill>
                  <a:schemeClr val="bg1"/>
                </a:solidFill>
              </a:rPr>
              <a:t>EUA</a:t>
            </a:r>
            <a:r>
              <a:rPr lang="en-MZ" dirty="0">
                <a:solidFill>
                  <a:schemeClr val="bg1"/>
                </a:solidFill>
              </a:rPr>
              <a:t>: Uso ilícito 14.1% de trabalhadores adultos</a:t>
            </a:r>
          </a:p>
          <a:p>
            <a:r>
              <a:rPr lang="en-MZ" dirty="0">
                <a:solidFill>
                  <a:schemeClr val="bg1"/>
                </a:solidFill>
              </a:rPr>
              <a:t>EUA: 8.7% de trabalhadores dos 18 a 64 anos uso grave de alcool; 8.6% usaram drogas ilícitas e 9.5% tinham Perturbação por uso de substâncias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en-MZ" dirty="0">
                <a:solidFill>
                  <a:schemeClr val="bg1"/>
                </a:solidFill>
              </a:rPr>
              <a:t>ltas taxas de uso pesado de álcool: mineração- 17.5%; construção- 16.5%.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en-MZ" dirty="0">
                <a:solidFill>
                  <a:schemeClr val="bg1"/>
                </a:solidFill>
              </a:rPr>
              <a:t>ltas taxas de uso ilícito de drogas: acomodação e industria alimentar- 19.1%.</a:t>
            </a:r>
          </a:p>
          <a:p>
            <a:pPr marL="285750" indent="-285750">
              <a:buFontTx/>
              <a:buChar char="-"/>
            </a:pPr>
            <a:r>
              <a:rPr lang="en-MZ" dirty="0">
                <a:solidFill>
                  <a:schemeClr val="bg1"/>
                </a:solidFill>
              </a:rPr>
              <a:t>Altas taxas de PUS: acomodação e industria alimentar- 16.9%</a:t>
            </a:r>
          </a:p>
          <a:p>
            <a:r>
              <a:rPr lang="pt-PT" sz="1800" b="1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Canada:  </a:t>
            </a:r>
            <a:r>
              <a:rPr lang="pt-PT" sz="18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custo social geral do uso de substâncias, incluindo álcool e drogas, estimado em US$ 39,8 bilhões (</a:t>
            </a:r>
            <a:r>
              <a:rPr lang="pt-PT" sz="18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Rehm</a:t>
            </a:r>
            <a:r>
              <a:rPr lang="pt-PT" sz="18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sz="18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et</a:t>
            </a:r>
            <a:r>
              <a:rPr lang="pt-PT" sz="18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al, 2002)</a:t>
            </a:r>
            <a:endParaRPr lang="en-MZ" dirty="0">
              <a:solidFill>
                <a:schemeClr val="bg1"/>
              </a:solidFill>
            </a:endParaRPr>
          </a:p>
          <a:p>
            <a:r>
              <a:rPr lang="en-MZ" b="1" dirty="0">
                <a:solidFill>
                  <a:schemeClr val="bg1"/>
                </a:solidFill>
              </a:rPr>
              <a:t>Suécia: </a:t>
            </a:r>
            <a:r>
              <a:rPr lang="en-MZ" dirty="0">
                <a:solidFill>
                  <a:schemeClr val="bg1"/>
                </a:solidFill>
              </a:rPr>
              <a:t>5.6% de trabalhadores testaram positivo para uso droga ilícita em 2019.</a:t>
            </a:r>
          </a:p>
          <a:p>
            <a:r>
              <a:rPr lang="en-MZ" b="1" dirty="0">
                <a:solidFill>
                  <a:schemeClr val="bg1"/>
                </a:solidFill>
              </a:rPr>
              <a:t>Africa do Sul: </a:t>
            </a:r>
            <a:r>
              <a:rPr lang="en-MZ" dirty="0">
                <a:solidFill>
                  <a:schemeClr val="bg1"/>
                </a:solidFill>
              </a:rPr>
              <a:t>dados nacionais- 65.4% reportaram problema de uso de alcool; 34.6 reportaram uso de drogas.</a:t>
            </a:r>
          </a:p>
          <a:p>
            <a:r>
              <a:rPr lang="en-MZ" b="1" dirty="0">
                <a:solidFill>
                  <a:schemeClr val="bg1"/>
                </a:solidFill>
              </a:rPr>
              <a:t>Kenya:</a:t>
            </a:r>
            <a:r>
              <a:rPr lang="en-MZ" dirty="0">
                <a:solidFill>
                  <a:schemeClr val="bg1"/>
                </a:solidFill>
              </a:rPr>
              <a:t> 56% de funcionários públicos tinham problema com alcool, 23% usam tabaco; 16% usavam khat; 6.6% cannabis sativa e 1.3% outras drogas.</a:t>
            </a:r>
          </a:p>
          <a:p>
            <a:endParaRPr lang="en-M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63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DA2DE-BD14-4970-0E1D-527BD45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09F61-7516-D6FF-0B58-876EAC067054}"/>
              </a:ext>
            </a:extLst>
          </p:cNvPr>
          <p:cNvSpPr txBox="1"/>
          <p:nvPr/>
        </p:nvSpPr>
        <p:spPr>
          <a:xfrm>
            <a:off x="2416995" y="221163"/>
            <a:ext cx="77135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 err="1">
                <a:solidFill>
                  <a:schemeClr val="bg1"/>
                </a:solidFill>
                <a:cs typeface="Arial" panose="020B0604020202020204" pitchFamily="34" charset="0"/>
              </a:rPr>
              <a:t>Factores</a:t>
            </a:r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 de risco para uso de substâncias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96ED76-8F06-5B0E-0907-38C4A604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F88202-2D0F-D447-8D81-713269850FCD}"/>
              </a:ext>
            </a:extLst>
          </p:cNvPr>
          <p:cNvSpPr txBox="1"/>
          <p:nvPr/>
        </p:nvSpPr>
        <p:spPr>
          <a:xfrm>
            <a:off x="938463" y="1564105"/>
            <a:ext cx="1074871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S</a:t>
            </a:r>
            <a:r>
              <a:rPr lang="en-MZ" sz="2800" dirty="0">
                <a:solidFill>
                  <a:schemeClr val="bg1"/>
                </a:solidFill>
              </a:rPr>
              <a:t>exo masculino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C</a:t>
            </a:r>
            <a:r>
              <a:rPr lang="en-MZ" sz="2800" dirty="0">
                <a:solidFill>
                  <a:schemeClr val="bg1"/>
                </a:solidFill>
              </a:rPr>
              <a:t>olegas que usam drogas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D</a:t>
            </a:r>
            <a:r>
              <a:rPr lang="en-MZ" sz="2800" dirty="0">
                <a:solidFill>
                  <a:schemeClr val="bg1"/>
                </a:solidFill>
              </a:rPr>
              <a:t>isponibilidade  de substâncias no local de trabalho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I</a:t>
            </a:r>
            <a:r>
              <a:rPr lang="en-MZ" sz="2800" dirty="0">
                <a:solidFill>
                  <a:schemeClr val="bg1"/>
                </a:solidFill>
              </a:rPr>
              <a:t>solamento social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N</a:t>
            </a:r>
            <a:r>
              <a:rPr lang="en-MZ" sz="2800" dirty="0">
                <a:solidFill>
                  <a:schemeClr val="bg1"/>
                </a:solidFill>
              </a:rPr>
              <a:t>ormas permissivas em relação ao alcool e drogas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F</a:t>
            </a:r>
            <a:r>
              <a:rPr lang="en-MZ" sz="2800" dirty="0">
                <a:solidFill>
                  <a:schemeClr val="bg1"/>
                </a:solidFill>
              </a:rPr>
              <a:t>raca supervisão e gestão de problemas de uso de alcool e drogas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A</a:t>
            </a:r>
            <a:r>
              <a:rPr lang="en-MZ" sz="2800" dirty="0">
                <a:solidFill>
                  <a:schemeClr val="bg1"/>
                </a:solidFill>
              </a:rPr>
              <a:t>lta exposição a perigos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B</a:t>
            </a:r>
            <a:r>
              <a:rPr lang="en-MZ" sz="2800" dirty="0">
                <a:solidFill>
                  <a:schemeClr val="bg1"/>
                </a:solidFill>
              </a:rPr>
              <a:t>aixo niveis de interação entre colegas</a:t>
            </a:r>
          </a:p>
          <a:p>
            <a:pPr marL="285750" indent="-285750">
              <a:buFontTx/>
              <a:buChar char="-"/>
            </a:pPr>
            <a:endParaRPr lang="en-M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639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3E60D-CA30-7621-A324-FE080EC4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BB1DAB2-44BE-44E1-05E5-0CDD90CB9EBB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Porque devemos nos preocupar?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28538C-1797-43F2-72AC-B4FE2FF7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273B6-DB60-F44B-865D-977DFB959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290436"/>
              </p:ext>
            </p:extLst>
          </p:nvPr>
        </p:nvGraphicFramePr>
        <p:xfrm>
          <a:off x="361506" y="1176445"/>
          <a:ext cx="11414858" cy="67775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41221">
                  <a:extLst>
                    <a:ext uri="{9D8B030D-6E8A-4147-A177-3AD203B41FA5}">
                      <a16:colId xmlns:a16="http://schemas.microsoft.com/office/drawing/2014/main" val="3240546177"/>
                    </a:ext>
                  </a:extLst>
                </a:gridCol>
                <a:gridCol w="7273637">
                  <a:extLst>
                    <a:ext uri="{9D8B030D-6E8A-4147-A177-3AD203B41FA5}">
                      <a16:colId xmlns:a16="http://schemas.microsoft.com/office/drawing/2014/main" val="3136606818"/>
                    </a:ext>
                  </a:extLst>
                </a:gridCol>
              </a:tblGrid>
              <a:tr h="86980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 err="1">
                          <a:effectLst/>
                        </a:rPr>
                        <a:t>Problemas</a:t>
                      </a:r>
                      <a:r>
                        <a:rPr lang="en-US" sz="2400" dirty="0">
                          <a:effectLst/>
                        </a:rPr>
                        <a:t> de </a:t>
                      </a:r>
                      <a:r>
                        <a:rPr lang="en-US" sz="2400" dirty="0" err="1">
                          <a:effectLst/>
                        </a:rPr>
                        <a:t>alcool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levam</a:t>
                      </a:r>
                      <a:r>
                        <a:rPr lang="en-US" sz="2400" dirty="0">
                          <a:effectLst/>
                        </a:rPr>
                        <a:t> a:</a:t>
                      </a:r>
                      <a:endParaRPr lang="en-MZ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 err="1">
                          <a:effectLst/>
                        </a:rPr>
                        <a:t>Resulta</a:t>
                      </a:r>
                      <a:r>
                        <a:rPr lang="en-US" sz="2400" dirty="0">
                          <a:effectLst/>
                        </a:rPr>
                        <a:t> no </a:t>
                      </a:r>
                      <a:r>
                        <a:rPr lang="en-US" sz="2400" dirty="0" err="1">
                          <a:effectLst/>
                        </a:rPr>
                        <a:t>aumento</a:t>
                      </a:r>
                      <a:r>
                        <a:rPr lang="en-US" sz="2400" dirty="0">
                          <a:effectLst/>
                        </a:rPr>
                        <a:t> dos </a:t>
                      </a:r>
                      <a:r>
                        <a:rPr lang="en-US" sz="2400" dirty="0" err="1">
                          <a:effectLst/>
                        </a:rPr>
                        <a:t>seguintes</a:t>
                      </a:r>
                      <a:r>
                        <a:rPr lang="en-US" sz="2400" dirty="0">
                          <a:effectLst/>
                        </a:rPr>
                        <a:t> custos:</a:t>
                      </a:r>
                      <a:endParaRPr lang="en-MZ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485921"/>
                  </a:ext>
                </a:extLst>
              </a:tr>
              <a:tr h="34174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Problemas de saúde</a:t>
                      </a:r>
                      <a:endParaRPr lang="en-MZ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</a:rPr>
                        <a:t>Seguros médicos, uso de juntas de saúde</a:t>
                      </a:r>
                      <a:endParaRPr lang="en-MZ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8399323"/>
                  </a:ext>
                </a:extLst>
              </a:tr>
              <a:tr h="34174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Acidentes de trabalho e ferimentos</a:t>
                      </a:r>
                      <a:endParaRPr lang="en-MZ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</a:rPr>
                        <a:t>Doenças e lesões, compensações</a:t>
                      </a:r>
                      <a:endParaRPr lang="en-MZ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0858072"/>
                  </a:ext>
                </a:extLst>
              </a:tr>
              <a:tr h="7250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 err="1">
                          <a:effectLst/>
                        </a:rPr>
                        <a:t>Efeitos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negativos</a:t>
                      </a:r>
                      <a:r>
                        <a:rPr lang="en-US" sz="1600" dirty="0">
                          <a:effectLst/>
                        </a:rPr>
                        <a:t> no </a:t>
                      </a:r>
                      <a:r>
                        <a:rPr lang="en-US" sz="1600" dirty="0" err="1">
                          <a:effectLst/>
                        </a:rPr>
                        <a:t>relacionamento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interpessoal</a:t>
                      </a:r>
                      <a:r>
                        <a:rPr lang="en-US" sz="1600" dirty="0">
                          <a:effectLst/>
                        </a:rPr>
                        <a:t> e moral dos </a:t>
                      </a:r>
                      <a:r>
                        <a:rPr lang="en-US" sz="1600" dirty="0" err="1">
                          <a:effectLst/>
                        </a:rPr>
                        <a:t>trabalhadores</a:t>
                      </a:r>
                      <a:endParaRPr lang="en-MZ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</a:rPr>
                        <a:t>Impacto na moral e performamce, produtividade e qualidade</a:t>
                      </a:r>
                      <a:endParaRPr lang="en-MZ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4013814"/>
                  </a:ext>
                </a:extLst>
              </a:tr>
              <a:tr h="34174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Absentismo e Presenteismo</a:t>
                      </a:r>
                      <a:endParaRPr lang="en-MZ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</a:rPr>
                        <a:t>Perda de tempo, produtividade e rendimento</a:t>
                      </a:r>
                      <a:endParaRPr lang="en-MZ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9570339"/>
                  </a:ext>
                </a:extLst>
              </a:tr>
              <a:tr h="110827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 err="1">
                          <a:effectLst/>
                        </a:rPr>
                        <a:t>Alteração</a:t>
                      </a:r>
                      <a:r>
                        <a:rPr lang="en-US" sz="1600" dirty="0">
                          <a:effectLst/>
                        </a:rPr>
                        <a:t> da performance</a:t>
                      </a:r>
                      <a:endParaRPr lang="en-MZ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 err="1">
                          <a:effectLst/>
                        </a:rPr>
                        <a:t>Redução</a:t>
                      </a:r>
                      <a:r>
                        <a:rPr lang="en-US" sz="2000" dirty="0">
                          <a:effectLst/>
                        </a:rPr>
                        <a:t> da </a:t>
                      </a:r>
                      <a:r>
                        <a:rPr lang="en-US" sz="2000" dirty="0" err="1">
                          <a:effectLst/>
                        </a:rPr>
                        <a:t>produtividade</a:t>
                      </a:r>
                      <a:r>
                        <a:rPr lang="en-US" sz="2000" dirty="0">
                          <a:effectLst/>
                        </a:rPr>
                        <a:t> e </a:t>
                      </a:r>
                      <a:r>
                        <a:rPr lang="en-US" sz="2000" dirty="0" err="1">
                          <a:effectLst/>
                        </a:rPr>
                        <a:t>qualidade</a:t>
                      </a:r>
                      <a:r>
                        <a:rPr lang="en-US" sz="2000" dirty="0">
                          <a:effectLst/>
                        </a:rPr>
                        <a:t> de </a:t>
                      </a:r>
                      <a:r>
                        <a:rPr lang="en-US" sz="2000" dirty="0" err="1">
                          <a:effectLst/>
                        </a:rPr>
                        <a:t>serviços</a:t>
                      </a:r>
                      <a:r>
                        <a:rPr lang="en-US" sz="2000" dirty="0">
                          <a:effectLst/>
                        </a:rPr>
                        <a:t>, </a:t>
                      </a:r>
                      <a:r>
                        <a:rPr lang="en-US" sz="2000" dirty="0" err="1">
                          <a:effectLst/>
                        </a:rPr>
                        <a:t>redução</a:t>
                      </a:r>
                      <a:r>
                        <a:rPr lang="en-US" sz="2000" dirty="0">
                          <a:effectLst/>
                        </a:rPr>
                        <a:t> da </a:t>
                      </a:r>
                      <a:r>
                        <a:rPr lang="en-US" sz="2000" dirty="0" err="1">
                          <a:effectLst/>
                        </a:rPr>
                        <a:t>reputação</a:t>
                      </a:r>
                      <a:r>
                        <a:rPr lang="en-US" sz="2000" dirty="0">
                          <a:effectLst/>
                        </a:rPr>
                        <a:t> da </a:t>
                      </a:r>
                      <a:r>
                        <a:rPr lang="en-US" sz="2000" dirty="0" err="1">
                          <a:effectLst/>
                        </a:rPr>
                        <a:t>companhia</a:t>
                      </a:r>
                      <a:r>
                        <a:rPr lang="en-US" sz="2000" dirty="0">
                          <a:effectLst/>
                        </a:rPr>
                        <a:t> e </a:t>
                      </a:r>
                      <a:r>
                        <a:rPr lang="en-US" sz="2000" dirty="0" err="1">
                          <a:effectLst/>
                        </a:rPr>
                        <a:t>competitividade</a:t>
                      </a:r>
                      <a:endParaRPr lang="en-MZ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5122"/>
                  </a:ext>
                </a:extLst>
              </a:tr>
              <a:tr h="7250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 err="1">
                          <a:effectLst/>
                        </a:rPr>
                        <a:t>Comportamentos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inapropriados</a:t>
                      </a:r>
                      <a:endParaRPr lang="en-MZ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 err="1">
                          <a:effectLst/>
                        </a:rPr>
                        <a:t>Impacto</a:t>
                      </a:r>
                      <a:r>
                        <a:rPr lang="en-US" sz="2000" dirty="0">
                          <a:effectLst/>
                        </a:rPr>
                        <a:t> no tempo de </a:t>
                      </a:r>
                      <a:r>
                        <a:rPr lang="en-US" sz="2000" dirty="0" err="1">
                          <a:effectLst/>
                        </a:rPr>
                        <a:t>gestão</a:t>
                      </a:r>
                      <a:r>
                        <a:rPr lang="en-US" sz="2000" dirty="0">
                          <a:effectLst/>
                        </a:rPr>
                        <a:t>, </a:t>
                      </a:r>
                      <a:r>
                        <a:rPr lang="en-US" sz="2000" dirty="0" err="1">
                          <a:effectLst/>
                        </a:rPr>
                        <a:t>custo</a:t>
                      </a:r>
                      <a:r>
                        <a:rPr lang="en-US" sz="2000" dirty="0">
                          <a:effectLst/>
                        </a:rPr>
                        <a:t> de </a:t>
                      </a:r>
                      <a:r>
                        <a:rPr lang="en-US" sz="2000" dirty="0" err="1">
                          <a:effectLst/>
                        </a:rPr>
                        <a:t>processos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disciplinares</a:t>
                      </a:r>
                      <a:r>
                        <a:rPr lang="en-US" sz="2000" dirty="0">
                          <a:effectLst/>
                        </a:rPr>
                        <a:t>, </a:t>
                      </a:r>
                      <a:r>
                        <a:rPr lang="en-US" sz="2000" dirty="0" err="1">
                          <a:effectLst/>
                        </a:rPr>
                        <a:t>impacto</a:t>
                      </a:r>
                      <a:r>
                        <a:rPr lang="en-US" sz="2000" dirty="0">
                          <a:effectLst/>
                        </a:rPr>
                        <a:t> moral</a:t>
                      </a:r>
                      <a:endParaRPr lang="en-MZ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2628589"/>
                  </a:ext>
                </a:extLst>
              </a:tr>
              <a:tr h="8864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Perda de trabalho, mudança de trabalhadores e custos com recrutamento</a:t>
                      </a:r>
                      <a:endParaRPr lang="en-MZ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</a:rPr>
                        <a:t>Custos de recrutamento e treino, perda da memœria instituicional</a:t>
                      </a:r>
                      <a:endParaRPr lang="en-MZ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6809122"/>
                  </a:ext>
                </a:extLst>
              </a:tr>
              <a:tr h="34174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Roubos e outros crimes</a:t>
                      </a:r>
                      <a:endParaRPr lang="en-MZ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 err="1">
                          <a:effectLst/>
                        </a:rPr>
                        <a:t>Destruição</a:t>
                      </a:r>
                      <a:r>
                        <a:rPr lang="en-US" sz="2000" dirty="0">
                          <a:effectLst/>
                        </a:rPr>
                        <a:t> de </a:t>
                      </a:r>
                      <a:r>
                        <a:rPr lang="en-US" sz="2000" dirty="0" err="1">
                          <a:effectLst/>
                        </a:rPr>
                        <a:t>propriedade</a:t>
                      </a:r>
                      <a:r>
                        <a:rPr lang="en-US" sz="2000" dirty="0">
                          <a:effectLst/>
                        </a:rPr>
                        <a:t>, </a:t>
                      </a:r>
                      <a:r>
                        <a:rPr lang="en-US" sz="2000" dirty="0" err="1">
                          <a:effectLst/>
                        </a:rPr>
                        <a:t>perda</a:t>
                      </a:r>
                      <a:r>
                        <a:rPr lang="en-US" sz="2000" dirty="0">
                          <a:effectLst/>
                        </a:rPr>
                        <a:t> de </a:t>
                      </a:r>
                      <a:r>
                        <a:rPr lang="en-US" sz="2000" dirty="0" err="1">
                          <a:effectLst/>
                        </a:rPr>
                        <a:t>património</a:t>
                      </a:r>
                      <a:endParaRPr lang="en-MZ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5892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549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C364-33E8-0DBE-B881-CE18B2A9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1E5213-67D7-62F9-547B-DF0C7F4D6C54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Porque devemos nos preocupar?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1CF0B2-5F72-A708-23DB-3EF090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724980-AC04-F041-8A26-23AD4B112C40}"/>
              </a:ext>
            </a:extLst>
          </p:cNvPr>
          <p:cNvSpPr txBox="1"/>
          <p:nvPr/>
        </p:nvSpPr>
        <p:spPr>
          <a:xfrm>
            <a:off x="818147" y="1395663"/>
            <a:ext cx="1068404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Z" b="1" dirty="0">
                <a:solidFill>
                  <a:schemeClr val="bg1"/>
                </a:solidFill>
              </a:rPr>
              <a:t>Impacto do uso de álcool e drogas na saúde:</a:t>
            </a:r>
          </a:p>
          <a:p>
            <a:pPr marL="285750" indent="-28575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F</a:t>
            </a:r>
            <a:r>
              <a:rPr lang="en-MZ" sz="2400" dirty="0">
                <a:solidFill>
                  <a:schemeClr val="bg1"/>
                </a:solidFill>
              </a:rPr>
              <a:t>actor de risco para doenças cardiovasculares, digestivas, cancros, traumas e acidentes rodoviários </a:t>
            </a:r>
          </a:p>
          <a:p>
            <a:pPr marL="285750" indent="-28575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A</a:t>
            </a:r>
            <a:r>
              <a:rPr lang="en-MZ" sz="2400" dirty="0">
                <a:solidFill>
                  <a:schemeClr val="bg1"/>
                </a:solidFill>
              </a:rPr>
              <a:t>umento de pensamentos suicidários, psicoses, ansiedade, depressão</a:t>
            </a:r>
          </a:p>
          <a:p>
            <a:pPr marL="285750" indent="-28575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A</a:t>
            </a:r>
            <a:r>
              <a:rPr lang="en-MZ" sz="2400" dirty="0">
                <a:solidFill>
                  <a:schemeClr val="bg1"/>
                </a:solidFill>
              </a:rPr>
              <a:t>umento de risco de violencia interpessoal, disfunção social;</a:t>
            </a:r>
          </a:p>
          <a:p>
            <a:pPr marL="285750" indent="-28575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C</a:t>
            </a:r>
            <a:r>
              <a:rPr lang="en-MZ" sz="2400" dirty="0">
                <a:solidFill>
                  <a:schemeClr val="bg1"/>
                </a:solidFill>
              </a:rPr>
              <a:t>ustos para a sociedade na produtividade (presenteísmo, absentísmo) e custos para a saúde</a:t>
            </a:r>
          </a:p>
          <a:p>
            <a:pPr marL="285750" indent="-28575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E</a:t>
            </a:r>
            <a:r>
              <a:rPr lang="en-MZ" sz="2400" dirty="0">
                <a:solidFill>
                  <a:schemeClr val="bg1"/>
                </a:solidFill>
              </a:rPr>
              <a:t>m 2020 problemas de uso de álcool custaram 3 biliões de KES.</a:t>
            </a:r>
          </a:p>
          <a:p>
            <a:pPr marL="285750" indent="-28575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T</a:t>
            </a:r>
            <a:r>
              <a:rPr lang="en-MZ" sz="2400" dirty="0">
                <a:solidFill>
                  <a:schemeClr val="bg1"/>
                </a:solidFill>
              </a:rPr>
              <a:t>rabalhadores são recurso valioso das organizações</a:t>
            </a:r>
          </a:p>
          <a:p>
            <a:pPr marL="285750" indent="-28575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R</a:t>
            </a:r>
            <a:r>
              <a:rPr lang="en-MZ" sz="2400" dirty="0">
                <a:solidFill>
                  <a:schemeClr val="bg1"/>
                </a:solidFill>
              </a:rPr>
              <a:t>iscos de segurança: erros, acidentes e ferimentos.</a:t>
            </a:r>
          </a:p>
        </p:txBody>
      </p:sp>
    </p:spTree>
    <p:extLst>
      <p:ext uri="{BB962C8B-B14F-4D97-AF65-F5344CB8AC3E}">
        <p14:creationId xmlns:p14="http://schemas.microsoft.com/office/powerpoint/2010/main" val="3582967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3D7FD-2C80-3C1B-425F-BA20B530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354D0C-5457-C632-DE00-A712CE83E86E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Barreiras de acesso ao tratamento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455A9D-0727-9EEE-8E54-B1849F0F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B26268-C2EA-6547-BFE3-BE06DA160DA1}"/>
              </a:ext>
            </a:extLst>
          </p:cNvPr>
          <p:cNvSpPr txBox="1"/>
          <p:nvPr/>
        </p:nvSpPr>
        <p:spPr>
          <a:xfrm>
            <a:off x="818147" y="1515979"/>
            <a:ext cx="11069053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n-MZ" sz="3200" dirty="0">
                <a:solidFill>
                  <a:schemeClr val="bg1"/>
                </a:solidFill>
              </a:rPr>
              <a:t>Escassez de serviços de tratamento</a:t>
            </a:r>
          </a:p>
          <a:p>
            <a:pPr marL="285750" indent="-285750" algn="just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E</a:t>
            </a:r>
            <a:r>
              <a:rPr lang="en-MZ" sz="3200" dirty="0">
                <a:solidFill>
                  <a:schemeClr val="bg1"/>
                </a:solidFill>
              </a:rPr>
              <a:t>stigma e discriminação</a:t>
            </a:r>
          </a:p>
          <a:p>
            <a:pPr marL="285750" indent="-285750" algn="just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F</a:t>
            </a:r>
            <a:r>
              <a:rPr lang="en-MZ" sz="3200" dirty="0">
                <a:solidFill>
                  <a:schemeClr val="bg1"/>
                </a:solidFill>
              </a:rPr>
              <a:t>alta de mecanismos de suporte dos trabalhadores com problemas de uso de álcool e drogas</a:t>
            </a:r>
          </a:p>
          <a:p>
            <a:pPr marL="285750" indent="-285750" algn="just">
              <a:buFontTx/>
              <a:buChar char="-"/>
            </a:pPr>
            <a:endParaRPr lang="en-MZ" sz="32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MZ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MZ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MZ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M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35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DCB32-7B67-C829-2FFC-548D4B30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E5259F-4583-3753-18AE-3ED376E2130C}"/>
              </a:ext>
            </a:extLst>
          </p:cNvPr>
          <p:cNvSpPr txBox="1"/>
          <p:nvPr/>
        </p:nvSpPr>
        <p:spPr>
          <a:xfrm>
            <a:off x="1082843" y="0"/>
            <a:ext cx="111091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O que pode ser feito para gestão de problemas de álcool e drogas no local de trabalho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409460-626D-3C44-B40F-F7CB5805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D94D17-8148-C542-BFF8-202205644ECA}"/>
              </a:ext>
            </a:extLst>
          </p:cNvPr>
          <p:cNvSpPr txBox="1"/>
          <p:nvPr/>
        </p:nvSpPr>
        <p:spPr>
          <a:xfrm>
            <a:off x="601579" y="1395663"/>
            <a:ext cx="1108559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MZ" sz="2400" b="1" dirty="0">
                <a:solidFill>
                  <a:schemeClr val="bg1"/>
                </a:solidFill>
              </a:rPr>
              <a:t>Programas de Assistência ao Trabalhado (PAT)</a:t>
            </a:r>
          </a:p>
          <a:p>
            <a:pPr marL="285750" indent="-285750" algn="just">
              <a:buFontTx/>
              <a:buChar char="-"/>
            </a:pPr>
            <a:r>
              <a:rPr lang="en-MZ" sz="2400" dirty="0">
                <a:solidFill>
                  <a:schemeClr val="bg1"/>
                </a:solidFill>
              </a:rPr>
              <a:t>Programas que suportam os trabalhadores com programas psicossociais que afectam a performanceno trabalho</a:t>
            </a:r>
          </a:p>
          <a:p>
            <a:pPr marL="285750" indent="-28575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F</a:t>
            </a:r>
            <a:r>
              <a:rPr lang="en-MZ" sz="2400" dirty="0">
                <a:solidFill>
                  <a:schemeClr val="bg1"/>
                </a:solidFill>
              </a:rPr>
              <a:t>unção: suporte ao bem estar do trabalahdor, aumento da produtividade; gestão do risco</a:t>
            </a:r>
          </a:p>
          <a:p>
            <a:pPr marL="285750" indent="-285750" algn="just">
              <a:buFontTx/>
              <a:buChar char="-"/>
            </a:pPr>
            <a:r>
              <a:rPr lang="en-MZ" sz="2400" dirty="0">
                <a:solidFill>
                  <a:schemeClr val="bg1"/>
                </a:solidFill>
              </a:rPr>
              <a:t>ILO desenvolveu guidelines para gestão de problemas de uso de álcool e drogas no trabalho</a:t>
            </a:r>
          </a:p>
          <a:p>
            <a:pPr algn="just"/>
            <a:endParaRPr lang="en-MZ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R</a:t>
            </a:r>
            <a:r>
              <a:rPr lang="en-MZ" sz="2400" dirty="0">
                <a:solidFill>
                  <a:schemeClr val="bg1"/>
                </a:solidFill>
              </a:rPr>
              <a:t>ecursos necessários para implementaçã dos PAT</a:t>
            </a:r>
          </a:p>
          <a:p>
            <a:pPr algn="just"/>
            <a:r>
              <a:rPr lang="en-MZ" sz="2400" dirty="0">
                <a:solidFill>
                  <a:schemeClr val="bg1"/>
                </a:solidFill>
              </a:rPr>
              <a:t>- </a:t>
            </a:r>
            <a:r>
              <a:rPr lang="en-MZ" sz="2400" b="1" dirty="0">
                <a:solidFill>
                  <a:schemeClr val="bg1"/>
                </a:solidFill>
              </a:rPr>
              <a:t>Comité de PAT</a:t>
            </a:r>
          </a:p>
          <a:p>
            <a:pPr algn="just"/>
            <a:r>
              <a:rPr lang="en-MZ" sz="2400" b="1" dirty="0">
                <a:solidFill>
                  <a:schemeClr val="bg1"/>
                </a:solidFill>
              </a:rPr>
              <a:t>- Política de PAT</a:t>
            </a:r>
          </a:p>
          <a:p>
            <a:pPr marL="285750" indent="-285750" algn="just">
              <a:buFontTx/>
              <a:buChar char="-"/>
            </a:pPr>
            <a:r>
              <a:rPr lang="en-MZ" sz="2400" b="1" dirty="0">
                <a:solidFill>
                  <a:schemeClr val="bg1"/>
                </a:solidFill>
              </a:rPr>
              <a:t>Programa/ intervenções PAT</a:t>
            </a:r>
          </a:p>
          <a:p>
            <a:pPr marL="285750" indent="-285750" algn="just">
              <a:buFontTx/>
              <a:buChar char="-"/>
            </a:pPr>
            <a:r>
              <a:rPr lang="en-MZ" sz="2400" b="1" dirty="0">
                <a:solidFill>
                  <a:schemeClr val="bg1"/>
                </a:solidFill>
              </a:rPr>
              <a:t>Plano An</a:t>
            </a:r>
            <a:r>
              <a:rPr lang="en-US" sz="2400" b="1" dirty="0">
                <a:solidFill>
                  <a:schemeClr val="bg1"/>
                </a:solidFill>
              </a:rPr>
              <a:t>n</a:t>
            </a:r>
            <a:r>
              <a:rPr lang="en-MZ" sz="2400" b="1" dirty="0">
                <a:solidFill>
                  <a:schemeClr val="bg1"/>
                </a:solidFill>
              </a:rPr>
              <a:t>ual e orçamento</a:t>
            </a:r>
          </a:p>
        </p:txBody>
      </p:sp>
    </p:spTree>
    <p:extLst>
      <p:ext uri="{BB962C8B-B14F-4D97-AF65-F5344CB8AC3E}">
        <p14:creationId xmlns:p14="http://schemas.microsoft.com/office/powerpoint/2010/main" val="1089052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02F7C-DDBD-8142-D0E3-EF3726F60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6E17143-E239-9868-2895-B935497C8A81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Comitê PAT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AC0EA7-09F8-32D9-95C4-554524DC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306FE8-814B-A64F-BCA7-534192DDA683}"/>
              </a:ext>
            </a:extLst>
          </p:cNvPr>
          <p:cNvSpPr txBox="1"/>
          <p:nvPr/>
        </p:nvSpPr>
        <p:spPr>
          <a:xfrm>
            <a:off x="818147" y="1515979"/>
            <a:ext cx="1032309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MZ" sz="3200" dirty="0">
                <a:solidFill>
                  <a:schemeClr val="bg1"/>
                </a:solidFill>
              </a:rPr>
              <a:t>- Planificação, coordenação  das actividades do PAT</a:t>
            </a:r>
          </a:p>
          <a:p>
            <a:pPr algn="just"/>
            <a:r>
              <a:rPr lang="en-US" sz="3200" dirty="0">
                <a:solidFill>
                  <a:schemeClr val="bg1"/>
                </a:solidFill>
              </a:rPr>
              <a:t>- E</a:t>
            </a:r>
            <a:r>
              <a:rPr lang="en-MZ" sz="3200" dirty="0">
                <a:solidFill>
                  <a:schemeClr val="bg1"/>
                </a:solidFill>
              </a:rPr>
              <a:t>stabelece os serviços em colaboração com a Direcção; ATENÇÃO AS POLÍTICAS DA ORGANIZAÇÃO</a:t>
            </a:r>
          </a:p>
          <a:p>
            <a:pPr algn="just"/>
            <a:r>
              <a:rPr lang="en-US" sz="3200" dirty="0">
                <a:solidFill>
                  <a:schemeClr val="bg1"/>
                </a:solidFill>
              </a:rPr>
              <a:t>- P</a:t>
            </a:r>
            <a:r>
              <a:rPr lang="en-MZ" sz="3200" dirty="0">
                <a:solidFill>
                  <a:schemeClr val="bg1"/>
                </a:solidFill>
              </a:rPr>
              <a:t>apel de advocacia</a:t>
            </a:r>
          </a:p>
          <a:p>
            <a:pPr algn="just"/>
            <a:endParaRPr lang="en-MZ" sz="3200" dirty="0">
              <a:solidFill>
                <a:schemeClr val="bg1"/>
              </a:solidFill>
            </a:endParaRPr>
          </a:p>
          <a:p>
            <a:pPr algn="just"/>
            <a:r>
              <a:rPr lang="en-MZ" sz="3200" b="1" dirty="0">
                <a:solidFill>
                  <a:schemeClr val="bg1"/>
                </a:solidFill>
              </a:rPr>
              <a:t>Membros: </a:t>
            </a:r>
            <a:r>
              <a:rPr lang="en-MZ" sz="3200" dirty="0">
                <a:solidFill>
                  <a:schemeClr val="bg1"/>
                </a:solidFill>
              </a:rPr>
              <a:t>Saúde mental, RH, Segurança, Sindicatos/ Associações, trabalhadores em recuperação</a:t>
            </a:r>
          </a:p>
        </p:txBody>
      </p:sp>
    </p:spTree>
    <p:extLst>
      <p:ext uri="{BB962C8B-B14F-4D97-AF65-F5344CB8AC3E}">
        <p14:creationId xmlns:p14="http://schemas.microsoft.com/office/powerpoint/2010/main" val="380524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A7A21-613B-8D72-820D-6AAFF58D4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C19C47-3607-7A8C-10D7-9B498303F99D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Política PAT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49C5E6-BBA5-2160-534F-681DDD6D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DB38EB-2C9E-8E44-ABE2-E6B4AF4A3D1A}"/>
              </a:ext>
            </a:extLst>
          </p:cNvPr>
          <p:cNvSpPr txBox="1"/>
          <p:nvPr/>
        </p:nvSpPr>
        <p:spPr>
          <a:xfrm>
            <a:off x="577516" y="1371600"/>
            <a:ext cx="1110965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MZ" sz="3200" dirty="0">
                <a:solidFill>
                  <a:schemeClr val="bg1"/>
                </a:solidFill>
              </a:rPr>
              <a:t>- Proibição do uso no local de trabalho</a:t>
            </a:r>
          </a:p>
          <a:p>
            <a:pPr algn="just"/>
            <a:r>
              <a:rPr lang="en-MZ" sz="3200" dirty="0">
                <a:solidFill>
                  <a:schemeClr val="bg1"/>
                </a:solidFill>
              </a:rPr>
              <a:t>- Programas de prevenção e tratamento implementados</a:t>
            </a:r>
          </a:p>
          <a:p>
            <a:pPr algn="just"/>
            <a:r>
              <a:rPr lang="en-US" sz="3200" dirty="0">
                <a:solidFill>
                  <a:schemeClr val="bg1"/>
                </a:solidFill>
              </a:rPr>
              <a:t>- T</a:t>
            </a:r>
            <a:r>
              <a:rPr lang="en-MZ" sz="3200" dirty="0">
                <a:solidFill>
                  <a:schemeClr val="bg1"/>
                </a:solidFill>
              </a:rPr>
              <a:t>ratamento da intoxicação/ testagem de drogas</a:t>
            </a:r>
          </a:p>
          <a:p>
            <a:pPr algn="just"/>
            <a:r>
              <a:rPr lang="en-MZ" sz="3200" dirty="0">
                <a:solidFill>
                  <a:schemeClr val="bg1"/>
                </a:solidFill>
              </a:rPr>
              <a:t>- RH: Promoção de segurança no trabalho, acçoes disciplinares, retorno ao trabalho</a:t>
            </a:r>
          </a:p>
          <a:p>
            <a:pPr algn="just"/>
            <a:r>
              <a:rPr lang="en-US" sz="3200" dirty="0">
                <a:solidFill>
                  <a:schemeClr val="bg1"/>
                </a:solidFill>
              </a:rPr>
              <a:t>- R</a:t>
            </a:r>
            <a:r>
              <a:rPr lang="en-MZ" sz="3200" dirty="0">
                <a:solidFill>
                  <a:schemeClr val="bg1"/>
                </a:solidFill>
              </a:rPr>
              <a:t>esponsabilidades e papeis dos trabalhadores</a:t>
            </a:r>
          </a:p>
        </p:txBody>
      </p:sp>
    </p:spTree>
    <p:extLst>
      <p:ext uri="{BB962C8B-B14F-4D97-AF65-F5344CB8AC3E}">
        <p14:creationId xmlns:p14="http://schemas.microsoft.com/office/powerpoint/2010/main" val="547752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5D9AF-A281-CFDB-38F2-005F82EA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E5B842-12F7-C430-A018-F7A51C8B9042}"/>
              </a:ext>
            </a:extLst>
          </p:cNvPr>
          <p:cNvSpPr txBox="1"/>
          <p:nvPr/>
        </p:nvSpPr>
        <p:spPr>
          <a:xfrm>
            <a:off x="2416995" y="221163"/>
            <a:ext cx="78339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Tipos de TAP podem ser implementados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FB73E5-0A5C-56B1-CCF7-7C26A40E1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03D230-FE1F-BB49-BCC5-9B68875744D8}"/>
              </a:ext>
            </a:extLst>
          </p:cNvPr>
          <p:cNvSpPr txBox="1"/>
          <p:nvPr/>
        </p:nvSpPr>
        <p:spPr>
          <a:xfrm>
            <a:off x="505326" y="1275347"/>
            <a:ext cx="1118184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MZ" dirty="0">
                <a:solidFill>
                  <a:schemeClr val="bg1"/>
                </a:solidFill>
              </a:rPr>
              <a:t>- </a:t>
            </a:r>
            <a:r>
              <a:rPr lang="en-MZ" sz="2800" dirty="0">
                <a:solidFill>
                  <a:schemeClr val="bg1"/>
                </a:solidFill>
              </a:rPr>
              <a:t>Educação regular para o staff sobre drogas </a:t>
            </a:r>
          </a:p>
          <a:p>
            <a:pPr algn="just"/>
            <a:r>
              <a:rPr lang="en-MZ" sz="2800" dirty="0">
                <a:solidFill>
                  <a:schemeClr val="bg1"/>
                </a:solidFill>
              </a:rPr>
              <a:t>-  Educação em estratégias de promoção de saúde mental e bem-estar  e gestão de stress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- E</a:t>
            </a:r>
            <a:r>
              <a:rPr lang="en-MZ" sz="2800" dirty="0">
                <a:solidFill>
                  <a:schemeClr val="bg1"/>
                </a:solidFill>
              </a:rPr>
              <a:t>ducação em outras áreas: finanças, gestão de conflitos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- I</a:t>
            </a:r>
            <a:r>
              <a:rPr lang="en-MZ" sz="2800" dirty="0">
                <a:solidFill>
                  <a:schemeClr val="bg1"/>
                </a:solidFill>
              </a:rPr>
              <a:t>dentificação precoce, avaliação e referenciação para tratamento 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- T</a:t>
            </a:r>
            <a:r>
              <a:rPr lang="en-MZ" sz="2800" dirty="0">
                <a:solidFill>
                  <a:schemeClr val="bg1"/>
                </a:solidFill>
              </a:rPr>
              <a:t>estagem de drogas e alcool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- S</a:t>
            </a:r>
            <a:r>
              <a:rPr lang="en-MZ" sz="2800" dirty="0">
                <a:solidFill>
                  <a:schemeClr val="bg1"/>
                </a:solidFill>
              </a:rPr>
              <a:t>uporte ao trabalhador: redefinação de tarefas, 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- P</a:t>
            </a:r>
            <a:r>
              <a:rPr lang="en-MZ" sz="2800" dirty="0">
                <a:solidFill>
                  <a:schemeClr val="bg1"/>
                </a:solidFill>
              </a:rPr>
              <a:t>sicoterapia: individual, familiar ou em grupo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- T</a:t>
            </a:r>
            <a:r>
              <a:rPr lang="en-MZ" sz="2800" dirty="0">
                <a:solidFill>
                  <a:schemeClr val="bg1"/>
                </a:solidFill>
              </a:rPr>
              <a:t>ratamento psiquiátricos</a:t>
            </a:r>
          </a:p>
        </p:txBody>
      </p:sp>
    </p:spTree>
    <p:extLst>
      <p:ext uri="{BB962C8B-B14F-4D97-AF65-F5344CB8AC3E}">
        <p14:creationId xmlns:p14="http://schemas.microsoft.com/office/powerpoint/2010/main" val="1832960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3">
            <a:extLst>
              <a:ext uri="{FF2B5EF4-FFF2-40B4-BE49-F238E27FC236}">
                <a16:creationId xmlns:a16="http://schemas.microsoft.com/office/drawing/2014/main" id="{ED9512A6-4B03-4E2D-B89A-2C313E59E00C}"/>
              </a:ext>
            </a:extLst>
          </p:cNvPr>
          <p:cNvSpPr txBox="1"/>
          <p:nvPr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CaixaDeTexto 3">
            <a:extLst>
              <a:ext uri="{FF2B5EF4-FFF2-40B4-BE49-F238E27FC236}">
                <a16:creationId xmlns:a16="http://schemas.microsoft.com/office/drawing/2014/main" id="{9A4DD2E7-4F49-8D49-8B50-82758105787C}"/>
              </a:ext>
            </a:extLst>
          </p:cNvPr>
          <p:cNvSpPr txBox="1"/>
          <p:nvPr/>
        </p:nvSpPr>
        <p:spPr>
          <a:xfrm>
            <a:off x="1345915" y="2274283"/>
            <a:ext cx="9185095" cy="1154717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4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</a:t>
            </a: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!”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6074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10615</TotalTime>
  <Words>895</Words>
  <Application>Microsoft Macintosh PowerPoint</Application>
  <PresentationFormat>Widescreen</PresentationFormat>
  <Paragraphs>111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Aptos</vt:lpstr>
      <vt:lpstr>Arial</vt:lpstr>
      <vt:lpstr>Arial Narrow</vt:lpstr>
      <vt:lpstr>Calibri</vt:lpstr>
      <vt:lpstr>Century Gothic</vt:lpstr>
      <vt:lpstr>Comic Sans MS</vt:lpstr>
      <vt:lpstr>Garet Bold</vt:lpstr>
      <vt:lpstr>Garet Bold Italics</vt:lpstr>
      <vt:lpstr>Times New Roman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Microsoft Office User</cp:lastModifiedBy>
  <cp:revision>133</cp:revision>
  <dcterms:created xsi:type="dcterms:W3CDTF">2025-07-14T08:03:00Z</dcterms:created>
  <dcterms:modified xsi:type="dcterms:W3CDTF">2026-10-13T08:13:12Z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