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6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9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3" r:id="rId2"/>
  </p:sldMasterIdLst>
  <p:notesMasterIdLst>
    <p:notesMasterId r:id="rId56"/>
  </p:notesMasterIdLst>
  <p:sldIdLst>
    <p:sldId id="1464" r:id="rId3"/>
    <p:sldId id="1461" r:id="rId4"/>
    <p:sldId id="257" r:id="rId5"/>
    <p:sldId id="1459" r:id="rId6"/>
    <p:sldId id="258" r:id="rId7"/>
    <p:sldId id="259" r:id="rId8"/>
    <p:sldId id="260" r:id="rId9"/>
    <p:sldId id="414" r:id="rId10"/>
    <p:sldId id="264" r:id="rId11"/>
    <p:sldId id="266" r:id="rId12"/>
    <p:sldId id="269" r:id="rId13"/>
    <p:sldId id="272" r:id="rId14"/>
    <p:sldId id="785" r:id="rId15"/>
    <p:sldId id="696" r:id="rId16"/>
    <p:sldId id="441" r:id="rId17"/>
    <p:sldId id="442" r:id="rId18"/>
    <p:sldId id="697" r:id="rId19"/>
    <p:sldId id="700" r:id="rId20"/>
    <p:sldId id="444" r:id="rId21"/>
    <p:sldId id="277" r:id="rId22"/>
    <p:sldId id="1451" r:id="rId23"/>
    <p:sldId id="1444" r:id="rId24"/>
    <p:sldId id="1445" r:id="rId25"/>
    <p:sldId id="1446" r:id="rId26"/>
    <p:sldId id="1447" r:id="rId27"/>
    <p:sldId id="1448" r:id="rId28"/>
    <p:sldId id="1452" r:id="rId29"/>
    <p:sldId id="284" r:id="rId30"/>
    <p:sldId id="1312" r:id="rId31"/>
    <p:sldId id="1454" r:id="rId32"/>
    <p:sldId id="288" r:id="rId33"/>
    <p:sldId id="1455" r:id="rId34"/>
    <p:sldId id="292" r:id="rId35"/>
    <p:sldId id="334" r:id="rId36"/>
    <p:sldId id="1421" r:id="rId37"/>
    <p:sldId id="1427" r:id="rId38"/>
    <p:sldId id="1435" r:id="rId39"/>
    <p:sldId id="325" r:id="rId40"/>
    <p:sldId id="297" r:id="rId41"/>
    <p:sldId id="1457" r:id="rId42"/>
    <p:sldId id="343" r:id="rId43"/>
    <p:sldId id="301" r:id="rId44"/>
    <p:sldId id="1419" r:id="rId45"/>
    <p:sldId id="307" r:id="rId46"/>
    <p:sldId id="1441" r:id="rId47"/>
    <p:sldId id="903" r:id="rId48"/>
    <p:sldId id="885" r:id="rId49"/>
    <p:sldId id="1458" r:id="rId50"/>
    <p:sldId id="318" r:id="rId51"/>
    <p:sldId id="355" r:id="rId52"/>
    <p:sldId id="365" r:id="rId53"/>
    <p:sldId id="362" r:id="rId54"/>
    <p:sldId id="323" r:id="rId5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4" roundtripDataSignature="AMtx7mg00vGseLmvl3Es4cjF5AqXkPc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51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EAE22A-FB04-4563-B35A-56EE2C734208}">
  <a:tblStyle styleId="{E5EAE22A-FB04-4563-B35A-56EE2C7342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>
        <p:scale>
          <a:sx n="50" d="100"/>
          <a:sy n="50" d="100"/>
        </p:scale>
        <p:origin x="116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74" Type="http://customschemas.google.com/relationships/presentationmetadata" Target="meta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acarias\AppData\Roaming\Microsoft\Excel\ZACARIAS%202.FY26_G2G_Quarterly%20Financial%20Report%20Q2%2021.09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mbp\Downloads\data-15.xls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mbp\Downloads\data-18.xls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odoni MT" panose="020706030806060202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Folha1!$E$5:$E$25</c:f>
              <c:strCache>
                <c:ptCount val="21"/>
                <c:pt idx="0">
                  <c:v>Medicos Especialistas</c:v>
                </c:pt>
                <c:pt idx="1">
                  <c:v>Médicos de Clínica Geral</c:v>
                </c:pt>
                <c:pt idx="2">
                  <c:v>Odontoestomatologia</c:v>
                </c:pt>
                <c:pt idx="3">
                  <c:v>Anesteseologia</c:v>
                </c:pt>
                <c:pt idx="4">
                  <c:v>Cirurgia</c:v>
                </c:pt>
                <c:pt idx="5">
                  <c:v>Enfermagem</c:v>
                </c:pt>
                <c:pt idx="6">
                  <c:v>Farmaceuticos</c:v>
                </c:pt>
                <c:pt idx="7">
                  <c:v>Laboratorio</c:v>
                </c:pt>
                <c:pt idx="8">
                  <c:v>Administração Hospitalar</c:v>
                </c:pt>
                <c:pt idx="9">
                  <c:v>Psicologos </c:v>
                </c:pt>
                <c:pt idx="10">
                  <c:v>TMG</c:v>
                </c:pt>
                <c:pt idx="11">
                  <c:v>Oftalmologia</c:v>
                </c:pt>
                <c:pt idx="12">
                  <c:v>Psiquiatria </c:v>
                </c:pt>
                <c:pt idx="13">
                  <c:v>Nutricão</c:v>
                </c:pt>
                <c:pt idx="14">
                  <c:v>Radiologia</c:v>
                </c:pt>
                <c:pt idx="15">
                  <c:v>Medicina Fisica Reabilitação</c:v>
                </c:pt>
                <c:pt idx="16">
                  <c:v>Medicina Preventiva</c:v>
                </c:pt>
                <c:pt idx="17">
                  <c:v>Instrumentação</c:v>
                </c:pt>
                <c:pt idx="18">
                  <c:v>SMI </c:v>
                </c:pt>
                <c:pt idx="19">
                  <c:v>Técnicos de Estatistica</c:v>
                </c:pt>
                <c:pt idx="20">
                  <c:v>Outros Técnicos de Saúde</c:v>
                </c:pt>
              </c:strCache>
            </c:strRef>
          </c:cat>
          <c:val>
            <c:numRef>
              <c:f>Folha1!$F$5:$F$25</c:f>
              <c:numCache>
                <c:formatCode>General</c:formatCode>
                <c:ptCount val="21"/>
                <c:pt idx="0">
                  <c:v>83</c:v>
                </c:pt>
                <c:pt idx="1">
                  <c:v>182</c:v>
                </c:pt>
                <c:pt idx="2">
                  <c:v>59</c:v>
                </c:pt>
                <c:pt idx="3">
                  <c:v>20</c:v>
                </c:pt>
                <c:pt idx="4">
                  <c:v>9</c:v>
                </c:pt>
                <c:pt idx="5">
                  <c:v>544</c:v>
                </c:pt>
                <c:pt idx="6">
                  <c:v>193</c:v>
                </c:pt>
                <c:pt idx="7">
                  <c:v>142</c:v>
                </c:pt>
                <c:pt idx="8">
                  <c:v>57</c:v>
                </c:pt>
                <c:pt idx="9">
                  <c:v>63</c:v>
                </c:pt>
                <c:pt idx="10">
                  <c:v>186</c:v>
                </c:pt>
                <c:pt idx="11">
                  <c:v>17</c:v>
                </c:pt>
                <c:pt idx="12">
                  <c:v>42</c:v>
                </c:pt>
                <c:pt idx="13">
                  <c:v>57</c:v>
                </c:pt>
                <c:pt idx="14">
                  <c:v>30</c:v>
                </c:pt>
                <c:pt idx="15">
                  <c:v>27</c:v>
                </c:pt>
                <c:pt idx="16">
                  <c:v>127</c:v>
                </c:pt>
                <c:pt idx="17">
                  <c:v>13</c:v>
                </c:pt>
                <c:pt idx="18">
                  <c:v>403</c:v>
                </c:pt>
                <c:pt idx="19">
                  <c:v>29</c:v>
                </c:pt>
                <c:pt idx="20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CD-4663-A843-1EE27F717BF3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Folha1!$E$5:$E$25</c:f>
              <c:strCache>
                <c:ptCount val="21"/>
                <c:pt idx="0">
                  <c:v>Medicos Especialistas</c:v>
                </c:pt>
                <c:pt idx="1">
                  <c:v>Médicos de Clínica Geral</c:v>
                </c:pt>
                <c:pt idx="2">
                  <c:v>Odontoestomatologia</c:v>
                </c:pt>
                <c:pt idx="3">
                  <c:v>Anesteseologia</c:v>
                </c:pt>
                <c:pt idx="4">
                  <c:v>Cirurgia</c:v>
                </c:pt>
                <c:pt idx="5">
                  <c:v>Enfermagem</c:v>
                </c:pt>
                <c:pt idx="6">
                  <c:v>Farmaceuticos</c:v>
                </c:pt>
                <c:pt idx="7">
                  <c:v>Laboratorio</c:v>
                </c:pt>
                <c:pt idx="8">
                  <c:v>Administração Hospitalar</c:v>
                </c:pt>
                <c:pt idx="9">
                  <c:v>Psicologos </c:v>
                </c:pt>
                <c:pt idx="10">
                  <c:v>TMG</c:v>
                </c:pt>
                <c:pt idx="11">
                  <c:v>Oftalmologia</c:v>
                </c:pt>
                <c:pt idx="12">
                  <c:v>Psiquiatria </c:v>
                </c:pt>
                <c:pt idx="13">
                  <c:v>Nutricão</c:v>
                </c:pt>
                <c:pt idx="14">
                  <c:v>Radiologia</c:v>
                </c:pt>
                <c:pt idx="15">
                  <c:v>Medicina Fisica Reabilitação</c:v>
                </c:pt>
                <c:pt idx="16">
                  <c:v>Medicina Preventiva</c:v>
                </c:pt>
                <c:pt idx="17">
                  <c:v>Instrumentação</c:v>
                </c:pt>
                <c:pt idx="18">
                  <c:v>SMI </c:v>
                </c:pt>
                <c:pt idx="19">
                  <c:v>Técnicos de Estatistica</c:v>
                </c:pt>
                <c:pt idx="20">
                  <c:v>Outros Técnicos de Saúde</c:v>
                </c:pt>
              </c:strCache>
            </c:strRef>
          </c:cat>
          <c:val>
            <c:numRef>
              <c:f>Folha1!$G$5:$G$25</c:f>
            </c:numRef>
          </c:val>
          <c:extLst>
            <c:ext xmlns:c16="http://schemas.microsoft.com/office/drawing/2014/chart" uri="{C3380CC4-5D6E-409C-BE32-E72D297353CC}">
              <c16:uniqueId val="{00000001-AECD-4663-A843-1EE27F717BF3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Folha1!$E$5:$E$25</c:f>
              <c:strCache>
                <c:ptCount val="21"/>
                <c:pt idx="0">
                  <c:v>Medicos Especialistas</c:v>
                </c:pt>
                <c:pt idx="1">
                  <c:v>Médicos de Clínica Geral</c:v>
                </c:pt>
                <c:pt idx="2">
                  <c:v>Odontoestomatologia</c:v>
                </c:pt>
                <c:pt idx="3">
                  <c:v>Anesteseologia</c:v>
                </c:pt>
                <c:pt idx="4">
                  <c:v>Cirurgia</c:v>
                </c:pt>
                <c:pt idx="5">
                  <c:v>Enfermagem</c:v>
                </c:pt>
                <c:pt idx="6">
                  <c:v>Farmaceuticos</c:v>
                </c:pt>
                <c:pt idx="7">
                  <c:v>Laboratorio</c:v>
                </c:pt>
                <c:pt idx="8">
                  <c:v>Administração Hospitalar</c:v>
                </c:pt>
                <c:pt idx="9">
                  <c:v>Psicologos </c:v>
                </c:pt>
                <c:pt idx="10">
                  <c:v>TMG</c:v>
                </c:pt>
                <c:pt idx="11">
                  <c:v>Oftalmologia</c:v>
                </c:pt>
                <c:pt idx="12">
                  <c:v>Psiquiatria </c:v>
                </c:pt>
                <c:pt idx="13">
                  <c:v>Nutricão</c:v>
                </c:pt>
                <c:pt idx="14">
                  <c:v>Radiologia</c:v>
                </c:pt>
                <c:pt idx="15">
                  <c:v>Medicina Fisica Reabilitação</c:v>
                </c:pt>
                <c:pt idx="16">
                  <c:v>Medicina Preventiva</c:v>
                </c:pt>
                <c:pt idx="17">
                  <c:v>Instrumentação</c:v>
                </c:pt>
                <c:pt idx="18">
                  <c:v>SMI </c:v>
                </c:pt>
                <c:pt idx="19">
                  <c:v>Técnicos de Estatistica</c:v>
                </c:pt>
                <c:pt idx="20">
                  <c:v>Outros Técnicos de Saúde</c:v>
                </c:pt>
              </c:strCache>
            </c:strRef>
          </c:cat>
          <c:val>
            <c:numRef>
              <c:f>Folha1!$H$5:$H$25</c:f>
              <c:numCache>
                <c:formatCode>0%</c:formatCode>
                <c:ptCount val="21"/>
                <c:pt idx="0">
                  <c:v>3.419859909353111E-2</c:v>
                </c:pt>
                <c:pt idx="1">
                  <c:v>7.4989699217140507E-2</c:v>
                </c:pt>
                <c:pt idx="2">
                  <c:v>2.4309847548413678E-2</c:v>
                </c:pt>
                <c:pt idx="3">
                  <c:v>8.2406262875978579E-3</c:v>
                </c:pt>
                <c:pt idx="4">
                  <c:v>3.708281829419036E-3</c:v>
                </c:pt>
                <c:pt idx="5">
                  <c:v>0.22414503502266173</c:v>
                </c:pt>
                <c:pt idx="6">
                  <c:v>7.9522043675319329E-2</c:v>
                </c:pt>
                <c:pt idx="7">
                  <c:v>5.8508446641944788E-2</c:v>
                </c:pt>
                <c:pt idx="8">
                  <c:v>2.3485784919653894E-2</c:v>
                </c:pt>
                <c:pt idx="9">
                  <c:v>2.595797280593325E-2</c:v>
                </c:pt>
                <c:pt idx="10">
                  <c:v>7.6637824474660068E-2</c:v>
                </c:pt>
                <c:pt idx="11">
                  <c:v>7.0045323444581789E-3</c:v>
                </c:pt>
                <c:pt idx="12">
                  <c:v>1.73053152039555E-2</c:v>
                </c:pt>
                <c:pt idx="13">
                  <c:v>2.3485784919653894E-2</c:v>
                </c:pt>
                <c:pt idx="14">
                  <c:v>1.2360939431396786E-2</c:v>
                </c:pt>
                <c:pt idx="15">
                  <c:v>1.1124845488257108E-2</c:v>
                </c:pt>
                <c:pt idx="16">
                  <c:v>5.2327976926246397E-2</c:v>
                </c:pt>
                <c:pt idx="17">
                  <c:v>5.356407086938607E-3</c:v>
                </c:pt>
                <c:pt idx="18">
                  <c:v>0.16604861969509682</c:v>
                </c:pt>
                <c:pt idx="19">
                  <c:v>1.1948908117016894E-2</c:v>
                </c:pt>
                <c:pt idx="20">
                  <c:v>5.9332509270704575E-2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CD-4663-A843-1EE27F717B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9632015"/>
        <c:axId val="1699633455"/>
      </c:barChart>
      <c:catAx>
        <c:axId val="1699632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defRPr>
            </a:pPr>
            <a:endParaRPr lang="en-US"/>
          </a:p>
        </c:txPr>
        <c:crossAx val="1699633455"/>
        <c:crosses val="autoZero"/>
        <c:auto val="1"/>
        <c:lblAlgn val="ctr"/>
        <c:lblOffset val="100"/>
        <c:noMultiLvlLbl val="0"/>
      </c:catAx>
      <c:valAx>
        <c:axId val="1699633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9632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Coluna1</c:v>
                </c:pt>
              </c:strCache>
            </c:strRef>
          </c:tx>
          <c:explosion val="26"/>
          <c:dPt>
            <c:idx val="0"/>
            <c:bubble3D val="0"/>
            <c:explosion val="24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F9C-4ADF-9B47-FCE2DD17703D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F9C-4ADF-9B47-FCE2DD17703D}"/>
              </c:ext>
            </c:extLst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rgbClr val="0070C0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F9C-4ADF-9B47-FCE2DD17703D}"/>
                </c:ext>
              </c:extLst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rgbClr val="0070C0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EF9C-4ADF-9B47-FCE2DD17703D}"/>
                </c:ext>
              </c:extLst>
            </c:dLbl>
            <c:spPr>
              <a:solidFill>
                <a:srgbClr val="FFFFFF">
                  <a:alpha val="90000"/>
                </a:srgbClr>
              </a:solidFill>
              <a:ln w="12700" cap="flat" cmpd="sng" algn="ctr">
                <a:solidFill>
                  <a:srgbClr val="21295C"/>
                </a:solidFill>
                <a:round/>
              </a:ln>
              <a:effectLst>
                <a:outerShdw blurRad="50800" dist="38100" dir="2700000" algn="tl" rotWithShape="0">
                  <a:srgbClr val="21295C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330" b="0" i="0" u="none" strike="noStrike" kern="1200" baseline="0">
                    <a:solidFill>
                      <a:srgbClr val="0070C0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Folha1!$A$2:$A$3</c:f>
              <c:strCache>
                <c:ptCount val="2"/>
                <c:pt idx="0">
                  <c:v>Regime geral</c:v>
                </c:pt>
                <c:pt idx="1">
                  <c:v>regime especial de saude</c:v>
                </c:pt>
              </c:strCache>
            </c:strRef>
          </c:cat>
          <c:val>
            <c:numRef>
              <c:f>Folha1!$B$2:$B$3</c:f>
              <c:numCache>
                <c:formatCode>General</c:formatCode>
                <c:ptCount val="2"/>
                <c:pt idx="0">
                  <c:v>1063</c:v>
                </c:pt>
                <c:pt idx="1">
                  <c:v>2427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9C-4ADF-9B47-FCE2DD17703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PT" sz="1800" b="1">
                <a:solidFill>
                  <a:schemeClr val="tx1"/>
                </a:solidFill>
                <a:effectLst/>
              </a:rPr>
              <a:t>Novas Admissões </a:t>
            </a:r>
            <a:endParaRPr lang="en-US" sz="1800">
              <a:solidFill>
                <a:schemeClr val="tx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odoni MT" panose="020706030806060202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Folha1!$A$2:$A$3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2026</c:v>
                </c:pt>
              </c:numCache>
            </c:numRef>
          </c:cat>
          <c:val>
            <c:numRef>
              <c:f>Folha1!$B$2:$B$3</c:f>
              <c:numCache>
                <c:formatCode>General</c:formatCode>
                <c:ptCount val="2"/>
                <c:pt idx="0">
                  <c:v>41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CF-48BB-87F9-01F10C3F34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068960"/>
        <c:axId val="75068000"/>
      </c:barChart>
      <c:catAx>
        <c:axId val="75068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defRPr>
            </a:pPr>
            <a:endParaRPr lang="en-US"/>
          </a:p>
        </c:txPr>
        <c:crossAx val="75068000"/>
        <c:crosses val="autoZero"/>
        <c:auto val="1"/>
        <c:lblAlgn val="ctr"/>
        <c:lblOffset val="100"/>
        <c:noMultiLvlLbl val="0"/>
      </c:catAx>
      <c:valAx>
        <c:axId val="75068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068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Hosp.'!$C$25</c:f>
              <c:strCache>
                <c:ptCount val="1"/>
                <c:pt idx="0">
                  <c:v>Cama/Medico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14300" prst="artDeco"/>
              </a:sp3d>
            </c:spPr>
            <c:extLst>
              <c:ext xmlns:c16="http://schemas.microsoft.com/office/drawing/2014/chart" uri="{C3380CC4-5D6E-409C-BE32-E72D297353CC}">
                <c16:uniqueId val="{00000001-7358-4E7F-BDDC-F4A1C77DDE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Hosp.'!$B$26:$B$30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Hosp.'!$C$26:$C$30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16</c:v>
                </c:pt>
                <c:pt idx="3">
                  <c:v>9</c:v>
                </c:pt>
                <c:pt idx="4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58-4E7F-BDDC-F4A1C77DDEF7}"/>
            </c:ext>
          </c:extLst>
        </c:ser>
        <c:ser>
          <c:idx val="1"/>
          <c:order val="1"/>
          <c:tx>
            <c:strRef>
              <c:f>'Balanço dos Indicadores Hosp.'!$D$25</c:f>
              <c:strCache>
                <c:ptCount val="1"/>
                <c:pt idx="0">
                  <c:v>Cama/Enfermeiro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extLst>
              <c:ext xmlns:c16="http://schemas.microsoft.com/office/drawing/2014/chart" uri="{C3380CC4-5D6E-409C-BE32-E72D297353CC}">
                <c16:uniqueId val="{00000004-7358-4E7F-BDDC-F4A1C77DDE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Hosp.'!$B$26:$B$30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Hosp.'!$D$26:$D$30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58-4E7F-BDDC-F4A1C77DDE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7614208"/>
        <c:axId val="367616000"/>
      </c:barChart>
      <c:catAx>
        <c:axId val="367614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367616000"/>
        <c:crosses val="autoZero"/>
        <c:auto val="1"/>
        <c:lblAlgn val="ctr"/>
        <c:lblOffset val="100"/>
        <c:noMultiLvlLbl val="0"/>
      </c:catAx>
      <c:valAx>
        <c:axId val="367616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367614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f814572-6bf1-4a93-a2b2-7700ff947adf}"/>
      </c:ext>
    </c:extLst>
  </c:chart>
  <c:spPr>
    <a:noFill/>
    <a:ln>
      <a:noFill/>
    </a:ln>
    <a:effectLst/>
  </c:spPr>
  <c:txPr>
    <a:bodyPr/>
    <a:lstStyle/>
    <a:p>
      <a:pPr>
        <a:defRPr lang="en-GB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Hosp.'!$C$113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Hosp.'!$B$114:$B$118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Hosp.'!$C$114:$C$118</c:f>
              <c:numCache>
                <c:formatCode>0.0%</c:formatCode>
                <c:ptCount val="5"/>
                <c:pt idx="0">
                  <c:v>0.3</c:v>
                </c:pt>
                <c:pt idx="1">
                  <c:v>0.57399999999999995</c:v>
                </c:pt>
                <c:pt idx="2">
                  <c:v>0.43</c:v>
                </c:pt>
                <c:pt idx="3">
                  <c:v>0.32</c:v>
                </c:pt>
                <c:pt idx="4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B-430F-9160-C455185DE0DC}"/>
            </c:ext>
          </c:extLst>
        </c:ser>
        <c:ser>
          <c:idx val="1"/>
          <c:order val="1"/>
          <c:tx>
            <c:strRef>
              <c:f>'Balanço dos Indicadores Hosp.'!$D$113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Hosp.'!$B$114:$B$118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Hosp.'!$D$114:$D$118</c:f>
              <c:numCache>
                <c:formatCode>0.0%</c:formatCode>
                <c:ptCount val="5"/>
                <c:pt idx="0">
                  <c:v>0.61</c:v>
                </c:pt>
                <c:pt idx="1">
                  <c:v>0.71599999999999997</c:v>
                </c:pt>
                <c:pt idx="2">
                  <c:v>0.08</c:v>
                </c:pt>
                <c:pt idx="3">
                  <c:v>0.27</c:v>
                </c:pt>
                <c:pt idx="4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5B-430F-9160-C455185DE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1953024"/>
        <c:axId val="411954560"/>
      </c:barChart>
      <c:catAx>
        <c:axId val="411953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1954560"/>
        <c:crosses val="autoZero"/>
        <c:auto val="1"/>
        <c:lblAlgn val="ctr"/>
        <c:lblOffset val="100"/>
        <c:noMultiLvlLbl val="0"/>
      </c:catAx>
      <c:valAx>
        <c:axId val="411954560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195302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1d147fd-da69-48cc-918f-e85efbe70341}"/>
      </c:ext>
    </c:extLst>
  </c:chart>
  <c:spPr>
    <a:noFill/>
    <a:ln>
      <a:noFill/>
    </a:ln>
    <a:effectLst/>
  </c:spPr>
  <c:txPr>
    <a:bodyPr/>
    <a:lstStyle/>
    <a:p>
      <a:pPr>
        <a:defRPr lang="en-GB" sz="16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150731158605203E-2"/>
          <c:y val="0.180157828328705"/>
          <c:w val="0.92470641169853796"/>
          <c:h val="0.596049204987507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Hosp.'!$C$125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dLbl>
              <c:idx val="3"/>
              <c:layout>
                <c:manualLayout>
                  <c:x val="0"/>
                  <c:y val="-2.42865770192376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505-4E3C-9BD0-D8CFC8270B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Hosp.'!$B$126:$B$130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Hosp.'!$C$126:$C$130</c:f>
              <c:numCache>
                <c:formatCode>#\ ##0.0</c:formatCode>
                <c:ptCount val="5"/>
                <c:pt idx="0" formatCode="#,##0">
                  <c:v>31</c:v>
                </c:pt>
                <c:pt idx="1">
                  <c:v>37.4</c:v>
                </c:pt>
                <c:pt idx="2" formatCode="#,##0">
                  <c:v>12</c:v>
                </c:pt>
                <c:pt idx="3" formatCode="#,##0">
                  <c:v>56</c:v>
                </c:pt>
                <c:pt idx="4" formatCode="#,##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05-4E3C-9BD0-D8CFC8270B2A}"/>
            </c:ext>
          </c:extLst>
        </c:ser>
        <c:ser>
          <c:idx val="1"/>
          <c:order val="1"/>
          <c:tx>
            <c:strRef>
              <c:f>'Balanço dos Indicadores Hosp.'!$D$125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dLbl>
              <c:idx val="1"/>
              <c:layout>
                <c:manualLayout>
                  <c:x val="0"/>
                  <c:y val="-2.9143892423085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505-4E3C-9BD0-D8CFC8270B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Hosp.'!$B$126:$B$130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Hosp.'!$D$126:$D$130</c:f>
              <c:numCache>
                <c:formatCode>#\ ##0.0</c:formatCode>
                <c:ptCount val="5"/>
                <c:pt idx="0" formatCode="#,##0">
                  <c:v>32</c:v>
                </c:pt>
                <c:pt idx="1">
                  <c:v>54.4</c:v>
                </c:pt>
                <c:pt idx="2" formatCode="#,##0">
                  <c:v>2</c:v>
                </c:pt>
                <c:pt idx="3" formatCode="#,##0">
                  <c:v>63</c:v>
                </c:pt>
                <c:pt idx="4" formatCode="#,##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505-4E3C-9BD0-D8CFC8270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2294144"/>
        <c:axId val="412295936"/>
      </c:barChart>
      <c:catAx>
        <c:axId val="412294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2295936"/>
        <c:crosses val="autoZero"/>
        <c:auto val="1"/>
        <c:lblAlgn val="ctr"/>
        <c:lblOffset val="100"/>
        <c:noMultiLvlLbl val="0"/>
      </c:catAx>
      <c:valAx>
        <c:axId val="41229593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229414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e12bd8f-7c13-4e18-91d7-fde23e374b2f}"/>
      </c:ext>
    </c:extLst>
  </c:chart>
  <c:spPr>
    <a:noFill/>
    <a:ln>
      <a:noFill/>
    </a:ln>
    <a:effectLst/>
  </c:spPr>
  <c:txPr>
    <a:bodyPr/>
    <a:lstStyle/>
    <a:p>
      <a:pPr>
        <a:defRPr lang="en-GB" sz="20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Hosp.'!$C$148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Hosp.'!$B$149:$B$153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Hosp.'!$C$149:$C$153</c:f>
              <c:numCache>
                <c:formatCode>#\ ##0.0</c:formatCode>
                <c:ptCount val="5"/>
                <c:pt idx="0" formatCode="#,##0">
                  <c:v>0</c:v>
                </c:pt>
                <c:pt idx="1">
                  <c:v>1.74</c:v>
                </c:pt>
                <c:pt idx="2" formatCode="#,##0">
                  <c:v>0</c:v>
                </c:pt>
                <c:pt idx="3" formatCode="#,##0">
                  <c:v>1</c:v>
                </c:pt>
                <c:pt idx="4" formatCode="#,##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4C-4C1C-AA6D-075F7A442220}"/>
            </c:ext>
          </c:extLst>
        </c:ser>
        <c:ser>
          <c:idx val="1"/>
          <c:order val="1"/>
          <c:tx>
            <c:strRef>
              <c:f>'Balanço dos Indicadores Hosp.'!$D$148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Hosp.'!$B$149:$B$153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Hosp.'!$D$149:$D$153</c:f>
              <c:numCache>
                <c:formatCode>#\ ##0.0</c:formatCode>
                <c:ptCount val="5"/>
                <c:pt idx="0" formatCode="#,##0">
                  <c:v>0</c:v>
                </c:pt>
                <c:pt idx="1">
                  <c:v>1.33</c:v>
                </c:pt>
                <c:pt idx="2" formatCode="#,##0">
                  <c:v>0</c:v>
                </c:pt>
                <c:pt idx="3">
                  <c:v>0.8</c:v>
                </c:pt>
                <c:pt idx="4" formatCode="#,##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4C-4C1C-AA6D-075F7A442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016064"/>
        <c:axId val="413017600"/>
      </c:barChart>
      <c:catAx>
        <c:axId val="41301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017600"/>
        <c:crosses val="autoZero"/>
        <c:auto val="1"/>
        <c:lblAlgn val="ctr"/>
        <c:lblOffset val="100"/>
        <c:noMultiLvlLbl val="0"/>
      </c:catAx>
      <c:valAx>
        <c:axId val="41301760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0160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74dce70-e129-42dc-93e7-8d7971dd026e}"/>
      </c:ext>
    </c:extLst>
  </c:chart>
  <c:spPr>
    <a:noFill/>
    <a:ln>
      <a:noFill/>
    </a:ln>
    <a:effectLst/>
  </c:spPr>
  <c:txPr>
    <a:bodyPr/>
    <a:lstStyle/>
    <a:p>
      <a:pPr>
        <a:defRPr lang="en-GB" sz="24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Hosp.'!$C$159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dLbl>
              <c:idx val="1"/>
              <c:layout>
                <c:manualLayout>
                  <c:x val="0"/>
                  <c:y val="1.023177775744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D85-4070-8AB7-664118BBCE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Hosp.'!$B$160:$B$164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Hosp.'!$C$160:$C$164</c:f>
              <c:numCache>
                <c:formatCode>#,##0.00</c:formatCode>
                <c:ptCount val="5"/>
                <c:pt idx="0">
                  <c:v>0</c:v>
                </c:pt>
                <c:pt idx="1">
                  <c:v>0.5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85-4070-8AB7-664118BBCEB2}"/>
            </c:ext>
          </c:extLst>
        </c:ser>
        <c:ser>
          <c:idx val="1"/>
          <c:order val="1"/>
          <c:tx>
            <c:strRef>
              <c:f>'Balanço dos Indicadores Hosp.'!$D$159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dLbl>
              <c:idx val="1"/>
              <c:layout>
                <c:manualLayout>
                  <c:x val="-1.5130217931957201E-3"/>
                  <c:y val="4.328829051225199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D85-4070-8AB7-664118BBCE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Hosp.'!$B$160:$B$164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Hosp.'!$D$160:$D$164</c:f>
              <c:numCache>
                <c:formatCode>#,##0.00</c:formatCode>
                <c:ptCount val="5"/>
                <c:pt idx="0">
                  <c:v>0.03</c:v>
                </c:pt>
                <c:pt idx="1">
                  <c:v>0.42</c:v>
                </c:pt>
                <c:pt idx="2">
                  <c:v>0</c:v>
                </c:pt>
                <c:pt idx="3">
                  <c:v>0.9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85-4070-8AB7-664118BBC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139712"/>
        <c:axId val="413141248"/>
      </c:barChart>
      <c:catAx>
        <c:axId val="41313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141248"/>
        <c:crosses val="autoZero"/>
        <c:auto val="1"/>
        <c:lblAlgn val="ctr"/>
        <c:lblOffset val="100"/>
        <c:noMultiLvlLbl val="0"/>
      </c:catAx>
      <c:valAx>
        <c:axId val="413141248"/>
        <c:scaling>
          <c:orientation val="minMax"/>
        </c:scaling>
        <c:delete val="0"/>
        <c:axPos val="l"/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139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8d9d5bb-f89b-4910-a885-fee10b21e456}"/>
      </c:ext>
    </c:extLst>
  </c:chart>
  <c:spPr>
    <a:noFill/>
    <a:ln>
      <a:noFill/>
    </a:ln>
    <a:effectLst/>
  </c:spPr>
  <c:txPr>
    <a:bodyPr/>
    <a:lstStyle/>
    <a:p>
      <a:pPr>
        <a:defRPr lang="en-GB" sz="18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Hosp.'!$C$171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Hosp.'!$B$172:$B$176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Hosp.'!$C$172:$C$176</c:f>
              <c:numCache>
                <c:formatCode>#\ ##0.0</c:formatCode>
                <c:ptCount val="5"/>
                <c:pt idx="0">
                  <c:v>1.4</c:v>
                </c:pt>
                <c:pt idx="1">
                  <c:v>4.7</c:v>
                </c:pt>
                <c:pt idx="2">
                  <c:v>7</c:v>
                </c:pt>
                <c:pt idx="3">
                  <c:v>0.7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19-48CC-8CF2-B4E08C24F2D8}"/>
            </c:ext>
          </c:extLst>
        </c:ser>
        <c:ser>
          <c:idx val="1"/>
          <c:order val="1"/>
          <c:tx>
            <c:strRef>
              <c:f>'Balanço dos Indicadores Hosp.'!$D$171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dLbl>
              <c:idx val="1"/>
              <c:layout>
                <c:manualLayout>
                  <c:x val="0"/>
                  <c:y val="-4.08163411060549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19-48CC-8CF2-B4E08C24F2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Hosp.'!$B$172:$B$176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Hosp.'!$D$172:$D$176</c:f>
              <c:numCache>
                <c:formatCode>#\ ##0.0</c:formatCode>
                <c:ptCount val="5"/>
                <c:pt idx="0">
                  <c:v>3</c:v>
                </c:pt>
                <c:pt idx="1">
                  <c:v>3.2</c:v>
                </c:pt>
                <c:pt idx="2">
                  <c:v>0</c:v>
                </c:pt>
                <c:pt idx="3">
                  <c:v>1.3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19-48CC-8CF2-B4E08C24F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414528"/>
        <c:axId val="413416064"/>
      </c:barChart>
      <c:catAx>
        <c:axId val="413414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416064"/>
        <c:crosses val="autoZero"/>
        <c:auto val="1"/>
        <c:lblAlgn val="ctr"/>
        <c:lblOffset val="100"/>
        <c:noMultiLvlLbl val="0"/>
      </c:catAx>
      <c:valAx>
        <c:axId val="413416064"/>
        <c:scaling>
          <c:orientation val="minMax"/>
        </c:scaling>
        <c:delete val="0"/>
        <c:axPos val="l"/>
        <c:numFmt formatCode="#\ 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414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3e2e748-4a13-47f9-8967-beb2c65b23e1}"/>
      </c:ext>
    </c:extLst>
  </c:chart>
  <c:spPr>
    <a:noFill/>
    <a:ln>
      <a:noFill/>
    </a:ln>
    <a:effectLst/>
  </c:spPr>
  <c:txPr>
    <a:bodyPr/>
    <a:lstStyle/>
    <a:p>
      <a:pPr>
        <a:defRPr lang="en-GB" sz="24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 Semestre 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KAMPFUMO</c:v>
                </c:pt>
                <c:pt idx="1">
                  <c:v>NLHAMANKULU</c:v>
                </c:pt>
                <c:pt idx="2">
                  <c:v>KAMAXAKENE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503</c:v>
                </c:pt>
                <c:pt idx="1">
                  <c:v>187</c:v>
                </c:pt>
                <c:pt idx="2">
                  <c:v>0</c:v>
                </c:pt>
                <c:pt idx="3">
                  <c:v>143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FE-4AB3-B5B1-CD53847F7F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 Semestre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KAMPFUMO</c:v>
                </c:pt>
                <c:pt idx="1">
                  <c:v>NLHAMANKULU</c:v>
                </c:pt>
                <c:pt idx="2">
                  <c:v>KAMAXAKENE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458</c:v>
                </c:pt>
                <c:pt idx="1">
                  <c:v>143</c:v>
                </c:pt>
                <c:pt idx="2">
                  <c:v>0</c:v>
                </c:pt>
                <c:pt idx="3">
                  <c:v>109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FE-4AB3-B5B1-CD53847F7F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3388712"/>
        <c:axId val="453385968"/>
      </c:barChart>
      <c:catAx>
        <c:axId val="453388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385968"/>
        <c:crosses val="autoZero"/>
        <c:auto val="1"/>
        <c:lblAlgn val="ctr"/>
        <c:lblOffset val="100"/>
        <c:noMultiLvlLbl val="0"/>
      </c:catAx>
      <c:valAx>
        <c:axId val="4533859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3388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9781467171491654"/>
          <c:y val="1.8271900263240055E-2"/>
          <c:w val="0.62339239620935671"/>
          <c:h val="4.85713628008089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 1'!$B$12</c:f>
              <c:strCache>
                <c:ptCount val="1"/>
                <c:pt idx="0">
                  <c:v>I Semestre 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'Sheet 1'!$A$13:$A$20</c:f>
              <c:strCache>
                <c:ptCount val="8"/>
                <c:pt idx="0">
                  <c:v>KAMPFUMO</c:v>
                </c:pt>
                <c:pt idx="1">
                  <c:v>NLHAMANKULU</c:v>
                </c:pt>
                <c:pt idx="2">
                  <c:v>KAMAXAKENE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'Sheet 1'!$B$13:$B$20</c:f>
              <c:numCache>
                <c:formatCode>0</c:formatCode>
                <c:ptCount val="8"/>
                <c:pt idx="0">
                  <c:v>30.945121951219512</c:v>
                </c:pt>
                <c:pt idx="1">
                  <c:v>13.926630434782608</c:v>
                </c:pt>
                <c:pt idx="2">
                  <c:v>7.1942446043165473</c:v>
                </c:pt>
                <c:pt idx="3">
                  <c:v>21.220159151193634</c:v>
                </c:pt>
                <c:pt idx="4">
                  <c:v>5.5944055944055942</c:v>
                </c:pt>
                <c:pt idx="5">
                  <c:v>7.8431372549019605</c:v>
                </c:pt>
                <c:pt idx="6">
                  <c:v>0</c:v>
                </c:pt>
                <c:pt idx="7">
                  <c:v>20.435002529084471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A-4B20-B23D-B2538664C7CC}"/>
            </c:ext>
          </c:extLst>
        </c:ser>
        <c:ser>
          <c:idx val="1"/>
          <c:order val="1"/>
          <c:tx>
            <c:strRef>
              <c:f>'Sheet 1'!$C$12</c:f>
              <c:strCache>
                <c:ptCount val="1"/>
                <c:pt idx="0">
                  <c:v>I Semestre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'Sheet 1'!$A$13:$A$20</c:f>
              <c:strCache>
                <c:ptCount val="8"/>
                <c:pt idx="0">
                  <c:v>KAMPFUMO</c:v>
                </c:pt>
                <c:pt idx="1">
                  <c:v>NLHAMANKULU</c:v>
                </c:pt>
                <c:pt idx="2">
                  <c:v>KAMAXAKENE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'Sheet 1'!$C$13:$C$20</c:f>
              <c:numCache>
                <c:formatCode>0</c:formatCode>
                <c:ptCount val="8"/>
                <c:pt idx="0">
                  <c:v>37.816931671680273</c:v>
                </c:pt>
                <c:pt idx="1">
                  <c:v>20.819778789850361</c:v>
                </c:pt>
                <c:pt idx="2">
                  <c:v>7.3917634635691654</c:v>
                </c:pt>
                <c:pt idx="3">
                  <c:v>17.960331094799315</c:v>
                </c:pt>
                <c:pt idx="4">
                  <c:v>6.1517429938482575</c:v>
                </c:pt>
                <c:pt idx="5">
                  <c:v>7.6923076923076925</c:v>
                </c:pt>
                <c:pt idx="6">
                  <c:v>0</c:v>
                </c:pt>
                <c:pt idx="7">
                  <c:v>23.419105280861082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A-4B20-B23D-B2538664C7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3391848"/>
        <c:axId val="453389496"/>
      </c:barChart>
      <c:catAx>
        <c:axId val="453391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389496"/>
        <c:crosses val="autoZero"/>
        <c:auto val="1"/>
        <c:lblAlgn val="ctr"/>
        <c:lblOffset val="100"/>
        <c:noMultiLvlLbl val="0"/>
      </c:catAx>
      <c:valAx>
        <c:axId val="453389496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453391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871816820029999E-2"/>
          <c:y val="4.2750929368029697E-2"/>
          <c:w val="0.91380269634068001"/>
          <c:h val="0.565194109772423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MALCF!$B$1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MALCF!$A$2:$A$9</c:f>
              <c:strCache>
                <c:ptCount val="8"/>
                <c:pt idx="0">
                  <c:v>KaMpfumu</c:v>
                </c:pt>
                <c:pt idx="1">
                  <c:v>Nhlamankulu</c:v>
                </c:pt>
                <c:pt idx="2">
                  <c:v>KaMaxakeni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MALCF!$B$2:$B$9</c:f>
              <c:numCache>
                <c:formatCode>0</c:formatCode>
                <c:ptCount val="8"/>
                <c:pt idx="0">
                  <c:v>18.437992149247709</c:v>
                </c:pt>
                <c:pt idx="1">
                  <c:v>13.532837284477141</c:v>
                </c:pt>
                <c:pt idx="2">
                  <c:v>4.8766563693048619</c:v>
                </c:pt>
                <c:pt idx="3">
                  <c:v>34.327746987808254</c:v>
                </c:pt>
                <c:pt idx="4">
                  <c:v>9.8580978034958253</c:v>
                </c:pt>
                <c:pt idx="5">
                  <c:v>28.878970102048307</c:v>
                </c:pt>
                <c:pt idx="6">
                  <c:v>4.2960040874804015</c:v>
                </c:pt>
                <c:pt idx="7">
                  <c:v>17.871372455409325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4-48F6-B086-43023B55C859}"/>
            </c:ext>
          </c:extLst>
        </c:ser>
        <c:ser>
          <c:idx val="1"/>
          <c:order val="1"/>
          <c:tx>
            <c:strRef>
              <c:f>MALCF!$C$1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MALCF!$A$2:$A$9</c:f>
              <c:strCache>
                <c:ptCount val="8"/>
                <c:pt idx="0">
                  <c:v>KaMpfumu</c:v>
                </c:pt>
                <c:pt idx="1">
                  <c:v>Nhlamankulu</c:v>
                </c:pt>
                <c:pt idx="2">
                  <c:v>KaMaxakeni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MALCF!$C$2:$C$9</c:f>
              <c:numCache>
                <c:formatCode>0</c:formatCode>
                <c:ptCount val="8"/>
                <c:pt idx="0">
                  <c:v>7.4607163863776762</c:v>
                </c:pt>
                <c:pt idx="1">
                  <c:v>14.490655161397592</c:v>
                </c:pt>
                <c:pt idx="2">
                  <c:v>3.0451747133094411</c:v>
                </c:pt>
                <c:pt idx="3">
                  <c:v>10.073105860793452</c:v>
                </c:pt>
                <c:pt idx="4">
                  <c:v>5.8440523907574171</c:v>
                </c:pt>
                <c:pt idx="5">
                  <c:v>19.437987844094884</c:v>
                </c:pt>
                <c:pt idx="6">
                  <c:v>5.7115096411730688</c:v>
                </c:pt>
                <c:pt idx="7">
                  <c:v>8.1092646182467636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4-48F6-B086-43023B55C8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-10"/>
        <c:axId val="453394984"/>
        <c:axId val="453384792"/>
      </c:barChart>
      <c:lineChart>
        <c:grouping val="standard"/>
        <c:varyColors val="0"/>
        <c:ser>
          <c:idx val="2"/>
          <c:order val="2"/>
          <c:tx>
            <c:strRef>
              <c:f>MALCF!$D$1</c:f>
              <c:strCache>
                <c:ptCount val="1"/>
                <c:pt idx="0">
                  <c:v>META</c:v>
                </c:pt>
              </c:strCache>
            </c:strRef>
          </c:tx>
          <c:spPr>
            <a:ln w="2540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strRef>
              <c:f>MALCF!$A$2:$A$9</c:f>
              <c:strCache>
                <c:ptCount val="8"/>
                <c:pt idx="0">
                  <c:v>KaMpfumu</c:v>
                </c:pt>
                <c:pt idx="1">
                  <c:v>Nhlamankulu</c:v>
                </c:pt>
                <c:pt idx="2">
                  <c:v>KaMaxakeni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MALCF!$D$2:$D$9</c:f>
              <c:numCache>
                <c:formatCode>General</c:formatCode>
                <c:ptCount val="8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64-48F6-B086-43023B55C8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53394984"/>
        <c:axId val="453384792"/>
      </c:lineChart>
      <c:catAx>
        <c:axId val="453394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384792"/>
        <c:crosses val="autoZero"/>
        <c:auto val="1"/>
        <c:lblAlgn val="ctr"/>
        <c:lblOffset val="100"/>
        <c:noMultiLvlLbl val="0"/>
      </c:catAx>
      <c:valAx>
        <c:axId val="453384792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394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5b13fe0-3959-4c3b-b3a6-fbbd8fccc4fb}"/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60-4234-85B1-26931DBB2F24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60-4234-85B1-26931DBB2F24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260-4234-85B1-26931DBB2F24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260-4234-85B1-26931DBB2F24}"/>
              </c:ext>
            </c:extLst>
          </c:dPt>
          <c:dLbls>
            <c:dLbl>
              <c:idx val="0"/>
              <c:layout>
                <c:manualLayout>
                  <c:x val="-1.1579624966036139E-3"/>
                  <c:y val="0.3660349337851840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60-4234-85B1-26931DBB2F24}"/>
                </c:ext>
              </c:extLst>
            </c:dLbl>
            <c:dLbl>
              <c:idx val="1"/>
              <c:layout>
                <c:manualLayout>
                  <c:x val="4.6318499864144132E-3"/>
                  <c:y val="0.197856720964964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60-4234-85B1-26931DBB2F24}"/>
                </c:ext>
              </c:extLst>
            </c:dLbl>
            <c:dLbl>
              <c:idx val="2"/>
              <c:layout>
                <c:manualLayout>
                  <c:x val="0"/>
                  <c:y val="0.2745262003388880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260-4234-85B1-26931DBB2F24}"/>
                </c:ext>
              </c:extLst>
            </c:dLbl>
            <c:dLbl>
              <c:idx val="3"/>
              <c:layout>
                <c:manualLayout>
                  <c:x val="-4.6318499864144557E-3"/>
                  <c:y val="0.3363564256404394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260-4234-85B1-26931DBB2F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PVHIV</c:v>
                </c:pt>
                <c:pt idx="1">
                  <c:v>Diagnosticados HIV</c:v>
                </c:pt>
                <c:pt idx="2">
                  <c:v>Activos em TARV</c:v>
                </c:pt>
                <c:pt idx="3">
                  <c:v>Supressão Viral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0.73</c:v>
                </c:pt>
                <c:pt idx="2">
                  <c:v>0.84</c:v>
                </c:pt>
                <c:pt idx="3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60-4234-85B1-26931DBB2F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9942576"/>
        <c:axId val="459942968"/>
      </c:barChart>
      <c:catAx>
        <c:axId val="45994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942968"/>
        <c:crosses val="autoZero"/>
        <c:auto val="1"/>
        <c:lblAlgn val="ctr"/>
        <c:lblOffset val="100"/>
        <c:noMultiLvlLbl val="0"/>
      </c:catAx>
      <c:valAx>
        <c:axId val="45994296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59942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187-49D0-A1C6-56FDB055170D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187-49D0-A1C6-56FDB055170D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187-49D0-A1C6-56FDB055170D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187-49D0-A1C6-56FDB055170D}"/>
              </c:ext>
            </c:extLst>
          </c:dPt>
          <c:dLbls>
            <c:dLbl>
              <c:idx val="0"/>
              <c:layout>
                <c:manualLayout>
                  <c:x val="-1.1579624966036139E-3"/>
                  <c:y val="0.3660349337851840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87-49D0-A1C6-56FDB055170D}"/>
                </c:ext>
              </c:extLst>
            </c:dLbl>
            <c:dLbl>
              <c:idx val="1"/>
              <c:layout>
                <c:manualLayout>
                  <c:x val="4.6318499864144132E-3"/>
                  <c:y val="0.197856720964964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87-49D0-A1C6-56FDB055170D}"/>
                </c:ext>
              </c:extLst>
            </c:dLbl>
            <c:dLbl>
              <c:idx val="2"/>
              <c:layout>
                <c:manualLayout>
                  <c:x val="0"/>
                  <c:y val="0.2745262003388880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87-49D0-A1C6-56FDB055170D}"/>
                </c:ext>
              </c:extLst>
            </c:dLbl>
            <c:dLbl>
              <c:idx val="3"/>
              <c:layout>
                <c:manualLayout>
                  <c:x val="-4.6318499864144557E-3"/>
                  <c:y val="0.3363564256404394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187-49D0-A1C6-56FDB05517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PVHIV</c:v>
                </c:pt>
                <c:pt idx="1">
                  <c:v>Diagnosticados HIV</c:v>
                </c:pt>
                <c:pt idx="2">
                  <c:v>Activos em TARV</c:v>
                </c:pt>
                <c:pt idx="3">
                  <c:v>Supressão Viral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0.73</c:v>
                </c:pt>
                <c:pt idx="2">
                  <c:v>0.84</c:v>
                </c:pt>
                <c:pt idx="3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187-49D0-A1C6-56FDB05517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9935128"/>
        <c:axId val="459935912"/>
      </c:barChart>
      <c:catAx>
        <c:axId val="459935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935912"/>
        <c:crosses val="autoZero"/>
        <c:auto val="1"/>
        <c:lblAlgn val="ctr"/>
        <c:lblOffset val="100"/>
        <c:noMultiLvlLbl val="0"/>
      </c:catAx>
      <c:valAx>
        <c:axId val="4599359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59935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E3-4910-91B7-87FCF54968FC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3-4910-91B7-87FCF54968FC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EE3-4910-91B7-87FCF54968FC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EE3-4910-91B7-87FCF54968FC}"/>
              </c:ext>
            </c:extLst>
          </c:dPt>
          <c:dLbls>
            <c:dLbl>
              <c:idx val="0"/>
              <c:layout>
                <c:manualLayout>
                  <c:x val="-1.1579624966036139E-3"/>
                  <c:y val="0.3660349337851840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E3-4910-91B7-87FCF54968FC}"/>
                </c:ext>
              </c:extLst>
            </c:dLbl>
            <c:dLbl>
              <c:idx val="1"/>
              <c:layout>
                <c:manualLayout>
                  <c:x val="4.6318499864144132E-3"/>
                  <c:y val="0.197856720964964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E3-4910-91B7-87FCF54968FC}"/>
                </c:ext>
              </c:extLst>
            </c:dLbl>
            <c:dLbl>
              <c:idx val="2"/>
              <c:layout>
                <c:manualLayout>
                  <c:x val="0"/>
                  <c:y val="0.2745262003388880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E3-4910-91B7-87FCF54968FC}"/>
                </c:ext>
              </c:extLst>
            </c:dLbl>
            <c:dLbl>
              <c:idx val="3"/>
              <c:layout>
                <c:manualLayout>
                  <c:x val="-4.6318499864144557E-3"/>
                  <c:y val="0.3363564256404394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E3-4910-91B7-87FCF54968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PVHIV</c:v>
                </c:pt>
                <c:pt idx="1">
                  <c:v>Diagnosticados HIV</c:v>
                </c:pt>
                <c:pt idx="2">
                  <c:v>Activos em TARV</c:v>
                </c:pt>
                <c:pt idx="3">
                  <c:v>Supressão Viral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0.92</c:v>
                </c:pt>
                <c:pt idx="2">
                  <c:v>0.95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E3-4910-91B7-87FCF54968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3"/>
        <c:overlap val="-20"/>
        <c:axId val="459933560"/>
        <c:axId val="459934344"/>
      </c:barChart>
      <c:catAx>
        <c:axId val="459933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934344"/>
        <c:crosses val="autoZero"/>
        <c:auto val="1"/>
        <c:lblAlgn val="ctr"/>
        <c:lblOffset val="100"/>
        <c:noMultiLvlLbl val="0"/>
      </c:catAx>
      <c:valAx>
        <c:axId val="4599343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59933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Relationship Id="rId4" Type="http://schemas.microsoft.com/office/2007/relationships/hdphoto" Target="../media/hdphoto1.wdp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Relationship Id="rId4" Type="http://schemas.microsoft.com/office/2007/relationships/hdphoto" Target="../media/hdphoto1.wdp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#3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#4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2728F0-4195-474F-89CA-4148CE08F109}" type="doc">
      <dgm:prSet loTypeId="urn:microsoft.com/office/officeart/2005/8/layout/hProcess10" loCatId="process" qsTypeId="urn:microsoft.com/office/officeart/2005/8/quickstyle/simple2#1" qsCatId="simple" csTypeId="urn:microsoft.com/office/officeart/2005/8/colors/accent5_1#3" csCatId="accent5" phldr="1"/>
      <dgm:spPr/>
      <dgm:t>
        <a:bodyPr/>
        <a:lstStyle/>
        <a:p>
          <a:endParaRPr lang="en-US"/>
        </a:p>
      </dgm:t>
    </dgm:pt>
    <dgm:pt modelId="{D88BD199-E77D-48D3-86C4-DA3B4D74C869}">
      <dgm:prSet phldr="0" custT="1"/>
      <dgm:spPr/>
      <dgm:t>
        <a:bodyPr/>
        <a:lstStyle/>
        <a:p>
          <a:pPr algn="l" rtl="0"/>
          <a:r>
            <a:rPr lang="en-US" sz="1600" b="1">
              <a:latin typeface="+mn-lt"/>
              <a:ea typeface="Calibri"/>
              <a:cs typeface="Calibri"/>
            </a:rPr>
            <a:t>VIGILÂNCIA EM SAÚDE</a:t>
          </a:r>
        </a:p>
      </dgm:t>
    </dgm:pt>
    <dgm:pt modelId="{33CA83EF-CF1D-404F-A7AB-449686E4EAEF}" type="sibTrans" cxnId="{ACFA311C-7232-4BBA-8DD8-1ED118490129}">
      <dgm:prSet/>
      <dgm:spPr>
        <a:solidFill>
          <a:schemeClr val="bg1"/>
        </a:solidFill>
      </dgm:spPr>
      <dgm:t>
        <a:bodyPr/>
        <a:lstStyle/>
        <a:p>
          <a:pPr algn="just"/>
          <a:endParaRPr lang="pt-PT" sz="1400"/>
        </a:p>
      </dgm:t>
    </dgm:pt>
    <dgm:pt modelId="{65D4636A-4AB7-4C4D-9C6E-12A05DF71104}" type="parTrans" cxnId="{ACFA311C-7232-4BBA-8DD8-1ED118490129}">
      <dgm:prSet/>
      <dgm:spPr/>
      <dgm:t>
        <a:bodyPr/>
        <a:lstStyle/>
        <a:p>
          <a:pPr algn="just"/>
          <a:endParaRPr lang="pt-PT" sz="1400"/>
        </a:p>
      </dgm:t>
    </dgm:pt>
    <dgm:pt modelId="{2ED414D0-B35D-4EDD-93EC-F3487A69309A}">
      <dgm:prSet phldr="0" custT="1"/>
      <dgm:spPr/>
      <dgm:t>
        <a:bodyPr/>
        <a:lstStyle/>
        <a:p>
          <a:pPr algn="just"/>
          <a:r>
            <a:rPr lang="en-US" sz="1600" b="1" dirty="0" err="1">
              <a:latin typeface="+mn-lt"/>
            </a:rPr>
            <a:t>Resposta</a:t>
          </a:r>
          <a:r>
            <a:rPr lang="en-US" sz="1600" b="1" dirty="0">
              <a:latin typeface="+mn-lt"/>
            </a:rPr>
            <a:t> à </a:t>
          </a:r>
          <a:r>
            <a:rPr lang="en-US" sz="1600" b="1" dirty="0" err="1">
              <a:latin typeface="+mn-lt"/>
            </a:rPr>
            <a:t>época</a:t>
          </a:r>
          <a:r>
            <a:rPr lang="en-US" sz="1600" b="1" dirty="0">
              <a:latin typeface="+mn-lt"/>
            </a:rPr>
            <a:t> </a:t>
          </a:r>
          <a:r>
            <a:rPr lang="en-US" sz="1600" b="1" dirty="0" err="1">
              <a:latin typeface="+mn-lt"/>
            </a:rPr>
            <a:t>chuvosa</a:t>
          </a:r>
          <a:r>
            <a:rPr lang="en-US" sz="1600" b="1" dirty="0">
              <a:latin typeface="+mn-lt"/>
            </a:rPr>
            <a:t>/</a:t>
          </a:r>
          <a:r>
            <a:rPr lang="en-US" sz="1600" b="1" dirty="0" err="1">
              <a:latin typeface="+mn-lt"/>
            </a:rPr>
            <a:t>ciclónica</a:t>
          </a:r>
          <a:r>
            <a:rPr lang="en-US" sz="1600" b="1" dirty="0">
              <a:latin typeface="+mn-lt"/>
            </a:rPr>
            <a:t> e </a:t>
          </a:r>
          <a:r>
            <a:rPr lang="en-US" sz="1600" b="1" dirty="0" err="1">
              <a:latin typeface="+mn-lt"/>
            </a:rPr>
            <a:t>ao</a:t>
          </a:r>
          <a:r>
            <a:rPr lang="en-US" sz="1600" b="1" dirty="0">
              <a:latin typeface="+mn-lt"/>
            </a:rPr>
            <a:t> </a:t>
          </a:r>
          <a:r>
            <a:rPr lang="en-US" sz="1600" b="1" dirty="0" err="1">
              <a:latin typeface="+mn-lt"/>
            </a:rPr>
            <a:t>surto</a:t>
          </a:r>
          <a:r>
            <a:rPr lang="en-US" sz="1600" b="1" dirty="0">
              <a:latin typeface="+mn-lt"/>
            </a:rPr>
            <a:t> de </a:t>
          </a:r>
          <a:r>
            <a:rPr lang="en-US" sz="1600" b="1" dirty="0" err="1">
              <a:latin typeface="+mn-lt"/>
            </a:rPr>
            <a:t>cólera</a:t>
          </a:r>
          <a:r>
            <a:rPr lang="en-US" sz="1600" b="1" dirty="0">
              <a:latin typeface="+mn-lt"/>
            </a:rPr>
            <a:t>: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investigação</a:t>
          </a:r>
          <a:r>
            <a:rPr lang="en-US" sz="1600" dirty="0">
              <a:latin typeface="+mn-lt"/>
            </a:rPr>
            <a:t> de </a:t>
          </a:r>
          <a:r>
            <a:rPr lang="en-US" sz="1600" dirty="0" err="1">
              <a:latin typeface="+mn-lt"/>
            </a:rPr>
            <a:t>casos</a:t>
          </a:r>
          <a:r>
            <a:rPr lang="en-US" sz="1600" dirty="0">
              <a:latin typeface="+mn-lt"/>
            </a:rPr>
            <a:t>, </a:t>
          </a:r>
          <a:r>
            <a:rPr lang="en-US" sz="1600" dirty="0" err="1">
              <a:latin typeface="+mn-lt"/>
            </a:rPr>
            <a:t>monitoria</a:t>
          </a:r>
          <a:r>
            <a:rPr lang="en-US" sz="1600" dirty="0">
              <a:latin typeface="+mn-lt"/>
            </a:rPr>
            <a:t>, </a:t>
          </a:r>
          <a:r>
            <a:rPr lang="en-US" sz="1600" dirty="0" err="1">
              <a:latin typeface="+mn-lt"/>
            </a:rPr>
            <a:t>educação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comunitária</a:t>
          </a:r>
          <a:r>
            <a:rPr lang="en-US" sz="1600" dirty="0">
              <a:latin typeface="+mn-lt"/>
            </a:rPr>
            <a:t>, </a:t>
          </a:r>
          <a:r>
            <a:rPr lang="en-US" sz="1600" dirty="0" err="1">
              <a:latin typeface="+mn-lt"/>
            </a:rPr>
            <a:t>limpeza</a:t>
          </a:r>
          <a:r>
            <a:rPr lang="en-US" sz="1600" dirty="0">
              <a:latin typeface="+mn-lt"/>
            </a:rPr>
            <a:t> e </a:t>
          </a:r>
          <a:r>
            <a:rPr lang="en-US" sz="1600" dirty="0" err="1">
              <a:latin typeface="+mn-lt"/>
            </a:rPr>
            <a:t>vigilância</a:t>
          </a:r>
          <a:r>
            <a:rPr lang="en-US" sz="1600" dirty="0">
              <a:latin typeface="+mn-lt"/>
            </a:rPr>
            <a:t> da </a:t>
          </a:r>
          <a:r>
            <a:rPr lang="en-US" sz="1600" dirty="0" err="1">
              <a:latin typeface="+mn-lt"/>
            </a:rPr>
            <a:t>qualidade</a:t>
          </a:r>
          <a:r>
            <a:rPr lang="en-US" sz="1600" dirty="0">
              <a:latin typeface="+mn-lt"/>
            </a:rPr>
            <a:t> da </a:t>
          </a:r>
          <a:r>
            <a:rPr lang="en-US" sz="1600" dirty="0" err="1">
              <a:latin typeface="+mn-lt"/>
            </a:rPr>
            <a:t>água</a:t>
          </a:r>
          <a:r>
            <a:rPr lang="en-US" sz="1600" dirty="0">
              <a:latin typeface="+mn-lt"/>
            </a:rPr>
            <a:t>;</a:t>
          </a:r>
          <a:endParaRPr lang="en-US" sz="1600" b="0" dirty="0">
            <a:latin typeface="+mn-lt"/>
            <a:ea typeface="Calibri"/>
            <a:cs typeface="Calibri"/>
          </a:endParaRPr>
        </a:p>
      </dgm:t>
    </dgm:pt>
    <dgm:pt modelId="{96C0E95F-27A9-423B-B855-D4648D49A40A}" type="parTrans" cxnId="{B4CD0718-9391-4068-91B3-2CF99DE28982}">
      <dgm:prSet/>
      <dgm:spPr/>
      <dgm:t>
        <a:bodyPr/>
        <a:lstStyle/>
        <a:p>
          <a:pPr algn="just"/>
          <a:endParaRPr lang="pt-PT" sz="1400"/>
        </a:p>
      </dgm:t>
    </dgm:pt>
    <dgm:pt modelId="{0B5F74BA-5978-42A5-BAD3-4D4A65F92B11}" type="sibTrans" cxnId="{B4CD0718-9391-4068-91B3-2CF99DE28982}">
      <dgm:prSet/>
      <dgm:spPr/>
      <dgm:t>
        <a:bodyPr/>
        <a:lstStyle/>
        <a:p>
          <a:pPr algn="just"/>
          <a:endParaRPr lang="pt-PT" sz="1400"/>
        </a:p>
      </dgm:t>
    </dgm:pt>
    <dgm:pt modelId="{D8C21EF7-AE6B-48D8-B858-4D195B32DFD2}">
      <dgm:prSet phldrT="[Texto]" custT="1"/>
      <dgm:spPr/>
      <dgm:t>
        <a:bodyPr/>
        <a:lstStyle/>
        <a:p>
          <a:pPr algn="l"/>
          <a:r>
            <a:rPr lang="en-US" sz="1600" b="1" dirty="0"/>
            <a:t>MALÁRIA</a:t>
          </a:r>
          <a:endParaRPr lang="pt-PT" sz="1600" dirty="0"/>
        </a:p>
      </dgm:t>
    </dgm:pt>
    <dgm:pt modelId="{54998379-90DE-4FA0-ABDE-B303A7FBDD9F}" type="parTrans" cxnId="{4D349CB5-9C1C-48CB-8537-49E13EE60FB6}">
      <dgm:prSet/>
      <dgm:spPr/>
      <dgm:t>
        <a:bodyPr/>
        <a:lstStyle/>
        <a:p>
          <a:endParaRPr lang="pt-PT"/>
        </a:p>
      </dgm:t>
    </dgm:pt>
    <dgm:pt modelId="{8082A1D1-D737-4AE2-8DFC-C9E2EBF5918B}" type="sibTrans" cxnId="{4D349CB5-9C1C-48CB-8537-49E13EE60FB6}">
      <dgm:prSet/>
      <dgm:spPr>
        <a:noFill/>
      </dgm:spPr>
      <dgm:t>
        <a:bodyPr/>
        <a:lstStyle/>
        <a:p>
          <a:endParaRPr lang="pt-PT"/>
        </a:p>
      </dgm:t>
    </dgm:pt>
    <dgm:pt modelId="{DA8AE79E-D4DE-4EB2-AE38-4BE8247B9B68}">
      <dgm:prSet phldrT="[Texto]" custT="1"/>
      <dgm:spPr/>
      <dgm:t>
        <a:bodyPr/>
        <a:lstStyle/>
        <a:p>
          <a:pPr algn="l" rtl="0"/>
          <a:r>
            <a:rPr lang="en-US" sz="1600" b="1" dirty="0" err="1">
              <a:latin typeface="+mn-lt"/>
            </a:rPr>
            <a:t>Investigação</a:t>
          </a:r>
          <a:r>
            <a:rPr lang="en-US" sz="1600" b="1" dirty="0">
              <a:latin typeface="+mn-lt"/>
            </a:rPr>
            <a:t> de </a:t>
          </a:r>
          <a:r>
            <a:rPr lang="en-US" sz="1600" b="1" dirty="0" err="1">
              <a:latin typeface="+mn-lt"/>
            </a:rPr>
            <a:t>surto</a:t>
          </a:r>
          <a:r>
            <a:rPr lang="en-US" sz="1600" b="1" dirty="0">
              <a:latin typeface="+mn-lt"/>
            </a:rPr>
            <a:t> </a:t>
          </a:r>
          <a:r>
            <a:rPr lang="en-US" sz="1600" b="0" dirty="0">
              <a:latin typeface="+mn-lt"/>
            </a:rPr>
            <a:t>de </a:t>
          </a:r>
          <a:r>
            <a:rPr lang="en-US" sz="1600" b="0" dirty="0" err="1">
              <a:latin typeface="+mn-lt"/>
            </a:rPr>
            <a:t>malária</a:t>
          </a:r>
          <a:r>
            <a:rPr lang="en-US" sz="1600" b="0" dirty="0">
              <a:latin typeface="+mn-lt"/>
            </a:rPr>
            <a:t> </a:t>
          </a:r>
          <a:r>
            <a:rPr lang="en-US" sz="1600" b="0" dirty="0" err="1">
              <a:latin typeface="+mn-lt"/>
            </a:rPr>
            <a:t>em</a:t>
          </a:r>
          <a:r>
            <a:rPr lang="en-US" sz="1600" b="0" dirty="0">
              <a:latin typeface="+mn-lt"/>
            </a:rPr>
            <a:t> </a:t>
          </a:r>
          <a:r>
            <a:rPr lang="en-US" sz="1600" b="0" dirty="0" err="1">
              <a:latin typeface="+mn-lt"/>
            </a:rPr>
            <a:t>KaTembe</a:t>
          </a:r>
          <a:r>
            <a:rPr lang="en-US" sz="1600" b="0" dirty="0">
              <a:latin typeface="+mn-lt"/>
            </a:rPr>
            <a:t>;</a:t>
          </a:r>
          <a:endParaRPr lang="pt-PT" sz="1600" b="0" dirty="0">
            <a:latin typeface="+mn-lt"/>
          </a:endParaRPr>
        </a:p>
      </dgm:t>
    </dgm:pt>
    <dgm:pt modelId="{7C60B3D4-89FC-4A9F-8F23-59DFFE30F4DE}" type="parTrans" cxnId="{6809990C-79A4-4BCC-9805-5C9A43249A30}">
      <dgm:prSet/>
      <dgm:spPr/>
      <dgm:t>
        <a:bodyPr/>
        <a:lstStyle/>
        <a:p>
          <a:endParaRPr lang="pt-PT"/>
        </a:p>
      </dgm:t>
    </dgm:pt>
    <dgm:pt modelId="{4FF3CD43-6546-4F77-83BD-4A82780CF7CC}" type="sibTrans" cxnId="{6809990C-79A4-4BCC-9805-5C9A43249A30}">
      <dgm:prSet/>
      <dgm:spPr/>
      <dgm:t>
        <a:bodyPr/>
        <a:lstStyle/>
        <a:p>
          <a:endParaRPr lang="pt-PT"/>
        </a:p>
      </dgm:t>
    </dgm:pt>
    <dgm:pt modelId="{12812F87-F2DA-400A-B00C-F54C3E68E5D4}">
      <dgm:prSet phldrT="[Texto]" custT="1"/>
      <dgm:spPr/>
      <dgm:t>
        <a:bodyPr/>
        <a:lstStyle/>
        <a:p>
          <a:pPr>
            <a:buNone/>
          </a:pPr>
          <a:r>
            <a:rPr lang="pt-PT" sz="1600" b="1" dirty="0"/>
            <a:t>SAÚDE AMBIENTAL</a:t>
          </a:r>
        </a:p>
      </dgm:t>
    </dgm:pt>
    <dgm:pt modelId="{C1774298-5CF1-4BC8-B615-79BB9A1E0D1E}" type="parTrans" cxnId="{B904BA64-B84A-45C3-B7ED-3AE5A9178D7D}">
      <dgm:prSet/>
      <dgm:spPr/>
      <dgm:t>
        <a:bodyPr/>
        <a:lstStyle/>
        <a:p>
          <a:endParaRPr lang="pt-PT"/>
        </a:p>
      </dgm:t>
    </dgm:pt>
    <dgm:pt modelId="{1577EEAF-4D28-4AF1-A25C-A9C7B7C1591A}" type="sibTrans" cxnId="{B904BA64-B84A-45C3-B7ED-3AE5A9178D7D}">
      <dgm:prSet/>
      <dgm:spPr/>
      <dgm:t>
        <a:bodyPr/>
        <a:lstStyle/>
        <a:p>
          <a:endParaRPr lang="pt-PT"/>
        </a:p>
      </dgm:t>
    </dgm:pt>
    <dgm:pt modelId="{B58C5D94-64AC-4FD1-8239-CE736E8AF8C7}">
      <dgm:prSet phldr="0" custT="1"/>
      <dgm:spPr/>
      <dgm:t>
        <a:bodyPr/>
        <a:lstStyle/>
        <a:p>
          <a:pPr algn="just">
            <a:buNone/>
          </a:pPr>
          <a:r>
            <a:rPr lang="en-US" sz="1600" dirty="0">
              <a:latin typeface="+mn-lt"/>
            </a:rPr>
            <a:t>• </a:t>
          </a:r>
          <a:r>
            <a:rPr lang="en-US" sz="1600" b="1" dirty="0" err="1">
              <a:latin typeface="+mn-lt"/>
            </a:rPr>
            <a:t>Prontidão</a:t>
          </a:r>
          <a:r>
            <a:rPr lang="en-US" sz="1600" b="1" dirty="0">
              <a:latin typeface="+mn-lt"/>
            </a:rPr>
            <a:t> para </a:t>
          </a:r>
          <a:r>
            <a:rPr lang="en-US" sz="1600" b="1" dirty="0" err="1">
              <a:latin typeface="+mn-lt"/>
            </a:rPr>
            <a:t>resposta</a:t>
          </a:r>
          <a:r>
            <a:rPr lang="en-US" sz="1600" b="1" dirty="0">
              <a:latin typeface="+mn-lt"/>
            </a:rPr>
            <a:t> a um eventual </a:t>
          </a:r>
          <a:r>
            <a:rPr lang="en-US" sz="1600" b="1" dirty="0" err="1">
              <a:latin typeface="+mn-lt"/>
            </a:rPr>
            <a:t>surto</a:t>
          </a:r>
          <a:r>
            <a:rPr lang="en-US" sz="1600" b="1" dirty="0">
              <a:latin typeface="+mn-lt"/>
            </a:rPr>
            <a:t> de </a:t>
          </a:r>
          <a:r>
            <a:rPr lang="en-US" sz="1600" b="1" dirty="0" err="1">
              <a:latin typeface="+mn-lt"/>
            </a:rPr>
            <a:t>Ébola</a:t>
          </a:r>
          <a:r>
            <a:rPr lang="en-US" sz="1600" dirty="0">
              <a:latin typeface="+mn-lt"/>
            </a:rPr>
            <a:t>: </a:t>
          </a:r>
          <a:r>
            <a:rPr lang="en-US" sz="1600" dirty="0" err="1">
              <a:latin typeface="+mn-lt"/>
            </a:rPr>
            <a:t>elaboração</a:t>
          </a:r>
          <a:r>
            <a:rPr lang="en-US" sz="1600" dirty="0">
              <a:latin typeface="+mn-lt"/>
            </a:rPr>
            <a:t> do Plano de </a:t>
          </a:r>
          <a:r>
            <a:rPr lang="en-US" sz="1600" dirty="0" err="1">
              <a:latin typeface="+mn-lt"/>
            </a:rPr>
            <a:t>Contingência</a:t>
          </a:r>
          <a:r>
            <a:rPr lang="en-US" sz="1600" dirty="0">
              <a:latin typeface="+mn-lt"/>
            </a:rPr>
            <a:t>.</a:t>
          </a:r>
          <a:endParaRPr lang="en-US" sz="1600" b="0" dirty="0">
            <a:latin typeface="+mn-lt"/>
            <a:ea typeface="Calibri"/>
            <a:cs typeface="Calibri"/>
          </a:endParaRPr>
        </a:p>
      </dgm:t>
    </dgm:pt>
    <dgm:pt modelId="{5CA4E116-2606-457B-9AC4-E2FA54D68174}" type="parTrans" cxnId="{900A9CD4-77BD-4E63-BCBC-8556652864A7}">
      <dgm:prSet/>
      <dgm:spPr/>
      <dgm:t>
        <a:bodyPr/>
        <a:lstStyle/>
        <a:p>
          <a:endParaRPr lang="pt-PT"/>
        </a:p>
      </dgm:t>
    </dgm:pt>
    <dgm:pt modelId="{22031D5D-D45E-44A2-993D-137772E10860}" type="sibTrans" cxnId="{900A9CD4-77BD-4E63-BCBC-8556652864A7}">
      <dgm:prSet/>
      <dgm:spPr/>
      <dgm:t>
        <a:bodyPr/>
        <a:lstStyle/>
        <a:p>
          <a:endParaRPr lang="pt-PT"/>
        </a:p>
      </dgm:t>
    </dgm:pt>
    <dgm:pt modelId="{A8F2CB69-1791-4DB0-81EB-522CC84843D2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err="1"/>
            <a:t>Vigilância</a:t>
          </a:r>
          <a:r>
            <a:rPr lang="en-US" sz="1600" b="1"/>
            <a:t> </a:t>
          </a:r>
          <a:r>
            <a:rPr lang="en-US" sz="1600" b="1" err="1"/>
            <a:t>ambiental</a:t>
          </a:r>
          <a:r>
            <a:rPr lang="en-US" sz="1600" b="1"/>
            <a:t>:</a:t>
          </a:r>
          <a:r>
            <a:rPr lang="en-US" sz="1600"/>
            <a:t> </a:t>
          </a:r>
          <a:r>
            <a:rPr lang="en-US" sz="1600" err="1"/>
            <a:t>instalação</a:t>
          </a:r>
          <a:r>
            <a:rPr lang="en-US" sz="1600"/>
            <a:t> de </a:t>
          </a:r>
          <a:r>
            <a:rPr lang="en-US" sz="1600" err="1"/>
            <a:t>sensores</a:t>
          </a:r>
          <a:r>
            <a:rPr lang="en-US" sz="1600"/>
            <a:t> para </a:t>
          </a:r>
          <a:r>
            <a:rPr lang="en-US" sz="1600" err="1"/>
            <a:t>monitoria</a:t>
          </a:r>
          <a:r>
            <a:rPr lang="en-US" sz="1600"/>
            <a:t> da </a:t>
          </a:r>
          <a:r>
            <a:rPr lang="en-US" sz="1600" err="1"/>
            <a:t>qualidade</a:t>
          </a:r>
          <a:r>
            <a:rPr lang="en-US" sz="1600"/>
            <a:t> do </a:t>
          </a:r>
          <a:r>
            <a:rPr lang="en-US" sz="1600" err="1"/>
            <a:t>ar</a:t>
          </a:r>
          <a:r>
            <a:rPr lang="en-US" sz="1600"/>
            <a:t> </a:t>
          </a:r>
          <a:r>
            <a:rPr lang="en-US" sz="1600" err="1"/>
            <a:t>em</a:t>
          </a:r>
          <a:r>
            <a:rPr lang="en-US" sz="1600"/>
            <a:t> 4 </a:t>
          </a:r>
          <a:r>
            <a:rPr lang="en-US" sz="1600" err="1"/>
            <a:t>unidades</a:t>
          </a:r>
          <a:r>
            <a:rPr lang="en-US" sz="1600"/>
            <a:t> </a:t>
          </a:r>
          <a:r>
            <a:rPr lang="en-US" sz="1600" err="1"/>
            <a:t>sanitárias</a:t>
          </a:r>
          <a:r>
            <a:rPr lang="en-US" sz="1600"/>
            <a:t>;</a:t>
          </a:r>
          <a:endParaRPr lang="pt-PT" sz="1600" b="1"/>
        </a:p>
      </dgm:t>
    </dgm:pt>
    <dgm:pt modelId="{5F815CC1-D832-4843-B99E-555DD6F237E9}" type="parTrans" cxnId="{42BA9FA9-8E01-4819-896D-A1DC95F2F5D3}">
      <dgm:prSet/>
      <dgm:spPr/>
      <dgm:t>
        <a:bodyPr/>
        <a:lstStyle/>
        <a:p>
          <a:endParaRPr lang="pt-PT"/>
        </a:p>
      </dgm:t>
    </dgm:pt>
    <dgm:pt modelId="{CE2CAFB8-A866-4664-A058-628AF669BA0D}" type="sibTrans" cxnId="{42BA9FA9-8E01-4819-896D-A1DC95F2F5D3}">
      <dgm:prSet/>
      <dgm:spPr/>
      <dgm:t>
        <a:bodyPr/>
        <a:lstStyle/>
        <a:p>
          <a:endParaRPr lang="pt-PT"/>
        </a:p>
      </dgm:t>
    </dgm:pt>
    <dgm:pt modelId="{17FE6A6E-12AC-43C5-8AB5-9EBAB6989FCF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dirty="0" err="1"/>
            <a:t>Avaliação</a:t>
          </a:r>
          <a:r>
            <a:rPr lang="en-US" sz="1600" b="1" dirty="0"/>
            <a:t> dos </a:t>
          </a:r>
          <a:r>
            <a:rPr lang="en-US" sz="1600" b="1" dirty="0" err="1"/>
            <a:t>pontos</a:t>
          </a:r>
          <a:r>
            <a:rPr lang="en-US" sz="1600" b="1" dirty="0"/>
            <a:t> de entrada (</a:t>
          </a:r>
          <a:r>
            <a:rPr lang="en-US" sz="1600" b="1" dirty="0" err="1"/>
            <a:t>aeroporto</a:t>
          </a:r>
          <a:r>
            <a:rPr lang="en-US" sz="1600" b="1" dirty="0"/>
            <a:t> e </a:t>
          </a:r>
          <a:r>
            <a:rPr lang="en-US" sz="1600" b="1" dirty="0" err="1"/>
            <a:t>porto</a:t>
          </a:r>
          <a:r>
            <a:rPr lang="en-US" sz="1600" b="1" dirty="0"/>
            <a:t>):</a:t>
          </a:r>
          <a:r>
            <a:rPr lang="en-US" sz="1600" dirty="0"/>
            <a:t> </a:t>
          </a:r>
          <a:r>
            <a:rPr lang="en-US" sz="1600" dirty="0" err="1"/>
            <a:t>prontidão</a:t>
          </a:r>
          <a:r>
            <a:rPr lang="en-US" sz="1600" dirty="0"/>
            <a:t> e </a:t>
          </a:r>
          <a:r>
            <a:rPr lang="en-US" sz="1600" dirty="0" err="1"/>
            <a:t>capacidade</a:t>
          </a:r>
          <a:r>
            <a:rPr lang="en-US" sz="1600" dirty="0"/>
            <a:t> de </a:t>
          </a:r>
          <a:r>
            <a:rPr lang="en-US" sz="1600" dirty="0" err="1"/>
            <a:t>resposta</a:t>
          </a:r>
          <a:r>
            <a:rPr lang="en-US" sz="1600" dirty="0"/>
            <a:t> a </a:t>
          </a:r>
          <a:r>
            <a:rPr lang="en-US" sz="1600" dirty="0" err="1"/>
            <a:t>emergências</a:t>
          </a:r>
          <a:r>
            <a:rPr lang="en-US" sz="1600" dirty="0"/>
            <a:t>, no </a:t>
          </a:r>
          <a:r>
            <a:rPr lang="en-US" sz="1600" dirty="0" err="1"/>
            <a:t>âmbito</a:t>
          </a:r>
          <a:r>
            <a:rPr lang="en-US" sz="1600" dirty="0"/>
            <a:t> do </a:t>
          </a:r>
          <a:r>
            <a:rPr lang="en-US" sz="1600" dirty="0" err="1"/>
            <a:t>Regulamento</a:t>
          </a:r>
          <a:r>
            <a:rPr lang="en-US" sz="1600" dirty="0"/>
            <a:t> </a:t>
          </a:r>
          <a:r>
            <a:rPr lang="en-US" sz="1600" dirty="0" err="1"/>
            <a:t>Sanitário</a:t>
          </a:r>
          <a:r>
            <a:rPr lang="en-US" sz="1600" dirty="0"/>
            <a:t> Internacional.</a:t>
          </a:r>
          <a:endParaRPr lang="pt-PT" sz="1600" b="1" dirty="0"/>
        </a:p>
      </dgm:t>
    </dgm:pt>
    <dgm:pt modelId="{4C01E5EF-74E6-447B-972A-09A0CB1E4BBD}" type="parTrans" cxnId="{559F52DD-C5F9-49D4-B9CA-41BE9C3A8C30}">
      <dgm:prSet/>
      <dgm:spPr/>
      <dgm:t>
        <a:bodyPr/>
        <a:lstStyle/>
        <a:p>
          <a:endParaRPr lang="pt-PT"/>
        </a:p>
      </dgm:t>
    </dgm:pt>
    <dgm:pt modelId="{DE1B3D37-7936-4915-B075-598457A63D12}" type="sibTrans" cxnId="{559F52DD-C5F9-49D4-B9CA-41BE9C3A8C30}">
      <dgm:prSet/>
      <dgm:spPr/>
      <dgm:t>
        <a:bodyPr/>
        <a:lstStyle/>
        <a:p>
          <a:endParaRPr lang="pt-PT"/>
        </a:p>
      </dgm:t>
    </dgm:pt>
    <dgm:pt modelId="{1C50CA10-1CE1-4E58-9E90-857445E05E03}">
      <dgm:prSet phldrT="[Texto]" phldr="0"/>
      <dgm:spPr/>
      <dgm:t>
        <a:bodyPr/>
        <a:lstStyle/>
        <a:p>
          <a:pPr rtl="0"/>
          <a:r>
            <a:rPr lang="en-US" sz="1600" b="1" dirty="0" err="1">
              <a:latin typeface="+mn-lt"/>
            </a:rPr>
            <a:t>Controlo</a:t>
          </a:r>
          <a:r>
            <a:rPr lang="en-US" sz="1600" b="1" dirty="0">
              <a:latin typeface="+mn-lt"/>
            </a:rPr>
            <a:t> vectorial: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distribuição</a:t>
          </a:r>
          <a:r>
            <a:rPr lang="en-US" sz="1600" dirty="0">
              <a:latin typeface="+mn-lt"/>
            </a:rPr>
            <a:t> de redes </a:t>
          </a:r>
          <a:r>
            <a:rPr lang="en-US" sz="1600" dirty="0" err="1">
              <a:latin typeface="+mn-lt"/>
            </a:rPr>
            <a:t>mosquiteiras</a:t>
          </a:r>
          <a:r>
            <a:rPr lang="en-US" sz="1600" dirty="0">
              <a:latin typeface="+mn-lt"/>
            </a:rPr>
            <a:t> e PIDOM </a:t>
          </a:r>
          <a:r>
            <a:rPr lang="en-US" sz="1600" dirty="0" err="1">
              <a:latin typeface="+mn-lt"/>
            </a:rPr>
            <a:t>nos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centros</a:t>
          </a:r>
          <a:r>
            <a:rPr lang="en-US" sz="1600" dirty="0">
              <a:latin typeface="+mn-lt"/>
            </a:rPr>
            <a:t> de </a:t>
          </a:r>
          <a:r>
            <a:rPr lang="en-US" sz="1600" dirty="0" err="1">
              <a:latin typeface="+mn-lt"/>
            </a:rPr>
            <a:t>acomodação</a:t>
          </a:r>
          <a:r>
            <a:rPr lang="en-US" sz="1600" dirty="0">
              <a:latin typeface="+mn-lt"/>
            </a:rPr>
            <a:t> face à </a:t>
          </a:r>
          <a:r>
            <a:rPr lang="en-US" sz="1600" dirty="0" err="1">
              <a:latin typeface="+mn-lt"/>
            </a:rPr>
            <a:t>emergência</a:t>
          </a:r>
          <a:r>
            <a:rPr lang="en-US" sz="1600" dirty="0">
              <a:latin typeface="+mn-lt"/>
            </a:rPr>
            <a:t>;</a:t>
          </a:r>
          <a:endParaRPr lang="pt-PT" dirty="0">
            <a:latin typeface="+mn-lt"/>
          </a:endParaRPr>
        </a:p>
      </dgm:t>
    </dgm:pt>
    <dgm:pt modelId="{06C11776-BB8F-408A-B492-550DB40BA755}" type="parTrans" cxnId="{E64D78AF-2BF0-40C7-88DF-2695E63B1AAC}">
      <dgm:prSet/>
      <dgm:spPr/>
      <dgm:t>
        <a:bodyPr/>
        <a:lstStyle/>
        <a:p>
          <a:endParaRPr lang="pt-PT"/>
        </a:p>
      </dgm:t>
    </dgm:pt>
    <dgm:pt modelId="{45CF5C2D-AE7A-48FC-921B-7994F83CEB55}" type="sibTrans" cxnId="{E64D78AF-2BF0-40C7-88DF-2695E63B1AAC}">
      <dgm:prSet/>
      <dgm:spPr/>
      <dgm:t>
        <a:bodyPr/>
        <a:lstStyle/>
        <a:p>
          <a:endParaRPr lang="pt-PT"/>
        </a:p>
      </dgm:t>
    </dgm:pt>
    <dgm:pt modelId="{1920C62F-76BE-44BE-A31A-1AB5A4E4D5B2}">
      <dgm:prSet phldrT="[Texto]" phldr="0"/>
      <dgm:spPr/>
      <dgm:t>
        <a:bodyPr/>
        <a:lstStyle/>
        <a:p>
          <a:pPr rtl="0"/>
          <a:r>
            <a:rPr lang="en-US" sz="1600" b="1" dirty="0" err="1">
              <a:latin typeface="+mn-lt"/>
            </a:rPr>
            <a:t>Actualização</a:t>
          </a:r>
          <a:r>
            <a:rPr lang="en-US" sz="1600" b="1" dirty="0">
              <a:latin typeface="+mn-lt"/>
            </a:rPr>
            <a:t> </a:t>
          </a:r>
          <a:r>
            <a:rPr lang="en-US" sz="1600" b="1" dirty="0" err="1">
              <a:latin typeface="+mn-lt"/>
            </a:rPr>
            <a:t>clínica</a:t>
          </a:r>
          <a:r>
            <a:rPr lang="en-US" sz="1600" b="1" dirty="0">
              <a:latin typeface="+mn-lt"/>
            </a:rPr>
            <a:t>: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divulgação</a:t>
          </a:r>
          <a:r>
            <a:rPr lang="en-US" sz="1600" dirty="0">
              <a:latin typeface="+mn-lt"/>
            </a:rPr>
            <a:t> das </a:t>
          </a:r>
          <a:r>
            <a:rPr lang="en-US" sz="1600" dirty="0" err="1">
              <a:latin typeface="+mn-lt"/>
            </a:rPr>
            <a:t>novas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normas</a:t>
          </a:r>
          <a:r>
            <a:rPr lang="en-US" sz="1600" dirty="0">
              <a:latin typeface="+mn-lt"/>
            </a:rPr>
            <a:t> de </a:t>
          </a:r>
          <a:r>
            <a:rPr lang="en-US" sz="1600" dirty="0" err="1">
              <a:latin typeface="+mn-lt"/>
            </a:rPr>
            <a:t>diagnóstico</a:t>
          </a:r>
          <a:r>
            <a:rPr lang="en-US" sz="1600" dirty="0">
              <a:latin typeface="+mn-lt"/>
            </a:rPr>
            <a:t> e </a:t>
          </a:r>
          <a:r>
            <a:rPr lang="en-US" sz="1600" dirty="0" err="1">
              <a:latin typeface="+mn-lt"/>
            </a:rPr>
            <a:t>tratamento</a:t>
          </a:r>
          <a:r>
            <a:rPr lang="en-US" sz="1600" dirty="0">
              <a:latin typeface="+mn-lt"/>
            </a:rPr>
            <a:t> da </a:t>
          </a:r>
          <a:r>
            <a:rPr lang="en-US" sz="1600" dirty="0" err="1">
              <a:latin typeface="+mn-lt"/>
            </a:rPr>
            <a:t>malária</a:t>
          </a:r>
          <a:r>
            <a:rPr lang="en-US" sz="1600" dirty="0">
              <a:latin typeface="+mn-lt"/>
            </a:rPr>
            <a:t>.</a:t>
          </a:r>
          <a:endParaRPr lang="pt-PT" dirty="0">
            <a:latin typeface="+mn-lt"/>
          </a:endParaRPr>
        </a:p>
      </dgm:t>
    </dgm:pt>
    <dgm:pt modelId="{8E4C2F15-207E-408A-8ED3-1E89A7AD2EAD}" type="parTrans" cxnId="{53893622-1827-4BE4-A66C-AB9D619A2290}">
      <dgm:prSet/>
      <dgm:spPr/>
      <dgm:t>
        <a:bodyPr/>
        <a:lstStyle/>
        <a:p>
          <a:endParaRPr lang="pt-PT"/>
        </a:p>
      </dgm:t>
    </dgm:pt>
    <dgm:pt modelId="{1D885104-D684-46B3-A3BE-98956A2A031A}" type="sibTrans" cxnId="{53893622-1827-4BE4-A66C-AB9D619A2290}">
      <dgm:prSet/>
      <dgm:spPr/>
      <dgm:t>
        <a:bodyPr/>
        <a:lstStyle/>
        <a:p>
          <a:endParaRPr lang="pt-PT"/>
        </a:p>
      </dgm:t>
    </dgm:pt>
    <dgm:pt modelId="{D9763AE6-FCA4-431E-A9C1-19994D73B56D}" type="pres">
      <dgm:prSet presAssocID="{BC2728F0-4195-474F-89CA-4148CE08F109}" presName="Name0" presStyleCnt="0">
        <dgm:presLayoutVars>
          <dgm:dir/>
          <dgm:resizeHandles val="exact"/>
        </dgm:presLayoutVars>
      </dgm:prSet>
      <dgm:spPr/>
    </dgm:pt>
    <dgm:pt modelId="{B5F6695E-E823-474E-827C-121D0C97FD9A}" type="pres">
      <dgm:prSet presAssocID="{D88BD199-E77D-48D3-86C4-DA3B4D74C869}" presName="composite" presStyleCnt="0"/>
      <dgm:spPr/>
    </dgm:pt>
    <dgm:pt modelId="{A4F6D1C7-7481-4BD1-96A8-299C29AE7BE0}" type="pres">
      <dgm:prSet presAssocID="{D88BD199-E77D-48D3-86C4-DA3B4D74C869}" presName="imagSh" presStyleLbl="bgImgPlace1" presStyleIdx="0" presStyleCnt="3" custScaleX="110000" custScaleY="110000" custLinFactNeighborX="-8190" custLinFactNeighborY="-31478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BEBD7151-DE4A-49B5-896B-F8F84D93195C}" type="pres">
      <dgm:prSet presAssocID="{D88BD199-E77D-48D3-86C4-DA3B4D74C869}" presName="txNode" presStyleLbl="node1" presStyleIdx="0" presStyleCnt="3" custScaleX="146411" custScaleY="146411" custLinFactNeighborX="23540" custLinFactNeighborY="5667">
        <dgm:presLayoutVars>
          <dgm:bulletEnabled val="1"/>
        </dgm:presLayoutVars>
      </dgm:prSet>
      <dgm:spPr/>
    </dgm:pt>
    <dgm:pt modelId="{9F52C1BD-B4EB-4532-BAA8-62EE5BEDF8CA}" type="pres">
      <dgm:prSet presAssocID="{33CA83EF-CF1D-404F-A7AB-449686E4EAEF}" presName="sibTrans" presStyleLbl="sibTrans2D1" presStyleIdx="0" presStyleCnt="2" custLinFactY="-31488" custLinFactNeighborX="19272" custLinFactNeighborY="-100000"/>
      <dgm:spPr/>
    </dgm:pt>
    <dgm:pt modelId="{A606FBEA-AB7D-48E4-B5B2-3A63CFC5420C}" type="pres">
      <dgm:prSet presAssocID="{33CA83EF-CF1D-404F-A7AB-449686E4EAEF}" presName="connTx" presStyleLbl="sibTrans2D1" presStyleIdx="0" presStyleCnt="2"/>
      <dgm:spPr/>
    </dgm:pt>
    <dgm:pt modelId="{7ED5FCFF-1649-441C-B52B-DA0F4AED1C43}" type="pres">
      <dgm:prSet presAssocID="{D8C21EF7-AE6B-48D8-B858-4D195B32DFD2}" presName="composite" presStyleCnt="0"/>
      <dgm:spPr/>
    </dgm:pt>
    <dgm:pt modelId="{8555EACE-D5D9-4E0F-BDA0-9F5BAA965547}" type="pres">
      <dgm:prSet presAssocID="{D8C21EF7-AE6B-48D8-B858-4D195B32DFD2}" presName="imagSh" presStyleLbl="bgImgPlace1" presStyleIdx="1" presStyleCnt="3" custScaleX="110000" custScaleY="110000" custLinFactNeighborX="-6404" custLinFactNeighborY="-32370"/>
      <dgm:spPr>
        <a:blipFill>
          <a:blip xmlns:r="http://schemas.openxmlformats.org/officeDocument/2006/relationships" r:embed="rId2"/>
          <a:srcRect/>
          <a:stretch>
            <a:fillRect t="-16000" b="-16000"/>
          </a:stretch>
        </a:blipFill>
      </dgm:spPr>
    </dgm:pt>
    <dgm:pt modelId="{DE2A4A08-2527-43B3-A5DB-DE29412E9AE9}" type="pres">
      <dgm:prSet presAssocID="{D8C21EF7-AE6B-48D8-B858-4D195B32DFD2}" presName="txNode" presStyleLbl="node1" presStyleIdx="1" presStyleCnt="3" custScaleX="146410" custScaleY="146410" custLinFactNeighborX="15914" custLinFactNeighborY="1521">
        <dgm:presLayoutVars>
          <dgm:bulletEnabled val="1"/>
        </dgm:presLayoutVars>
      </dgm:prSet>
      <dgm:spPr/>
    </dgm:pt>
    <dgm:pt modelId="{FD806352-3A0F-4551-A4E9-BCA5D3E80EDD}" type="pres">
      <dgm:prSet presAssocID="{8082A1D1-D737-4AE2-8DFC-C9E2EBF5918B}" presName="sibTrans" presStyleLbl="sibTrans2D1" presStyleIdx="1" presStyleCnt="2"/>
      <dgm:spPr/>
    </dgm:pt>
    <dgm:pt modelId="{76EDF358-1B32-4931-9FF9-8B2A9AE852EE}" type="pres">
      <dgm:prSet presAssocID="{8082A1D1-D737-4AE2-8DFC-C9E2EBF5918B}" presName="connTx" presStyleLbl="sibTrans2D1" presStyleIdx="1" presStyleCnt="2"/>
      <dgm:spPr/>
    </dgm:pt>
    <dgm:pt modelId="{4488A413-633F-4B27-8AFF-74901978A4D5}" type="pres">
      <dgm:prSet presAssocID="{12812F87-F2DA-400A-B00C-F54C3E68E5D4}" presName="composite" presStyleCnt="0"/>
      <dgm:spPr/>
    </dgm:pt>
    <dgm:pt modelId="{B28E8CCB-8A1C-43DD-87A1-851E643C4749}" type="pres">
      <dgm:prSet presAssocID="{12812F87-F2DA-400A-B00C-F54C3E68E5D4}" presName="imagSh" presStyleLbl="bgImgPlace1" presStyleIdx="2" presStyleCnt="3" custScaleX="110000" custScaleY="110000" custLinFactNeighborX="-5123" custLinFactNeighborY="-32370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</dgm:spPr>
    </dgm:pt>
    <dgm:pt modelId="{257DE41E-DC4C-4123-ADD7-EC1B1683E340}" type="pres">
      <dgm:prSet presAssocID="{12812F87-F2DA-400A-B00C-F54C3E68E5D4}" presName="txNode" presStyleLbl="node1" presStyleIdx="2" presStyleCnt="3" custScaleX="146410" custScaleY="146410">
        <dgm:presLayoutVars>
          <dgm:bulletEnabled val="1"/>
        </dgm:presLayoutVars>
      </dgm:prSet>
      <dgm:spPr/>
    </dgm:pt>
  </dgm:ptLst>
  <dgm:cxnLst>
    <dgm:cxn modelId="{6809990C-79A4-4BCC-9805-5C9A43249A30}" srcId="{D8C21EF7-AE6B-48D8-B858-4D195B32DFD2}" destId="{DA8AE79E-D4DE-4EB2-AE38-4BE8247B9B68}" srcOrd="0" destOrd="0" parTransId="{7C60B3D4-89FC-4A9F-8F23-59DFFE30F4DE}" sibTransId="{4FF3CD43-6546-4F77-83BD-4A82780CF7CC}"/>
    <dgm:cxn modelId="{B4CD0718-9391-4068-91B3-2CF99DE28982}" srcId="{D88BD199-E77D-48D3-86C4-DA3B4D74C869}" destId="{2ED414D0-B35D-4EDD-93EC-F3487A69309A}" srcOrd="0" destOrd="0" parTransId="{96C0E95F-27A9-423B-B855-D4648D49A40A}" sibTransId="{0B5F74BA-5978-42A5-BAD3-4D4A65F92B11}"/>
    <dgm:cxn modelId="{ACFA311C-7232-4BBA-8DD8-1ED118490129}" srcId="{BC2728F0-4195-474F-89CA-4148CE08F109}" destId="{D88BD199-E77D-48D3-86C4-DA3B4D74C869}" srcOrd="0" destOrd="0" parTransId="{65D4636A-4AB7-4C4D-9C6E-12A05DF71104}" sibTransId="{33CA83EF-CF1D-404F-A7AB-449686E4EAEF}"/>
    <dgm:cxn modelId="{53893622-1827-4BE4-A66C-AB9D619A2290}" srcId="{D8C21EF7-AE6B-48D8-B858-4D195B32DFD2}" destId="{1920C62F-76BE-44BE-A31A-1AB5A4E4D5B2}" srcOrd="2" destOrd="0" parTransId="{8E4C2F15-207E-408A-8ED3-1E89A7AD2EAD}" sibTransId="{1D885104-D684-46B3-A3BE-98956A2A031A}"/>
    <dgm:cxn modelId="{72DEC729-DC5D-4F58-B473-4306A7CD76CA}" type="presOf" srcId="{33CA83EF-CF1D-404F-A7AB-449686E4EAEF}" destId="{9F52C1BD-B4EB-4532-BAA8-62EE5BEDF8CA}" srcOrd="0" destOrd="0" presId="urn:microsoft.com/office/officeart/2005/8/layout/hProcess10"/>
    <dgm:cxn modelId="{D223C72E-642A-4D4C-BF2F-663BA083BF39}" type="presOf" srcId="{17FE6A6E-12AC-43C5-8AB5-9EBAB6989FCF}" destId="{257DE41E-DC4C-4123-ADD7-EC1B1683E340}" srcOrd="0" destOrd="2" presId="urn:microsoft.com/office/officeart/2005/8/layout/hProcess10"/>
    <dgm:cxn modelId="{DD5FF238-EC2E-43D3-B6E1-F730CCB62993}" type="presOf" srcId="{1920C62F-76BE-44BE-A31A-1AB5A4E4D5B2}" destId="{DE2A4A08-2527-43B3-A5DB-DE29412E9AE9}" srcOrd="0" destOrd="3" presId="urn:microsoft.com/office/officeart/2005/8/layout/hProcess10"/>
    <dgm:cxn modelId="{B904BA64-B84A-45C3-B7ED-3AE5A9178D7D}" srcId="{BC2728F0-4195-474F-89CA-4148CE08F109}" destId="{12812F87-F2DA-400A-B00C-F54C3E68E5D4}" srcOrd="2" destOrd="0" parTransId="{C1774298-5CF1-4BC8-B615-79BB9A1E0D1E}" sibTransId="{1577EEAF-4D28-4AF1-A25C-A9C7B7C1591A}"/>
    <dgm:cxn modelId="{8CA4F44D-E4DB-4EDD-9589-4A2DEBB1D00C}" type="presOf" srcId="{33CA83EF-CF1D-404F-A7AB-449686E4EAEF}" destId="{A606FBEA-AB7D-48E4-B5B2-3A63CFC5420C}" srcOrd="1" destOrd="0" presId="urn:microsoft.com/office/officeart/2005/8/layout/hProcess10"/>
    <dgm:cxn modelId="{6A91B355-626B-41DD-A1A3-EE6B779ACE17}" type="presOf" srcId="{DA8AE79E-D4DE-4EB2-AE38-4BE8247B9B68}" destId="{DE2A4A08-2527-43B3-A5DB-DE29412E9AE9}" srcOrd="0" destOrd="1" presId="urn:microsoft.com/office/officeart/2005/8/layout/hProcess10"/>
    <dgm:cxn modelId="{8FF21D59-1B34-49F1-A369-0D34FD166EB0}" type="presOf" srcId="{2ED414D0-B35D-4EDD-93EC-F3487A69309A}" destId="{BEBD7151-DE4A-49B5-896B-F8F84D93195C}" srcOrd="0" destOrd="1" presId="urn:microsoft.com/office/officeart/2005/8/layout/hProcess10"/>
    <dgm:cxn modelId="{C0E73E79-B62A-46B0-ACFB-3A8ECED46334}" type="presOf" srcId="{B58C5D94-64AC-4FD1-8239-CE736E8AF8C7}" destId="{BEBD7151-DE4A-49B5-896B-F8F84D93195C}" srcOrd="0" destOrd="2" presId="urn:microsoft.com/office/officeart/2005/8/layout/hProcess10"/>
    <dgm:cxn modelId="{28FBDB8D-2F60-44E6-93E1-E531C3505B08}" type="presOf" srcId="{BC2728F0-4195-474F-89CA-4148CE08F109}" destId="{D9763AE6-FCA4-431E-A9C1-19994D73B56D}" srcOrd="0" destOrd="0" presId="urn:microsoft.com/office/officeart/2005/8/layout/hProcess10"/>
    <dgm:cxn modelId="{E26789A1-AD76-49A3-922B-6551262079BF}" type="presOf" srcId="{1C50CA10-1CE1-4E58-9E90-857445E05E03}" destId="{DE2A4A08-2527-43B3-A5DB-DE29412E9AE9}" srcOrd="0" destOrd="2" presId="urn:microsoft.com/office/officeart/2005/8/layout/hProcess10"/>
    <dgm:cxn modelId="{42BA9FA9-8E01-4819-896D-A1DC95F2F5D3}" srcId="{12812F87-F2DA-400A-B00C-F54C3E68E5D4}" destId="{A8F2CB69-1791-4DB0-81EB-522CC84843D2}" srcOrd="0" destOrd="0" parTransId="{5F815CC1-D832-4843-B99E-555DD6F237E9}" sibTransId="{CE2CAFB8-A866-4664-A058-628AF669BA0D}"/>
    <dgm:cxn modelId="{6A1BC8AC-5CDD-41F8-B0ED-D75A801C7A96}" type="presOf" srcId="{A8F2CB69-1791-4DB0-81EB-522CC84843D2}" destId="{257DE41E-DC4C-4123-ADD7-EC1B1683E340}" srcOrd="0" destOrd="1" presId="urn:microsoft.com/office/officeart/2005/8/layout/hProcess10"/>
    <dgm:cxn modelId="{E64D78AF-2BF0-40C7-88DF-2695E63B1AAC}" srcId="{D8C21EF7-AE6B-48D8-B858-4D195B32DFD2}" destId="{1C50CA10-1CE1-4E58-9E90-857445E05E03}" srcOrd="1" destOrd="0" parTransId="{06C11776-BB8F-408A-B492-550DB40BA755}" sibTransId="{45CF5C2D-AE7A-48FC-921B-7994F83CEB55}"/>
    <dgm:cxn modelId="{4D349CB5-9C1C-48CB-8537-49E13EE60FB6}" srcId="{BC2728F0-4195-474F-89CA-4148CE08F109}" destId="{D8C21EF7-AE6B-48D8-B858-4D195B32DFD2}" srcOrd="1" destOrd="0" parTransId="{54998379-90DE-4FA0-ABDE-B303A7FBDD9F}" sibTransId="{8082A1D1-D737-4AE2-8DFC-C9E2EBF5918B}"/>
    <dgm:cxn modelId="{AF30E2BB-4E39-4592-ADD3-8D09B6DABB1F}" type="presOf" srcId="{12812F87-F2DA-400A-B00C-F54C3E68E5D4}" destId="{257DE41E-DC4C-4123-ADD7-EC1B1683E340}" srcOrd="0" destOrd="0" presId="urn:microsoft.com/office/officeart/2005/8/layout/hProcess10"/>
    <dgm:cxn modelId="{BF3A1BBC-7BFB-4ED4-9412-22D699D96873}" type="presOf" srcId="{D88BD199-E77D-48D3-86C4-DA3B4D74C869}" destId="{BEBD7151-DE4A-49B5-896B-F8F84D93195C}" srcOrd="0" destOrd="0" presId="urn:microsoft.com/office/officeart/2005/8/layout/hProcess10"/>
    <dgm:cxn modelId="{900A9CD4-77BD-4E63-BCBC-8556652864A7}" srcId="{D88BD199-E77D-48D3-86C4-DA3B4D74C869}" destId="{B58C5D94-64AC-4FD1-8239-CE736E8AF8C7}" srcOrd="1" destOrd="0" parTransId="{5CA4E116-2606-457B-9AC4-E2FA54D68174}" sibTransId="{22031D5D-D45E-44A2-993D-137772E10860}"/>
    <dgm:cxn modelId="{55654FD8-6CCE-4E51-8985-B6B65F61746A}" type="presOf" srcId="{D8C21EF7-AE6B-48D8-B858-4D195B32DFD2}" destId="{DE2A4A08-2527-43B3-A5DB-DE29412E9AE9}" srcOrd="0" destOrd="0" presId="urn:microsoft.com/office/officeart/2005/8/layout/hProcess10"/>
    <dgm:cxn modelId="{DDAA63DD-2B48-4B9C-91A1-2F9C210ECFD6}" type="presOf" srcId="{8082A1D1-D737-4AE2-8DFC-C9E2EBF5918B}" destId="{76EDF358-1B32-4931-9FF9-8B2A9AE852EE}" srcOrd="1" destOrd="0" presId="urn:microsoft.com/office/officeart/2005/8/layout/hProcess10"/>
    <dgm:cxn modelId="{559F52DD-C5F9-49D4-B9CA-41BE9C3A8C30}" srcId="{12812F87-F2DA-400A-B00C-F54C3E68E5D4}" destId="{17FE6A6E-12AC-43C5-8AB5-9EBAB6989FCF}" srcOrd="1" destOrd="0" parTransId="{4C01E5EF-74E6-447B-972A-09A0CB1E4BBD}" sibTransId="{DE1B3D37-7936-4915-B075-598457A63D12}"/>
    <dgm:cxn modelId="{FC541FE1-36A1-4AB1-ABCF-00574B712286}" type="presOf" srcId="{8082A1D1-D737-4AE2-8DFC-C9E2EBF5918B}" destId="{FD806352-3A0F-4551-A4E9-BCA5D3E80EDD}" srcOrd="0" destOrd="0" presId="urn:microsoft.com/office/officeart/2005/8/layout/hProcess10"/>
    <dgm:cxn modelId="{E3141B79-F8AC-41DD-A202-76AE622DED0D}" type="presParOf" srcId="{D9763AE6-FCA4-431E-A9C1-19994D73B56D}" destId="{B5F6695E-E823-474E-827C-121D0C97FD9A}" srcOrd="0" destOrd="0" presId="urn:microsoft.com/office/officeart/2005/8/layout/hProcess10"/>
    <dgm:cxn modelId="{C53F1DF0-E545-4922-BF4C-4CCA040D2E0A}" type="presParOf" srcId="{B5F6695E-E823-474E-827C-121D0C97FD9A}" destId="{A4F6D1C7-7481-4BD1-96A8-299C29AE7BE0}" srcOrd="0" destOrd="0" presId="urn:microsoft.com/office/officeart/2005/8/layout/hProcess10"/>
    <dgm:cxn modelId="{CF746993-DB01-4388-9757-600DB867DDA1}" type="presParOf" srcId="{B5F6695E-E823-474E-827C-121D0C97FD9A}" destId="{BEBD7151-DE4A-49B5-896B-F8F84D93195C}" srcOrd="1" destOrd="0" presId="urn:microsoft.com/office/officeart/2005/8/layout/hProcess10"/>
    <dgm:cxn modelId="{EC3AC98B-E558-467F-92B6-C9D0FA070E96}" type="presParOf" srcId="{D9763AE6-FCA4-431E-A9C1-19994D73B56D}" destId="{9F52C1BD-B4EB-4532-BAA8-62EE5BEDF8CA}" srcOrd="1" destOrd="0" presId="urn:microsoft.com/office/officeart/2005/8/layout/hProcess10"/>
    <dgm:cxn modelId="{28E31F1C-1573-4284-B22C-78E0058F164F}" type="presParOf" srcId="{9F52C1BD-B4EB-4532-BAA8-62EE5BEDF8CA}" destId="{A606FBEA-AB7D-48E4-B5B2-3A63CFC5420C}" srcOrd="0" destOrd="0" presId="urn:microsoft.com/office/officeart/2005/8/layout/hProcess10"/>
    <dgm:cxn modelId="{209566E7-A094-428B-9599-C79084BBD92A}" type="presParOf" srcId="{D9763AE6-FCA4-431E-A9C1-19994D73B56D}" destId="{7ED5FCFF-1649-441C-B52B-DA0F4AED1C43}" srcOrd="2" destOrd="0" presId="urn:microsoft.com/office/officeart/2005/8/layout/hProcess10"/>
    <dgm:cxn modelId="{C2FFF463-BDB7-4EB9-BC3A-7CB51907E860}" type="presParOf" srcId="{7ED5FCFF-1649-441C-B52B-DA0F4AED1C43}" destId="{8555EACE-D5D9-4E0F-BDA0-9F5BAA965547}" srcOrd="0" destOrd="0" presId="urn:microsoft.com/office/officeart/2005/8/layout/hProcess10"/>
    <dgm:cxn modelId="{13110543-72F3-404B-93F6-84274177D0D0}" type="presParOf" srcId="{7ED5FCFF-1649-441C-B52B-DA0F4AED1C43}" destId="{DE2A4A08-2527-43B3-A5DB-DE29412E9AE9}" srcOrd="1" destOrd="0" presId="urn:microsoft.com/office/officeart/2005/8/layout/hProcess10"/>
    <dgm:cxn modelId="{921DB868-4F2D-4EDC-A89F-910F706B67AF}" type="presParOf" srcId="{D9763AE6-FCA4-431E-A9C1-19994D73B56D}" destId="{FD806352-3A0F-4551-A4E9-BCA5D3E80EDD}" srcOrd="3" destOrd="0" presId="urn:microsoft.com/office/officeart/2005/8/layout/hProcess10"/>
    <dgm:cxn modelId="{EDF35D1C-CA99-4016-979F-A979C9278CD4}" type="presParOf" srcId="{FD806352-3A0F-4551-A4E9-BCA5D3E80EDD}" destId="{76EDF358-1B32-4931-9FF9-8B2A9AE852EE}" srcOrd="0" destOrd="0" presId="urn:microsoft.com/office/officeart/2005/8/layout/hProcess10"/>
    <dgm:cxn modelId="{D8E4F265-79CA-4E9C-8B90-E5D8E159E82E}" type="presParOf" srcId="{D9763AE6-FCA4-431E-A9C1-19994D73B56D}" destId="{4488A413-633F-4B27-8AFF-74901978A4D5}" srcOrd="4" destOrd="0" presId="urn:microsoft.com/office/officeart/2005/8/layout/hProcess10"/>
    <dgm:cxn modelId="{AEB5886D-22BA-42D7-AC10-821B104CD6E8}" type="presParOf" srcId="{4488A413-633F-4B27-8AFF-74901978A4D5}" destId="{B28E8CCB-8A1C-43DD-87A1-851E643C4749}" srcOrd="0" destOrd="0" presId="urn:microsoft.com/office/officeart/2005/8/layout/hProcess10"/>
    <dgm:cxn modelId="{F9F6D0BF-6C81-4708-9A89-CCDB83B5A93E}" type="presParOf" srcId="{4488A413-633F-4B27-8AFF-74901978A4D5}" destId="{257DE41E-DC4C-4123-ADD7-EC1B1683E340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8F364E-03A4-4BEB-BB36-1CD61D6784C5}" type="doc">
      <dgm:prSet loTypeId="urn:microsoft.com/office/officeart/2005/8/layout/hProcess10" loCatId="process" qsTypeId="urn:microsoft.com/office/officeart/2005/8/quickstyle/simple1#3" qsCatId="simple" csTypeId="urn:microsoft.com/office/officeart/2005/8/colors/accent5_1#4" csCatId="accent5" phldr="1"/>
      <dgm:spPr/>
      <dgm:t>
        <a:bodyPr/>
        <a:lstStyle/>
        <a:p>
          <a:endParaRPr lang="en-US"/>
        </a:p>
      </dgm:t>
    </dgm:pt>
    <dgm:pt modelId="{D938D1DC-9135-4DB2-ABDF-3193C36FDDB2}">
      <dgm:prSet phldr="0" custT="1"/>
      <dgm:spPr/>
      <dgm:t>
        <a:bodyPr/>
        <a:lstStyle/>
        <a:p>
          <a:pPr algn="l"/>
          <a:r>
            <a:rPr lang="en-US" sz="1600" b="1">
              <a:latin typeface="Arial Narrow" panose="020B0606020202030204" pitchFamily="34" charset="0"/>
              <a:ea typeface="Calibri"/>
              <a:cs typeface="Calibri"/>
            </a:rPr>
            <a:t>PAV</a:t>
          </a:r>
        </a:p>
      </dgm:t>
    </dgm:pt>
    <dgm:pt modelId="{0BB4CB53-A138-40FB-9893-36B6BBE08748}" type="parTrans" cxnId="{0F7AD328-528C-40EC-B860-6A718B01F778}">
      <dgm:prSet/>
      <dgm:spPr/>
      <dgm:t>
        <a:bodyPr/>
        <a:lstStyle/>
        <a:p>
          <a:endParaRPr lang="pt-PT"/>
        </a:p>
      </dgm:t>
    </dgm:pt>
    <dgm:pt modelId="{B9B6F8A5-E9B7-45B4-9848-7E78256D3A5A}" type="sibTrans" cxnId="{0F7AD328-528C-40EC-B860-6A718B01F778}">
      <dgm:prSet/>
      <dgm:spPr>
        <a:solidFill>
          <a:schemeClr val="bg1"/>
        </a:solidFill>
      </dgm:spPr>
      <dgm:t>
        <a:bodyPr/>
        <a:lstStyle/>
        <a:p>
          <a:endParaRPr lang="pt-PT"/>
        </a:p>
      </dgm:t>
    </dgm:pt>
    <dgm:pt modelId="{7D590ACB-B179-462C-964D-416E0A414DA3}">
      <dgm:prSet phldr="0" custT="1"/>
      <dgm:spPr/>
      <dgm:t>
        <a:bodyPr/>
        <a:lstStyle/>
        <a:p>
          <a:pPr algn="just" rtl="0"/>
          <a:r>
            <a:rPr lang="en-US" sz="1600" b="1" err="1"/>
            <a:t>Brigadas</a:t>
          </a:r>
          <a:r>
            <a:rPr lang="en-US" sz="1600" b="1"/>
            <a:t> </a:t>
          </a:r>
          <a:r>
            <a:rPr lang="en-US" sz="1600" b="1" err="1"/>
            <a:t>móveis</a:t>
          </a:r>
          <a:r>
            <a:rPr lang="en-US" sz="1600" b="1"/>
            <a:t> de </a:t>
          </a:r>
          <a:r>
            <a:rPr lang="en-US" sz="1600" b="1" err="1"/>
            <a:t>vacinação</a:t>
          </a:r>
          <a:r>
            <a:rPr lang="en-US" sz="1600" b="1"/>
            <a:t>:</a:t>
          </a:r>
          <a:r>
            <a:rPr lang="en-US" sz="1600"/>
            <a:t> </a:t>
          </a:r>
          <a:r>
            <a:rPr lang="en-US" sz="1600" err="1"/>
            <a:t>recuperação</a:t>
          </a:r>
          <a:r>
            <a:rPr lang="en-US" sz="1600"/>
            <a:t> de </a:t>
          </a:r>
          <a:r>
            <a:rPr lang="en-US" sz="1600" err="1"/>
            <a:t>crianças</a:t>
          </a:r>
          <a:r>
            <a:rPr lang="en-US" sz="1600"/>
            <a:t> </a:t>
          </a:r>
          <a:r>
            <a:rPr lang="en-US" sz="1600" err="1"/>
            <a:t>faltosas</a:t>
          </a:r>
          <a:r>
            <a:rPr lang="en-US" sz="1600"/>
            <a:t> à </a:t>
          </a:r>
          <a:r>
            <a:rPr lang="en-US" sz="1600" err="1"/>
            <a:t>vacinação</a:t>
          </a:r>
          <a:r>
            <a:rPr lang="en-US" sz="1600"/>
            <a:t>.</a:t>
          </a:r>
          <a:endParaRPr lang="en-US" sz="1600" b="0">
            <a:latin typeface="Arial Narrow" panose="020B0606020202030204" pitchFamily="34" charset="0"/>
            <a:ea typeface="Calibri"/>
            <a:cs typeface="Calibri"/>
          </a:endParaRPr>
        </a:p>
      </dgm:t>
    </dgm:pt>
    <dgm:pt modelId="{57F64E97-71CB-4CB1-8137-725596A5777E}" type="parTrans" cxnId="{3D5CB007-4D6A-4403-8857-CCA9EA8C79D4}">
      <dgm:prSet/>
      <dgm:spPr/>
      <dgm:t>
        <a:bodyPr/>
        <a:lstStyle/>
        <a:p>
          <a:endParaRPr lang="pt-PT"/>
        </a:p>
      </dgm:t>
    </dgm:pt>
    <dgm:pt modelId="{905E921D-358C-4EBC-85AA-56A6B2D88C2C}" type="sibTrans" cxnId="{3D5CB007-4D6A-4403-8857-CCA9EA8C79D4}">
      <dgm:prSet/>
      <dgm:spPr/>
      <dgm:t>
        <a:bodyPr/>
        <a:lstStyle/>
        <a:p>
          <a:endParaRPr lang="pt-PT"/>
        </a:p>
      </dgm:t>
    </dgm:pt>
    <dgm:pt modelId="{EE4D1BDB-2440-4116-9737-BD36E5A84C09}">
      <dgm:prSet phldr="0" custT="1"/>
      <dgm:spPr/>
      <dgm:t>
        <a:bodyPr/>
        <a:lstStyle/>
        <a:p>
          <a:pPr algn="l" rtl="0"/>
          <a:r>
            <a:rPr lang="en-US" sz="1600" b="1">
              <a:latin typeface="+mn-lt"/>
              <a:ea typeface="Calibri"/>
              <a:cs typeface="Calibri"/>
            </a:rPr>
            <a:t>HIV/SIDA</a:t>
          </a:r>
          <a:endParaRPr lang="en-US" sz="1600">
            <a:latin typeface="+mn-lt"/>
            <a:ea typeface="Calibri"/>
            <a:cs typeface="Calibri"/>
          </a:endParaRPr>
        </a:p>
      </dgm:t>
    </dgm:pt>
    <dgm:pt modelId="{1E0DAE1B-D0EA-4DDB-B566-83869D4729FF}" type="parTrans" cxnId="{BB8B1F30-BC49-4DAE-94CF-FBAC99E00F04}">
      <dgm:prSet/>
      <dgm:spPr/>
      <dgm:t>
        <a:bodyPr/>
        <a:lstStyle/>
        <a:p>
          <a:endParaRPr lang="pt-PT"/>
        </a:p>
      </dgm:t>
    </dgm:pt>
    <dgm:pt modelId="{22BBBD26-FBEB-4A0C-A744-E203EA6DF2AB}" type="sibTrans" cxnId="{BB8B1F30-BC49-4DAE-94CF-FBAC99E00F04}">
      <dgm:prSet/>
      <dgm:spPr/>
      <dgm:t>
        <a:bodyPr/>
        <a:lstStyle/>
        <a:p>
          <a:endParaRPr lang="pt-PT"/>
        </a:p>
      </dgm:t>
    </dgm:pt>
    <dgm:pt modelId="{2FBDD18C-75B8-4091-81B3-3F8B6F67A9C0}">
      <dgm:prSet phldr="0" custT="1"/>
      <dgm:spPr/>
      <dgm:t>
        <a:bodyPr/>
        <a:lstStyle/>
        <a:p>
          <a:pPr algn="l" rtl="0"/>
          <a:r>
            <a:rPr lang="en-US" sz="1600" b="1" err="1">
              <a:latin typeface="+mn-lt"/>
            </a:rPr>
            <a:t>Introdução</a:t>
          </a:r>
          <a:r>
            <a:rPr lang="en-US" sz="1600" b="1">
              <a:latin typeface="+mn-lt"/>
            </a:rPr>
            <a:t> da </a:t>
          </a:r>
          <a:r>
            <a:rPr lang="en-US" sz="1600" b="1" err="1">
              <a:latin typeface="+mn-lt"/>
            </a:rPr>
            <a:t>PrEP</a:t>
          </a:r>
          <a:r>
            <a:rPr lang="en-US" sz="1600" b="1">
              <a:latin typeface="+mn-lt"/>
            </a:rPr>
            <a:t> </a:t>
          </a:r>
          <a:r>
            <a:rPr lang="en-US" sz="1600" b="1" err="1">
              <a:latin typeface="+mn-lt"/>
            </a:rPr>
            <a:t>injectável</a:t>
          </a:r>
          <a:r>
            <a:rPr lang="en-US" sz="1600" b="1">
              <a:latin typeface="+mn-lt"/>
            </a:rPr>
            <a:t> </a:t>
          </a:r>
          <a:r>
            <a:rPr lang="en-US" sz="1600" err="1">
              <a:latin typeface="+mn-lt"/>
            </a:rPr>
            <a:t>em</a:t>
          </a:r>
          <a:r>
            <a:rPr lang="en-US" sz="1600">
              <a:latin typeface="+mn-lt"/>
            </a:rPr>
            <a:t> 17 </a:t>
          </a:r>
          <a:r>
            <a:rPr lang="en-US" sz="1600" err="1">
              <a:latin typeface="+mn-lt"/>
            </a:rPr>
            <a:t>Unidades</a:t>
          </a:r>
          <a:r>
            <a:rPr lang="en-US" sz="1600">
              <a:latin typeface="+mn-lt"/>
            </a:rPr>
            <a:t> </a:t>
          </a:r>
          <a:r>
            <a:rPr lang="en-US" sz="1600" err="1">
              <a:latin typeface="+mn-lt"/>
            </a:rPr>
            <a:t>Sanitárias</a:t>
          </a:r>
          <a:r>
            <a:rPr lang="en-US" sz="1600">
              <a:latin typeface="+mn-lt"/>
            </a:rPr>
            <a:t>;</a:t>
          </a:r>
          <a:endParaRPr lang="en-US" sz="1600" b="0">
            <a:latin typeface="+mn-lt"/>
            <a:ea typeface="Calibri"/>
            <a:cs typeface="Calibri"/>
          </a:endParaRPr>
        </a:p>
      </dgm:t>
    </dgm:pt>
    <dgm:pt modelId="{17EF4389-D1DF-4754-81C8-26871C51E336}" type="parTrans" cxnId="{BF1C2D23-40A3-4ABB-BEAA-F265F62FBF60}">
      <dgm:prSet/>
      <dgm:spPr/>
      <dgm:t>
        <a:bodyPr/>
        <a:lstStyle/>
        <a:p>
          <a:endParaRPr lang="en-US"/>
        </a:p>
      </dgm:t>
    </dgm:pt>
    <dgm:pt modelId="{51544268-564F-42FD-9F5A-4AF3B0B53B83}" type="sibTrans" cxnId="{BF1C2D23-40A3-4ABB-BEAA-F265F62FBF60}">
      <dgm:prSet/>
      <dgm:spPr/>
      <dgm:t>
        <a:bodyPr/>
        <a:lstStyle/>
        <a:p>
          <a:endParaRPr lang="en-US"/>
        </a:p>
      </dgm:t>
    </dgm:pt>
    <dgm:pt modelId="{A5CC7763-0C53-4C63-8381-6D4C272EE89C}">
      <dgm:prSet phldr="0" custT="1"/>
      <dgm:spPr/>
      <dgm:t>
        <a:bodyPr/>
        <a:lstStyle/>
        <a:p>
          <a:pPr algn="l" rtl="0"/>
          <a:r>
            <a:rPr lang="en-US" sz="1600" b="1" dirty="0" err="1"/>
            <a:t>Constituição</a:t>
          </a:r>
          <a:r>
            <a:rPr lang="en-US" sz="1600" b="1" dirty="0"/>
            <a:t> do </a:t>
          </a:r>
          <a:r>
            <a:rPr lang="en-US" sz="1600" b="1" dirty="0" err="1"/>
            <a:t>Comité</a:t>
          </a:r>
          <a:r>
            <a:rPr lang="en-US" sz="1600" b="1" dirty="0"/>
            <a:t> Provincial</a:t>
          </a:r>
          <a:r>
            <a:rPr lang="en-US" sz="1600" dirty="0"/>
            <a:t> para </a:t>
          </a:r>
          <a:r>
            <a:rPr lang="en-US" sz="1600" dirty="0" err="1"/>
            <a:t>validação</a:t>
          </a:r>
          <a:r>
            <a:rPr lang="en-US" sz="1600" dirty="0"/>
            <a:t> da </a:t>
          </a:r>
          <a:r>
            <a:rPr lang="en-US" sz="1600" dirty="0" err="1"/>
            <a:t>Tripla</a:t>
          </a:r>
          <a:r>
            <a:rPr lang="en-US" sz="1600" dirty="0"/>
            <a:t> </a:t>
          </a:r>
          <a:r>
            <a:rPr lang="en-US" sz="1600" dirty="0" err="1"/>
            <a:t>Eliminação</a:t>
          </a:r>
          <a:r>
            <a:rPr lang="en-US" sz="1600" dirty="0"/>
            <a:t> da </a:t>
          </a:r>
          <a:r>
            <a:rPr lang="en-US" sz="1600" dirty="0" err="1"/>
            <a:t>transmissão</a:t>
          </a:r>
          <a:r>
            <a:rPr lang="en-US" sz="1600" dirty="0"/>
            <a:t> vertical do HIV, </a:t>
          </a:r>
          <a:r>
            <a:rPr lang="en-US" sz="1600" dirty="0" err="1"/>
            <a:t>Sífilis</a:t>
          </a:r>
          <a:r>
            <a:rPr lang="en-US" sz="1600" dirty="0"/>
            <a:t> e </a:t>
          </a:r>
          <a:r>
            <a:rPr lang="en-US" sz="1600" dirty="0" err="1"/>
            <a:t>Hepatite</a:t>
          </a:r>
          <a:r>
            <a:rPr lang="en-US" sz="1600" dirty="0"/>
            <a:t> B. </a:t>
          </a:r>
          <a:endParaRPr lang="en-US" sz="1600" b="0" dirty="0">
            <a:latin typeface="+mn-lt"/>
            <a:ea typeface="Calibri"/>
            <a:cs typeface="Calibri"/>
          </a:endParaRPr>
        </a:p>
      </dgm:t>
    </dgm:pt>
    <dgm:pt modelId="{4417F549-AEA5-4728-BC9D-688E047B37C5}" type="parTrans" cxnId="{285DE409-C712-435E-B902-9B24FB8A33A6}">
      <dgm:prSet/>
      <dgm:spPr/>
      <dgm:t>
        <a:bodyPr/>
        <a:lstStyle/>
        <a:p>
          <a:endParaRPr lang="en-US"/>
        </a:p>
      </dgm:t>
    </dgm:pt>
    <dgm:pt modelId="{A11CCB3E-8333-43C7-A322-FF8326B6639E}" type="sibTrans" cxnId="{285DE409-C712-435E-B902-9B24FB8A33A6}">
      <dgm:prSet/>
      <dgm:spPr/>
      <dgm:t>
        <a:bodyPr/>
        <a:lstStyle/>
        <a:p>
          <a:endParaRPr lang="en-US"/>
        </a:p>
      </dgm:t>
    </dgm:pt>
    <dgm:pt modelId="{36C4B241-FBDD-4834-895F-006B7F76796B}">
      <dgm:prSet custT="1"/>
      <dgm:spPr/>
      <dgm:t>
        <a:bodyPr/>
        <a:lstStyle/>
        <a:p>
          <a:r>
            <a:rPr lang="en-US" sz="1600" b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Calibri"/>
              <a:cs typeface="Calibri"/>
            </a:rPr>
            <a:t>NUTRIÇÃO</a:t>
          </a:r>
        </a:p>
      </dgm:t>
    </dgm:pt>
    <dgm:pt modelId="{94F96565-2CE6-47E4-B7BC-0374954F7D22}" type="parTrans" cxnId="{75203FD4-CBB2-416F-BEF1-D79D972B0B71}">
      <dgm:prSet/>
      <dgm:spPr/>
      <dgm:t>
        <a:bodyPr/>
        <a:lstStyle/>
        <a:p>
          <a:endParaRPr lang="pt-PT"/>
        </a:p>
      </dgm:t>
    </dgm:pt>
    <dgm:pt modelId="{2860F449-F4CD-49CC-A5C3-7EB7282AE280}" type="sibTrans" cxnId="{75203FD4-CBB2-416F-BEF1-D79D972B0B71}">
      <dgm:prSet/>
      <dgm:spPr>
        <a:solidFill>
          <a:schemeClr val="bg1"/>
        </a:solidFill>
      </dgm:spPr>
      <dgm:t>
        <a:bodyPr/>
        <a:lstStyle/>
        <a:p>
          <a:endParaRPr lang="pt-PT"/>
        </a:p>
      </dgm:t>
    </dgm:pt>
    <dgm:pt modelId="{D0EC8D0D-B738-4643-A104-2701FA0D2E26}">
      <dgm:prSet custT="1"/>
      <dgm:spPr/>
      <dgm:t>
        <a:bodyPr/>
        <a:lstStyle/>
        <a:p>
          <a:r>
            <a:rPr lang="en-US" sz="1600" b="1" err="1">
              <a:latin typeface="+mn-lt"/>
            </a:rPr>
            <a:t>Brigadas</a:t>
          </a:r>
          <a:r>
            <a:rPr lang="en-US" sz="1600" b="1">
              <a:latin typeface="+mn-lt"/>
            </a:rPr>
            <a:t> </a:t>
          </a:r>
          <a:r>
            <a:rPr lang="en-US" sz="1600" b="1" err="1">
              <a:latin typeface="+mn-lt"/>
            </a:rPr>
            <a:t>móveis</a:t>
          </a:r>
          <a:r>
            <a:rPr lang="en-US" sz="1600" b="1">
              <a:latin typeface="+mn-lt"/>
            </a:rPr>
            <a:t>:</a:t>
          </a:r>
          <a:r>
            <a:rPr lang="en-US" sz="1600">
              <a:latin typeface="+mn-lt"/>
            </a:rPr>
            <a:t> </a:t>
          </a:r>
          <a:r>
            <a:rPr lang="en-US" sz="1600" err="1">
              <a:latin typeface="+mn-lt"/>
            </a:rPr>
            <a:t>suplementação</a:t>
          </a:r>
          <a:r>
            <a:rPr lang="en-US" sz="1600">
              <a:latin typeface="+mn-lt"/>
            </a:rPr>
            <a:t> com </a:t>
          </a:r>
          <a:r>
            <a:rPr lang="en-US" sz="1600" err="1">
              <a:latin typeface="+mn-lt"/>
            </a:rPr>
            <a:t>Vitamina</a:t>
          </a:r>
          <a:r>
            <a:rPr lang="en-US" sz="1600">
              <a:latin typeface="+mn-lt"/>
            </a:rPr>
            <a:t> A e </a:t>
          </a:r>
          <a:r>
            <a:rPr lang="en-US" sz="1600" err="1">
              <a:latin typeface="+mn-lt"/>
            </a:rPr>
            <a:t>desparasitação</a:t>
          </a:r>
          <a:r>
            <a:rPr lang="en-US" sz="1600">
              <a:latin typeface="+mn-lt"/>
            </a:rPr>
            <a:t> de </a:t>
          </a:r>
          <a:r>
            <a:rPr lang="en-US" sz="1600" err="1">
              <a:latin typeface="+mn-lt"/>
            </a:rPr>
            <a:t>crianças</a:t>
          </a:r>
          <a:r>
            <a:rPr lang="en-US" sz="1600">
              <a:latin typeface="+mn-lt"/>
            </a:rPr>
            <a:t> </a:t>
          </a:r>
          <a:r>
            <a:rPr lang="en-US" sz="1600" err="1">
              <a:latin typeface="+mn-lt"/>
            </a:rPr>
            <a:t>menores</a:t>
          </a:r>
          <a:r>
            <a:rPr lang="en-US" sz="1600">
              <a:latin typeface="+mn-lt"/>
            </a:rPr>
            <a:t> de </a:t>
          </a:r>
          <a:r>
            <a:rPr lang="en-US" sz="1600" err="1">
              <a:latin typeface="+mn-lt"/>
            </a:rPr>
            <a:t>cinco</a:t>
          </a:r>
          <a:r>
            <a:rPr lang="en-US" sz="1600">
              <a:latin typeface="+mn-lt"/>
            </a:rPr>
            <a:t> </a:t>
          </a:r>
          <a:r>
            <a:rPr lang="en-US" sz="1600" err="1">
              <a:latin typeface="+mn-lt"/>
            </a:rPr>
            <a:t>anos</a:t>
          </a:r>
          <a:r>
            <a:rPr lang="en-US" sz="1600">
              <a:latin typeface="+mn-lt"/>
            </a:rPr>
            <a:t>;</a:t>
          </a:r>
          <a:endParaRPr lang="pt-PT" sz="1600" b="0">
            <a:solidFill>
              <a:schemeClr val="tx1"/>
            </a:solidFill>
            <a:latin typeface="+mn-lt"/>
            <a:ea typeface="Calibri Light"/>
            <a:cs typeface="Calibri Light"/>
          </a:endParaRPr>
        </a:p>
      </dgm:t>
    </dgm:pt>
    <dgm:pt modelId="{F9F69C38-4005-4F6F-989A-A640A8945FA1}" type="parTrans" cxnId="{C63E4A8D-64F1-4B05-8ACF-7C79DA486C2D}">
      <dgm:prSet/>
      <dgm:spPr/>
      <dgm:t>
        <a:bodyPr/>
        <a:lstStyle/>
        <a:p>
          <a:endParaRPr lang="pt-PT"/>
        </a:p>
      </dgm:t>
    </dgm:pt>
    <dgm:pt modelId="{FD749E69-5A22-4FB6-880D-95B7AF82455C}" type="sibTrans" cxnId="{C63E4A8D-64F1-4B05-8ACF-7C79DA486C2D}">
      <dgm:prSet/>
      <dgm:spPr/>
      <dgm:t>
        <a:bodyPr/>
        <a:lstStyle/>
        <a:p>
          <a:endParaRPr lang="pt-PT"/>
        </a:p>
      </dgm:t>
    </dgm:pt>
    <dgm:pt modelId="{9285E6DB-47F5-4D5E-97AC-100596A61B67}">
      <dgm:prSet custT="1"/>
      <dgm:spPr/>
      <dgm:t>
        <a:bodyPr/>
        <a:lstStyle/>
        <a:p>
          <a:r>
            <a:rPr lang="en-US" sz="1600" b="1" dirty="0" err="1">
              <a:latin typeface="+mn-lt"/>
            </a:rPr>
            <a:t>Capacitação</a:t>
          </a:r>
          <a:r>
            <a:rPr lang="en-US" sz="1600" b="1" dirty="0">
              <a:latin typeface="+mn-lt"/>
            </a:rPr>
            <a:t> de </a:t>
          </a:r>
          <a:r>
            <a:rPr lang="en-US" sz="1600" b="1" dirty="0" err="1">
              <a:latin typeface="+mn-lt"/>
            </a:rPr>
            <a:t>clínicos</a:t>
          </a:r>
          <a:r>
            <a:rPr lang="en-US" sz="1600" b="1" dirty="0">
              <a:latin typeface="+mn-lt"/>
            </a:rPr>
            <a:t>: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manejo</a:t>
          </a:r>
          <a:r>
            <a:rPr lang="en-US" sz="1600" dirty="0">
              <a:latin typeface="+mn-lt"/>
            </a:rPr>
            <a:t> da </a:t>
          </a:r>
          <a:r>
            <a:rPr lang="en-US" sz="1600" dirty="0" err="1">
              <a:latin typeface="+mn-lt"/>
            </a:rPr>
            <a:t>desnutrição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aguda</a:t>
          </a:r>
          <a:r>
            <a:rPr lang="en-US" sz="1600" dirty="0">
              <a:latin typeface="+mn-lt"/>
            </a:rPr>
            <a:t> grave no </a:t>
          </a:r>
          <a:r>
            <a:rPr lang="en-US" sz="1600" dirty="0" err="1">
              <a:latin typeface="+mn-lt"/>
            </a:rPr>
            <a:t>internamento</a:t>
          </a:r>
          <a:r>
            <a:rPr lang="en-US" sz="1600" dirty="0">
              <a:latin typeface="+mn-lt"/>
            </a:rPr>
            <a:t>.</a:t>
          </a:r>
          <a:endParaRPr lang="pt-PT" sz="1600" b="0" dirty="0">
            <a:solidFill>
              <a:schemeClr val="tx1"/>
            </a:solidFill>
            <a:latin typeface="+mn-lt"/>
            <a:ea typeface="Calibri Light"/>
            <a:cs typeface="Calibri Light"/>
          </a:endParaRPr>
        </a:p>
      </dgm:t>
    </dgm:pt>
    <dgm:pt modelId="{C1B9DD3C-0C97-4C2B-A157-75FAC8498E5D}" type="parTrans" cxnId="{3769B59C-1BB9-4DF9-8E8F-6B62BDABFB6C}">
      <dgm:prSet/>
      <dgm:spPr/>
      <dgm:t>
        <a:bodyPr/>
        <a:lstStyle/>
        <a:p>
          <a:endParaRPr lang="pt-PT"/>
        </a:p>
      </dgm:t>
    </dgm:pt>
    <dgm:pt modelId="{8A81836C-3515-45E6-A954-1E769CFF134A}" type="sibTrans" cxnId="{3769B59C-1BB9-4DF9-8E8F-6B62BDABFB6C}">
      <dgm:prSet/>
      <dgm:spPr/>
      <dgm:t>
        <a:bodyPr/>
        <a:lstStyle/>
        <a:p>
          <a:endParaRPr lang="pt-PT"/>
        </a:p>
      </dgm:t>
    </dgm:pt>
    <dgm:pt modelId="{33CAB606-1332-4224-939E-D62A571571A9}">
      <dgm:prSet phldr="0" custT="1"/>
      <dgm:spPr/>
      <dgm:t>
        <a:bodyPr/>
        <a:lstStyle/>
        <a:p>
          <a:pPr algn="l" rtl="0"/>
          <a:r>
            <a:rPr lang="en-US" sz="1600" b="1" err="1"/>
            <a:t>Reforço</a:t>
          </a:r>
          <a:r>
            <a:rPr lang="en-US" sz="1600" b="1"/>
            <a:t> da </a:t>
          </a:r>
          <a:r>
            <a:rPr lang="en-US" sz="1600" b="1" err="1"/>
            <a:t>capacidade</a:t>
          </a:r>
          <a:r>
            <a:rPr lang="en-US" sz="1600" b="1"/>
            <a:t> para </a:t>
          </a:r>
          <a:r>
            <a:rPr lang="en-US" sz="1600" b="1" err="1"/>
            <a:t>tratamento</a:t>
          </a:r>
          <a:r>
            <a:rPr lang="en-US" sz="1600" b="1"/>
            <a:t> do Sarcoma de Kaposi</a:t>
          </a:r>
          <a:r>
            <a:rPr lang="en-US" sz="1600"/>
            <a:t> </a:t>
          </a:r>
          <a:r>
            <a:rPr lang="en-US" sz="1600" err="1"/>
            <a:t>nos</a:t>
          </a:r>
          <a:r>
            <a:rPr lang="en-US" sz="1600"/>
            <a:t> </a:t>
          </a:r>
          <a:r>
            <a:rPr lang="en-US" sz="1600" err="1"/>
            <a:t>Hospitais</a:t>
          </a:r>
          <a:r>
            <a:rPr lang="en-US" sz="1600"/>
            <a:t> Gerais José </a:t>
          </a:r>
          <a:r>
            <a:rPr lang="en-US" sz="1600" err="1"/>
            <a:t>Macamo</a:t>
          </a:r>
          <a:r>
            <a:rPr lang="en-US" sz="1600"/>
            <a:t> e </a:t>
          </a:r>
          <a:r>
            <a:rPr lang="en-US" sz="1600" err="1"/>
            <a:t>Mavalane</a:t>
          </a:r>
          <a:r>
            <a:rPr lang="en-US" sz="1600"/>
            <a:t>.</a:t>
          </a:r>
          <a:endParaRPr lang="en-US" sz="1600" b="0">
            <a:latin typeface="+mn-lt"/>
            <a:ea typeface="Calibri"/>
            <a:cs typeface="Calibri"/>
          </a:endParaRPr>
        </a:p>
      </dgm:t>
    </dgm:pt>
    <dgm:pt modelId="{DE45A5FC-B6D6-4D34-B789-D1DAF89C519F}" type="parTrans" cxnId="{C974F5B5-32D5-452A-AF23-9BFE3FAB46A5}">
      <dgm:prSet/>
      <dgm:spPr/>
      <dgm:t>
        <a:bodyPr/>
        <a:lstStyle/>
        <a:p>
          <a:endParaRPr lang="pt-PT"/>
        </a:p>
      </dgm:t>
    </dgm:pt>
    <dgm:pt modelId="{037FB0D0-9721-4BD5-A3C3-12C75E7F7B06}" type="sibTrans" cxnId="{C974F5B5-32D5-452A-AF23-9BFE3FAB46A5}">
      <dgm:prSet/>
      <dgm:spPr/>
      <dgm:t>
        <a:bodyPr/>
        <a:lstStyle/>
        <a:p>
          <a:endParaRPr lang="pt-PT"/>
        </a:p>
      </dgm:t>
    </dgm:pt>
    <dgm:pt modelId="{6BED198F-2CEF-4D9E-BED9-19981AC99DBD}">
      <dgm:prSet phldr="0" custT="1"/>
      <dgm:spPr/>
      <dgm:t>
        <a:bodyPr/>
        <a:lstStyle/>
        <a:p>
          <a:pPr algn="just" rtl="0"/>
          <a:r>
            <a:rPr lang="en-US" sz="1600" b="1" dirty="0" err="1"/>
            <a:t>Fortalecimento</a:t>
          </a:r>
          <a:r>
            <a:rPr lang="en-US" sz="1600" b="1" dirty="0"/>
            <a:t> do PAV:</a:t>
          </a:r>
          <a:r>
            <a:rPr lang="en-US" sz="1600" dirty="0"/>
            <a:t> </a:t>
          </a:r>
          <a:r>
            <a:rPr lang="en-US" sz="1600" dirty="0" err="1"/>
            <a:t>reforço</a:t>
          </a:r>
          <a:r>
            <a:rPr lang="en-US" sz="1600" dirty="0"/>
            <a:t> da </a:t>
          </a:r>
          <a:r>
            <a:rPr lang="en-US" sz="1600" dirty="0" err="1"/>
            <a:t>cadeia</a:t>
          </a:r>
          <a:r>
            <a:rPr lang="en-US" sz="1600" dirty="0"/>
            <a:t> de </a:t>
          </a:r>
          <a:r>
            <a:rPr lang="en-US" sz="1600" dirty="0" err="1"/>
            <a:t>frio</a:t>
          </a:r>
          <a:r>
            <a:rPr lang="en-US" sz="1600" dirty="0"/>
            <a:t> com </a:t>
          </a:r>
          <a:r>
            <a:rPr lang="en-US" sz="1600" dirty="0" err="1"/>
            <a:t>alocação</a:t>
          </a:r>
          <a:r>
            <a:rPr lang="en-US" sz="1600" dirty="0"/>
            <a:t> de </a:t>
          </a:r>
          <a:r>
            <a:rPr lang="en-US" sz="1600" dirty="0" err="1"/>
            <a:t>geleiras</a:t>
          </a:r>
          <a:r>
            <a:rPr lang="en-US" sz="1600" dirty="0"/>
            <a:t> e </a:t>
          </a:r>
          <a:r>
            <a:rPr lang="en-US" sz="1600" dirty="0" err="1"/>
            <a:t>manutenção</a:t>
          </a:r>
          <a:r>
            <a:rPr lang="en-US" sz="1600" dirty="0"/>
            <a:t> </a:t>
          </a:r>
          <a:r>
            <a:rPr lang="en-US" sz="1600" dirty="0" err="1"/>
            <a:t>preventiva</a:t>
          </a:r>
          <a:r>
            <a:rPr lang="en-US" sz="1600" dirty="0"/>
            <a:t>. </a:t>
          </a:r>
          <a:endParaRPr lang="en-US" sz="1600" b="0" dirty="0">
            <a:latin typeface="Arial Narrow" panose="020B0606020202030204" pitchFamily="34" charset="0"/>
            <a:ea typeface="Calibri"/>
            <a:cs typeface="Calibri"/>
          </a:endParaRPr>
        </a:p>
      </dgm:t>
    </dgm:pt>
    <dgm:pt modelId="{28521024-A277-4DE6-BB75-A50B31942F18}" type="parTrans" cxnId="{C518EA80-78E9-45D5-883B-DFA9CAD8200B}">
      <dgm:prSet/>
      <dgm:spPr/>
      <dgm:t>
        <a:bodyPr/>
        <a:lstStyle/>
        <a:p>
          <a:endParaRPr lang="pt-PT"/>
        </a:p>
      </dgm:t>
    </dgm:pt>
    <dgm:pt modelId="{5B3B3640-B611-4EA5-9279-D76E0973A97D}" type="sibTrans" cxnId="{C518EA80-78E9-45D5-883B-DFA9CAD8200B}">
      <dgm:prSet/>
      <dgm:spPr/>
      <dgm:t>
        <a:bodyPr/>
        <a:lstStyle/>
        <a:p>
          <a:endParaRPr lang="pt-PT"/>
        </a:p>
      </dgm:t>
    </dgm:pt>
    <dgm:pt modelId="{1EC189EA-0863-4DCC-B5F5-A9BD8FCD577A}">
      <dgm:prSet phldr="0" custT="1"/>
      <dgm:spPr/>
      <dgm:t>
        <a:bodyPr/>
        <a:lstStyle/>
        <a:p>
          <a:pPr algn="just" rtl="0"/>
          <a:r>
            <a:rPr lang="en-US" sz="1600" b="1" err="1"/>
            <a:t>Reforço</a:t>
          </a:r>
          <a:r>
            <a:rPr lang="en-US" sz="1600" b="1"/>
            <a:t> da </a:t>
          </a:r>
          <a:r>
            <a:rPr lang="en-US" sz="1600" b="1" err="1"/>
            <a:t>supervisão</a:t>
          </a:r>
          <a:r>
            <a:rPr lang="en-US" sz="1600" b="1"/>
            <a:t> do PAV:</a:t>
          </a:r>
          <a:r>
            <a:rPr lang="en-US" sz="1600"/>
            <a:t> </a:t>
          </a:r>
          <a:r>
            <a:rPr lang="en-US" sz="1600" err="1"/>
            <a:t>alocação</a:t>
          </a:r>
          <a:r>
            <a:rPr lang="en-US" sz="1600"/>
            <a:t> de duas </a:t>
          </a:r>
          <a:r>
            <a:rPr lang="en-US" sz="1600" err="1"/>
            <a:t>motorizadas</a:t>
          </a:r>
          <a:r>
            <a:rPr lang="en-US" sz="1600"/>
            <a:t> para </a:t>
          </a:r>
          <a:r>
            <a:rPr lang="en-US" sz="1600" err="1"/>
            <a:t>os</a:t>
          </a:r>
          <a:r>
            <a:rPr lang="en-US" sz="1600"/>
            <a:t> </a:t>
          </a:r>
          <a:r>
            <a:rPr lang="en-US" sz="1600" err="1"/>
            <a:t>gestores</a:t>
          </a:r>
          <a:r>
            <a:rPr lang="en-US" sz="1600"/>
            <a:t> </a:t>
          </a:r>
          <a:r>
            <a:rPr lang="en-US" sz="1600" err="1"/>
            <a:t>programáticos</a:t>
          </a:r>
          <a:r>
            <a:rPr lang="en-US" sz="1600"/>
            <a:t>. </a:t>
          </a:r>
          <a:endParaRPr lang="en-US" sz="1600" b="0">
            <a:latin typeface="Arial Narrow" panose="020B0606020202030204" pitchFamily="34" charset="0"/>
            <a:ea typeface="Calibri"/>
            <a:cs typeface="Calibri"/>
          </a:endParaRPr>
        </a:p>
      </dgm:t>
    </dgm:pt>
    <dgm:pt modelId="{C1A74E8F-2EEB-4D79-BC38-752CF7CDC330}" type="parTrans" cxnId="{35743ABF-D2B0-4E38-B0DB-1757D61AF109}">
      <dgm:prSet/>
      <dgm:spPr/>
      <dgm:t>
        <a:bodyPr/>
        <a:lstStyle/>
        <a:p>
          <a:endParaRPr lang="pt-PT"/>
        </a:p>
      </dgm:t>
    </dgm:pt>
    <dgm:pt modelId="{0CD25756-22CE-4E0F-A95B-26BC8B6499FC}" type="sibTrans" cxnId="{35743ABF-D2B0-4E38-B0DB-1757D61AF109}">
      <dgm:prSet/>
      <dgm:spPr/>
      <dgm:t>
        <a:bodyPr/>
        <a:lstStyle/>
        <a:p>
          <a:endParaRPr lang="pt-PT"/>
        </a:p>
      </dgm:t>
    </dgm:pt>
    <dgm:pt modelId="{BAFCB92B-00CA-4C5F-AFB8-D284E5A722B2}" type="pres">
      <dgm:prSet presAssocID="{2E8F364E-03A4-4BEB-BB36-1CD61D6784C5}" presName="Name0" presStyleCnt="0">
        <dgm:presLayoutVars>
          <dgm:dir/>
          <dgm:resizeHandles val="exact"/>
        </dgm:presLayoutVars>
      </dgm:prSet>
      <dgm:spPr/>
    </dgm:pt>
    <dgm:pt modelId="{11EB0B48-199C-49A9-95AD-5D6753CBB657}" type="pres">
      <dgm:prSet presAssocID="{36C4B241-FBDD-4834-895F-006B7F76796B}" presName="composite" presStyleCnt="0"/>
      <dgm:spPr/>
    </dgm:pt>
    <dgm:pt modelId="{38626D41-DB38-470D-9C95-A292E9779F45}" type="pres">
      <dgm:prSet presAssocID="{36C4B241-FBDD-4834-895F-006B7F76796B}" presName="imagSh" presStyleLbl="bgImgPlace1" presStyleIdx="0" presStyleCnt="3" custLinFactNeighborX="425" custLinFactNeighborY="-20411"/>
      <dgm:spPr>
        <a:blipFill dpi="0" rotWithShape="1">
          <a:blip xmlns:r="http://schemas.openxmlformats.org/officeDocument/2006/relationships" r:embed="rId1"/>
          <a:srcRect/>
          <a:stretch>
            <a:fillRect t="-72189" b="-43811"/>
          </a:stretch>
        </a:blipFill>
      </dgm:spPr>
    </dgm:pt>
    <dgm:pt modelId="{5BFCCEBE-90F0-44B7-BBEB-C0DABC804C05}" type="pres">
      <dgm:prSet presAssocID="{36C4B241-FBDD-4834-895F-006B7F76796B}" presName="txNode" presStyleLbl="node1" presStyleIdx="0" presStyleCnt="3" custScaleX="133100" custScaleY="133100" custLinFactNeighborX="7755" custLinFactNeighborY="7921">
        <dgm:presLayoutVars>
          <dgm:bulletEnabled val="1"/>
        </dgm:presLayoutVars>
      </dgm:prSet>
      <dgm:spPr/>
    </dgm:pt>
    <dgm:pt modelId="{3B046596-730C-423A-8F2D-6741F027A1C2}" type="pres">
      <dgm:prSet presAssocID="{2860F449-F4CD-49CC-A5C3-7EB7282AE280}" presName="sibTrans" presStyleLbl="sibTrans2D1" presStyleIdx="0" presStyleCnt="2"/>
      <dgm:spPr/>
    </dgm:pt>
    <dgm:pt modelId="{AAB5E1F1-A8B3-42E9-8268-B429BACF2A8C}" type="pres">
      <dgm:prSet presAssocID="{2860F449-F4CD-49CC-A5C3-7EB7282AE280}" presName="connTx" presStyleLbl="sibTrans2D1" presStyleIdx="0" presStyleCnt="2"/>
      <dgm:spPr/>
    </dgm:pt>
    <dgm:pt modelId="{78716CE6-90C1-4707-B925-962722A6A318}" type="pres">
      <dgm:prSet presAssocID="{D938D1DC-9135-4DB2-ABDF-3193C36FDDB2}" presName="composite" presStyleCnt="0"/>
      <dgm:spPr/>
    </dgm:pt>
    <dgm:pt modelId="{1FB51B0C-7F3F-4B25-A1A7-C1AE0094AC4D}" type="pres">
      <dgm:prSet presAssocID="{D938D1DC-9135-4DB2-ABDF-3193C36FDDB2}" presName="imagSh" presStyleLbl="bgImgPlace1" presStyleIdx="1" presStyleCnt="3" custLinFactNeighborX="-23523" custLinFactNeighborY="-20910"/>
      <dgm:spPr>
        <a:blipFill>
          <a:blip xmlns:r="http://schemas.openxmlformats.org/officeDocument/2006/relationships" r:embed="rId2"/>
          <a:srcRect/>
          <a:stretch>
            <a:fillRect l="-39000" r="-39000"/>
          </a:stretch>
        </a:blipFill>
      </dgm:spPr>
    </dgm:pt>
    <dgm:pt modelId="{2A3986A2-6B22-4CAE-911C-9EBEB3BCD126}" type="pres">
      <dgm:prSet presAssocID="{D938D1DC-9135-4DB2-ABDF-3193C36FDDB2}" presName="txNode" presStyleLbl="node1" presStyleIdx="1" presStyleCnt="3" custScaleX="133100" custScaleY="133100" custLinFactNeighborX="14554" custLinFactNeighborY="6305">
        <dgm:presLayoutVars>
          <dgm:bulletEnabled val="1"/>
        </dgm:presLayoutVars>
      </dgm:prSet>
      <dgm:spPr/>
    </dgm:pt>
    <dgm:pt modelId="{AAFF0E38-A8DE-4205-BCAE-77D7EE9EDEEB}" type="pres">
      <dgm:prSet presAssocID="{B9B6F8A5-E9B7-45B4-9848-7E78256D3A5A}" presName="sibTrans" presStyleLbl="sibTrans2D1" presStyleIdx="1" presStyleCnt="2"/>
      <dgm:spPr/>
    </dgm:pt>
    <dgm:pt modelId="{37185CB2-664A-4892-953C-2BFF4E18E798}" type="pres">
      <dgm:prSet presAssocID="{B9B6F8A5-E9B7-45B4-9848-7E78256D3A5A}" presName="connTx" presStyleLbl="sibTrans2D1" presStyleIdx="1" presStyleCnt="2"/>
      <dgm:spPr/>
    </dgm:pt>
    <dgm:pt modelId="{C901651A-E75E-4612-8A18-773CD11C97DB}" type="pres">
      <dgm:prSet presAssocID="{EE4D1BDB-2440-4116-9737-BD36E5A84C09}" presName="composite" presStyleCnt="0"/>
      <dgm:spPr/>
    </dgm:pt>
    <dgm:pt modelId="{82CDE388-5DB7-4D36-BC54-857D871FF3A9}" type="pres">
      <dgm:prSet presAssocID="{EE4D1BDB-2440-4116-9737-BD36E5A84C09}" presName="imagSh" presStyleLbl="bgImgPlace1" presStyleIdx="2" presStyleCnt="3" custLinFactNeighborX="-16490" custLinFactNeighborY="-25130"/>
      <dgm:spPr>
        <a:blipFill>
          <a:blip xmlns:r="http://schemas.openxmlformats.org/officeDocument/2006/relationships" r:embed="rId3"/>
          <a:srcRect/>
          <a:stretch>
            <a:fillRect l="-29000" r="-29000"/>
          </a:stretch>
        </a:blipFill>
      </dgm:spPr>
    </dgm:pt>
    <dgm:pt modelId="{51CBFE08-C282-4900-AFDA-A157C4681C19}" type="pres">
      <dgm:prSet presAssocID="{EE4D1BDB-2440-4116-9737-BD36E5A84C09}" presName="txNode" presStyleLbl="node1" presStyleIdx="2" presStyleCnt="3" custScaleX="133100" custScaleY="133100" custLinFactNeighborX="2504" custLinFactNeighborY="6502">
        <dgm:presLayoutVars>
          <dgm:bulletEnabled val="1"/>
        </dgm:presLayoutVars>
      </dgm:prSet>
      <dgm:spPr/>
    </dgm:pt>
  </dgm:ptLst>
  <dgm:cxnLst>
    <dgm:cxn modelId="{3D5CB007-4D6A-4403-8857-CCA9EA8C79D4}" srcId="{D938D1DC-9135-4DB2-ABDF-3193C36FDDB2}" destId="{7D590ACB-B179-462C-964D-416E0A414DA3}" srcOrd="0" destOrd="0" parTransId="{57F64E97-71CB-4CB1-8137-725596A5777E}" sibTransId="{905E921D-358C-4EBC-85AA-56A6B2D88C2C}"/>
    <dgm:cxn modelId="{285DE409-C712-435E-B902-9B24FB8A33A6}" srcId="{EE4D1BDB-2440-4116-9737-BD36E5A84C09}" destId="{A5CC7763-0C53-4C63-8381-6D4C272EE89C}" srcOrd="1" destOrd="0" parTransId="{4417F549-AEA5-4728-BC9D-688E047B37C5}" sibTransId="{A11CCB3E-8333-43C7-A322-FF8326B6639E}"/>
    <dgm:cxn modelId="{C6883D0D-6A2D-4D30-A387-52E84841EB1E}" type="presOf" srcId="{B9B6F8A5-E9B7-45B4-9848-7E78256D3A5A}" destId="{AAFF0E38-A8DE-4205-BCAE-77D7EE9EDEEB}" srcOrd="0" destOrd="0" presId="urn:microsoft.com/office/officeart/2005/8/layout/hProcess10"/>
    <dgm:cxn modelId="{84EF1918-B773-4DAC-997C-8D27E7D563AA}" type="presOf" srcId="{2E8F364E-03A4-4BEB-BB36-1CD61D6784C5}" destId="{BAFCB92B-00CA-4C5F-AFB8-D284E5A722B2}" srcOrd="0" destOrd="0" presId="urn:microsoft.com/office/officeart/2005/8/layout/hProcess10"/>
    <dgm:cxn modelId="{BF1C2D23-40A3-4ABB-BEAA-F265F62FBF60}" srcId="{EE4D1BDB-2440-4116-9737-BD36E5A84C09}" destId="{2FBDD18C-75B8-4091-81B3-3F8B6F67A9C0}" srcOrd="0" destOrd="0" parTransId="{17EF4389-D1DF-4754-81C8-26871C51E336}" sibTransId="{51544268-564F-42FD-9F5A-4AF3B0B53B83}"/>
    <dgm:cxn modelId="{8B306323-6C20-4933-B0EB-08CD81710188}" type="presOf" srcId="{D0EC8D0D-B738-4643-A104-2701FA0D2E26}" destId="{5BFCCEBE-90F0-44B7-BBEB-C0DABC804C05}" srcOrd="0" destOrd="1" presId="urn:microsoft.com/office/officeart/2005/8/layout/hProcess10"/>
    <dgm:cxn modelId="{0F7AD328-528C-40EC-B860-6A718B01F778}" srcId="{2E8F364E-03A4-4BEB-BB36-1CD61D6784C5}" destId="{D938D1DC-9135-4DB2-ABDF-3193C36FDDB2}" srcOrd="1" destOrd="0" parTransId="{0BB4CB53-A138-40FB-9893-36B6BBE08748}" sibTransId="{B9B6F8A5-E9B7-45B4-9848-7E78256D3A5A}"/>
    <dgm:cxn modelId="{BB8B1F30-BC49-4DAE-94CF-FBAC99E00F04}" srcId="{2E8F364E-03A4-4BEB-BB36-1CD61D6784C5}" destId="{EE4D1BDB-2440-4116-9737-BD36E5A84C09}" srcOrd="2" destOrd="0" parTransId="{1E0DAE1B-D0EA-4DDB-B566-83869D4729FF}" sibTransId="{22BBBD26-FBEB-4A0C-A744-E203EA6DF2AB}"/>
    <dgm:cxn modelId="{9E10BB30-74E2-46C1-8E6C-76420AA1BD87}" type="presOf" srcId="{1EC189EA-0863-4DCC-B5F5-A9BD8FCD577A}" destId="{2A3986A2-6B22-4CAE-911C-9EBEB3BCD126}" srcOrd="0" destOrd="3" presId="urn:microsoft.com/office/officeart/2005/8/layout/hProcess10"/>
    <dgm:cxn modelId="{5A9B8532-158E-42F2-B316-C5A9A1EA9C55}" type="presOf" srcId="{D938D1DC-9135-4DB2-ABDF-3193C36FDDB2}" destId="{2A3986A2-6B22-4CAE-911C-9EBEB3BCD126}" srcOrd="0" destOrd="0" presId="urn:microsoft.com/office/officeart/2005/8/layout/hProcess10"/>
    <dgm:cxn modelId="{32DC2F5C-D098-4DF1-90AA-560D60E345FF}" type="presOf" srcId="{2FBDD18C-75B8-4091-81B3-3F8B6F67A9C0}" destId="{51CBFE08-C282-4900-AFDA-A157C4681C19}" srcOrd="0" destOrd="1" presId="urn:microsoft.com/office/officeart/2005/8/layout/hProcess10"/>
    <dgm:cxn modelId="{939B2167-C675-4149-A6DB-4E4EAABEF1F1}" type="presOf" srcId="{B9B6F8A5-E9B7-45B4-9848-7E78256D3A5A}" destId="{37185CB2-664A-4892-953C-2BFF4E18E798}" srcOrd="1" destOrd="0" presId="urn:microsoft.com/office/officeart/2005/8/layout/hProcess10"/>
    <dgm:cxn modelId="{F580417F-6F91-47FB-AB45-CBA8BB37A99F}" type="presOf" srcId="{A5CC7763-0C53-4C63-8381-6D4C272EE89C}" destId="{51CBFE08-C282-4900-AFDA-A157C4681C19}" srcOrd="0" destOrd="2" presId="urn:microsoft.com/office/officeart/2005/8/layout/hProcess10"/>
    <dgm:cxn modelId="{C518EA80-78E9-45D5-883B-DFA9CAD8200B}" srcId="{D938D1DC-9135-4DB2-ABDF-3193C36FDDB2}" destId="{6BED198F-2CEF-4D9E-BED9-19981AC99DBD}" srcOrd="1" destOrd="0" parTransId="{28521024-A277-4DE6-BB75-A50B31942F18}" sibTransId="{5B3B3640-B611-4EA5-9279-D76E0973A97D}"/>
    <dgm:cxn modelId="{90D60189-7311-4596-9164-A6502A0775B6}" type="presOf" srcId="{9285E6DB-47F5-4D5E-97AC-100596A61B67}" destId="{5BFCCEBE-90F0-44B7-BBEB-C0DABC804C05}" srcOrd="0" destOrd="2" presId="urn:microsoft.com/office/officeart/2005/8/layout/hProcess10"/>
    <dgm:cxn modelId="{C63E4A8D-64F1-4B05-8ACF-7C79DA486C2D}" srcId="{36C4B241-FBDD-4834-895F-006B7F76796B}" destId="{D0EC8D0D-B738-4643-A104-2701FA0D2E26}" srcOrd="0" destOrd="0" parTransId="{F9F69C38-4005-4F6F-989A-A640A8945FA1}" sibTransId="{FD749E69-5A22-4FB6-880D-95B7AF82455C}"/>
    <dgm:cxn modelId="{3CA22C93-18B1-4C4C-9325-D28097634171}" type="presOf" srcId="{36C4B241-FBDD-4834-895F-006B7F76796B}" destId="{5BFCCEBE-90F0-44B7-BBEB-C0DABC804C05}" srcOrd="0" destOrd="0" presId="urn:microsoft.com/office/officeart/2005/8/layout/hProcess10"/>
    <dgm:cxn modelId="{056EF29A-E623-4941-BF0B-BE040868C3B5}" type="presOf" srcId="{2860F449-F4CD-49CC-A5C3-7EB7282AE280}" destId="{3B046596-730C-423A-8F2D-6741F027A1C2}" srcOrd="0" destOrd="0" presId="urn:microsoft.com/office/officeart/2005/8/layout/hProcess10"/>
    <dgm:cxn modelId="{3769B59C-1BB9-4DF9-8E8F-6B62BDABFB6C}" srcId="{36C4B241-FBDD-4834-895F-006B7F76796B}" destId="{9285E6DB-47F5-4D5E-97AC-100596A61B67}" srcOrd="1" destOrd="0" parTransId="{C1B9DD3C-0C97-4C2B-A157-75FAC8498E5D}" sibTransId="{8A81836C-3515-45E6-A954-1E769CFF134A}"/>
    <dgm:cxn modelId="{258C73B5-7EC3-4FAA-B160-B06DB92E0CAF}" type="presOf" srcId="{2860F449-F4CD-49CC-A5C3-7EB7282AE280}" destId="{AAB5E1F1-A8B3-42E9-8268-B429BACF2A8C}" srcOrd="1" destOrd="0" presId="urn:microsoft.com/office/officeart/2005/8/layout/hProcess10"/>
    <dgm:cxn modelId="{C974F5B5-32D5-452A-AF23-9BFE3FAB46A5}" srcId="{EE4D1BDB-2440-4116-9737-BD36E5A84C09}" destId="{33CAB606-1332-4224-939E-D62A571571A9}" srcOrd="2" destOrd="0" parTransId="{DE45A5FC-B6D6-4D34-B789-D1DAF89C519F}" sibTransId="{037FB0D0-9721-4BD5-A3C3-12C75E7F7B06}"/>
    <dgm:cxn modelId="{7D9A07B6-983C-4982-A6A5-27531B7504C6}" type="presOf" srcId="{7D590ACB-B179-462C-964D-416E0A414DA3}" destId="{2A3986A2-6B22-4CAE-911C-9EBEB3BCD126}" srcOrd="0" destOrd="1" presId="urn:microsoft.com/office/officeart/2005/8/layout/hProcess10"/>
    <dgm:cxn modelId="{5C3D87BE-A18E-40F8-8965-B707670293DD}" type="presOf" srcId="{33CAB606-1332-4224-939E-D62A571571A9}" destId="{51CBFE08-C282-4900-AFDA-A157C4681C19}" srcOrd="0" destOrd="3" presId="urn:microsoft.com/office/officeart/2005/8/layout/hProcess10"/>
    <dgm:cxn modelId="{35743ABF-D2B0-4E38-B0DB-1757D61AF109}" srcId="{D938D1DC-9135-4DB2-ABDF-3193C36FDDB2}" destId="{1EC189EA-0863-4DCC-B5F5-A9BD8FCD577A}" srcOrd="2" destOrd="0" parTransId="{C1A74E8F-2EEB-4D79-BC38-752CF7CDC330}" sibTransId="{0CD25756-22CE-4E0F-A95B-26BC8B6499FC}"/>
    <dgm:cxn modelId="{75203FD4-CBB2-416F-BEF1-D79D972B0B71}" srcId="{2E8F364E-03A4-4BEB-BB36-1CD61D6784C5}" destId="{36C4B241-FBDD-4834-895F-006B7F76796B}" srcOrd="0" destOrd="0" parTransId="{94F96565-2CE6-47E4-B7BC-0374954F7D22}" sibTransId="{2860F449-F4CD-49CC-A5C3-7EB7282AE280}"/>
    <dgm:cxn modelId="{C159D8F6-26AF-4B01-A148-4807037584C7}" type="presOf" srcId="{EE4D1BDB-2440-4116-9737-BD36E5A84C09}" destId="{51CBFE08-C282-4900-AFDA-A157C4681C19}" srcOrd="0" destOrd="0" presId="urn:microsoft.com/office/officeart/2005/8/layout/hProcess10"/>
    <dgm:cxn modelId="{BABD82F7-7DFB-447C-8AC0-428ED9E1407C}" type="presOf" srcId="{6BED198F-2CEF-4D9E-BED9-19981AC99DBD}" destId="{2A3986A2-6B22-4CAE-911C-9EBEB3BCD126}" srcOrd="0" destOrd="2" presId="urn:microsoft.com/office/officeart/2005/8/layout/hProcess10"/>
    <dgm:cxn modelId="{D4C1A19B-9A94-49BB-9FC6-6AEBF7C334B1}" type="presParOf" srcId="{BAFCB92B-00CA-4C5F-AFB8-D284E5A722B2}" destId="{11EB0B48-199C-49A9-95AD-5D6753CBB657}" srcOrd="0" destOrd="0" presId="urn:microsoft.com/office/officeart/2005/8/layout/hProcess10"/>
    <dgm:cxn modelId="{26137C72-A7E5-4C68-8B4A-6B01A5BA4211}" type="presParOf" srcId="{11EB0B48-199C-49A9-95AD-5D6753CBB657}" destId="{38626D41-DB38-470D-9C95-A292E9779F45}" srcOrd="0" destOrd="0" presId="urn:microsoft.com/office/officeart/2005/8/layout/hProcess10"/>
    <dgm:cxn modelId="{415ED888-EC26-4901-A5B7-F884F36CC7B1}" type="presParOf" srcId="{11EB0B48-199C-49A9-95AD-5D6753CBB657}" destId="{5BFCCEBE-90F0-44B7-BBEB-C0DABC804C05}" srcOrd="1" destOrd="0" presId="urn:microsoft.com/office/officeart/2005/8/layout/hProcess10"/>
    <dgm:cxn modelId="{28998834-C320-49F4-B124-4F80BB1316C8}" type="presParOf" srcId="{BAFCB92B-00CA-4C5F-AFB8-D284E5A722B2}" destId="{3B046596-730C-423A-8F2D-6741F027A1C2}" srcOrd="1" destOrd="0" presId="urn:microsoft.com/office/officeart/2005/8/layout/hProcess10"/>
    <dgm:cxn modelId="{9BE2BCAD-C36C-495D-AB4E-08F3BB611C4D}" type="presParOf" srcId="{3B046596-730C-423A-8F2D-6741F027A1C2}" destId="{AAB5E1F1-A8B3-42E9-8268-B429BACF2A8C}" srcOrd="0" destOrd="0" presId="urn:microsoft.com/office/officeart/2005/8/layout/hProcess10"/>
    <dgm:cxn modelId="{06E96C23-010F-49CF-A3C2-C986DAD6CA00}" type="presParOf" srcId="{BAFCB92B-00CA-4C5F-AFB8-D284E5A722B2}" destId="{78716CE6-90C1-4707-B925-962722A6A318}" srcOrd="2" destOrd="0" presId="urn:microsoft.com/office/officeart/2005/8/layout/hProcess10"/>
    <dgm:cxn modelId="{2F6AE07B-907C-4EBD-AC11-74D669552BA9}" type="presParOf" srcId="{78716CE6-90C1-4707-B925-962722A6A318}" destId="{1FB51B0C-7F3F-4B25-A1A7-C1AE0094AC4D}" srcOrd="0" destOrd="0" presId="urn:microsoft.com/office/officeart/2005/8/layout/hProcess10"/>
    <dgm:cxn modelId="{427E1A0F-D9CD-408C-A8E0-2C10883E3D7F}" type="presParOf" srcId="{78716CE6-90C1-4707-B925-962722A6A318}" destId="{2A3986A2-6B22-4CAE-911C-9EBEB3BCD126}" srcOrd="1" destOrd="0" presId="urn:microsoft.com/office/officeart/2005/8/layout/hProcess10"/>
    <dgm:cxn modelId="{8E223590-971F-40CA-AB8A-735665E46DDF}" type="presParOf" srcId="{BAFCB92B-00CA-4C5F-AFB8-D284E5A722B2}" destId="{AAFF0E38-A8DE-4205-BCAE-77D7EE9EDEEB}" srcOrd="3" destOrd="0" presId="urn:microsoft.com/office/officeart/2005/8/layout/hProcess10"/>
    <dgm:cxn modelId="{B39BE744-C60A-48B0-8ABA-96DF6772FBF1}" type="presParOf" srcId="{AAFF0E38-A8DE-4205-BCAE-77D7EE9EDEEB}" destId="{37185CB2-664A-4892-953C-2BFF4E18E798}" srcOrd="0" destOrd="0" presId="urn:microsoft.com/office/officeart/2005/8/layout/hProcess10"/>
    <dgm:cxn modelId="{15B7C4D5-2AAC-4DEC-9923-DAE382390895}" type="presParOf" srcId="{BAFCB92B-00CA-4C5F-AFB8-D284E5A722B2}" destId="{C901651A-E75E-4612-8A18-773CD11C97DB}" srcOrd="4" destOrd="0" presId="urn:microsoft.com/office/officeart/2005/8/layout/hProcess10"/>
    <dgm:cxn modelId="{7270D048-13EF-4952-89A6-15F37200996D}" type="presParOf" srcId="{C901651A-E75E-4612-8A18-773CD11C97DB}" destId="{82CDE388-5DB7-4D36-BC54-857D871FF3A9}" srcOrd="0" destOrd="0" presId="urn:microsoft.com/office/officeart/2005/8/layout/hProcess10"/>
    <dgm:cxn modelId="{42888891-38A8-4F74-B8C9-CF1346DE24B0}" type="presParOf" srcId="{C901651A-E75E-4612-8A18-773CD11C97DB}" destId="{51CBFE08-C282-4900-AFDA-A157C4681C19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DFAEEC-DB48-49C3-9E25-2278B31D8865}" type="doc">
      <dgm:prSet loTypeId="urn:microsoft.com/office/officeart/2005/8/layout/default" loCatId="list" qsTypeId="urn:microsoft.com/office/officeart/2005/8/quickstyle/simple1#4" qsCatId="simple" csTypeId="urn:microsoft.com/office/officeart/2005/8/colors/accent0_1#1" csCatId="mainScheme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en-US"/>
        </a:p>
      </dgm:t>
    </dgm:pt>
    <dgm:pt modelId="{C7F2E1A2-B89B-42DB-BB4C-01E705F64E07}">
      <dgm:prSet custT="1"/>
      <dgm:spPr>
        <a:ln>
          <a:solidFill>
            <a:srgbClr val="FF0000"/>
          </a:solidFill>
        </a:ln>
      </dgm:spPr>
      <dgm:t>
        <a:bodyPr/>
        <a:lstStyle/>
        <a:p>
          <a:pPr rtl="0"/>
          <a:r>
            <a:rPr lang="en-US" sz="2400" b="1" err="1">
              <a:latin typeface="Arial Narrow"/>
              <a:cs typeface="Calibri"/>
            </a:rPr>
            <a:t>Programa</a:t>
          </a:r>
          <a:r>
            <a:rPr lang="en-US" sz="2400" b="1">
              <a:latin typeface="Arial Narrow"/>
              <a:cs typeface="Calibri"/>
            </a:rPr>
            <a:t> de </a:t>
          </a:r>
          <a:r>
            <a:rPr lang="en-US" sz="2400" b="1" err="1">
              <a:latin typeface="Arial Narrow"/>
              <a:cs typeface="Calibri"/>
            </a:rPr>
            <a:t>Saúde</a:t>
          </a:r>
          <a:r>
            <a:rPr lang="en-US" sz="2400" b="1">
              <a:latin typeface="Arial Narrow"/>
              <a:cs typeface="Calibri"/>
            </a:rPr>
            <a:t> Materno </a:t>
          </a:r>
          <a:r>
            <a:rPr lang="en-US" sz="2400" b="1" err="1">
              <a:latin typeface="Arial Narrow"/>
              <a:cs typeface="Calibri"/>
            </a:rPr>
            <a:t>Infantil</a:t>
          </a:r>
          <a:endParaRPr lang="en-US" sz="2400" b="0">
            <a:latin typeface="Arial Narrow"/>
          </a:endParaRPr>
        </a:p>
      </dgm:t>
    </dgm:pt>
    <dgm:pt modelId="{26AA9B7F-89D5-4316-9D3E-0E4DA3D9D579}" type="parTrans" cxnId="{70380094-9EA4-46F8-A60C-C30AE4606A5C}">
      <dgm:prSet/>
      <dgm:spPr/>
      <dgm:t>
        <a:bodyPr/>
        <a:lstStyle/>
        <a:p>
          <a:endParaRPr lang="en-US"/>
        </a:p>
      </dgm:t>
    </dgm:pt>
    <dgm:pt modelId="{F0236250-5B76-421B-80BD-065A5F6D2ACA}" type="sibTrans" cxnId="{70380094-9EA4-46F8-A60C-C30AE4606A5C}">
      <dgm:prSet/>
      <dgm:spPr/>
      <dgm:t>
        <a:bodyPr/>
        <a:lstStyle/>
        <a:p>
          <a:endParaRPr lang="en-US"/>
        </a:p>
      </dgm:t>
    </dgm:pt>
    <dgm:pt modelId="{FC6F20EC-1FF4-4CAC-9E5B-BCCE406471EA}">
      <dgm:prSet custT="1"/>
      <dgm:spPr>
        <a:ln>
          <a:solidFill>
            <a:srgbClr val="FF0000"/>
          </a:solidFill>
        </a:ln>
      </dgm:spPr>
      <dgm:t>
        <a:bodyPr/>
        <a:lstStyle/>
        <a:p>
          <a:pPr algn="ctr" rtl="0">
            <a:lnSpc>
              <a:spcPct val="100000"/>
            </a:lnSpc>
          </a:pPr>
          <a:r>
            <a:rPr lang="en-US" sz="2000" b="1">
              <a:latin typeface="Arial Narrow" panose="020B0606020202030204" pitchFamily="34" charset="0"/>
            </a:rPr>
            <a:t>1. </a:t>
          </a:r>
          <a:r>
            <a:rPr lang="en-US" sz="2000" err="1">
              <a:latin typeface="Arial Narrow" panose="020B0606020202030204" pitchFamily="34" charset="0"/>
            </a:rPr>
            <a:t>Reforço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qualidade</a:t>
          </a:r>
          <a:r>
            <a:rPr lang="en-US" sz="2000">
              <a:latin typeface="Arial Narrow" panose="020B0606020202030204" pitchFamily="34" charset="0"/>
            </a:rPr>
            <a:t> dos </a:t>
          </a:r>
          <a:r>
            <a:rPr lang="en-US" sz="2000" err="1">
              <a:latin typeface="Arial Narrow" panose="020B0606020202030204" pitchFamily="34" charset="0"/>
            </a:rPr>
            <a:t>cuidados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obstétricos</a:t>
          </a:r>
          <a:r>
            <a:rPr lang="en-US" sz="2000">
              <a:latin typeface="Arial Narrow" panose="020B0606020202030204" pitchFamily="34" charset="0"/>
            </a:rPr>
            <a:t> e </a:t>
          </a:r>
          <a:r>
            <a:rPr lang="en-US" sz="2000" err="1">
              <a:latin typeface="Arial Narrow" panose="020B0606020202030204" pitchFamily="34" charset="0"/>
            </a:rPr>
            <a:t>neonatais</a:t>
          </a:r>
          <a:r>
            <a:rPr lang="en-US" sz="2000">
              <a:latin typeface="Arial Narrow" panose="020B0606020202030204" pitchFamily="34" charset="0"/>
            </a:rPr>
            <a:t>;</a:t>
          </a:r>
        </a:p>
        <a:p>
          <a:pPr algn="ctr" rtl="0">
            <a:lnSpc>
              <a:spcPct val="100000"/>
            </a:lnSpc>
          </a:pPr>
          <a:r>
            <a:rPr lang="en-US" sz="2000" b="1">
              <a:latin typeface="Arial Narrow" panose="020B0606020202030204" pitchFamily="34" charset="0"/>
            </a:rPr>
            <a:t>2. </a:t>
          </a:r>
          <a:r>
            <a:rPr lang="en-US" sz="2000" err="1">
              <a:latin typeface="Arial Narrow" panose="020B0606020202030204" pitchFamily="34" charset="0"/>
            </a:rPr>
            <a:t>Reforço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prevenção</a:t>
          </a:r>
          <a:r>
            <a:rPr lang="en-US" sz="2000">
              <a:latin typeface="Arial Narrow" panose="020B0606020202030204" pitchFamily="34" charset="0"/>
            </a:rPr>
            <a:t> do </a:t>
          </a:r>
          <a:r>
            <a:rPr lang="en-US" sz="2000" err="1">
              <a:latin typeface="Arial Narrow" panose="020B0606020202030204" pitchFamily="34" charset="0"/>
            </a:rPr>
            <a:t>cancro</a:t>
          </a:r>
          <a:r>
            <a:rPr lang="en-US" sz="2000">
              <a:latin typeface="Arial Narrow" panose="020B0606020202030204" pitchFamily="34" charset="0"/>
            </a:rPr>
            <a:t> do </a:t>
          </a:r>
          <a:r>
            <a:rPr lang="en-US" sz="2000" err="1">
              <a:latin typeface="Arial Narrow" panose="020B0606020202030204" pitchFamily="34" charset="0"/>
            </a:rPr>
            <a:t>colo</a:t>
          </a:r>
          <a:r>
            <a:rPr lang="en-US" sz="2000">
              <a:latin typeface="Arial Narrow" panose="020B0606020202030204" pitchFamily="34" charset="0"/>
            </a:rPr>
            <a:t> do </a:t>
          </a:r>
          <a:r>
            <a:rPr lang="en-US" sz="2000" err="1">
              <a:latin typeface="Arial Narrow" panose="020B0606020202030204" pitchFamily="34" charset="0"/>
            </a:rPr>
            <a:t>útero</a:t>
          </a:r>
          <a:r>
            <a:rPr lang="en-US" sz="2000">
              <a:latin typeface="Arial Narrow" panose="020B0606020202030204" pitchFamily="34" charset="0"/>
            </a:rPr>
            <a:t> (CACUM).</a:t>
          </a:r>
          <a:endParaRPr lang="en-US" sz="2200" b="0">
            <a:latin typeface="Arial Narrow" panose="020B0606020202030204" pitchFamily="34" charset="0"/>
            <a:cs typeface="Calibri"/>
          </a:endParaRPr>
        </a:p>
      </dgm:t>
    </dgm:pt>
    <dgm:pt modelId="{C63DDA47-5A38-4548-B919-F97EE164C4FD}" type="parTrans" cxnId="{F2C9C372-8166-4CE8-81DB-2AC02C758EC1}">
      <dgm:prSet/>
      <dgm:spPr/>
      <dgm:t>
        <a:bodyPr/>
        <a:lstStyle/>
        <a:p>
          <a:endParaRPr lang="en-US"/>
        </a:p>
      </dgm:t>
    </dgm:pt>
    <dgm:pt modelId="{D369594B-50AF-4A53-82A4-636D426C99C8}" type="sibTrans" cxnId="{F2C9C372-8166-4CE8-81DB-2AC02C758EC1}">
      <dgm:prSet/>
      <dgm:spPr/>
      <dgm:t>
        <a:bodyPr/>
        <a:lstStyle/>
        <a:p>
          <a:endParaRPr lang="en-US"/>
        </a:p>
      </dgm:t>
    </dgm:pt>
    <dgm:pt modelId="{212E9FA1-B138-4B9E-B185-B1FAAA0E8E27}">
      <dgm:prSet custT="1"/>
      <dgm:spPr>
        <a:ln>
          <a:solidFill>
            <a:srgbClr val="FFFF00"/>
          </a:solidFill>
        </a:ln>
      </dgm:spPr>
      <dgm:t>
        <a:bodyPr/>
        <a:lstStyle/>
        <a:p>
          <a:pPr algn="ctr" rtl="0">
            <a:lnSpc>
              <a:spcPct val="150000"/>
            </a:lnSpc>
          </a:pPr>
          <a:r>
            <a:rPr lang="pt-PT" sz="2000" b="1">
              <a:latin typeface="Arial Narrow" panose="020B0606020202030204" pitchFamily="34" charset="0"/>
            </a:rPr>
            <a:t>1. </a:t>
          </a:r>
          <a:r>
            <a:rPr lang="en-US" sz="2000" err="1">
              <a:latin typeface="Arial Narrow" panose="020B0606020202030204" pitchFamily="34" charset="0"/>
            </a:rPr>
            <a:t>Capacitação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em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manejo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ambulatório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desnutrição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aguda</a:t>
          </a:r>
          <a:r>
            <a:rPr lang="en-US" sz="2000">
              <a:latin typeface="Arial Narrow" panose="020B0606020202030204" pitchFamily="34" charset="0"/>
            </a:rPr>
            <a:t>;</a:t>
          </a:r>
          <a:br>
            <a:rPr lang="en-US" sz="2000">
              <a:latin typeface="Arial Narrow" panose="020B0606020202030204" pitchFamily="34" charset="0"/>
            </a:rPr>
          </a:br>
          <a:r>
            <a:rPr lang="en-US" sz="2000" b="1">
              <a:latin typeface="Arial Narrow" panose="020B0606020202030204" pitchFamily="34" charset="0"/>
            </a:rPr>
            <a:t>2. </a:t>
          </a:r>
          <a:r>
            <a:rPr lang="en-US" sz="2000" err="1">
              <a:latin typeface="Arial Narrow" panose="020B0606020202030204" pitchFamily="34" charset="0"/>
            </a:rPr>
            <a:t>Reforço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cobertura</a:t>
          </a:r>
          <a:r>
            <a:rPr lang="en-US" sz="2000">
              <a:latin typeface="Arial Narrow" panose="020B0606020202030204" pitchFamily="34" charset="0"/>
            </a:rPr>
            <a:t> das </a:t>
          </a:r>
          <a:r>
            <a:rPr lang="en-US" sz="2000" err="1">
              <a:latin typeface="Arial Narrow" panose="020B0606020202030204" pitchFamily="34" charset="0"/>
            </a:rPr>
            <a:t>intervenções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comunitárias</a:t>
          </a:r>
          <a:r>
            <a:rPr lang="en-US" sz="2000">
              <a:latin typeface="Arial Narrow" panose="020B0606020202030204" pitchFamily="34" charset="0"/>
            </a:rPr>
            <a:t>.</a:t>
          </a:r>
          <a:endParaRPr lang="pt-PT" sz="2000" b="0">
            <a:latin typeface="Arial Narrow" panose="020B0606020202030204" pitchFamily="34" charset="0"/>
            <a:cs typeface="Calibri"/>
          </a:endParaRPr>
        </a:p>
      </dgm:t>
    </dgm:pt>
    <dgm:pt modelId="{6A54EFAA-C687-48E3-93AF-D3C024559ADF}" type="parTrans" cxnId="{1E84FC2C-C731-48D6-9B48-A70A1C39A46D}">
      <dgm:prSet/>
      <dgm:spPr/>
      <dgm:t>
        <a:bodyPr/>
        <a:lstStyle/>
        <a:p>
          <a:endParaRPr lang="en-US"/>
        </a:p>
      </dgm:t>
    </dgm:pt>
    <dgm:pt modelId="{FFF6C568-2E25-4B7B-A707-B1A9A9C9FD3C}" type="sibTrans" cxnId="{1E84FC2C-C731-48D6-9B48-A70A1C39A46D}">
      <dgm:prSet/>
      <dgm:spPr/>
      <dgm:t>
        <a:bodyPr/>
        <a:lstStyle/>
        <a:p>
          <a:endParaRPr lang="en-US"/>
        </a:p>
      </dgm:t>
    </dgm:pt>
    <dgm:pt modelId="{0374382A-CF39-4C54-87F9-07FFADBC4A28}">
      <dgm:prSet phldr="0" custT="1"/>
      <dgm:spPr>
        <a:ln>
          <a:solidFill>
            <a:srgbClr val="FFFF00"/>
          </a:solidFill>
        </a:ln>
      </dgm:spPr>
      <dgm:t>
        <a:bodyPr/>
        <a:lstStyle/>
        <a:p>
          <a:pPr rtl="0"/>
          <a:r>
            <a:rPr lang="pt-PT" sz="2400" b="1">
              <a:latin typeface="Arial Narrow"/>
              <a:cs typeface="Calibri"/>
            </a:rPr>
            <a:t>Programa de Nutrição</a:t>
          </a:r>
          <a:endParaRPr lang="pt-PT" sz="2400" b="0">
            <a:latin typeface="Arial Narrow"/>
          </a:endParaRPr>
        </a:p>
      </dgm:t>
    </dgm:pt>
    <dgm:pt modelId="{6440E9EA-E6B3-4768-9A05-A73F1BDBA7AC}" type="sibTrans" cxnId="{A526C05B-DD39-437E-B23C-D876C3235E0F}">
      <dgm:prSet/>
      <dgm:spPr/>
      <dgm:t>
        <a:bodyPr/>
        <a:lstStyle/>
        <a:p>
          <a:endParaRPr lang="en-US"/>
        </a:p>
      </dgm:t>
    </dgm:pt>
    <dgm:pt modelId="{F8B61AC9-190B-4BA6-98D9-89920DC20D9D}" type="parTrans" cxnId="{A526C05B-DD39-437E-B23C-D876C3235E0F}">
      <dgm:prSet/>
      <dgm:spPr/>
      <dgm:t>
        <a:bodyPr/>
        <a:lstStyle/>
        <a:p>
          <a:endParaRPr lang="en-US"/>
        </a:p>
      </dgm:t>
    </dgm:pt>
    <dgm:pt modelId="{FBF6CF37-373E-43FD-A64A-60BCD816AC1E}">
      <dgm:prSet custT="1"/>
      <dgm:spPr>
        <a:ln>
          <a:solidFill>
            <a:srgbClr val="03803B"/>
          </a:solidFill>
        </a:ln>
      </dgm:spPr>
      <dgm:t>
        <a:bodyPr/>
        <a:lstStyle/>
        <a:p>
          <a:pPr algn="ctr" rtl="0"/>
          <a:r>
            <a:rPr lang="en-US" sz="2200" b="1" err="1">
              <a:latin typeface="Arial Narrow"/>
              <a:cs typeface="Calibri"/>
            </a:rPr>
            <a:t>Programa</a:t>
          </a:r>
          <a:r>
            <a:rPr lang="en-US" sz="2200" b="1">
              <a:latin typeface="Arial Narrow"/>
              <a:cs typeface="Calibri"/>
            </a:rPr>
            <a:t> </a:t>
          </a:r>
          <a:r>
            <a:rPr lang="en-US" sz="2200" b="1" err="1">
              <a:latin typeface="Arial Narrow"/>
              <a:cs typeface="Calibri"/>
            </a:rPr>
            <a:t>Alargado</a:t>
          </a:r>
          <a:r>
            <a:rPr lang="en-US" sz="2200" b="1">
              <a:latin typeface="Arial Narrow"/>
              <a:cs typeface="Calibri"/>
            </a:rPr>
            <a:t> de </a:t>
          </a:r>
          <a:r>
            <a:rPr lang="en-US" sz="2200" b="1" err="1">
              <a:latin typeface="Arial Narrow"/>
              <a:cs typeface="Calibri"/>
            </a:rPr>
            <a:t>Vacinação</a:t>
          </a:r>
          <a:endParaRPr lang="pt-PT" sz="2200" b="0">
            <a:latin typeface="Arial Narrow"/>
            <a:cs typeface="Calibri"/>
          </a:endParaRPr>
        </a:p>
      </dgm:t>
    </dgm:pt>
    <dgm:pt modelId="{FE46D593-5697-4544-9801-B64387EE2441}" type="parTrans" cxnId="{F8C72E4A-18E2-4215-953B-6C7025EC8B1A}">
      <dgm:prSet/>
      <dgm:spPr/>
      <dgm:t>
        <a:bodyPr/>
        <a:lstStyle/>
        <a:p>
          <a:endParaRPr lang="pt-PT"/>
        </a:p>
      </dgm:t>
    </dgm:pt>
    <dgm:pt modelId="{8A5094DB-626F-4894-A970-EB61176E7A6D}" type="sibTrans" cxnId="{F8C72E4A-18E2-4215-953B-6C7025EC8B1A}">
      <dgm:prSet/>
      <dgm:spPr/>
      <dgm:t>
        <a:bodyPr/>
        <a:lstStyle/>
        <a:p>
          <a:endParaRPr lang="pt-PT"/>
        </a:p>
      </dgm:t>
    </dgm:pt>
    <dgm:pt modelId="{2DC2DC7F-BEBB-407A-A92C-F328ABD8F008}">
      <dgm:prSet custT="1"/>
      <dgm:spPr>
        <a:ln>
          <a:solidFill>
            <a:srgbClr val="03803B"/>
          </a:solidFill>
        </a:ln>
      </dgm:spPr>
      <dgm:t>
        <a:bodyPr/>
        <a:lstStyle/>
        <a:p>
          <a:pPr rtl="0"/>
          <a:r>
            <a:rPr lang="en-US" sz="2000" b="1">
              <a:latin typeface="Arial Narrow" panose="020B0606020202030204" pitchFamily="34" charset="0"/>
            </a:rPr>
            <a:t>1. </a:t>
          </a:r>
          <a:r>
            <a:rPr lang="en-US" sz="2000" err="1">
              <a:latin typeface="Arial Narrow" panose="020B0606020202030204" pitchFamily="34" charset="0"/>
            </a:rPr>
            <a:t>Recuperação</a:t>
          </a:r>
          <a:r>
            <a:rPr lang="en-US" sz="2000">
              <a:latin typeface="Arial Narrow" panose="020B0606020202030204" pitchFamily="34" charset="0"/>
            </a:rPr>
            <a:t> de </a:t>
          </a:r>
          <a:r>
            <a:rPr lang="en-US" sz="2000" err="1">
              <a:latin typeface="Arial Narrow" panose="020B0606020202030204" pitchFamily="34" charset="0"/>
            </a:rPr>
            <a:t>crianças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faltosas</a:t>
          </a:r>
          <a:r>
            <a:rPr lang="en-US" sz="2000">
              <a:latin typeface="Arial Narrow" panose="020B0606020202030204" pitchFamily="34" charset="0"/>
            </a:rPr>
            <a:t> à </a:t>
          </a:r>
          <a:r>
            <a:rPr lang="en-US" sz="2000" err="1">
              <a:latin typeface="Arial Narrow" panose="020B0606020202030204" pitchFamily="34" charset="0"/>
            </a:rPr>
            <a:t>vacinação</a:t>
          </a:r>
          <a:r>
            <a:rPr lang="en-US" sz="2000">
              <a:latin typeface="Arial Narrow" panose="020B0606020202030204" pitchFamily="34" charset="0"/>
            </a:rPr>
            <a:t>;</a:t>
          </a:r>
        </a:p>
        <a:p>
          <a:pPr rtl="0"/>
          <a:r>
            <a:rPr lang="en-US" sz="2000" b="1">
              <a:latin typeface="Arial Narrow" panose="020B0606020202030204" pitchFamily="34" charset="0"/>
            </a:rPr>
            <a:t>2. </a:t>
          </a:r>
          <a:r>
            <a:rPr lang="en-US" sz="2000" err="1">
              <a:latin typeface="Arial Narrow" panose="020B0606020202030204" pitchFamily="34" charset="0"/>
            </a:rPr>
            <a:t>Expansão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monitoria</a:t>
          </a:r>
          <a:r>
            <a:rPr lang="en-US" sz="2000">
              <a:latin typeface="Arial Narrow" panose="020B0606020202030204" pitchFamily="34" charset="0"/>
            </a:rPr>
            <a:t> remota da </a:t>
          </a:r>
          <a:r>
            <a:rPr lang="en-US" sz="2000" err="1">
              <a:latin typeface="Arial Narrow" panose="020B0606020202030204" pitchFamily="34" charset="0"/>
            </a:rPr>
            <a:t>cadeia</a:t>
          </a:r>
          <a:r>
            <a:rPr lang="en-US" sz="2000">
              <a:latin typeface="Arial Narrow" panose="020B0606020202030204" pitchFamily="34" charset="0"/>
            </a:rPr>
            <a:t> de </a:t>
          </a:r>
          <a:r>
            <a:rPr lang="en-US" sz="2000" err="1">
              <a:latin typeface="Arial Narrow" panose="020B0606020202030204" pitchFamily="34" charset="0"/>
            </a:rPr>
            <a:t>frio</a:t>
          </a:r>
          <a:r>
            <a:rPr lang="en-US" sz="2000">
              <a:latin typeface="Arial Narrow" panose="020B0606020202030204" pitchFamily="34" charset="0"/>
            </a:rPr>
            <a:t>.</a:t>
          </a:r>
          <a:endParaRPr lang="en-US" sz="2000" b="0">
            <a:latin typeface="Arial Narrow" panose="020B0606020202030204" pitchFamily="34" charset="0"/>
            <a:cs typeface="Calibri"/>
          </a:endParaRPr>
        </a:p>
      </dgm:t>
    </dgm:pt>
    <dgm:pt modelId="{68530D41-1012-479A-896B-E6C4CAFA12B7}" type="parTrans" cxnId="{BFA2C83A-2135-4E43-9951-CE7C1CAF94E1}">
      <dgm:prSet/>
      <dgm:spPr/>
      <dgm:t>
        <a:bodyPr/>
        <a:lstStyle/>
        <a:p>
          <a:endParaRPr lang="pt-PT"/>
        </a:p>
      </dgm:t>
    </dgm:pt>
    <dgm:pt modelId="{4F324A83-562C-4FB7-896D-CDACD978DCBB}" type="sibTrans" cxnId="{BFA2C83A-2135-4E43-9951-CE7C1CAF94E1}">
      <dgm:prSet/>
      <dgm:spPr/>
      <dgm:t>
        <a:bodyPr/>
        <a:lstStyle/>
        <a:p>
          <a:endParaRPr lang="pt-PT"/>
        </a:p>
      </dgm:t>
    </dgm:pt>
    <dgm:pt modelId="{6B3BBD34-CB43-4E41-BE57-832A04AA3236}" type="pres">
      <dgm:prSet presAssocID="{39DFAEEC-DB48-49C3-9E25-2278B31D8865}" presName="diagram" presStyleCnt="0">
        <dgm:presLayoutVars>
          <dgm:dir/>
          <dgm:resizeHandles val="exact"/>
        </dgm:presLayoutVars>
      </dgm:prSet>
      <dgm:spPr/>
    </dgm:pt>
    <dgm:pt modelId="{FD41781E-D432-43EA-84FE-F298A6CA0956}" type="pres">
      <dgm:prSet presAssocID="{C7F2E1A2-B89B-42DB-BB4C-01E705F64E07}" presName="node" presStyleLbl="node1" presStyleIdx="0" presStyleCnt="6" custScaleX="100157" custScaleY="87152" custLinFactNeighborX="-4926" custLinFactNeighborY="-3982">
        <dgm:presLayoutVars>
          <dgm:bulletEnabled val="1"/>
        </dgm:presLayoutVars>
      </dgm:prSet>
      <dgm:spPr/>
    </dgm:pt>
    <dgm:pt modelId="{FE332C12-512C-4C6F-9AE4-7588D236BC5C}" type="pres">
      <dgm:prSet presAssocID="{F0236250-5B76-421B-80BD-065A5F6D2ACA}" presName="sibTrans" presStyleCnt="0"/>
      <dgm:spPr/>
    </dgm:pt>
    <dgm:pt modelId="{8206C75E-911A-4D9C-AEF0-51AE13096102}" type="pres">
      <dgm:prSet presAssocID="{FC6F20EC-1FF4-4CAC-9E5B-BCCE406471EA}" presName="node" presStyleLbl="node1" presStyleIdx="1" presStyleCnt="6" custScaleX="254062" custScaleY="84641" custLinFactNeighborX="742" custLinFactNeighborY="-3555">
        <dgm:presLayoutVars>
          <dgm:bulletEnabled val="1"/>
        </dgm:presLayoutVars>
      </dgm:prSet>
      <dgm:spPr/>
    </dgm:pt>
    <dgm:pt modelId="{C7FF089E-534D-4FF2-ABB6-79337C13DD9B}" type="pres">
      <dgm:prSet presAssocID="{D369594B-50AF-4A53-82A4-636D426C99C8}" presName="sibTrans" presStyleCnt="0"/>
      <dgm:spPr/>
    </dgm:pt>
    <dgm:pt modelId="{AA3351DE-A3F9-41F3-9150-CDFD70D34B18}" type="pres">
      <dgm:prSet presAssocID="{0374382A-CF39-4C54-87F9-07FFADBC4A28}" presName="node" presStyleLbl="node1" presStyleIdx="2" presStyleCnt="6" custScaleX="101192">
        <dgm:presLayoutVars>
          <dgm:bulletEnabled val="1"/>
        </dgm:presLayoutVars>
      </dgm:prSet>
      <dgm:spPr/>
    </dgm:pt>
    <dgm:pt modelId="{AC09C618-80F3-4BA5-9E2C-D551C0FA293A}" type="pres">
      <dgm:prSet presAssocID="{6440E9EA-E6B3-4768-9A05-A73F1BDBA7AC}" presName="sibTrans" presStyleCnt="0"/>
      <dgm:spPr/>
    </dgm:pt>
    <dgm:pt modelId="{1C5C5B81-FA5C-4474-8754-9FB51D6FD8E3}" type="pres">
      <dgm:prSet presAssocID="{212E9FA1-B138-4B9E-B185-B1FAAA0E8E27}" presName="node" presStyleLbl="node1" presStyleIdx="3" presStyleCnt="6" custScaleX="244463" custScaleY="100400">
        <dgm:presLayoutVars>
          <dgm:bulletEnabled val="1"/>
        </dgm:presLayoutVars>
      </dgm:prSet>
      <dgm:spPr/>
    </dgm:pt>
    <dgm:pt modelId="{1F047640-EBB3-4068-B09A-7C47B28528D0}" type="pres">
      <dgm:prSet presAssocID="{FFF6C568-2E25-4B7B-A707-B1A9A9C9FD3C}" presName="sibTrans" presStyleCnt="0"/>
      <dgm:spPr/>
    </dgm:pt>
    <dgm:pt modelId="{894C2E82-6835-4FFE-877B-835AA4ADD5FD}" type="pres">
      <dgm:prSet presAssocID="{FBF6CF37-373E-43FD-A64A-60BCD816AC1E}" presName="node" presStyleLbl="node1" presStyleIdx="4" presStyleCnt="6" custScaleX="100157" custScaleY="87152" custLinFactNeighborX="-4926" custLinFactNeighborY="-3982">
        <dgm:presLayoutVars>
          <dgm:bulletEnabled val="1"/>
        </dgm:presLayoutVars>
      </dgm:prSet>
      <dgm:spPr/>
    </dgm:pt>
    <dgm:pt modelId="{27658D67-64E6-41E5-866B-C99B27203D0D}" type="pres">
      <dgm:prSet presAssocID="{8A5094DB-626F-4894-A970-EB61176E7A6D}" presName="sibTrans" presStyleCnt="0"/>
      <dgm:spPr/>
    </dgm:pt>
    <dgm:pt modelId="{F6F00C42-BE6C-4B0E-926D-08C7AE131764}" type="pres">
      <dgm:prSet presAssocID="{2DC2DC7F-BEBB-407A-A92C-F328ABD8F008}" presName="node" presStyleLbl="node1" presStyleIdx="5" presStyleCnt="6" custScaleX="244968" custScaleY="84641" custLinFactNeighborX="742" custLinFactNeighborY="-3555">
        <dgm:presLayoutVars>
          <dgm:bulletEnabled val="1"/>
        </dgm:presLayoutVars>
      </dgm:prSet>
      <dgm:spPr/>
    </dgm:pt>
  </dgm:ptLst>
  <dgm:cxnLst>
    <dgm:cxn modelId="{1E84FC2C-C731-48D6-9B48-A70A1C39A46D}" srcId="{39DFAEEC-DB48-49C3-9E25-2278B31D8865}" destId="{212E9FA1-B138-4B9E-B185-B1FAAA0E8E27}" srcOrd="3" destOrd="0" parTransId="{6A54EFAA-C687-48E3-93AF-D3C024559ADF}" sibTransId="{FFF6C568-2E25-4B7B-A707-B1A9A9C9FD3C}"/>
    <dgm:cxn modelId="{BB228536-0779-408A-8812-88C441B113C1}" type="presOf" srcId="{FBF6CF37-373E-43FD-A64A-60BCD816AC1E}" destId="{894C2E82-6835-4FFE-877B-835AA4ADD5FD}" srcOrd="0" destOrd="0" presId="urn:microsoft.com/office/officeart/2005/8/layout/default"/>
    <dgm:cxn modelId="{BFA2C83A-2135-4E43-9951-CE7C1CAF94E1}" srcId="{39DFAEEC-DB48-49C3-9E25-2278B31D8865}" destId="{2DC2DC7F-BEBB-407A-A92C-F328ABD8F008}" srcOrd="5" destOrd="0" parTransId="{68530D41-1012-479A-896B-E6C4CAFA12B7}" sibTransId="{4F324A83-562C-4FB7-896D-CDACD978DCBB}"/>
    <dgm:cxn modelId="{A526C05B-DD39-437E-B23C-D876C3235E0F}" srcId="{39DFAEEC-DB48-49C3-9E25-2278B31D8865}" destId="{0374382A-CF39-4C54-87F9-07FFADBC4A28}" srcOrd="2" destOrd="0" parTransId="{F8B61AC9-190B-4BA6-98D9-89920DC20D9D}" sibTransId="{6440E9EA-E6B3-4768-9A05-A73F1BDBA7AC}"/>
    <dgm:cxn modelId="{F8C72E4A-18E2-4215-953B-6C7025EC8B1A}" srcId="{39DFAEEC-DB48-49C3-9E25-2278B31D8865}" destId="{FBF6CF37-373E-43FD-A64A-60BCD816AC1E}" srcOrd="4" destOrd="0" parTransId="{FE46D593-5697-4544-9801-B64387EE2441}" sibTransId="{8A5094DB-626F-4894-A970-EB61176E7A6D}"/>
    <dgm:cxn modelId="{F2C9C372-8166-4CE8-81DB-2AC02C758EC1}" srcId="{39DFAEEC-DB48-49C3-9E25-2278B31D8865}" destId="{FC6F20EC-1FF4-4CAC-9E5B-BCCE406471EA}" srcOrd="1" destOrd="0" parTransId="{C63DDA47-5A38-4548-B919-F97EE164C4FD}" sibTransId="{D369594B-50AF-4A53-82A4-636D426C99C8}"/>
    <dgm:cxn modelId="{C31CC286-892B-4598-A30C-042A5B64FCA9}" type="presOf" srcId="{2DC2DC7F-BEBB-407A-A92C-F328ABD8F008}" destId="{F6F00C42-BE6C-4B0E-926D-08C7AE131764}" srcOrd="0" destOrd="0" presId="urn:microsoft.com/office/officeart/2005/8/layout/default"/>
    <dgm:cxn modelId="{228B9A8A-9128-487C-8016-CEB4FC238F24}" type="presOf" srcId="{0374382A-CF39-4C54-87F9-07FFADBC4A28}" destId="{AA3351DE-A3F9-41F3-9150-CDFD70D34B18}" srcOrd="0" destOrd="0" presId="urn:microsoft.com/office/officeart/2005/8/layout/default"/>
    <dgm:cxn modelId="{FEB52C90-1AC8-42D3-900B-7B2BC3CEA5A9}" type="presOf" srcId="{39DFAEEC-DB48-49C3-9E25-2278B31D8865}" destId="{6B3BBD34-CB43-4E41-BE57-832A04AA3236}" srcOrd="0" destOrd="0" presId="urn:microsoft.com/office/officeart/2005/8/layout/default"/>
    <dgm:cxn modelId="{70380094-9EA4-46F8-A60C-C30AE4606A5C}" srcId="{39DFAEEC-DB48-49C3-9E25-2278B31D8865}" destId="{C7F2E1A2-B89B-42DB-BB4C-01E705F64E07}" srcOrd="0" destOrd="0" parTransId="{26AA9B7F-89D5-4316-9D3E-0E4DA3D9D579}" sibTransId="{F0236250-5B76-421B-80BD-065A5F6D2ACA}"/>
    <dgm:cxn modelId="{82147598-B498-4EF7-8991-D7FC08C3D2FB}" type="presOf" srcId="{C7F2E1A2-B89B-42DB-BB4C-01E705F64E07}" destId="{FD41781E-D432-43EA-84FE-F298A6CA0956}" srcOrd="0" destOrd="0" presId="urn:microsoft.com/office/officeart/2005/8/layout/default"/>
    <dgm:cxn modelId="{5000DD9B-014A-462B-BD4E-036915F44A46}" type="presOf" srcId="{212E9FA1-B138-4B9E-B185-B1FAAA0E8E27}" destId="{1C5C5B81-FA5C-4474-8754-9FB51D6FD8E3}" srcOrd="0" destOrd="0" presId="urn:microsoft.com/office/officeart/2005/8/layout/default"/>
    <dgm:cxn modelId="{5E271DAB-E684-4950-B67A-47D87671D897}" type="presOf" srcId="{FC6F20EC-1FF4-4CAC-9E5B-BCCE406471EA}" destId="{8206C75E-911A-4D9C-AEF0-51AE13096102}" srcOrd="0" destOrd="0" presId="urn:microsoft.com/office/officeart/2005/8/layout/default"/>
    <dgm:cxn modelId="{C553F3AD-49FF-424A-AC61-E004AE85CAC8}" type="presParOf" srcId="{6B3BBD34-CB43-4E41-BE57-832A04AA3236}" destId="{FD41781E-D432-43EA-84FE-F298A6CA0956}" srcOrd="0" destOrd="0" presId="urn:microsoft.com/office/officeart/2005/8/layout/default"/>
    <dgm:cxn modelId="{F7B136A7-92EC-43A1-95ED-40864451FEFA}" type="presParOf" srcId="{6B3BBD34-CB43-4E41-BE57-832A04AA3236}" destId="{FE332C12-512C-4C6F-9AE4-7588D236BC5C}" srcOrd="1" destOrd="0" presId="urn:microsoft.com/office/officeart/2005/8/layout/default"/>
    <dgm:cxn modelId="{BA577A2B-A50E-4ED9-8B64-084927BE75CD}" type="presParOf" srcId="{6B3BBD34-CB43-4E41-BE57-832A04AA3236}" destId="{8206C75E-911A-4D9C-AEF0-51AE13096102}" srcOrd="2" destOrd="0" presId="urn:microsoft.com/office/officeart/2005/8/layout/default"/>
    <dgm:cxn modelId="{A92AC69C-1008-4C82-9DB9-D7E3D57FCEBB}" type="presParOf" srcId="{6B3BBD34-CB43-4E41-BE57-832A04AA3236}" destId="{C7FF089E-534D-4FF2-ABB6-79337C13DD9B}" srcOrd="3" destOrd="0" presId="urn:microsoft.com/office/officeart/2005/8/layout/default"/>
    <dgm:cxn modelId="{7705D6E5-7753-4D21-A455-F7C9EF1479DA}" type="presParOf" srcId="{6B3BBD34-CB43-4E41-BE57-832A04AA3236}" destId="{AA3351DE-A3F9-41F3-9150-CDFD70D34B18}" srcOrd="4" destOrd="0" presId="urn:microsoft.com/office/officeart/2005/8/layout/default"/>
    <dgm:cxn modelId="{7E154D50-F339-4C55-9051-4A3BB439977D}" type="presParOf" srcId="{6B3BBD34-CB43-4E41-BE57-832A04AA3236}" destId="{AC09C618-80F3-4BA5-9E2C-D551C0FA293A}" srcOrd="5" destOrd="0" presId="urn:microsoft.com/office/officeart/2005/8/layout/default"/>
    <dgm:cxn modelId="{B60C6DC8-FB25-47BB-A122-63DF99357D27}" type="presParOf" srcId="{6B3BBD34-CB43-4E41-BE57-832A04AA3236}" destId="{1C5C5B81-FA5C-4474-8754-9FB51D6FD8E3}" srcOrd="6" destOrd="0" presId="urn:microsoft.com/office/officeart/2005/8/layout/default"/>
    <dgm:cxn modelId="{135F97BE-C258-4C27-A742-9D5BF54EBA68}" type="presParOf" srcId="{6B3BBD34-CB43-4E41-BE57-832A04AA3236}" destId="{1F047640-EBB3-4068-B09A-7C47B28528D0}" srcOrd="7" destOrd="0" presId="urn:microsoft.com/office/officeart/2005/8/layout/default"/>
    <dgm:cxn modelId="{DF7C4E80-2D66-47E6-814D-C7B23F4B6304}" type="presParOf" srcId="{6B3BBD34-CB43-4E41-BE57-832A04AA3236}" destId="{894C2E82-6835-4FFE-877B-835AA4ADD5FD}" srcOrd="8" destOrd="0" presId="urn:microsoft.com/office/officeart/2005/8/layout/default"/>
    <dgm:cxn modelId="{AA3D2137-F0DE-48E0-B22C-FDF083A6A511}" type="presParOf" srcId="{6B3BBD34-CB43-4E41-BE57-832A04AA3236}" destId="{27658D67-64E6-41E5-866B-C99B27203D0D}" srcOrd="9" destOrd="0" presId="urn:microsoft.com/office/officeart/2005/8/layout/default"/>
    <dgm:cxn modelId="{DDD6501D-772F-4D93-82D8-96A7BCFB628B}" type="presParOf" srcId="{6B3BBD34-CB43-4E41-BE57-832A04AA3236}" destId="{F6F00C42-BE6C-4B0E-926D-08C7AE131764}" srcOrd="10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6D1C7-7481-4BD1-96A8-299C29AE7BE0}">
      <dsp:nvSpPr>
        <dsp:cNvPr id="0" name=""/>
        <dsp:cNvSpPr/>
      </dsp:nvSpPr>
      <dsp:spPr>
        <a:xfrm>
          <a:off x="0" y="107742"/>
          <a:ext cx="2300809" cy="230080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EBD7151-DE4A-49B5-896B-F8F84D93195C}">
      <dsp:nvSpPr>
        <dsp:cNvPr id="0" name=""/>
        <dsp:cNvSpPr/>
      </dsp:nvSpPr>
      <dsp:spPr>
        <a:xfrm>
          <a:off x="496450" y="1758876"/>
          <a:ext cx="3062398" cy="306239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/>
              <a:cs typeface="Calibri"/>
            </a:rPr>
            <a:t>VIGILÂNCIA EM SAÚDE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Resposta</a:t>
          </a:r>
          <a:r>
            <a:rPr lang="en-US" sz="1600" b="1" kern="1200" dirty="0">
              <a:latin typeface="+mn-lt"/>
            </a:rPr>
            <a:t> à </a:t>
          </a:r>
          <a:r>
            <a:rPr lang="en-US" sz="1600" b="1" kern="1200" dirty="0" err="1">
              <a:latin typeface="+mn-lt"/>
            </a:rPr>
            <a:t>época</a:t>
          </a:r>
          <a:r>
            <a:rPr lang="en-US" sz="1600" b="1" kern="1200" dirty="0">
              <a:latin typeface="+mn-lt"/>
            </a:rPr>
            <a:t> </a:t>
          </a:r>
          <a:r>
            <a:rPr lang="en-US" sz="1600" b="1" kern="1200" dirty="0" err="1">
              <a:latin typeface="+mn-lt"/>
            </a:rPr>
            <a:t>chuvosa</a:t>
          </a:r>
          <a:r>
            <a:rPr lang="en-US" sz="1600" b="1" kern="1200" dirty="0">
              <a:latin typeface="+mn-lt"/>
            </a:rPr>
            <a:t>/</a:t>
          </a:r>
          <a:r>
            <a:rPr lang="en-US" sz="1600" b="1" kern="1200" dirty="0" err="1">
              <a:latin typeface="+mn-lt"/>
            </a:rPr>
            <a:t>ciclónica</a:t>
          </a:r>
          <a:r>
            <a:rPr lang="en-US" sz="1600" b="1" kern="1200" dirty="0">
              <a:latin typeface="+mn-lt"/>
            </a:rPr>
            <a:t> e </a:t>
          </a:r>
          <a:r>
            <a:rPr lang="en-US" sz="1600" b="1" kern="1200" dirty="0" err="1">
              <a:latin typeface="+mn-lt"/>
            </a:rPr>
            <a:t>ao</a:t>
          </a:r>
          <a:r>
            <a:rPr lang="en-US" sz="1600" b="1" kern="1200" dirty="0">
              <a:latin typeface="+mn-lt"/>
            </a:rPr>
            <a:t> </a:t>
          </a:r>
          <a:r>
            <a:rPr lang="en-US" sz="1600" b="1" kern="1200" dirty="0" err="1">
              <a:latin typeface="+mn-lt"/>
            </a:rPr>
            <a:t>surto</a:t>
          </a:r>
          <a:r>
            <a:rPr lang="en-US" sz="1600" b="1" kern="1200" dirty="0">
              <a:latin typeface="+mn-lt"/>
            </a:rPr>
            <a:t> de </a:t>
          </a:r>
          <a:r>
            <a:rPr lang="en-US" sz="1600" b="1" kern="1200" dirty="0" err="1">
              <a:latin typeface="+mn-lt"/>
            </a:rPr>
            <a:t>cólera</a:t>
          </a:r>
          <a:r>
            <a:rPr lang="en-US" sz="1600" b="1" kern="1200" dirty="0">
              <a:latin typeface="+mn-lt"/>
            </a:rPr>
            <a:t>: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investigação</a:t>
          </a:r>
          <a:r>
            <a:rPr lang="en-US" sz="1600" kern="1200" dirty="0">
              <a:latin typeface="+mn-lt"/>
            </a:rPr>
            <a:t> de </a:t>
          </a:r>
          <a:r>
            <a:rPr lang="en-US" sz="1600" kern="1200" dirty="0" err="1">
              <a:latin typeface="+mn-lt"/>
            </a:rPr>
            <a:t>casos</a:t>
          </a:r>
          <a:r>
            <a:rPr lang="en-US" sz="1600" kern="1200" dirty="0">
              <a:latin typeface="+mn-lt"/>
            </a:rPr>
            <a:t>, </a:t>
          </a:r>
          <a:r>
            <a:rPr lang="en-US" sz="1600" kern="1200" dirty="0" err="1">
              <a:latin typeface="+mn-lt"/>
            </a:rPr>
            <a:t>monitoria</a:t>
          </a:r>
          <a:r>
            <a:rPr lang="en-US" sz="1600" kern="1200" dirty="0">
              <a:latin typeface="+mn-lt"/>
            </a:rPr>
            <a:t>, </a:t>
          </a:r>
          <a:r>
            <a:rPr lang="en-US" sz="1600" kern="1200" dirty="0" err="1">
              <a:latin typeface="+mn-lt"/>
            </a:rPr>
            <a:t>educação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comunitária</a:t>
          </a:r>
          <a:r>
            <a:rPr lang="en-US" sz="1600" kern="1200" dirty="0">
              <a:latin typeface="+mn-lt"/>
            </a:rPr>
            <a:t>, </a:t>
          </a:r>
          <a:r>
            <a:rPr lang="en-US" sz="1600" kern="1200" dirty="0" err="1">
              <a:latin typeface="+mn-lt"/>
            </a:rPr>
            <a:t>limpeza</a:t>
          </a:r>
          <a:r>
            <a:rPr lang="en-US" sz="1600" kern="1200" dirty="0">
              <a:latin typeface="+mn-lt"/>
            </a:rPr>
            <a:t> e </a:t>
          </a:r>
          <a:r>
            <a:rPr lang="en-US" sz="1600" kern="1200" dirty="0" err="1">
              <a:latin typeface="+mn-lt"/>
            </a:rPr>
            <a:t>vigilância</a:t>
          </a:r>
          <a:r>
            <a:rPr lang="en-US" sz="1600" kern="1200" dirty="0">
              <a:latin typeface="+mn-lt"/>
            </a:rPr>
            <a:t> da </a:t>
          </a:r>
          <a:r>
            <a:rPr lang="en-US" sz="1600" kern="1200" dirty="0" err="1">
              <a:latin typeface="+mn-lt"/>
            </a:rPr>
            <a:t>qualidade</a:t>
          </a:r>
          <a:r>
            <a:rPr lang="en-US" sz="1600" kern="1200" dirty="0">
              <a:latin typeface="+mn-lt"/>
            </a:rPr>
            <a:t> da </a:t>
          </a:r>
          <a:r>
            <a:rPr lang="en-US" sz="1600" kern="1200" dirty="0" err="1">
              <a:latin typeface="+mn-lt"/>
            </a:rPr>
            <a:t>água</a:t>
          </a:r>
          <a:r>
            <a:rPr lang="en-US" sz="1600" kern="1200" dirty="0">
              <a:latin typeface="+mn-lt"/>
            </a:rPr>
            <a:t>;</a:t>
          </a:r>
          <a:endParaRPr lang="en-US" sz="1600" b="0" kern="1200" dirty="0">
            <a:latin typeface="+mn-lt"/>
            <a:ea typeface="Calibri"/>
            <a:cs typeface="Calibri"/>
          </a:endParaRP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+mn-lt"/>
            </a:rPr>
            <a:t>• </a:t>
          </a:r>
          <a:r>
            <a:rPr lang="en-US" sz="1600" b="1" kern="1200" dirty="0" err="1">
              <a:latin typeface="+mn-lt"/>
            </a:rPr>
            <a:t>Prontidão</a:t>
          </a:r>
          <a:r>
            <a:rPr lang="en-US" sz="1600" b="1" kern="1200" dirty="0">
              <a:latin typeface="+mn-lt"/>
            </a:rPr>
            <a:t> para </a:t>
          </a:r>
          <a:r>
            <a:rPr lang="en-US" sz="1600" b="1" kern="1200" dirty="0" err="1">
              <a:latin typeface="+mn-lt"/>
            </a:rPr>
            <a:t>resposta</a:t>
          </a:r>
          <a:r>
            <a:rPr lang="en-US" sz="1600" b="1" kern="1200" dirty="0">
              <a:latin typeface="+mn-lt"/>
            </a:rPr>
            <a:t> a um eventual </a:t>
          </a:r>
          <a:r>
            <a:rPr lang="en-US" sz="1600" b="1" kern="1200" dirty="0" err="1">
              <a:latin typeface="+mn-lt"/>
            </a:rPr>
            <a:t>surto</a:t>
          </a:r>
          <a:r>
            <a:rPr lang="en-US" sz="1600" b="1" kern="1200" dirty="0">
              <a:latin typeface="+mn-lt"/>
            </a:rPr>
            <a:t> de </a:t>
          </a:r>
          <a:r>
            <a:rPr lang="en-US" sz="1600" b="1" kern="1200" dirty="0" err="1">
              <a:latin typeface="+mn-lt"/>
            </a:rPr>
            <a:t>Ébola</a:t>
          </a:r>
          <a:r>
            <a:rPr lang="en-US" sz="1600" kern="1200" dirty="0">
              <a:latin typeface="+mn-lt"/>
            </a:rPr>
            <a:t>: </a:t>
          </a:r>
          <a:r>
            <a:rPr lang="en-US" sz="1600" kern="1200" dirty="0" err="1">
              <a:latin typeface="+mn-lt"/>
            </a:rPr>
            <a:t>elaboração</a:t>
          </a:r>
          <a:r>
            <a:rPr lang="en-US" sz="1600" kern="1200" dirty="0">
              <a:latin typeface="+mn-lt"/>
            </a:rPr>
            <a:t> do Plano de </a:t>
          </a:r>
          <a:r>
            <a:rPr lang="en-US" sz="1600" kern="1200" dirty="0" err="1">
              <a:latin typeface="+mn-lt"/>
            </a:rPr>
            <a:t>Contingência</a:t>
          </a:r>
          <a:r>
            <a:rPr lang="en-US" sz="1600" kern="1200" dirty="0">
              <a:latin typeface="+mn-lt"/>
            </a:rPr>
            <a:t>.</a:t>
          </a:r>
          <a:endParaRPr lang="en-US" sz="1600" b="0" kern="1200" dirty="0">
            <a:latin typeface="+mn-lt"/>
            <a:ea typeface="Calibri"/>
            <a:cs typeface="Calibri"/>
          </a:endParaRPr>
        </a:p>
      </dsp:txBody>
      <dsp:txXfrm>
        <a:off x="586145" y="1848571"/>
        <a:ext cx="2883008" cy="2883008"/>
      </dsp:txXfrm>
    </dsp:sp>
    <dsp:sp modelId="{9F52C1BD-B4EB-4532-BAA8-62EE5BEDF8CA}">
      <dsp:nvSpPr>
        <dsp:cNvPr id="0" name=""/>
        <dsp:cNvSpPr/>
      </dsp:nvSpPr>
      <dsp:spPr>
        <a:xfrm rot="21583052">
          <a:off x="2919736" y="336492"/>
          <a:ext cx="518928" cy="502593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200" kern="1200"/>
        </a:p>
      </dsp:txBody>
      <dsp:txXfrm>
        <a:off x="2919737" y="437383"/>
        <a:ext cx="368150" cy="301555"/>
      </dsp:txXfrm>
    </dsp:sp>
    <dsp:sp modelId="{8555EACE-D5D9-4E0F-BDA0-9F5BAA965547}">
      <dsp:nvSpPr>
        <dsp:cNvPr id="0" name=""/>
        <dsp:cNvSpPr/>
      </dsp:nvSpPr>
      <dsp:spPr>
        <a:xfrm>
          <a:off x="3783444" y="89090"/>
          <a:ext cx="2300809" cy="230080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6000" b="-16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E2A4A08-2527-43B3-A5DB-DE29412E9AE9}">
      <dsp:nvSpPr>
        <dsp:cNvPr id="0" name=""/>
        <dsp:cNvSpPr/>
      </dsp:nvSpPr>
      <dsp:spPr>
        <a:xfrm>
          <a:off x="4209974" y="1672172"/>
          <a:ext cx="3062377" cy="30623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MALÁRIA</a:t>
          </a:r>
          <a:endParaRPr lang="pt-PT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Investigação</a:t>
          </a:r>
          <a:r>
            <a:rPr lang="en-US" sz="1600" b="1" kern="1200" dirty="0">
              <a:latin typeface="+mn-lt"/>
            </a:rPr>
            <a:t> de </a:t>
          </a:r>
          <a:r>
            <a:rPr lang="en-US" sz="1600" b="1" kern="1200" dirty="0" err="1">
              <a:latin typeface="+mn-lt"/>
            </a:rPr>
            <a:t>surto</a:t>
          </a:r>
          <a:r>
            <a:rPr lang="en-US" sz="1600" b="1" kern="1200" dirty="0">
              <a:latin typeface="+mn-lt"/>
            </a:rPr>
            <a:t> </a:t>
          </a:r>
          <a:r>
            <a:rPr lang="en-US" sz="1600" b="0" kern="1200" dirty="0">
              <a:latin typeface="+mn-lt"/>
            </a:rPr>
            <a:t>de </a:t>
          </a:r>
          <a:r>
            <a:rPr lang="en-US" sz="1600" b="0" kern="1200" dirty="0" err="1">
              <a:latin typeface="+mn-lt"/>
            </a:rPr>
            <a:t>malária</a:t>
          </a:r>
          <a:r>
            <a:rPr lang="en-US" sz="1600" b="0" kern="1200" dirty="0">
              <a:latin typeface="+mn-lt"/>
            </a:rPr>
            <a:t> </a:t>
          </a:r>
          <a:r>
            <a:rPr lang="en-US" sz="1600" b="0" kern="1200" dirty="0" err="1">
              <a:latin typeface="+mn-lt"/>
            </a:rPr>
            <a:t>em</a:t>
          </a:r>
          <a:r>
            <a:rPr lang="en-US" sz="1600" b="0" kern="1200" dirty="0">
              <a:latin typeface="+mn-lt"/>
            </a:rPr>
            <a:t> </a:t>
          </a:r>
          <a:r>
            <a:rPr lang="en-US" sz="1600" b="0" kern="1200" dirty="0" err="1">
              <a:latin typeface="+mn-lt"/>
            </a:rPr>
            <a:t>KaTembe</a:t>
          </a:r>
          <a:r>
            <a:rPr lang="en-US" sz="1600" b="0" kern="1200" dirty="0">
              <a:latin typeface="+mn-lt"/>
            </a:rPr>
            <a:t>;</a:t>
          </a:r>
          <a:endParaRPr lang="pt-PT" sz="1600" b="0" kern="1200" dirty="0">
            <a:latin typeface="+mn-lt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Controlo</a:t>
          </a:r>
          <a:r>
            <a:rPr lang="en-US" sz="1600" b="1" kern="1200" dirty="0">
              <a:latin typeface="+mn-lt"/>
            </a:rPr>
            <a:t> vectorial: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distribuição</a:t>
          </a:r>
          <a:r>
            <a:rPr lang="en-US" sz="1600" kern="1200" dirty="0">
              <a:latin typeface="+mn-lt"/>
            </a:rPr>
            <a:t> de redes </a:t>
          </a:r>
          <a:r>
            <a:rPr lang="en-US" sz="1600" kern="1200" dirty="0" err="1">
              <a:latin typeface="+mn-lt"/>
            </a:rPr>
            <a:t>mosquiteiras</a:t>
          </a:r>
          <a:r>
            <a:rPr lang="en-US" sz="1600" kern="1200" dirty="0">
              <a:latin typeface="+mn-lt"/>
            </a:rPr>
            <a:t> e PIDOM </a:t>
          </a:r>
          <a:r>
            <a:rPr lang="en-US" sz="1600" kern="1200" dirty="0" err="1">
              <a:latin typeface="+mn-lt"/>
            </a:rPr>
            <a:t>nos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centros</a:t>
          </a:r>
          <a:r>
            <a:rPr lang="en-US" sz="1600" kern="1200" dirty="0">
              <a:latin typeface="+mn-lt"/>
            </a:rPr>
            <a:t> de </a:t>
          </a:r>
          <a:r>
            <a:rPr lang="en-US" sz="1600" kern="1200" dirty="0" err="1">
              <a:latin typeface="+mn-lt"/>
            </a:rPr>
            <a:t>acomodação</a:t>
          </a:r>
          <a:r>
            <a:rPr lang="en-US" sz="1600" kern="1200" dirty="0">
              <a:latin typeface="+mn-lt"/>
            </a:rPr>
            <a:t> face à </a:t>
          </a:r>
          <a:r>
            <a:rPr lang="en-US" sz="1600" kern="1200" dirty="0" err="1">
              <a:latin typeface="+mn-lt"/>
            </a:rPr>
            <a:t>emergência</a:t>
          </a:r>
          <a:r>
            <a:rPr lang="en-US" sz="1600" kern="1200" dirty="0">
              <a:latin typeface="+mn-lt"/>
            </a:rPr>
            <a:t>;</a:t>
          </a:r>
          <a:endParaRPr lang="pt-PT" kern="1200" dirty="0">
            <a:latin typeface="+mn-lt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Actualização</a:t>
          </a:r>
          <a:r>
            <a:rPr lang="en-US" sz="1600" b="1" kern="1200" dirty="0">
              <a:latin typeface="+mn-lt"/>
            </a:rPr>
            <a:t> </a:t>
          </a:r>
          <a:r>
            <a:rPr lang="en-US" sz="1600" b="1" kern="1200" dirty="0" err="1">
              <a:latin typeface="+mn-lt"/>
            </a:rPr>
            <a:t>clínica</a:t>
          </a:r>
          <a:r>
            <a:rPr lang="en-US" sz="1600" b="1" kern="1200" dirty="0">
              <a:latin typeface="+mn-lt"/>
            </a:rPr>
            <a:t>: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divulgação</a:t>
          </a:r>
          <a:r>
            <a:rPr lang="en-US" sz="1600" kern="1200" dirty="0">
              <a:latin typeface="+mn-lt"/>
            </a:rPr>
            <a:t> das </a:t>
          </a:r>
          <a:r>
            <a:rPr lang="en-US" sz="1600" kern="1200" dirty="0" err="1">
              <a:latin typeface="+mn-lt"/>
            </a:rPr>
            <a:t>novas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normas</a:t>
          </a:r>
          <a:r>
            <a:rPr lang="en-US" sz="1600" kern="1200" dirty="0">
              <a:latin typeface="+mn-lt"/>
            </a:rPr>
            <a:t> de </a:t>
          </a:r>
          <a:r>
            <a:rPr lang="en-US" sz="1600" kern="1200" dirty="0" err="1">
              <a:latin typeface="+mn-lt"/>
            </a:rPr>
            <a:t>diagnóstico</a:t>
          </a:r>
          <a:r>
            <a:rPr lang="en-US" sz="1600" kern="1200" dirty="0">
              <a:latin typeface="+mn-lt"/>
            </a:rPr>
            <a:t> e </a:t>
          </a:r>
          <a:r>
            <a:rPr lang="en-US" sz="1600" kern="1200" dirty="0" err="1">
              <a:latin typeface="+mn-lt"/>
            </a:rPr>
            <a:t>tratamento</a:t>
          </a:r>
          <a:r>
            <a:rPr lang="en-US" sz="1600" kern="1200" dirty="0">
              <a:latin typeface="+mn-lt"/>
            </a:rPr>
            <a:t> da </a:t>
          </a:r>
          <a:r>
            <a:rPr lang="en-US" sz="1600" kern="1200" dirty="0" err="1">
              <a:latin typeface="+mn-lt"/>
            </a:rPr>
            <a:t>malária</a:t>
          </a:r>
          <a:r>
            <a:rPr lang="en-US" sz="1600" kern="1200" dirty="0">
              <a:latin typeface="+mn-lt"/>
            </a:rPr>
            <a:t>.</a:t>
          </a:r>
          <a:endParaRPr lang="pt-PT" kern="1200" dirty="0">
            <a:latin typeface="+mn-lt"/>
          </a:endParaRPr>
        </a:p>
      </dsp:txBody>
      <dsp:txXfrm>
        <a:off x="4299668" y="1761866"/>
        <a:ext cx="2882989" cy="2882989"/>
      </dsp:txXfrm>
    </dsp:sp>
    <dsp:sp modelId="{FD806352-3A0F-4551-A4E9-BCA5D3E80EDD}">
      <dsp:nvSpPr>
        <dsp:cNvPr id="0" name=""/>
        <dsp:cNvSpPr/>
      </dsp:nvSpPr>
      <dsp:spPr>
        <a:xfrm>
          <a:off x="6643902" y="988198"/>
          <a:ext cx="559648" cy="502593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200" kern="1200"/>
        </a:p>
      </dsp:txBody>
      <dsp:txXfrm>
        <a:off x="6643902" y="1088717"/>
        <a:ext cx="408870" cy="301555"/>
      </dsp:txXfrm>
    </dsp:sp>
    <dsp:sp modelId="{B28E8CCB-8A1C-43DD-87A1-851E643C4749}">
      <dsp:nvSpPr>
        <dsp:cNvPr id="0" name=""/>
        <dsp:cNvSpPr/>
      </dsp:nvSpPr>
      <dsp:spPr>
        <a:xfrm>
          <a:off x="7683249" y="89090"/>
          <a:ext cx="2300809" cy="230080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57DE41E-DC4C-4123-ADD7-EC1B1683E340}">
      <dsp:nvSpPr>
        <dsp:cNvPr id="0" name=""/>
        <dsp:cNvSpPr/>
      </dsp:nvSpPr>
      <dsp:spPr>
        <a:xfrm>
          <a:off x="7750121" y="1640358"/>
          <a:ext cx="3062377" cy="30623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b="1" kern="1200" dirty="0"/>
            <a:t>SAÚDE AMBIENTAL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err="1"/>
            <a:t>Vigilância</a:t>
          </a:r>
          <a:r>
            <a:rPr lang="en-US" sz="1600" b="1" kern="1200"/>
            <a:t> </a:t>
          </a:r>
          <a:r>
            <a:rPr lang="en-US" sz="1600" b="1" kern="1200" err="1"/>
            <a:t>ambiental</a:t>
          </a:r>
          <a:r>
            <a:rPr lang="en-US" sz="1600" b="1" kern="1200"/>
            <a:t>:</a:t>
          </a:r>
          <a:r>
            <a:rPr lang="en-US" sz="1600" kern="1200"/>
            <a:t> </a:t>
          </a:r>
          <a:r>
            <a:rPr lang="en-US" sz="1600" kern="1200" err="1"/>
            <a:t>instalação</a:t>
          </a:r>
          <a:r>
            <a:rPr lang="en-US" sz="1600" kern="1200"/>
            <a:t> de </a:t>
          </a:r>
          <a:r>
            <a:rPr lang="en-US" sz="1600" kern="1200" err="1"/>
            <a:t>sensores</a:t>
          </a:r>
          <a:r>
            <a:rPr lang="en-US" sz="1600" kern="1200"/>
            <a:t> para </a:t>
          </a:r>
          <a:r>
            <a:rPr lang="en-US" sz="1600" kern="1200" err="1"/>
            <a:t>monitoria</a:t>
          </a:r>
          <a:r>
            <a:rPr lang="en-US" sz="1600" kern="1200"/>
            <a:t> da </a:t>
          </a:r>
          <a:r>
            <a:rPr lang="en-US" sz="1600" kern="1200" err="1"/>
            <a:t>qualidade</a:t>
          </a:r>
          <a:r>
            <a:rPr lang="en-US" sz="1600" kern="1200"/>
            <a:t> do </a:t>
          </a:r>
          <a:r>
            <a:rPr lang="en-US" sz="1600" kern="1200" err="1"/>
            <a:t>ar</a:t>
          </a:r>
          <a:r>
            <a:rPr lang="en-US" sz="1600" kern="1200"/>
            <a:t> </a:t>
          </a:r>
          <a:r>
            <a:rPr lang="en-US" sz="1600" kern="1200" err="1"/>
            <a:t>em</a:t>
          </a:r>
          <a:r>
            <a:rPr lang="en-US" sz="1600" kern="1200"/>
            <a:t> 4 </a:t>
          </a:r>
          <a:r>
            <a:rPr lang="en-US" sz="1600" kern="1200" err="1"/>
            <a:t>unidades</a:t>
          </a:r>
          <a:r>
            <a:rPr lang="en-US" sz="1600" kern="1200"/>
            <a:t> </a:t>
          </a:r>
          <a:r>
            <a:rPr lang="en-US" sz="1600" kern="1200" err="1"/>
            <a:t>sanitárias</a:t>
          </a:r>
          <a:r>
            <a:rPr lang="en-US" sz="1600" kern="1200"/>
            <a:t>;</a:t>
          </a:r>
          <a:endParaRPr lang="pt-PT" sz="1600" b="1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dirty="0" err="1"/>
            <a:t>Avaliação</a:t>
          </a:r>
          <a:r>
            <a:rPr lang="en-US" sz="1600" b="1" kern="1200" dirty="0"/>
            <a:t> dos </a:t>
          </a:r>
          <a:r>
            <a:rPr lang="en-US" sz="1600" b="1" kern="1200" dirty="0" err="1"/>
            <a:t>pontos</a:t>
          </a:r>
          <a:r>
            <a:rPr lang="en-US" sz="1600" b="1" kern="1200" dirty="0"/>
            <a:t> de entrada (</a:t>
          </a:r>
          <a:r>
            <a:rPr lang="en-US" sz="1600" b="1" kern="1200" dirty="0" err="1"/>
            <a:t>aeroporto</a:t>
          </a:r>
          <a:r>
            <a:rPr lang="en-US" sz="1600" b="1" kern="1200" dirty="0"/>
            <a:t> e </a:t>
          </a:r>
          <a:r>
            <a:rPr lang="en-US" sz="1600" b="1" kern="1200" dirty="0" err="1"/>
            <a:t>porto</a:t>
          </a:r>
          <a:r>
            <a:rPr lang="en-US" sz="1600" b="1" kern="1200" dirty="0"/>
            <a:t>):</a:t>
          </a:r>
          <a:r>
            <a:rPr lang="en-US" sz="1600" kern="1200" dirty="0"/>
            <a:t> </a:t>
          </a:r>
          <a:r>
            <a:rPr lang="en-US" sz="1600" kern="1200" dirty="0" err="1"/>
            <a:t>prontidão</a:t>
          </a:r>
          <a:r>
            <a:rPr lang="en-US" sz="1600" kern="1200" dirty="0"/>
            <a:t> e </a:t>
          </a:r>
          <a:r>
            <a:rPr lang="en-US" sz="1600" kern="1200" dirty="0" err="1"/>
            <a:t>capacidade</a:t>
          </a:r>
          <a:r>
            <a:rPr lang="en-US" sz="1600" kern="1200" dirty="0"/>
            <a:t> de </a:t>
          </a:r>
          <a:r>
            <a:rPr lang="en-US" sz="1600" kern="1200" dirty="0" err="1"/>
            <a:t>resposta</a:t>
          </a:r>
          <a:r>
            <a:rPr lang="en-US" sz="1600" kern="1200" dirty="0"/>
            <a:t> a </a:t>
          </a:r>
          <a:r>
            <a:rPr lang="en-US" sz="1600" kern="1200" dirty="0" err="1"/>
            <a:t>emergências</a:t>
          </a:r>
          <a:r>
            <a:rPr lang="en-US" sz="1600" kern="1200" dirty="0"/>
            <a:t>, no </a:t>
          </a:r>
          <a:r>
            <a:rPr lang="en-US" sz="1600" kern="1200" dirty="0" err="1"/>
            <a:t>âmbito</a:t>
          </a:r>
          <a:r>
            <a:rPr lang="en-US" sz="1600" kern="1200" dirty="0"/>
            <a:t> do </a:t>
          </a:r>
          <a:r>
            <a:rPr lang="en-US" sz="1600" kern="1200" dirty="0" err="1"/>
            <a:t>Regulamento</a:t>
          </a:r>
          <a:r>
            <a:rPr lang="en-US" sz="1600" kern="1200" dirty="0"/>
            <a:t> </a:t>
          </a:r>
          <a:r>
            <a:rPr lang="en-US" sz="1600" kern="1200" dirty="0" err="1"/>
            <a:t>Sanitário</a:t>
          </a:r>
          <a:r>
            <a:rPr lang="en-US" sz="1600" kern="1200" dirty="0"/>
            <a:t> Internacional.</a:t>
          </a:r>
          <a:endParaRPr lang="pt-PT" sz="1600" b="1" kern="1200" dirty="0"/>
        </a:p>
      </dsp:txBody>
      <dsp:txXfrm>
        <a:off x="7839815" y="1730052"/>
        <a:ext cx="2882989" cy="2882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26D41-DB38-470D-9C95-A292E9779F45}">
      <dsp:nvSpPr>
        <dsp:cNvPr id="0" name=""/>
        <dsp:cNvSpPr/>
      </dsp:nvSpPr>
      <dsp:spPr>
        <a:xfrm>
          <a:off x="20762" y="147377"/>
          <a:ext cx="2289389" cy="2289389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/>
          <a:srcRect/>
          <a:stretch>
            <a:fillRect t="-72189" b="-43811"/>
          </a:stretch>
        </a:blip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CCEBE-90F0-44B7-BBEB-C0DABC804C05}">
      <dsp:nvSpPr>
        <dsp:cNvPr id="0" name=""/>
        <dsp:cNvSpPr/>
      </dsp:nvSpPr>
      <dsp:spPr>
        <a:xfrm>
          <a:off x="182371" y="1790746"/>
          <a:ext cx="3047177" cy="30471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Calibri"/>
              <a:cs typeface="Calibri"/>
            </a:rPr>
            <a:t>NUTRIÇÃO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>
              <a:latin typeface="+mn-lt"/>
            </a:rPr>
            <a:t>Brigadas</a:t>
          </a:r>
          <a:r>
            <a:rPr lang="en-US" sz="1600" b="1" kern="1200">
              <a:latin typeface="+mn-lt"/>
            </a:rPr>
            <a:t> </a:t>
          </a:r>
          <a:r>
            <a:rPr lang="en-US" sz="1600" b="1" kern="1200" err="1">
              <a:latin typeface="+mn-lt"/>
            </a:rPr>
            <a:t>móveis</a:t>
          </a:r>
          <a:r>
            <a:rPr lang="en-US" sz="1600" b="1" kern="1200">
              <a:latin typeface="+mn-lt"/>
            </a:rPr>
            <a:t>:</a:t>
          </a:r>
          <a:r>
            <a:rPr lang="en-US" sz="1600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suplementação</a:t>
          </a:r>
          <a:r>
            <a:rPr lang="en-US" sz="1600" kern="1200">
              <a:latin typeface="+mn-lt"/>
            </a:rPr>
            <a:t> com </a:t>
          </a:r>
          <a:r>
            <a:rPr lang="en-US" sz="1600" kern="1200" err="1">
              <a:latin typeface="+mn-lt"/>
            </a:rPr>
            <a:t>Vitamina</a:t>
          </a:r>
          <a:r>
            <a:rPr lang="en-US" sz="1600" kern="1200">
              <a:latin typeface="+mn-lt"/>
            </a:rPr>
            <a:t> A e </a:t>
          </a:r>
          <a:r>
            <a:rPr lang="en-US" sz="1600" kern="1200" err="1">
              <a:latin typeface="+mn-lt"/>
            </a:rPr>
            <a:t>desparasitação</a:t>
          </a:r>
          <a:r>
            <a:rPr lang="en-US" sz="1600" kern="1200">
              <a:latin typeface="+mn-lt"/>
            </a:rPr>
            <a:t> de </a:t>
          </a:r>
          <a:r>
            <a:rPr lang="en-US" sz="1600" kern="1200" err="1">
              <a:latin typeface="+mn-lt"/>
            </a:rPr>
            <a:t>crianças</a:t>
          </a:r>
          <a:r>
            <a:rPr lang="en-US" sz="1600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menores</a:t>
          </a:r>
          <a:r>
            <a:rPr lang="en-US" sz="1600" kern="1200">
              <a:latin typeface="+mn-lt"/>
            </a:rPr>
            <a:t> de </a:t>
          </a:r>
          <a:r>
            <a:rPr lang="en-US" sz="1600" kern="1200" err="1">
              <a:latin typeface="+mn-lt"/>
            </a:rPr>
            <a:t>cinco</a:t>
          </a:r>
          <a:r>
            <a:rPr lang="en-US" sz="1600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anos</a:t>
          </a:r>
          <a:r>
            <a:rPr lang="en-US" sz="1600" kern="1200">
              <a:latin typeface="+mn-lt"/>
            </a:rPr>
            <a:t>;</a:t>
          </a:r>
          <a:endParaRPr lang="pt-PT" sz="1600" b="0" kern="1200">
            <a:solidFill>
              <a:schemeClr val="tx1"/>
            </a:solidFill>
            <a:latin typeface="+mn-lt"/>
            <a:ea typeface="Calibri Light"/>
            <a:cs typeface="Calibri Ligh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Capacitação</a:t>
          </a:r>
          <a:r>
            <a:rPr lang="en-US" sz="1600" b="1" kern="1200" dirty="0">
              <a:latin typeface="+mn-lt"/>
            </a:rPr>
            <a:t> de </a:t>
          </a:r>
          <a:r>
            <a:rPr lang="en-US" sz="1600" b="1" kern="1200" dirty="0" err="1">
              <a:latin typeface="+mn-lt"/>
            </a:rPr>
            <a:t>clínicos</a:t>
          </a:r>
          <a:r>
            <a:rPr lang="en-US" sz="1600" b="1" kern="1200" dirty="0">
              <a:latin typeface="+mn-lt"/>
            </a:rPr>
            <a:t>: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manejo</a:t>
          </a:r>
          <a:r>
            <a:rPr lang="en-US" sz="1600" kern="1200" dirty="0">
              <a:latin typeface="+mn-lt"/>
            </a:rPr>
            <a:t> da </a:t>
          </a:r>
          <a:r>
            <a:rPr lang="en-US" sz="1600" kern="1200" dirty="0" err="1">
              <a:latin typeface="+mn-lt"/>
            </a:rPr>
            <a:t>desnutrição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aguda</a:t>
          </a:r>
          <a:r>
            <a:rPr lang="en-US" sz="1600" kern="1200" dirty="0">
              <a:latin typeface="+mn-lt"/>
            </a:rPr>
            <a:t> grave no </a:t>
          </a:r>
          <a:r>
            <a:rPr lang="en-US" sz="1600" kern="1200" dirty="0" err="1">
              <a:latin typeface="+mn-lt"/>
            </a:rPr>
            <a:t>internamento</a:t>
          </a:r>
          <a:r>
            <a:rPr lang="en-US" sz="1600" kern="1200" dirty="0">
              <a:latin typeface="+mn-lt"/>
            </a:rPr>
            <a:t>.</a:t>
          </a:r>
          <a:endParaRPr lang="pt-PT" sz="1600" b="0" kern="1200" dirty="0">
            <a:solidFill>
              <a:schemeClr val="tx1"/>
            </a:solidFill>
            <a:latin typeface="+mn-lt"/>
            <a:ea typeface="Calibri Light"/>
            <a:cs typeface="Calibri Light"/>
          </a:endParaRPr>
        </a:p>
      </dsp:txBody>
      <dsp:txXfrm>
        <a:off x="271620" y="1879995"/>
        <a:ext cx="2868679" cy="2868679"/>
      </dsp:txXfrm>
    </dsp:sp>
    <dsp:sp modelId="{3B046596-730C-423A-8F2D-6741F027A1C2}">
      <dsp:nvSpPr>
        <dsp:cNvPr id="0" name=""/>
        <dsp:cNvSpPr/>
      </dsp:nvSpPr>
      <dsp:spPr>
        <a:xfrm rot="21588402">
          <a:off x="2694029" y="1011213"/>
          <a:ext cx="383880" cy="550108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500" kern="1200"/>
        </a:p>
      </dsp:txBody>
      <dsp:txXfrm>
        <a:off x="2694029" y="1121429"/>
        <a:ext cx="268716" cy="330064"/>
      </dsp:txXfrm>
    </dsp:sp>
    <dsp:sp modelId="{1FB51B0C-7F3F-4B25-A1A7-C1AE0094AC4D}">
      <dsp:nvSpPr>
        <dsp:cNvPr id="0" name=""/>
        <dsp:cNvSpPr/>
      </dsp:nvSpPr>
      <dsp:spPr>
        <a:xfrm>
          <a:off x="3406947" y="135953"/>
          <a:ext cx="2289389" cy="22893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39000" r="-39000"/>
          </a:stretch>
        </a:blip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3986A2-6B22-4CAE-911C-9EBEB3BCD126}">
      <dsp:nvSpPr>
        <dsp:cNvPr id="0" name=""/>
        <dsp:cNvSpPr/>
      </dsp:nvSpPr>
      <dsp:spPr>
        <a:xfrm>
          <a:off x="4272476" y="1753750"/>
          <a:ext cx="3047177" cy="30471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rial Narrow" panose="020B0606020202030204" pitchFamily="34" charset="0"/>
              <a:ea typeface="Calibri"/>
              <a:cs typeface="Calibri"/>
            </a:rPr>
            <a:t>PAV</a:t>
          </a:r>
        </a:p>
        <a:p>
          <a:pPr marL="171450" lvl="1" indent="-171450" algn="just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/>
            <a:t>Brigadas</a:t>
          </a:r>
          <a:r>
            <a:rPr lang="en-US" sz="1600" b="1" kern="1200"/>
            <a:t> </a:t>
          </a:r>
          <a:r>
            <a:rPr lang="en-US" sz="1600" b="1" kern="1200" err="1"/>
            <a:t>móveis</a:t>
          </a:r>
          <a:r>
            <a:rPr lang="en-US" sz="1600" b="1" kern="1200"/>
            <a:t> de </a:t>
          </a:r>
          <a:r>
            <a:rPr lang="en-US" sz="1600" b="1" kern="1200" err="1"/>
            <a:t>vacinação</a:t>
          </a:r>
          <a:r>
            <a:rPr lang="en-US" sz="1600" b="1" kern="1200"/>
            <a:t>:</a:t>
          </a:r>
          <a:r>
            <a:rPr lang="en-US" sz="1600" kern="1200"/>
            <a:t> </a:t>
          </a:r>
          <a:r>
            <a:rPr lang="en-US" sz="1600" kern="1200" err="1"/>
            <a:t>recuperação</a:t>
          </a:r>
          <a:r>
            <a:rPr lang="en-US" sz="1600" kern="1200"/>
            <a:t> de </a:t>
          </a:r>
          <a:r>
            <a:rPr lang="en-US" sz="1600" kern="1200" err="1"/>
            <a:t>crianças</a:t>
          </a:r>
          <a:r>
            <a:rPr lang="en-US" sz="1600" kern="1200"/>
            <a:t> </a:t>
          </a:r>
          <a:r>
            <a:rPr lang="en-US" sz="1600" kern="1200" err="1"/>
            <a:t>faltosas</a:t>
          </a:r>
          <a:r>
            <a:rPr lang="en-US" sz="1600" kern="1200"/>
            <a:t> à </a:t>
          </a:r>
          <a:r>
            <a:rPr lang="en-US" sz="1600" kern="1200" err="1"/>
            <a:t>vacinação</a:t>
          </a:r>
          <a:r>
            <a:rPr lang="en-US" sz="1600" kern="1200"/>
            <a:t>.</a:t>
          </a:r>
          <a:endParaRPr lang="en-US" sz="1600" b="0" kern="1200">
            <a:latin typeface="Arial Narrow" panose="020B0606020202030204" pitchFamily="34" charset="0"/>
            <a:ea typeface="Calibri"/>
            <a:cs typeface="Calibri"/>
          </a:endParaRPr>
        </a:p>
        <a:p>
          <a:pPr marL="171450" lvl="1" indent="-171450" algn="just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/>
            <a:t>Fortalecimento</a:t>
          </a:r>
          <a:r>
            <a:rPr lang="en-US" sz="1600" b="1" kern="1200" dirty="0"/>
            <a:t> do PAV:</a:t>
          </a:r>
          <a:r>
            <a:rPr lang="en-US" sz="1600" kern="1200" dirty="0"/>
            <a:t> </a:t>
          </a:r>
          <a:r>
            <a:rPr lang="en-US" sz="1600" kern="1200" dirty="0" err="1"/>
            <a:t>reforço</a:t>
          </a:r>
          <a:r>
            <a:rPr lang="en-US" sz="1600" kern="1200" dirty="0"/>
            <a:t> da </a:t>
          </a:r>
          <a:r>
            <a:rPr lang="en-US" sz="1600" kern="1200" dirty="0" err="1"/>
            <a:t>cadeia</a:t>
          </a:r>
          <a:r>
            <a:rPr lang="en-US" sz="1600" kern="1200" dirty="0"/>
            <a:t> de </a:t>
          </a:r>
          <a:r>
            <a:rPr lang="en-US" sz="1600" kern="1200" dirty="0" err="1"/>
            <a:t>frio</a:t>
          </a:r>
          <a:r>
            <a:rPr lang="en-US" sz="1600" kern="1200" dirty="0"/>
            <a:t> com </a:t>
          </a:r>
          <a:r>
            <a:rPr lang="en-US" sz="1600" kern="1200" dirty="0" err="1"/>
            <a:t>alocação</a:t>
          </a:r>
          <a:r>
            <a:rPr lang="en-US" sz="1600" kern="1200" dirty="0"/>
            <a:t> de </a:t>
          </a:r>
          <a:r>
            <a:rPr lang="en-US" sz="1600" kern="1200" dirty="0" err="1"/>
            <a:t>geleiras</a:t>
          </a:r>
          <a:r>
            <a:rPr lang="en-US" sz="1600" kern="1200" dirty="0"/>
            <a:t> e </a:t>
          </a:r>
          <a:r>
            <a:rPr lang="en-US" sz="1600" kern="1200" dirty="0" err="1"/>
            <a:t>manutenção</a:t>
          </a:r>
          <a:r>
            <a:rPr lang="en-US" sz="1600" kern="1200" dirty="0"/>
            <a:t> </a:t>
          </a:r>
          <a:r>
            <a:rPr lang="en-US" sz="1600" kern="1200" dirty="0" err="1"/>
            <a:t>preventiva</a:t>
          </a:r>
          <a:r>
            <a:rPr lang="en-US" sz="1600" kern="1200" dirty="0"/>
            <a:t>. </a:t>
          </a:r>
          <a:endParaRPr lang="en-US" sz="1600" b="0" kern="1200" dirty="0">
            <a:latin typeface="Arial Narrow" panose="020B0606020202030204" pitchFamily="34" charset="0"/>
            <a:ea typeface="Calibri"/>
            <a:cs typeface="Calibri"/>
          </a:endParaRPr>
        </a:p>
        <a:p>
          <a:pPr marL="171450" lvl="1" indent="-171450" algn="just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/>
            <a:t>Reforço</a:t>
          </a:r>
          <a:r>
            <a:rPr lang="en-US" sz="1600" b="1" kern="1200"/>
            <a:t> da </a:t>
          </a:r>
          <a:r>
            <a:rPr lang="en-US" sz="1600" b="1" kern="1200" err="1"/>
            <a:t>supervisão</a:t>
          </a:r>
          <a:r>
            <a:rPr lang="en-US" sz="1600" b="1" kern="1200"/>
            <a:t> do PAV:</a:t>
          </a:r>
          <a:r>
            <a:rPr lang="en-US" sz="1600" kern="1200"/>
            <a:t> </a:t>
          </a:r>
          <a:r>
            <a:rPr lang="en-US" sz="1600" kern="1200" err="1"/>
            <a:t>alocação</a:t>
          </a:r>
          <a:r>
            <a:rPr lang="en-US" sz="1600" kern="1200"/>
            <a:t> de duas </a:t>
          </a:r>
          <a:r>
            <a:rPr lang="en-US" sz="1600" kern="1200" err="1"/>
            <a:t>motorizadas</a:t>
          </a:r>
          <a:r>
            <a:rPr lang="en-US" sz="1600" kern="1200"/>
            <a:t> para </a:t>
          </a:r>
          <a:r>
            <a:rPr lang="en-US" sz="1600" kern="1200" err="1"/>
            <a:t>os</a:t>
          </a:r>
          <a:r>
            <a:rPr lang="en-US" sz="1600" kern="1200"/>
            <a:t> </a:t>
          </a:r>
          <a:r>
            <a:rPr lang="en-US" sz="1600" kern="1200" err="1"/>
            <a:t>gestores</a:t>
          </a:r>
          <a:r>
            <a:rPr lang="en-US" sz="1600" kern="1200"/>
            <a:t> </a:t>
          </a:r>
          <a:r>
            <a:rPr lang="en-US" sz="1600" kern="1200" err="1"/>
            <a:t>programáticos</a:t>
          </a:r>
          <a:r>
            <a:rPr lang="en-US" sz="1600" kern="1200"/>
            <a:t>. </a:t>
          </a:r>
          <a:endParaRPr lang="en-US" sz="1600" b="0" kern="1200">
            <a:latin typeface="Arial Narrow" panose="020B0606020202030204" pitchFamily="34" charset="0"/>
            <a:ea typeface="Calibri"/>
            <a:cs typeface="Calibri"/>
          </a:endParaRPr>
        </a:p>
      </dsp:txBody>
      <dsp:txXfrm>
        <a:off x="4361725" y="1842999"/>
        <a:ext cx="2868679" cy="2868679"/>
      </dsp:txXfrm>
    </dsp:sp>
    <dsp:sp modelId="{AAFF0E38-A8DE-4205-BCAE-77D7EE9EDEEB}">
      <dsp:nvSpPr>
        <dsp:cNvPr id="0" name=""/>
        <dsp:cNvSpPr/>
      </dsp:nvSpPr>
      <dsp:spPr>
        <a:xfrm rot="21518918">
          <a:off x="6328374" y="956222"/>
          <a:ext cx="632301" cy="550108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500" kern="1200"/>
        </a:p>
      </dsp:txBody>
      <dsp:txXfrm>
        <a:off x="6328397" y="1068190"/>
        <a:ext cx="467269" cy="330064"/>
      </dsp:txXfrm>
    </dsp:sp>
    <dsp:sp modelId="{82CDE388-5DB7-4D36-BC54-857D871FF3A9}">
      <dsp:nvSpPr>
        <dsp:cNvPr id="0" name=""/>
        <dsp:cNvSpPr/>
      </dsp:nvSpPr>
      <dsp:spPr>
        <a:xfrm>
          <a:off x="7502409" y="39340"/>
          <a:ext cx="2289389" cy="22893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29000" r="-29000"/>
          </a:stretch>
        </a:blip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BFE08-C282-4900-AFDA-A157C4681C19}">
      <dsp:nvSpPr>
        <dsp:cNvPr id="0" name=""/>
        <dsp:cNvSpPr/>
      </dsp:nvSpPr>
      <dsp:spPr>
        <a:xfrm>
          <a:off x="7878556" y="1758260"/>
          <a:ext cx="3047177" cy="30471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/>
              <a:cs typeface="Calibri"/>
            </a:rPr>
            <a:t>HIV/SIDA</a:t>
          </a:r>
          <a:endParaRPr lang="en-US" sz="1600" kern="1200">
            <a:latin typeface="+mn-lt"/>
            <a:ea typeface="Calibri"/>
            <a:cs typeface="Calibri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>
              <a:latin typeface="+mn-lt"/>
            </a:rPr>
            <a:t>Introdução</a:t>
          </a:r>
          <a:r>
            <a:rPr lang="en-US" sz="1600" b="1" kern="1200">
              <a:latin typeface="+mn-lt"/>
            </a:rPr>
            <a:t> da </a:t>
          </a:r>
          <a:r>
            <a:rPr lang="en-US" sz="1600" b="1" kern="1200" err="1">
              <a:latin typeface="+mn-lt"/>
            </a:rPr>
            <a:t>PrEP</a:t>
          </a:r>
          <a:r>
            <a:rPr lang="en-US" sz="1600" b="1" kern="1200">
              <a:latin typeface="+mn-lt"/>
            </a:rPr>
            <a:t> </a:t>
          </a:r>
          <a:r>
            <a:rPr lang="en-US" sz="1600" b="1" kern="1200" err="1">
              <a:latin typeface="+mn-lt"/>
            </a:rPr>
            <a:t>injectável</a:t>
          </a:r>
          <a:r>
            <a:rPr lang="en-US" sz="1600" b="1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em</a:t>
          </a:r>
          <a:r>
            <a:rPr lang="en-US" sz="1600" kern="1200">
              <a:latin typeface="+mn-lt"/>
            </a:rPr>
            <a:t> 17 </a:t>
          </a:r>
          <a:r>
            <a:rPr lang="en-US" sz="1600" kern="1200" err="1">
              <a:latin typeface="+mn-lt"/>
            </a:rPr>
            <a:t>Unidades</a:t>
          </a:r>
          <a:r>
            <a:rPr lang="en-US" sz="1600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Sanitárias</a:t>
          </a:r>
          <a:r>
            <a:rPr lang="en-US" sz="1600" kern="1200">
              <a:latin typeface="+mn-lt"/>
            </a:rPr>
            <a:t>;</a:t>
          </a:r>
          <a:endParaRPr lang="en-US" sz="1600" b="0" kern="1200">
            <a:latin typeface="+mn-lt"/>
            <a:ea typeface="Calibri"/>
            <a:cs typeface="Calibri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/>
            <a:t>Constituição</a:t>
          </a:r>
          <a:r>
            <a:rPr lang="en-US" sz="1600" b="1" kern="1200" dirty="0"/>
            <a:t> do </a:t>
          </a:r>
          <a:r>
            <a:rPr lang="en-US" sz="1600" b="1" kern="1200" dirty="0" err="1"/>
            <a:t>Comité</a:t>
          </a:r>
          <a:r>
            <a:rPr lang="en-US" sz="1600" b="1" kern="1200" dirty="0"/>
            <a:t> Provincial</a:t>
          </a:r>
          <a:r>
            <a:rPr lang="en-US" sz="1600" kern="1200" dirty="0"/>
            <a:t> para </a:t>
          </a:r>
          <a:r>
            <a:rPr lang="en-US" sz="1600" kern="1200" dirty="0" err="1"/>
            <a:t>validação</a:t>
          </a:r>
          <a:r>
            <a:rPr lang="en-US" sz="1600" kern="1200" dirty="0"/>
            <a:t> da </a:t>
          </a:r>
          <a:r>
            <a:rPr lang="en-US" sz="1600" kern="1200" dirty="0" err="1"/>
            <a:t>Tripla</a:t>
          </a:r>
          <a:r>
            <a:rPr lang="en-US" sz="1600" kern="1200" dirty="0"/>
            <a:t> </a:t>
          </a:r>
          <a:r>
            <a:rPr lang="en-US" sz="1600" kern="1200" dirty="0" err="1"/>
            <a:t>Eliminação</a:t>
          </a:r>
          <a:r>
            <a:rPr lang="en-US" sz="1600" kern="1200" dirty="0"/>
            <a:t> da </a:t>
          </a:r>
          <a:r>
            <a:rPr lang="en-US" sz="1600" kern="1200" dirty="0" err="1"/>
            <a:t>transmissão</a:t>
          </a:r>
          <a:r>
            <a:rPr lang="en-US" sz="1600" kern="1200" dirty="0"/>
            <a:t> vertical do HIV, </a:t>
          </a:r>
          <a:r>
            <a:rPr lang="en-US" sz="1600" kern="1200" dirty="0" err="1"/>
            <a:t>Sífilis</a:t>
          </a:r>
          <a:r>
            <a:rPr lang="en-US" sz="1600" kern="1200" dirty="0"/>
            <a:t> e </a:t>
          </a:r>
          <a:r>
            <a:rPr lang="en-US" sz="1600" kern="1200" dirty="0" err="1"/>
            <a:t>Hepatite</a:t>
          </a:r>
          <a:r>
            <a:rPr lang="en-US" sz="1600" kern="1200" dirty="0"/>
            <a:t> B. </a:t>
          </a:r>
          <a:endParaRPr lang="en-US" sz="1600" b="0" kern="1200" dirty="0">
            <a:latin typeface="+mn-lt"/>
            <a:ea typeface="Calibri"/>
            <a:cs typeface="Calibri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/>
            <a:t>Reforço</a:t>
          </a:r>
          <a:r>
            <a:rPr lang="en-US" sz="1600" b="1" kern="1200"/>
            <a:t> da </a:t>
          </a:r>
          <a:r>
            <a:rPr lang="en-US" sz="1600" b="1" kern="1200" err="1"/>
            <a:t>capacidade</a:t>
          </a:r>
          <a:r>
            <a:rPr lang="en-US" sz="1600" b="1" kern="1200"/>
            <a:t> para </a:t>
          </a:r>
          <a:r>
            <a:rPr lang="en-US" sz="1600" b="1" kern="1200" err="1"/>
            <a:t>tratamento</a:t>
          </a:r>
          <a:r>
            <a:rPr lang="en-US" sz="1600" b="1" kern="1200"/>
            <a:t> do Sarcoma de Kaposi</a:t>
          </a:r>
          <a:r>
            <a:rPr lang="en-US" sz="1600" kern="1200"/>
            <a:t> </a:t>
          </a:r>
          <a:r>
            <a:rPr lang="en-US" sz="1600" kern="1200" err="1"/>
            <a:t>nos</a:t>
          </a:r>
          <a:r>
            <a:rPr lang="en-US" sz="1600" kern="1200"/>
            <a:t> </a:t>
          </a:r>
          <a:r>
            <a:rPr lang="en-US" sz="1600" kern="1200" err="1"/>
            <a:t>Hospitais</a:t>
          </a:r>
          <a:r>
            <a:rPr lang="en-US" sz="1600" kern="1200"/>
            <a:t> Gerais José </a:t>
          </a:r>
          <a:r>
            <a:rPr lang="en-US" sz="1600" kern="1200" err="1"/>
            <a:t>Macamo</a:t>
          </a:r>
          <a:r>
            <a:rPr lang="en-US" sz="1600" kern="1200"/>
            <a:t> e </a:t>
          </a:r>
          <a:r>
            <a:rPr lang="en-US" sz="1600" kern="1200" err="1"/>
            <a:t>Mavalane</a:t>
          </a:r>
          <a:r>
            <a:rPr lang="en-US" sz="1600" kern="1200"/>
            <a:t>.</a:t>
          </a:r>
          <a:endParaRPr lang="en-US" sz="1600" b="0" kern="1200">
            <a:latin typeface="+mn-lt"/>
            <a:ea typeface="Calibri"/>
            <a:cs typeface="Calibri"/>
          </a:endParaRPr>
        </a:p>
      </dsp:txBody>
      <dsp:txXfrm>
        <a:off x="7967805" y="1847509"/>
        <a:ext cx="2868679" cy="28686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1781E-D432-43EA-84FE-F298A6CA0956}">
      <dsp:nvSpPr>
        <dsp:cNvPr id="0" name=""/>
        <dsp:cNvSpPr/>
      </dsp:nvSpPr>
      <dsp:spPr>
        <a:xfrm>
          <a:off x="0" y="0"/>
          <a:ext cx="2978367" cy="1554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>
              <a:latin typeface="Arial Narrow"/>
              <a:cs typeface="Calibri"/>
            </a:rPr>
            <a:t>Programa</a:t>
          </a:r>
          <a:r>
            <a:rPr lang="en-US" sz="2400" b="1" kern="1200">
              <a:latin typeface="Arial Narrow"/>
              <a:cs typeface="Calibri"/>
            </a:rPr>
            <a:t> de </a:t>
          </a:r>
          <a:r>
            <a:rPr lang="en-US" sz="2400" b="1" kern="1200" err="1">
              <a:latin typeface="Arial Narrow"/>
              <a:cs typeface="Calibri"/>
            </a:rPr>
            <a:t>Saúde</a:t>
          </a:r>
          <a:r>
            <a:rPr lang="en-US" sz="2400" b="1" kern="1200">
              <a:latin typeface="Arial Narrow"/>
              <a:cs typeface="Calibri"/>
            </a:rPr>
            <a:t> Materno </a:t>
          </a:r>
          <a:r>
            <a:rPr lang="en-US" sz="2400" b="1" kern="1200" err="1">
              <a:latin typeface="Arial Narrow"/>
              <a:cs typeface="Calibri"/>
            </a:rPr>
            <a:t>Infantil</a:t>
          </a:r>
          <a:endParaRPr lang="en-US" sz="2400" b="0" kern="1200">
            <a:latin typeface="Arial Narrow"/>
          </a:endParaRPr>
        </a:p>
      </dsp:txBody>
      <dsp:txXfrm>
        <a:off x="0" y="0"/>
        <a:ext cx="2978367" cy="1554982"/>
      </dsp:txXfrm>
    </dsp:sp>
    <dsp:sp modelId="{8206C75E-911A-4D9C-AEF0-51AE13096102}">
      <dsp:nvSpPr>
        <dsp:cNvPr id="0" name=""/>
        <dsp:cNvSpPr/>
      </dsp:nvSpPr>
      <dsp:spPr>
        <a:xfrm>
          <a:off x="3281500" y="0"/>
          <a:ext cx="7555039" cy="15101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 Narrow" panose="020B0606020202030204" pitchFamily="34" charset="0"/>
            </a:rPr>
            <a:t>1. </a:t>
          </a:r>
          <a:r>
            <a:rPr lang="en-US" sz="2000" kern="1200" err="1">
              <a:latin typeface="Arial Narrow" panose="020B0606020202030204" pitchFamily="34" charset="0"/>
            </a:rPr>
            <a:t>Reforço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qualidade</a:t>
          </a:r>
          <a:r>
            <a:rPr lang="en-US" sz="2000" kern="1200">
              <a:latin typeface="Arial Narrow" panose="020B0606020202030204" pitchFamily="34" charset="0"/>
            </a:rPr>
            <a:t> dos </a:t>
          </a:r>
          <a:r>
            <a:rPr lang="en-US" sz="2000" kern="1200" err="1">
              <a:latin typeface="Arial Narrow" panose="020B0606020202030204" pitchFamily="34" charset="0"/>
            </a:rPr>
            <a:t>cuidados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obstétricos</a:t>
          </a:r>
          <a:r>
            <a:rPr lang="en-US" sz="2000" kern="1200">
              <a:latin typeface="Arial Narrow" panose="020B0606020202030204" pitchFamily="34" charset="0"/>
            </a:rPr>
            <a:t> e </a:t>
          </a:r>
          <a:r>
            <a:rPr lang="en-US" sz="2000" kern="1200" err="1">
              <a:latin typeface="Arial Narrow" panose="020B0606020202030204" pitchFamily="34" charset="0"/>
            </a:rPr>
            <a:t>neonatais</a:t>
          </a:r>
          <a:r>
            <a:rPr lang="en-US" sz="2000" kern="1200">
              <a:latin typeface="Arial Narrow" panose="020B0606020202030204" pitchFamily="34" charset="0"/>
            </a:rPr>
            <a:t>;</a:t>
          </a:r>
        </a:p>
        <a:p>
          <a:pPr marL="0" lvl="0" indent="0" algn="ctr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 Narrow" panose="020B0606020202030204" pitchFamily="34" charset="0"/>
            </a:rPr>
            <a:t>2. </a:t>
          </a:r>
          <a:r>
            <a:rPr lang="en-US" sz="2000" kern="1200" err="1">
              <a:latin typeface="Arial Narrow" panose="020B0606020202030204" pitchFamily="34" charset="0"/>
            </a:rPr>
            <a:t>Reforço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prevenção</a:t>
          </a:r>
          <a:r>
            <a:rPr lang="en-US" sz="2000" kern="1200">
              <a:latin typeface="Arial Narrow" panose="020B0606020202030204" pitchFamily="34" charset="0"/>
            </a:rPr>
            <a:t> do </a:t>
          </a:r>
          <a:r>
            <a:rPr lang="en-US" sz="2000" kern="1200" err="1">
              <a:latin typeface="Arial Narrow" panose="020B0606020202030204" pitchFamily="34" charset="0"/>
            </a:rPr>
            <a:t>cancro</a:t>
          </a:r>
          <a:r>
            <a:rPr lang="en-US" sz="2000" kern="1200">
              <a:latin typeface="Arial Narrow" panose="020B0606020202030204" pitchFamily="34" charset="0"/>
            </a:rPr>
            <a:t> do </a:t>
          </a:r>
          <a:r>
            <a:rPr lang="en-US" sz="2000" kern="1200" err="1">
              <a:latin typeface="Arial Narrow" panose="020B0606020202030204" pitchFamily="34" charset="0"/>
            </a:rPr>
            <a:t>colo</a:t>
          </a:r>
          <a:r>
            <a:rPr lang="en-US" sz="2000" kern="1200">
              <a:latin typeface="Arial Narrow" panose="020B0606020202030204" pitchFamily="34" charset="0"/>
            </a:rPr>
            <a:t> do </a:t>
          </a:r>
          <a:r>
            <a:rPr lang="en-US" sz="2000" kern="1200" err="1">
              <a:latin typeface="Arial Narrow" panose="020B0606020202030204" pitchFamily="34" charset="0"/>
            </a:rPr>
            <a:t>útero</a:t>
          </a:r>
          <a:r>
            <a:rPr lang="en-US" sz="2000" kern="1200">
              <a:latin typeface="Arial Narrow" panose="020B0606020202030204" pitchFamily="34" charset="0"/>
            </a:rPr>
            <a:t> (CACUM).</a:t>
          </a:r>
          <a:endParaRPr lang="en-US" sz="2200" b="0" kern="1200">
            <a:latin typeface="Arial Narrow" panose="020B0606020202030204" pitchFamily="34" charset="0"/>
            <a:cs typeface="Calibri"/>
          </a:endParaRPr>
        </a:p>
      </dsp:txBody>
      <dsp:txXfrm>
        <a:off x="3281500" y="0"/>
        <a:ext cx="7555039" cy="1510181"/>
      </dsp:txXfrm>
    </dsp:sp>
    <dsp:sp modelId="{AA3351DE-A3F9-41F3-9150-CDFD70D34B18}">
      <dsp:nvSpPr>
        <dsp:cNvPr id="0" name=""/>
        <dsp:cNvSpPr/>
      </dsp:nvSpPr>
      <dsp:spPr>
        <a:xfrm>
          <a:off x="130215" y="1857328"/>
          <a:ext cx="3009145" cy="17842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FF00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>
              <a:latin typeface="Arial Narrow"/>
              <a:cs typeface="Calibri"/>
            </a:rPr>
            <a:t>Programa de Nutrição</a:t>
          </a:r>
          <a:endParaRPr lang="pt-PT" sz="2400" b="0" kern="1200">
            <a:latin typeface="Arial Narrow"/>
          </a:endParaRPr>
        </a:p>
      </dsp:txBody>
      <dsp:txXfrm>
        <a:off x="130215" y="1857328"/>
        <a:ext cx="3009145" cy="1784219"/>
      </dsp:txXfrm>
    </dsp:sp>
    <dsp:sp modelId="{1C5C5B81-FA5C-4474-8754-9FB51D6FD8E3}">
      <dsp:nvSpPr>
        <dsp:cNvPr id="0" name=""/>
        <dsp:cNvSpPr/>
      </dsp:nvSpPr>
      <dsp:spPr>
        <a:xfrm>
          <a:off x="3436730" y="1853760"/>
          <a:ext cx="7269593" cy="17913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FF00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b="1" kern="1200">
              <a:latin typeface="Arial Narrow" panose="020B0606020202030204" pitchFamily="34" charset="0"/>
            </a:rPr>
            <a:t>1. </a:t>
          </a:r>
          <a:r>
            <a:rPr lang="en-US" sz="2000" kern="1200" err="1">
              <a:latin typeface="Arial Narrow" panose="020B0606020202030204" pitchFamily="34" charset="0"/>
            </a:rPr>
            <a:t>Capacitação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em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manejo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ambulatório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desnutrição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aguda</a:t>
          </a:r>
          <a:r>
            <a:rPr lang="en-US" sz="2000" kern="1200">
              <a:latin typeface="Arial Narrow" panose="020B0606020202030204" pitchFamily="34" charset="0"/>
            </a:rPr>
            <a:t>;</a:t>
          </a:r>
          <a:br>
            <a:rPr lang="en-US" sz="2000" kern="1200">
              <a:latin typeface="Arial Narrow" panose="020B0606020202030204" pitchFamily="34" charset="0"/>
            </a:rPr>
          </a:br>
          <a:r>
            <a:rPr lang="en-US" sz="2000" b="1" kern="1200">
              <a:latin typeface="Arial Narrow" panose="020B0606020202030204" pitchFamily="34" charset="0"/>
            </a:rPr>
            <a:t>2. </a:t>
          </a:r>
          <a:r>
            <a:rPr lang="en-US" sz="2000" kern="1200" err="1">
              <a:latin typeface="Arial Narrow" panose="020B0606020202030204" pitchFamily="34" charset="0"/>
            </a:rPr>
            <a:t>Reforço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cobertura</a:t>
          </a:r>
          <a:r>
            <a:rPr lang="en-US" sz="2000" kern="1200">
              <a:latin typeface="Arial Narrow" panose="020B0606020202030204" pitchFamily="34" charset="0"/>
            </a:rPr>
            <a:t> das </a:t>
          </a:r>
          <a:r>
            <a:rPr lang="en-US" sz="2000" kern="1200" err="1">
              <a:latin typeface="Arial Narrow" panose="020B0606020202030204" pitchFamily="34" charset="0"/>
            </a:rPr>
            <a:t>intervenções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comunitárias</a:t>
          </a:r>
          <a:r>
            <a:rPr lang="en-US" sz="2000" kern="1200">
              <a:latin typeface="Arial Narrow" panose="020B0606020202030204" pitchFamily="34" charset="0"/>
            </a:rPr>
            <a:t>.</a:t>
          </a:r>
          <a:endParaRPr lang="pt-PT" sz="2000" b="0" kern="1200">
            <a:latin typeface="Arial Narrow" panose="020B0606020202030204" pitchFamily="34" charset="0"/>
            <a:cs typeface="Calibri"/>
          </a:endParaRPr>
        </a:p>
      </dsp:txBody>
      <dsp:txXfrm>
        <a:off x="3436730" y="1853760"/>
        <a:ext cx="7269593" cy="1791356"/>
      </dsp:txXfrm>
    </dsp:sp>
    <dsp:sp modelId="{894C2E82-6835-4FFE-877B-835AA4ADD5FD}">
      <dsp:nvSpPr>
        <dsp:cNvPr id="0" name=""/>
        <dsp:cNvSpPr/>
      </dsp:nvSpPr>
      <dsp:spPr>
        <a:xfrm>
          <a:off x="0" y="3871438"/>
          <a:ext cx="2978367" cy="1554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3803B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err="1">
              <a:latin typeface="Arial Narrow"/>
              <a:cs typeface="Calibri"/>
            </a:rPr>
            <a:t>Programa</a:t>
          </a:r>
          <a:r>
            <a:rPr lang="en-US" sz="2200" b="1" kern="1200">
              <a:latin typeface="Arial Narrow"/>
              <a:cs typeface="Calibri"/>
            </a:rPr>
            <a:t> </a:t>
          </a:r>
          <a:r>
            <a:rPr lang="en-US" sz="2200" b="1" kern="1200" err="1">
              <a:latin typeface="Arial Narrow"/>
              <a:cs typeface="Calibri"/>
            </a:rPr>
            <a:t>Alargado</a:t>
          </a:r>
          <a:r>
            <a:rPr lang="en-US" sz="2200" b="1" kern="1200">
              <a:latin typeface="Arial Narrow"/>
              <a:cs typeface="Calibri"/>
            </a:rPr>
            <a:t> de </a:t>
          </a:r>
          <a:r>
            <a:rPr lang="en-US" sz="2200" b="1" kern="1200" err="1">
              <a:latin typeface="Arial Narrow"/>
              <a:cs typeface="Calibri"/>
            </a:rPr>
            <a:t>Vacinação</a:t>
          </a:r>
          <a:endParaRPr lang="pt-PT" sz="2200" b="0" kern="1200">
            <a:latin typeface="Arial Narrow"/>
            <a:cs typeface="Calibri"/>
          </a:endParaRPr>
        </a:p>
      </dsp:txBody>
      <dsp:txXfrm>
        <a:off x="0" y="3871438"/>
        <a:ext cx="2978367" cy="1554982"/>
      </dsp:txXfrm>
    </dsp:sp>
    <dsp:sp modelId="{F6F00C42-BE6C-4B0E-926D-08C7AE131764}">
      <dsp:nvSpPr>
        <dsp:cNvPr id="0" name=""/>
        <dsp:cNvSpPr/>
      </dsp:nvSpPr>
      <dsp:spPr>
        <a:xfrm>
          <a:off x="3435898" y="3901458"/>
          <a:ext cx="7284610" cy="15101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3803B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 Narrow" panose="020B0606020202030204" pitchFamily="34" charset="0"/>
            </a:rPr>
            <a:t>1. </a:t>
          </a:r>
          <a:r>
            <a:rPr lang="en-US" sz="2000" kern="1200" err="1">
              <a:latin typeface="Arial Narrow" panose="020B0606020202030204" pitchFamily="34" charset="0"/>
            </a:rPr>
            <a:t>Recuperação</a:t>
          </a:r>
          <a:r>
            <a:rPr lang="en-US" sz="2000" kern="1200">
              <a:latin typeface="Arial Narrow" panose="020B0606020202030204" pitchFamily="34" charset="0"/>
            </a:rPr>
            <a:t> de </a:t>
          </a:r>
          <a:r>
            <a:rPr lang="en-US" sz="2000" kern="1200" err="1">
              <a:latin typeface="Arial Narrow" panose="020B0606020202030204" pitchFamily="34" charset="0"/>
            </a:rPr>
            <a:t>crianças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faltosas</a:t>
          </a:r>
          <a:r>
            <a:rPr lang="en-US" sz="2000" kern="1200">
              <a:latin typeface="Arial Narrow" panose="020B0606020202030204" pitchFamily="34" charset="0"/>
            </a:rPr>
            <a:t> à </a:t>
          </a:r>
          <a:r>
            <a:rPr lang="en-US" sz="2000" kern="1200" err="1">
              <a:latin typeface="Arial Narrow" panose="020B0606020202030204" pitchFamily="34" charset="0"/>
            </a:rPr>
            <a:t>vacinação</a:t>
          </a:r>
          <a:r>
            <a:rPr lang="en-US" sz="2000" kern="1200">
              <a:latin typeface="Arial Narrow" panose="020B0606020202030204" pitchFamily="34" charset="0"/>
            </a:rPr>
            <a:t>;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 Narrow" panose="020B0606020202030204" pitchFamily="34" charset="0"/>
            </a:rPr>
            <a:t>2. </a:t>
          </a:r>
          <a:r>
            <a:rPr lang="en-US" sz="2000" kern="1200" err="1">
              <a:latin typeface="Arial Narrow" panose="020B0606020202030204" pitchFamily="34" charset="0"/>
            </a:rPr>
            <a:t>Expansão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monitoria</a:t>
          </a:r>
          <a:r>
            <a:rPr lang="en-US" sz="2000" kern="1200">
              <a:latin typeface="Arial Narrow" panose="020B0606020202030204" pitchFamily="34" charset="0"/>
            </a:rPr>
            <a:t> remota da </a:t>
          </a:r>
          <a:r>
            <a:rPr lang="en-US" sz="2000" kern="1200" err="1">
              <a:latin typeface="Arial Narrow" panose="020B0606020202030204" pitchFamily="34" charset="0"/>
            </a:rPr>
            <a:t>cadeia</a:t>
          </a:r>
          <a:r>
            <a:rPr lang="en-US" sz="2000" kern="1200">
              <a:latin typeface="Arial Narrow" panose="020B0606020202030204" pitchFamily="34" charset="0"/>
            </a:rPr>
            <a:t> de </a:t>
          </a:r>
          <a:r>
            <a:rPr lang="en-US" sz="2000" kern="1200" err="1">
              <a:latin typeface="Arial Narrow" panose="020B0606020202030204" pitchFamily="34" charset="0"/>
            </a:rPr>
            <a:t>frio</a:t>
          </a:r>
          <a:r>
            <a:rPr lang="en-US" sz="2000" kern="1200">
              <a:latin typeface="Arial Narrow" panose="020B0606020202030204" pitchFamily="34" charset="0"/>
            </a:rPr>
            <a:t>.</a:t>
          </a:r>
          <a:endParaRPr lang="en-US" sz="2000" b="0" kern="1200">
            <a:latin typeface="Arial Narrow" panose="020B0606020202030204" pitchFamily="34" charset="0"/>
            <a:cs typeface="Calibri"/>
          </a:endParaRPr>
        </a:p>
      </dsp:txBody>
      <dsp:txXfrm>
        <a:off x="3435898" y="3901458"/>
        <a:ext cx="7284610" cy="1510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90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15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94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6" name="Google Shape;23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7" name="Google Shape;2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032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39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54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26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98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18</a:t>
            </a:fld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27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4761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9606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0943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60524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9470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6661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62257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30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2019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42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38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42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35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17308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Font typeface="Arial"/>
              <a:buNone/>
              <a:defRPr/>
            </a:pPr>
            <a:endParaRPr lang="pt-BR">
              <a:ea typeface="Calibri"/>
              <a:cs typeface="Calibri"/>
            </a:endParaRPr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11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pt">
              <a:ea typeface="Calibri"/>
              <a:cs typeface="Calibri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ea typeface="Calibri"/>
              <a:cs typeface="Calibri"/>
            </a:endParaRPr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38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33645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ce26ea22da_4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g3ce26ea22da_4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51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989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505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fa44c12be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g3fa44c12be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091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04381-207E-94C7-A8D0-E25C67DF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F29C787-24A3-0778-EEB9-F298FDA93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95A70D2-CF8E-8C4E-E39D-10B9B2DBB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>
              <a:cs typeface="Calibri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073454D-C790-3CA6-C037-52938BEC1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43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57438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073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5FDC-26CA-B4C5-6844-9AF14770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89778-3221-BCF7-A80C-BF4DB7D2B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C6B69-7B0E-C349-1F58-5735925EE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E223A-EEB1-7424-3CCF-F5C2AE2BD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45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231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46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28202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525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36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4"/>
          <p:cNvSpPr txBox="1">
            <a:spLocks noGrp="1"/>
          </p:cNvSpPr>
          <p:nvPr>
            <p:ph type="body" idx="1"/>
          </p:nvPr>
        </p:nvSpPr>
        <p:spPr>
          <a:xfrm>
            <a:off x="684211" y="685800"/>
            <a:ext cx="4937655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▶"/>
              <a:defRPr/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0988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Char char="▶"/>
              <a:defRPr/>
            </a:lvl3pPr>
            <a:lvl4pPr marL="1828800" lvl="3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4pPr>
            <a:lvl5pPr marL="2286000" lvl="4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5pPr>
            <a:lvl6pPr marL="2743200" lvl="5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6pPr>
            <a:lvl7pPr marL="3200400" lvl="6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7pPr>
            <a:lvl8pPr marL="3657600" lvl="7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8pPr>
            <a:lvl9pPr marL="4114800" lvl="8" indent="-29972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Char char="▶"/>
              <a:defRPr/>
            </a:lvl9pPr>
          </a:lstStyle>
          <a:p>
            <a:endParaRPr/>
          </a:p>
        </p:txBody>
      </p:sp>
      <p:sp>
        <p:nvSpPr>
          <p:cNvPr id="21" name="Google Shape;21;p84"/>
          <p:cNvSpPr txBox="1">
            <a:spLocks noGrp="1"/>
          </p:cNvSpPr>
          <p:nvPr>
            <p:ph type="body" idx="2"/>
          </p:nvPr>
        </p:nvSpPr>
        <p:spPr>
          <a:xfrm>
            <a:off x="5808133" y="685801"/>
            <a:ext cx="4934479" cy="361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▶"/>
              <a:defRPr/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0988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Char char="▶"/>
              <a:defRPr/>
            </a:lvl3pPr>
            <a:lvl4pPr marL="1828800" lvl="3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4pPr>
            <a:lvl5pPr marL="2286000" lvl="4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5pPr>
            <a:lvl6pPr marL="2743200" lvl="5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6pPr>
            <a:lvl7pPr marL="3200400" lvl="6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7pPr>
            <a:lvl8pPr marL="3657600" lvl="7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8pPr>
            <a:lvl9pPr marL="4114800" lvl="8" indent="-29972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Char char="▶"/>
              <a:defRPr/>
            </a:lvl9pPr>
          </a:lstStyle>
          <a:p>
            <a:endParaRPr/>
          </a:p>
        </p:txBody>
      </p:sp>
      <p:sp>
        <p:nvSpPr>
          <p:cNvPr id="22" name="Google Shape;22;p8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c2d2384bb_2_1252"/>
          <p:cNvSpPr txBox="1"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cc2d2384bb_2_1252"/>
          <p:cNvSpPr txBox="1"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800">
                <a:solidFill>
                  <a:srgbClr val="181E4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g3cc2d2384bb_2_125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cc2d2384bb_2_125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cc2d2384bb_2_125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>
            <a:spLocks noGrp="1"/>
          </p:cNvSpPr>
          <p:nvPr>
            <p:ph type="pic" idx="2"/>
          </p:nvPr>
        </p:nvSpPr>
        <p:spPr>
          <a:xfrm>
            <a:off x="989012" y="914400"/>
            <a:ext cx="3281100" cy="45720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4722812" y="2777066"/>
            <a:ext cx="6021300" cy="2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44" name="Google Shape;44;p17"/>
          <p:cNvSpPr/>
          <p:nvPr/>
        </p:nvSpPr>
        <p:spPr>
          <a:xfrm>
            <a:off x="351558" y="948278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550" y="53750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1"/>
          </p:nvPr>
        </p:nvSpPr>
        <p:spPr>
          <a:xfrm>
            <a:off x="684212" y="4114800"/>
            <a:ext cx="85359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52" name="Google Shape;52;p19"/>
          <p:cNvSpPr/>
          <p:nvPr/>
        </p:nvSpPr>
        <p:spPr>
          <a:xfrm>
            <a:off x="732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2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1141411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1446212" y="3429000"/>
            <a:ext cx="853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Calibri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Font typeface="Calibri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Calibri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Calibri"/>
              <a:buNone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684213" y="4301067"/>
            <a:ext cx="8534400" cy="1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1" name="Google Shape;61;p20"/>
          <p:cNvSpPr txBox="1"/>
          <p:nvPr/>
        </p:nvSpPr>
        <p:spPr>
          <a:xfrm>
            <a:off x="531812" y="81222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0"/>
          <p:cNvSpPr txBox="1"/>
          <p:nvPr/>
        </p:nvSpPr>
        <p:spPr>
          <a:xfrm>
            <a:off x="10285412" y="2768601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0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1"/>
          </p:nvPr>
        </p:nvSpPr>
        <p:spPr>
          <a:xfrm>
            <a:off x="684211" y="5132981"/>
            <a:ext cx="85359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71" name="Google Shape;71;p21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2"/>
          </p:nvPr>
        </p:nvSpPr>
        <p:spPr>
          <a:xfrm>
            <a:off x="684211" y="4978400"/>
            <a:ext cx="85344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80" name="Google Shape;80;p22"/>
          <p:cNvSpPr txBox="1"/>
          <p:nvPr/>
        </p:nvSpPr>
        <p:spPr>
          <a:xfrm>
            <a:off x="531812" y="81222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2"/>
          <p:cNvSpPr txBox="1"/>
          <p:nvPr/>
        </p:nvSpPr>
        <p:spPr>
          <a:xfrm>
            <a:off x="10285412" y="2768601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2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684211" y="4766732"/>
            <a:ext cx="85344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1" name="Google Shape;91;p23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 rot="5400000">
            <a:off x="3143762" y="-1773749"/>
            <a:ext cx="361530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9" name="Google Shape;99;p24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>
            <a:spLocks noGrp="1"/>
          </p:cNvSpPr>
          <p:nvPr>
            <p:ph type="title"/>
          </p:nvPr>
        </p:nvSpPr>
        <p:spPr>
          <a:xfrm rot="5400000">
            <a:off x="7427912" y="1943100"/>
            <a:ext cx="4572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body" idx="1"/>
          </p:nvPr>
        </p:nvSpPr>
        <p:spPr>
          <a:xfrm rot="5400000">
            <a:off x="1943200" y="-571500"/>
            <a:ext cx="5308500" cy="78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07" name="Google Shape;107;p25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183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757127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9983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222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7F0FA"/>
            </a:gs>
            <a:gs pos="97000">
              <a:schemeClr val="lt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972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0978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3.png"/><Relationship Id="rId7" Type="http://schemas.openxmlformats.org/officeDocument/2006/relationships/image" Target="../media/image26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microsoft.com/office/2007/relationships/hdphoto" Target="../media/hdphoto2.wd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08" y="5678419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Bodoni" panose="020B060402020202020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39" y="10779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Bodoni" panose="020B060402020202020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52923" y="3327400"/>
            <a:ext cx="10705672" cy="1881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</a:pPr>
            <a:r>
              <a:rPr lang="pt-BR" b="1" dirty="0">
                <a:solidFill>
                  <a:schemeClr val="tx1"/>
                </a:solidFill>
                <a:latin typeface="Century Gothic" panose="020B0502020202020204" pitchFamily="34" charset="0"/>
                <a:ea typeface="Bodoni"/>
                <a:cs typeface="Bodoni"/>
                <a:sym typeface="Bodoni"/>
              </a:rPr>
              <a:t>Análise de Desempenho do Sector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/>
          <p:nvPr/>
        </p:nvSpPr>
        <p:spPr>
          <a:xfrm>
            <a:off x="762001" y="1643449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762001" y="2916882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62001" y="4190314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62001" y="5463746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 rot="10800000">
            <a:off x="6938791" y="1643449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 rot="10800000">
            <a:off x="6938791" y="2916882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 rot="10800000">
            <a:off x="6938791" y="4190314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 rot="10800000">
            <a:off x="6938791" y="5463746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4163704" y="1790632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7309409" y="1790632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4163704" y="3064065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7309409" y="3064065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163704" y="4337497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7309409" y="4337497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4163704" y="5610929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7309409" y="5610929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4358680" y="1873078"/>
            <a:ext cx="3289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7466714" y="1873078"/>
            <a:ext cx="40427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4314597" y="3146510"/>
            <a:ext cx="41710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7446676" y="3146510"/>
            <a:ext cx="44435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4305780" y="4419943"/>
            <a:ext cx="43473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7453890" y="4419943"/>
            <a:ext cx="42992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4328223" y="5693375"/>
            <a:ext cx="3898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7451485" y="5693375"/>
            <a:ext cx="43473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1499944" y="1986471"/>
            <a:ext cx="25064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CONTEXTUALIZAÇÃO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1107849" y="3240904"/>
            <a:ext cx="29617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RESULTADOS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1107847" y="4527669"/>
            <a:ext cx="1369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DESAFIOS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1107846" y="5814438"/>
            <a:ext cx="190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PERSPECTIVAS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8185602" y="1986471"/>
            <a:ext cx="28494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DISPONÍVEIS</a:t>
            </a:r>
            <a:endParaRPr dirty="0"/>
          </a:p>
        </p:txBody>
      </p:sp>
      <p:sp>
        <p:nvSpPr>
          <p:cNvPr id="155" name="Google Shape;155;p2"/>
          <p:cNvSpPr txBox="1"/>
          <p:nvPr/>
        </p:nvSpPr>
        <p:spPr>
          <a:xfrm>
            <a:off x="8066902" y="3244027"/>
            <a:ext cx="3019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REALIZAÇÕES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>
            <a:off x="8398914" y="4504581"/>
            <a:ext cx="249523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LIÇÕES APRENDIDAS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8607567" y="5801096"/>
            <a:ext cx="17674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/>
          </a:p>
        </p:txBody>
      </p:sp>
      <p:sp>
        <p:nvSpPr>
          <p:cNvPr id="158" name="Google Shape;158;p2"/>
          <p:cNvSpPr/>
          <p:nvPr/>
        </p:nvSpPr>
        <p:spPr>
          <a:xfrm>
            <a:off x="5974556" y="2028632"/>
            <a:ext cx="242888" cy="24288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5974556" y="3302064"/>
            <a:ext cx="242888" cy="2428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5974556" y="4575496"/>
            <a:ext cx="242888" cy="242888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5974556" y="5848930"/>
            <a:ext cx="242888" cy="242888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1328822" y="199231"/>
            <a:ext cx="9781175" cy="875058"/>
          </a:xfrm>
          <a:prstGeom prst="roundRect">
            <a:avLst>
              <a:gd name="adj" fmla="val 50000"/>
            </a:avLst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1B3A5B"/>
                </a:solidFill>
                <a:latin typeface="Bodoni MT" panose="02070603080606020203" pitchFamily="18" charset="0"/>
                <a:sym typeface="Arial"/>
              </a:rPr>
              <a:t>Conteúdos da apresentação</a:t>
            </a:r>
            <a:endParaRPr sz="3200" b="1" i="0" u="none" strike="noStrike" cap="none" dirty="0">
              <a:solidFill>
                <a:schemeClr val="dk1"/>
              </a:solidFill>
              <a:latin typeface="Bodoni MT" panose="02070603080606020203" pitchFamily="18" charset="0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164" name="Google Shape;164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"/>
          <p:cNvSpPr txBox="1"/>
          <p:nvPr/>
        </p:nvSpPr>
        <p:spPr>
          <a:xfrm>
            <a:off x="749808" y="6528816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sz="900" b="0" i="0" u="none" strike="noStrike" cap="none" dirty="0">
              <a:solidFill>
                <a:srgbClr val="5B6B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lide Number 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panel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 map of different countries/regions&#10;&#10;AI-generated content may be incorrect.">
            <a:extLst>
              <a:ext uri="{FF2B5EF4-FFF2-40B4-BE49-F238E27FC236}">
                <a16:creationId xmlns:a16="http://schemas.microsoft.com/office/drawing/2014/main" id="{A1B0C63F-D770-3AB2-73FA-DAAEA0C4C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1601" y="1137919"/>
            <a:ext cx="5090160" cy="4755133"/>
          </a:xfrm>
          <a:prstGeom prst="rect">
            <a:avLst/>
          </a:prstGeom>
          <a:solidFill>
            <a:srgbClr val="FFFFFF"/>
          </a:solidFill>
          <a:ln w="38100" algn="ctr">
            <a:noFill/>
            <a:miter lim="800000"/>
            <a:headEnd/>
            <a:tailEnd/>
          </a:ln>
          <a:effectLst/>
        </p:spPr>
      </p:pic>
      <p:sp>
        <p:nvSpPr>
          <p:cNvPr id="4" name="Google Shape;220;p3">
            <a:extLst>
              <a:ext uri="{FF2B5EF4-FFF2-40B4-BE49-F238E27FC236}">
                <a16:creationId xmlns:a16="http://schemas.microsoft.com/office/drawing/2014/main" id="{51FB94E8-A3B2-1C63-9919-DE2EBA2A7D45}"/>
              </a:ext>
            </a:extLst>
          </p:cNvPr>
          <p:cNvSpPr/>
          <p:nvPr/>
        </p:nvSpPr>
        <p:spPr>
          <a:xfrm>
            <a:off x="294640" y="111760"/>
            <a:ext cx="11551920" cy="883667"/>
          </a:xfrm>
          <a:prstGeom prst="roundRect">
            <a:avLst>
              <a:gd name="adj" fmla="val 50000"/>
            </a:avLst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1B3A5B"/>
                </a:solidFill>
                <a:latin typeface="Bodoni MT" panose="02070603080606020203" pitchFamily="18" charset="0"/>
                <a:sym typeface="Arial"/>
              </a:rPr>
              <a:t>Perfil da Cidade de Maputo</a:t>
            </a:r>
            <a:endParaRPr sz="3200" b="1" i="0" u="none" strike="noStrike" cap="none" dirty="0">
              <a:solidFill>
                <a:schemeClr val="accent3">
                  <a:lumMod val="75000"/>
                </a:schemeClr>
              </a:solidFill>
              <a:latin typeface="Bodoni MT" panose="020706030806060202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3"/>
          <p:cNvGrpSpPr/>
          <p:nvPr/>
        </p:nvGrpSpPr>
        <p:grpSpPr>
          <a:xfrm>
            <a:off x="2306636" y="1345908"/>
            <a:ext cx="8951073" cy="1409907"/>
            <a:chOff x="7529685" y="648674"/>
            <a:chExt cx="8951073" cy="1409907"/>
          </a:xfrm>
        </p:grpSpPr>
        <p:sp>
          <p:nvSpPr>
            <p:cNvPr id="188" name="Google Shape;188;p3"/>
            <p:cNvSpPr txBox="1"/>
            <p:nvPr/>
          </p:nvSpPr>
          <p:spPr>
            <a:xfrm>
              <a:off x="7582485" y="1042959"/>
              <a:ext cx="8898273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just"/>
              <a:r>
                <a:rPr lang="pt-BR" sz="2000" dirty="0">
                  <a:latin typeface="Bodoni MT" panose="02070603080606020203" pitchFamily="18" charset="0"/>
                </a:rPr>
                <a:t>Chuvas intensas e inundações registadas na Cidade de Maputo no início de 2026, com impactos nas infra-estruturas, acessibilidade e funcionamento de algumas Unidades Sanitárias.</a:t>
              </a:r>
              <a:endParaRPr sz="2000" b="0" i="0" u="none" strike="noStrike" cap="none" dirty="0">
                <a:solidFill>
                  <a:srgbClr val="B3261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" name="Google Shape;189;p3"/>
            <p:cNvGrpSpPr/>
            <p:nvPr/>
          </p:nvGrpSpPr>
          <p:grpSpPr>
            <a:xfrm>
              <a:off x="7529685" y="648674"/>
              <a:ext cx="3415831" cy="430847"/>
              <a:chOff x="1162078" y="648674"/>
              <a:chExt cx="3509909" cy="430847"/>
            </a:xfrm>
          </p:grpSpPr>
          <p:sp>
            <p:nvSpPr>
              <p:cNvPr id="190" name="Google Shape;190;p3"/>
              <p:cNvSpPr txBox="1"/>
              <p:nvPr/>
            </p:nvSpPr>
            <p:spPr>
              <a:xfrm>
                <a:off x="1162078" y="648674"/>
                <a:ext cx="3509909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95C"/>
                  </a:buClr>
                  <a:buSzPts val="1500"/>
                  <a:buFont typeface="Arial"/>
                  <a:buNone/>
                </a:pPr>
                <a:r>
                  <a:rPr lang="en-US" sz="2200" b="1" i="0" u="none" strike="noStrike" cap="none" dirty="0">
                    <a:solidFill>
                      <a:schemeClr val="accent4">
                        <a:lumMod val="75000"/>
                      </a:schemeClr>
                    </a:solidFill>
                    <a:latin typeface="Bodoni MT" panose="02070603080606020203" pitchFamily="18" charset="0"/>
                    <a:ea typeface="Calibri"/>
                    <a:cs typeface="Calibri"/>
                    <a:sym typeface="Calibri"/>
                  </a:rPr>
                  <a:t>Alterações climáticas</a:t>
                </a:r>
                <a:endParaRPr sz="2200" dirty="0">
                  <a:solidFill>
                    <a:schemeClr val="accent4">
                      <a:lumMod val="75000"/>
                    </a:schemeClr>
                  </a:solidFill>
                  <a:latin typeface="Bodoni MT" panose="02070603080606020203" pitchFamily="18" charset="0"/>
                </a:endParaRPr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1316833" y="1020476"/>
                <a:ext cx="3200400" cy="56945"/>
              </a:xfrm>
              <a:prstGeom prst="rect">
                <a:avLst/>
              </a:prstGeom>
              <a:solidFill>
                <a:srgbClr val="21295C"/>
              </a:solidFill>
              <a:ln w="19050" cap="flat" cmpd="sng">
                <a:solidFill>
                  <a:srgbClr val="21295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2" name="Google Shape;202;p3"/>
          <p:cNvGrpSpPr/>
          <p:nvPr/>
        </p:nvGrpSpPr>
        <p:grpSpPr>
          <a:xfrm>
            <a:off x="3226393" y="4501531"/>
            <a:ext cx="6268395" cy="1390635"/>
            <a:chOff x="7558441" y="3103357"/>
            <a:chExt cx="5372997" cy="1390635"/>
          </a:xfrm>
        </p:grpSpPr>
        <p:sp>
          <p:nvSpPr>
            <p:cNvPr id="203" name="Google Shape;203;p3"/>
            <p:cNvSpPr txBox="1"/>
            <p:nvPr/>
          </p:nvSpPr>
          <p:spPr>
            <a:xfrm>
              <a:off x="7558441" y="3478370"/>
              <a:ext cx="5372997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just"/>
              <a:r>
                <a:rPr lang="pt-PT" sz="2000" b="1" dirty="0">
                  <a:latin typeface="Bodoni MT" panose="02070603080606020203" pitchFamily="18" charset="0"/>
                </a:rPr>
                <a:t>Doenças continuam a pressionar o sistema</a:t>
              </a:r>
              <a:r>
                <a:rPr lang="pt-PT" sz="2000" dirty="0">
                  <a:latin typeface="Bodoni MT" panose="02070603080606020203" pitchFamily="18" charset="0"/>
                </a:rPr>
                <a:t>: Malária, HIV, tuberculose, desnutrição e doenças não transmissíveis mantêm alta carga sobre os serviços de saúde. </a:t>
              </a:r>
              <a:endParaRPr lang="en-US" sz="2000" dirty="0">
                <a:latin typeface="Bodoni MT" panose="02070603080606020203" pitchFamily="18" charset="0"/>
              </a:endParaRPr>
            </a:p>
          </p:txBody>
        </p:sp>
        <p:grpSp>
          <p:nvGrpSpPr>
            <p:cNvPr id="204" name="Google Shape;204;p3"/>
            <p:cNvGrpSpPr/>
            <p:nvPr/>
          </p:nvGrpSpPr>
          <p:grpSpPr>
            <a:xfrm>
              <a:off x="7558441" y="3103357"/>
              <a:ext cx="5372997" cy="430847"/>
              <a:chOff x="7558441" y="3103357"/>
              <a:chExt cx="5372997" cy="430847"/>
            </a:xfrm>
          </p:grpSpPr>
          <p:sp>
            <p:nvSpPr>
              <p:cNvPr id="205" name="Google Shape;205;p3"/>
              <p:cNvSpPr txBox="1"/>
              <p:nvPr/>
            </p:nvSpPr>
            <p:spPr>
              <a:xfrm>
                <a:off x="7558441" y="3103357"/>
                <a:ext cx="5372997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>
                  <a:buClr>
                    <a:srgbClr val="21295C"/>
                  </a:buClr>
                  <a:buSzPts val="1500"/>
                </a:pPr>
                <a:r>
                  <a:rPr lang="pt-BR" sz="2200" b="1" dirty="0">
                    <a:solidFill>
                      <a:schemeClr val="accent3">
                        <a:lumMod val="75000"/>
                      </a:schemeClr>
                    </a:solidFill>
                    <a:latin typeface="Bodoni MT" panose="02070603080606020203" pitchFamily="18" charset="0"/>
                  </a:rPr>
                  <a:t>Carga de Doenças e Desafios para o Sistema de Saúde</a:t>
                </a:r>
                <a:endParaRPr sz="2200" b="1" dirty="0">
                  <a:solidFill>
                    <a:schemeClr val="accent3">
                      <a:lumMod val="75000"/>
                    </a:schemeClr>
                  </a:solidFill>
                  <a:latin typeface="Bodoni MT" panose="02070603080606020203" pitchFamily="18" charset="0"/>
                </a:endParaRPr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 flipV="1">
                <a:off x="7642850" y="3434966"/>
                <a:ext cx="5192793" cy="45719"/>
              </a:xfrm>
              <a:prstGeom prst="rect">
                <a:avLst/>
              </a:prstGeom>
              <a:solidFill>
                <a:srgbClr val="21295C"/>
              </a:solidFill>
              <a:ln w="19050" cap="flat" cmpd="sng">
                <a:solidFill>
                  <a:srgbClr val="21295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" name="Google Shape;207;p3"/>
          <p:cNvGrpSpPr/>
          <p:nvPr/>
        </p:nvGrpSpPr>
        <p:grpSpPr>
          <a:xfrm>
            <a:off x="3226393" y="2836229"/>
            <a:ext cx="7858165" cy="1141054"/>
            <a:chOff x="159747" y="661064"/>
            <a:chExt cx="7539953" cy="1141054"/>
          </a:xfrm>
        </p:grpSpPr>
        <p:sp>
          <p:nvSpPr>
            <p:cNvPr id="208" name="Google Shape;208;p3"/>
            <p:cNvSpPr txBox="1"/>
            <p:nvPr/>
          </p:nvSpPr>
          <p:spPr>
            <a:xfrm>
              <a:off x="159747" y="1094272"/>
              <a:ext cx="7539953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just"/>
              <a:r>
                <a:rPr lang="pt-PT" sz="2000" dirty="0">
                  <a:latin typeface="Bodoni MT" panose="02070603080606020203" pitchFamily="18" charset="0"/>
                </a:rPr>
                <a:t>O crescimento populacional e urbanização aumentam a procura por serviços de urgência, saúde materno-infantil e resposta a surtos.</a:t>
              </a:r>
              <a:endParaRPr lang="en-US" sz="2000" dirty="0">
                <a:latin typeface="Bodoni MT" panose="02070603080606020203" pitchFamily="18" charset="0"/>
              </a:endParaRPr>
            </a:p>
          </p:txBody>
        </p:sp>
        <p:grpSp>
          <p:nvGrpSpPr>
            <p:cNvPr id="209" name="Google Shape;209;p3"/>
            <p:cNvGrpSpPr/>
            <p:nvPr/>
          </p:nvGrpSpPr>
          <p:grpSpPr>
            <a:xfrm>
              <a:off x="159748" y="661064"/>
              <a:ext cx="4322924" cy="433208"/>
              <a:chOff x="30415" y="661064"/>
              <a:chExt cx="4441982" cy="433208"/>
            </a:xfrm>
          </p:grpSpPr>
          <p:sp>
            <p:nvSpPr>
              <p:cNvPr id="210" name="Google Shape;210;p3"/>
              <p:cNvSpPr txBox="1"/>
              <p:nvPr/>
            </p:nvSpPr>
            <p:spPr>
              <a:xfrm>
                <a:off x="30415" y="661064"/>
                <a:ext cx="4441982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pt-BR" sz="2200" b="1" dirty="0">
                    <a:solidFill>
                      <a:schemeClr val="accent3">
                        <a:lumMod val="75000"/>
                      </a:schemeClr>
                    </a:solidFill>
                    <a:latin typeface="Bodoni MT" panose="02070603080606020203" pitchFamily="18" charset="0"/>
                  </a:rPr>
                  <a:t>Pressão sobre os Serviços de Saúde</a:t>
                </a:r>
                <a:endParaRPr sz="2200" b="1" dirty="0">
                  <a:solidFill>
                    <a:schemeClr val="accent3">
                      <a:lumMod val="75000"/>
                    </a:schemeClr>
                  </a:solidFill>
                  <a:latin typeface="Bodoni MT" panose="02070603080606020203" pitchFamily="18" charset="0"/>
                </a:endParaRPr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129332" y="1048553"/>
                <a:ext cx="3822177" cy="45719"/>
              </a:xfrm>
              <a:prstGeom prst="rect">
                <a:avLst/>
              </a:prstGeom>
              <a:solidFill>
                <a:srgbClr val="21295C"/>
              </a:solidFill>
              <a:ln w="19050" cap="flat" cmpd="sng">
                <a:solidFill>
                  <a:srgbClr val="21295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1707038" y="297897"/>
            <a:ext cx="8777923" cy="713508"/>
          </a:xfrm>
          <a:prstGeom prst="roundRect">
            <a:avLst>
              <a:gd name="adj" fmla="val 50000"/>
            </a:avLst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1B3A5B"/>
                </a:solidFill>
                <a:latin typeface="Bodoni MT" panose="02070603080606020203" pitchFamily="18" charset="0"/>
                <a:sym typeface="Arial"/>
              </a:rPr>
              <a:t>Contextualização</a:t>
            </a:r>
            <a:endParaRPr sz="3200" b="1" i="0" u="none" strike="noStrike" cap="none" dirty="0">
              <a:solidFill>
                <a:schemeClr val="accent3">
                  <a:lumMod val="75000"/>
                </a:schemeClr>
              </a:solidFill>
              <a:latin typeface="Bodoni MT" panose="02070603080606020203" pitchFamily="18" charset="0"/>
              <a:sym typeface="Arial"/>
            </a:endParaRPr>
          </a:p>
        </p:txBody>
      </p:sp>
      <p:grpSp>
        <p:nvGrpSpPr>
          <p:cNvPr id="226" name="Google Shape;226;p3"/>
          <p:cNvGrpSpPr/>
          <p:nvPr/>
        </p:nvGrpSpPr>
        <p:grpSpPr>
          <a:xfrm>
            <a:off x="2457243" y="5807632"/>
            <a:ext cx="4558472" cy="1082859"/>
            <a:chOff x="7558441" y="3103357"/>
            <a:chExt cx="3907325" cy="1082859"/>
          </a:xfrm>
        </p:grpSpPr>
        <p:sp>
          <p:nvSpPr>
            <p:cNvPr id="227" name="Google Shape;227;p3"/>
            <p:cNvSpPr txBox="1"/>
            <p:nvPr/>
          </p:nvSpPr>
          <p:spPr>
            <a:xfrm>
              <a:off x="7558441" y="3478370"/>
              <a:ext cx="3907325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Continuidade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 do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impacto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 da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redução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 do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financiamento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e</a:t>
              </a:r>
              <a:r>
                <a:rPr lang="en-US" sz="2000" dirty="0" err="1"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xterno</a:t>
              </a:r>
              <a:endParaRPr sz="2000" b="0" i="0" u="none" strike="noStrike" cap="none" dirty="0">
                <a:solidFill>
                  <a:srgbClr val="B3261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8" name="Google Shape;228;p3"/>
            <p:cNvGrpSpPr/>
            <p:nvPr/>
          </p:nvGrpSpPr>
          <p:grpSpPr>
            <a:xfrm>
              <a:off x="7558441" y="3103357"/>
              <a:ext cx="3582274" cy="430847"/>
              <a:chOff x="7558441" y="3103357"/>
              <a:chExt cx="3582274" cy="430847"/>
            </a:xfrm>
          </p:grpSpPr>
          <p:sp>
            <p:nvSpPr>
              <p:cNvPr id="229" name="Google Shape;229;p3"/>
              <p:cNvSpPr txBox="1"/>
              <p:nvPr/>
            </p:nvSpPr>
            <p:spPr>
              <a:xfrm>
                <a:off x="7558441" y="3103357"/>
                <a:ext cx="3582274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95C"/>
                  </a:buClr>
                  <a:buSzPts val="1500"/>
                  <a:buFont typeface="Arial"/>
                  <a:buNone/>
                </a:pPr>
                <a:r>
                  <a:rPr lang="en-US" sz="2200" b="1" i="0" u="none" strike="noStrike" cap="none" dirty="0">
                    <a:solidFill>
                      <a:schemeClr val="accent3">
                        <a:lumMod val="75000"/>
                      </a:schemeClr>
                    </a:solidFill>
                    <a:latin typeface="Bodoni MT" panose="02070603080606020203" pitchFamily="18" charset="0"/>
                    <a:ea typeface="Calibri"/>
                    <a:cs typeface="Calibri"/>
                    <a:sym typeface="Calibri"/>
                  </a:rPr>
                  <a:t>Financiamento</a:t>
                </a:r>
                <a:endParaRPr sz="2200" b="1" i="0" u="none" strike="noStrike" cap="none" dirty="0">
                  <a:solidFill>
                    <a:schemeClr val="accent3">
                      <a:lumMod val="75000"/>
                    </a:schemeClr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7642850" y="3480686"/>
                <a:ext cx="2649740" cy="45719"/>
              </a:xfrm>
              <a:prstGeom prst="rect">
                <a:avLst/>
              </a:prstGeom>
              <a:solidFill>
                <a:srgbClr val="21295C"/>
              </a:solidFill>
              <a:ln w="19050" cap="flat" cmpd="sng">
                <a:solidFill>
                  <a:srgbClr val="21295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31" name="Google Shape;23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181" y="93696"/>
            <a:ext cx="1247784" cy="6000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42;p4"/>
          <p:cNvGrpSpPr/>
          <p:nvPr/>
        </p:nvGrpSpPr>
        <p:grpSpPr bwMode="auto">
          <a:xfrm>
            <a:off x="163232" y="2611120"/>
            <a:ext cx="2864448" cy="3023765"/>
            <a:chOff x="1460533" y="2091734"/>
            <a:chExt cx="2743200" cy="2743200"/>
          </a:xfrm>
        </p:grpSpPr>
        <p:sp>
          <p:nvSpPr>
            <p:cNvPr id="14" name="Google Shape;143;p4"/>
            <p:cNvSpPr/>
            <p:nvPr/>
          </p:nvSpPr>
          <p:spPr>
            <a:xfrm>
              <a:off x="1689133" y="2320334"/>
              <a:ext cx="2286000" cy="2286000"/>
            </a:xfrm>
            <a:prstGeom prst="ellipse">
              <a:avLst/>
            </a:prstGeom>
            <a:gradFill>
              <a:gsLst>
                <a:gs pos="0">
                  <a:srgbClr val="262626"/>
                </a:gs>
                <a:gs pos="58000">
                  <a:srgbClr val="262626"/>
                </a:gs>
                <a:gs pos="83000">
                  <a:srgbClr val="3F3F3F"/>
                </a:gs>
                <a:gs pos="100000">
                  <a:srgbClr val="262626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lIns="91425" tIns="45700" rIns="91425" bIns="4570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144;p4"/>
            <p:cNvSpPr/>
            <p:nvPr/>
          </p:nvSpPr>
          <p:spPr>
            <a:xfrm>
              <a:off x="1460533" y="2091734"/>
              <a:ext cx="2743200" cy="2743200"/>
            </a:xfrm>
            <a:prstGeom prst="arc">
              <a:avLst>
                <a:gd name="adj1" fmla="val 16200000"/>
                <a:gd name="adj2" fmla="val 5506289"/>
              </a:avLst>
            </a:prstGeom>
            <a:noFill/>
            <a:ln w="2857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lIns="91425" tIns="45700" rIns="91425" bIns="4570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42" y="2862641"/>
            <a:ext cx="2571424" cy="257142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32" name="Slide Number 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450"/>
            <a:ext cx="12192000" cy="67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"/>
          <p:cNvSpPr/>
          <p:nvPr/>
        </p:nvSpPr>
        <p:spPr>
          <a:xfrm>
            <a:off x="0" y="0"/>
            <a:ext cx="12192000" cy="725146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Recursos humanos</a:t>
            </a: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Camas por hospital</a:t>
            </a:r>
            <a:endParaRPr dirty="0"/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Disponibilidade de medicamentos essenciais</a:t>
            </a:r>
            <a:endParaRPr dirty="0"/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Rede sanitária</a:t>
            </a:r>
            <a:endParaRPr dirty="0"/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4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42" name="Google Shape;242;p4"/>
          <p:cNvSpPr txBox="1"/>
          <p:nvPr/>
        </p:nvSpPr>
        <p:spPr>
          <a:xfrm>
            <a:off x="0" y="1023383"/>
            <a:ext cx="5362237" cy="498427"/>
          </a:xfrm>
          <a:prstGeom prst="rect">
            <a:avLst/>
          </a:prstGeom>
          <a:solidFill>
            <a:srgbClr val="E7EA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B3A5B"/>
                </a:solidFill>
              </a:rPr>
              <a:t>Recursos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4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45" name="Google Shape;245;p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Slide Number 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panel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/>
        </p:nvSpPr>
        <p:spPr>
          <a:xfrm>
            <a:off x="298335" y="6411965"/>
            <a:ext cx="2684416" cy="32101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tx1"/>
                </a:solidFill>
              </a:rPr>
              <a:t>Fonte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pt-PT" sz="1200" i="1" dirty="0">
                <a:solidFill>
                  <a:schemeClr val="tx1"/>
                </a:solidFill>
              </a:rPr>
              <a:t>Balan</a:t>
            </a:r>
            <a:r>
              <a:rPr lang="pt-PT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 Semestral 2026</a:t>
            </a:r>
            <a:endParaRPr lang="en-US" sz="1200" i="1" dirty="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Camas Por Hospital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987540" y="5942330"/>
            <a:ext cx="3962400" cy="80708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altLang="pt-BR" b="1" dirty="0">
                <a:solidFill>
                  <a:schemeClr val="tx1"/>
                </a:solidFill>
                <a:latin typeface="Arial Narrow" panose="020B0606020202030204" pitchFamily="34" charset="0"/>
              </a:rPr>
              <a:t>1116</a:t>
            </a:r>
            <a:r>
              <a:rPr lang="pt-BR" altLang="pt-BR" dirty="0">
                <a:solidFill>
                  <a:schemeClr val="tx1"/>
                </a:solidFill>
                <a:latin typeface="Arial Narrow" panose="020B0606020202030204" pitchFamily="34" charset="0"/>
              </a:rPr>
              <a:t> Camas existentes, </a:t>
            </a:r>
            <a:r>
              <a:rPr lang="pt-BR" altLang="pt-BR" b="1" dirty="0">
                <a:solidFill>
                  <a:schemeClr val="tx1"/>
                </a:solidFill>
                <a:latin typeface="Arial Narrow" panose="020B0606020202030204" pitchFamily="34" charset="0"/>
              </a:rPr>
              <a:t>98</a:t>
            </a:r>
            <a:r>
              <a:rPr lang="pt-BR" altLang="pt-BR" dirty="0">
                <a:solidFill>
                  <a:schemeClr val="tx1"/>
                </a:solidFill>
                <a:latin typeface="Arial Narrow" panose="020B0606020202030204" pitchFamily="34" charset="0"/>
              </a:rPr>
              <a:t> camas não estão a ser utilizadas</a:t>
            </a:r>
            <a:endParaRPr lang="en-US" altLang="pt-BR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421517"/>
              </p:ext>
            </p:extLst>
          </p:nvPr>
        </p:nvGraphicFramePr>
        <p:xfrm>
          <a:off x="403860" y="1318895"/>
          <a:ext cx="10911840" cy="4332941"/>
        </p:xfrm>
        <a:graphic>
          <a:graphicData uri="http://schemas.openxmlformats.org/drawingml/2006/table">
            <a:tbl>
              <a:tblPr/>
              <a:tblGrid>
                <a:gridCol w="279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9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9315"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 dirty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Hospital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Nº de Camas 2025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Nº de Camas 2026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Evolução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31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H.G.J. Macamo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265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21,13%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H.G. Mavalane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419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417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-0,48%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H.G.P. Caniço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0,00%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215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H.G. Chamanculo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0,00%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H.P. Infulene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0,00%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Total 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1063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1116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 dirty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4,99%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lide Number 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>
            <a:spLocks noGrp="1"/>
          </p:cNvSpPr>
          <p:nvPr>
            <p:ph type="title"/>
          </p:nvPr>
        </p:nvSpPr>
        <p:spPr>
          <a:xfrm>
            <a:off x="894080" y="121071"/>
            <a:ext cx="10637520" cy="781029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Efectivo</a:t>
            </a: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 de RHS no </a:t>
            </a: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Subsistema</a:t>
            </a: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 Público de Saúde (N=3490)</a:t>
            </a:r>
            <a:endParaRPr sz="4000" dirty="0">
              <a:latin typeface="Bodoni MT" panose="02070603080606020203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2091680" y="5909655"/>
            <a:ext cx="7510800" cy="3231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Racio T</a:t>
            </a:r>
            <a:r>
              <a:rPr lang="en-US" sz="1500" b="1" dirty="0"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é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cnico de Saúde/100.000hab: </a:t>
            </a:r>
            <a:r>
              <a:rPr lang="en-US" sz="1500" b="1" i="0" u="none" strike="noStrike" cap="none" dirty="0">
                <a:solidFill>
                  <a:srgbClr val="C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306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sem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incluir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o HCM e </a:t>
            </a:r>
            <a:r>
              <a:rPr lang="en-US" sz="1500" b="1" i="0" u="none" strike="noStrike" cap="none" dirty="0">
                <a:solidFill>
                  <a:srgbClr val="C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362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incluindo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o HCM. </a:t>
            </a:r>
          </a:p>
        </p:txBody>
      </p:sp>
      <p:graphicFrame>
        <p:nvGraphicFramePr>
          <p:cNvPr id="2" name="Gráfico 1" descr="Chart">
            <a:extLst>
              <a:ext uri="{FF2B5EF4-FFF2-40B4-BE49-F238E27FC236}">
                <a16:creationId xmlns:a16="http://schemas.microsoft.com/office/drawing/2014/main" id="{B0EEB467-62F4-DA25-090C-BBA47C5453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5876417"/>
              </p:ext>
            </p:extLst>
          </p:nvPr>
        </p:nvGraphicFramePr>
        <p:xfrm>
          <a:off x="231648" y="1645920"/>
          <a:ext cx="6677152" cy="3893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Gráfico 8" descr="Chart">
            <a:extLst>
              <a:ext uri="{FF2B5EF4-FFF2-40B4-BE49-F238E27FC236}">
                <a16:creationId xmlns:a16="http://schemas.microsoft.com/office/drawing/2014/main" id="{3F3A2EA4-60A3-62BA-9520-5AD0C2D17E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7579299"/>
              </p:ext>
            </p:extLst>
          </p:nvPr>
        </p:nvGraphicFramePr>
        <p:xfrm>
          <a:off x="6839712" y="1393631"/>
          <a:ext cx="5120640" cy="4347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77460519-710C-C314-C448-168A0B85DAB7}"/>
              </a:ext>
            </a:extLst>
          </p:cNvPr>
          <p:cNvSpPr/>
          <p:nvPr/>
        </p:nvSpPr>
        <p:spPr>
          <a:xfrm>
            <a:off x="2225040" y="1259840"/>
            <a:ext cx="772160" cy="4347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16%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2AF4DF-FF4E-E20E-517E-879A6857033F}"/>
              </a:ext>
            </a:extLst>
          </p:cNvPr>
          <p:cNvSpPr/>
          <p:nvPr/>
        </p:nvSpPr>
        <p:spPr>
          <a:xfrm>
            <a:off x="5628640" y="1645920"/>
            <a:ext cx="772160" cy="4347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12%</a:t>
            </a:r>
          </a:p>
        </p:txBody>
      </p:sp>
      <p:sp>
        <p:nvSpPr>
          <p:cNvPr id="305" name="Slide Number 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7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Rectangle 30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Rectangle 30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 txBox="1">
            <a:spLocks noGrp="1"/>
          </p:cNvSpPr>
          <p:nvPr>
            <p:ph type="title"/>
          </p:nvPr>
        </p:nvSpPr>
        <p:spPr>
          <a:xfrm>
            <a:off x="701820" y="94463"/>
            <a:ext cx="10873740" cy="653223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Recursos Humanos - Novas </a:t>
            </a: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admissões</a:t>
            </a: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 e </a:t>
            </a: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Perda</a:t>
            </a: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 de </a:t>
            </a: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Pessoal</a:t>
            </a:r>
            <a:endParaRPr sz="4000" dirty="0">
              <a:latin typeface="Bodoni MT" panose="02070603080606020203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7772736" y="2286000"/>
            <a:ext cx="2716312" cy="40006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Arial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Perda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de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Pessoal</a:t>
            </a:r>
            <a:endParaRPr sz="2000" b="1" i="0" u="none" strike="noStrike" cap="none" dirty="0">
              <a:solidFill>
                <a:schemeClr val="dk1"/>
              </a:solidFill>
              <a:latin typeface="Bodoni MT" panose="02070603080606020203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7A1B088-25A8-950E-7DF1-1CF1D7F8D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626079"/>
              </p:ext>
            </p:extLst>
          </p:nvPr>
        </p:nvGraphicFramePr>
        <p:xfrm>
          <a:off x="5927232" y="3098700"/>
          <a:ext cx="4578208" cy="3664837"/>
        </p:xfrm>
        <a:graphic>
          <a:graphicData uri="http://schemas.openxmlformats.org/drawingml/2006/table">
            <a:tbl>
              <a:tblPr firstRow="1" firstCol="1" bandRow="1">
                <a:tableStyleId>{E5EAE22A-FB04-4563-B35A-56EE2C734208}</a:tableStyleId>
              </a:tblPr>
              <a:tblGrid>
                <a:gridCol w="1646696">
                  <a:extLst>
                    <a:ext uri="{9D8B030D-6E8A-4147-A177-3AD203B41FA5}">
                      <a16:colId xmlns:a16="http://schemas.microsoft.com/office/drawing/2014/main" val="1924466102"/>
                    </a:ext>
                  </a:extLst>
                </a:gridCol>
                <a:gridCol w="1002436">
                  <a:extLst>
                    <a:ext uri="{9D8B030D-6E8A-4147-A177-3AD203B41FA5}">
                      <a16:colId xmlns:a16="http://schemas.microsoft.com/office/drawing/2014/main" val="4056368965"/>
                    </a:ext>
                  </a:extLst>
                </a:gridCol>
                <a:gridCol w="964538">
                  <a:extLst>
                    <a:ext uri="{9D8B030D-6E8A-4147-A177-3AD203B41FA5}">
                      <a16:colId xmlns:a16="http://schemas.microsoft.com/office/drawing/2014/main" val="3508044713"/>
                    </a:ext>
                  </a:extLst>
                </a:gridCol>
                <a:gridCol w="964538">
                  <a:extLst>
                    <a:ext uri="{9D8B030D-6E8A-4147-A177-3AD203B41FA5}">
                      <a16:colId xmlns:a16="http://schemas.microsoft.com/office/drawing/2014/main" val="3140668637"/>
                    </a:ext>
                  </a:extLst>
                </a:gridCol>
              </a:tblGrid>
              <a:tr h="3193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b="1" dirty="0">
                          <a:effectLst/>
                          <a:latin typeface="Bodoni MT" panose="02070603080606020203" pitchFamily="18" charset="0"/>
                        </a:rPr>
                        <a:t>Tipo de Perda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b="1" dirty="0">
                          <a:effectLst/>
                          <a:latin typeface="Bodoni MT" panose="02070603080606020203" pitchFamily="18" charset="0"/>
                        </a:rPr>
                        <a:t>2026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4942143"/>
                  </a:ext>
                </a:extLst>
              </a:tr>
              <a:tr h="5289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b="1" dirty="0">
                          <a:effectLst/>
                          <a:latin typeface="Bodoni MT" panose="02070603080606020203" pitchFamily="18" charset="0"/>
                        </a:rPr>
                        <a:t>R. Especial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b="1" dirty="0">
                          <a:effectLst/>
                          <a:latin typeface="Bodoni MT" panose="02070603080606020203" pitchFamily="18" charset="0"/>
                        </a:rPr>
                        <a:t>R. Geral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898352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Desligados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3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5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7220694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 err="1">
                          <a:effectLst/>
                          <a:latin typeface="Bodoni MT" panose="02070603080606020203" pitchFamily="18" charset="0"/>
                        </a:rPr>
                        <a:t>Falecidos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7505708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dirty="0">
                          <a:effectLst/>
                          <a:latin typeface="Bodoni MT" panose="02070603080606020203" pitchFamily="18" charset="0"/>
                        </a:rPr>
                        <a:t>Transferidos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dirty="0">
                          <a:effectLst/>
                          <a:latin typeface="Bodoni MT" panose="02070603080606020203" pitchFamily="18" charset="0"/>
                        </a:rPr>
                        <a:t>4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dirty="0">
                          <a:effectLst/>
                          <a:latin typeface="Bodoni MT" panose="02070603080606020203" pitchFamily="18" charset="0"/>
                        </a:rPr>
                        <a:t>6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914181"/>
                  </a:ext>
                </a:extLst>
              </a:tr>
              <a:tr h="52898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>
                          <a:effectLst/>
                          <a:latin typeface="Bodoni MT" panose="02070603080606020203" pitchFamily="18" charset="0"/>
                        </a:rPr>
                        <a:t>Licenças ilimitada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2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422124"/>
                  </a:ext>
                </a:extLst>
              </a:tr>
              <a:tr h="52898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>
                          <a:effectLst/>
                          <a:latin typeface="Bodoni MT" panose="02070603080606020203" pitchFamily="18" charset="0"/>
                        </a:rPr>
                        <a:t>Licenças Registada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3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7207773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 err="1">
                          <a:effectLst/>
                          <a:latin typeface="Bodoni MT" panose="02070603080606020203" pitchFamily="18" charset="0"/>
                        </a:rPr>
                        <a:t>Exoneração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814708"/>
                  </a:ext>
                </a:extLst>
              </a:tr>
              <a:tr h="4809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Bodoni MT" panose="02070603080606020203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b="1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Bodoni MT" panose="02070603080606020203" pitchFamily="18" charset="0"/>
                        </a:rPr>
                        <a:t>14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Bodoni MT" panose="02070603080606020203" pitchFamily="18" charset="0"/>
                        </a:rPr>
                        <a:t>26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8134874"/>
                  </a:ext>
                </a:extLst>
              </a:tr>
            </a:tbl>
          </a:graphicData>
        </a:graphic>
      </p:graphicFrame>
      <p:graphicFrame>
        <p:nvGraphicFramePr>
          <p:cNvPr id="5" name="Gráfico 4" descr="Chart">
            <a:extLst>
              <a:ext uri="{FF2B5EF4-FFF2-40B4-BE49-F238E27FC236}">
                <a16:creationId xmlns:a16="http://schemas.microsoft.com/office/drawing/2014/main" id="{2BAB8650-93CE-71B7-6676-DF2742A342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745388"/>
              </p:ext>
            </p:extLst>
          </p:nvPr>
        </p:nvGraphicFramePr>
        <p:xfrm>
          <a:off x="817006" y="939141"/>
          <a:ext cx="5325930" cy="4633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Slide Number 8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8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Rectangle 346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>
            <a:spLocks noGrp="1"/>
          </p:cNvSpPr>
          <p:nvPr>
            <p:ph type="title"/>
          </p:nvPr>
        </p:nvSpPr>
        <p:spPr>
          <a:xfrm>
            <a:off x="1076960" y="320700"/>
            <a:ext cx="10301644" cy="684212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Disponibilidade de medicamentos essenciais</a:t>
            </a:r>
            <a:endParaRPr sz="4000" dirty="0">
              <a:latin typeface="Bodoni MT" panose="02070603080606020203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8918137" y="6378667"/>
            <a:ext cx="1600200" cy="31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Fonte: SIGLUS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749808" y="6537305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381" name="Google Shape;38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844F087-BB0E-E75B-A6C0-DFC8C16F8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607930"/>
              </p:ext>
            </p:extLst>
          </p:nvPr>
        </p:nvGraphicFramePr>
        <p:xfrm>
          <a:off x="1076960" y="1559294"/>
          <a:ext cx="10301644" cy="4704345"/>
        </p:xfrm>
        <a:graphic>
          <a:graphicData uri="http://schemas.openxmlformats.org/drawingml/2006/table">
            <a:tbl>
              <a:tblPr firstRow="1" firstCol="1" bandRow="1">
                <a:tableStyleId>{E5EAE22A-FB04-4563-B35A-56EE2C734208}</a:tableStyleId>
              </a:tblPr>
              <a:tblGrid>
                <a:gridCol w="1934324">
                  <a:extLst>
                    <a:ext uri="{9D8B030D-6E8A-4147-A177-3AD203B41FA5}">
                      <a16:colId xmlns:a16="http://schemas.microsoft.com/office/drawing/2014/main" val="2112132069"/>
                    </a:ext>
                  </a:extLst>
                </a:gridCol>
                <a:gridCol w="1934324">
                  <a:extLst>
                    <a:ext uri="{9D8B030D-6E8A-4147-A177-3AD203B41FA5}">
                      <a16:colId xmlns:a16="http://schemas.microsoft.com/office/drawing/2014/main" val="2519559983"/>
                    </a:ext>
                  </a:extLst>
                </a:gridCol>
                <a:gridCol w="2144332">
                  <a:extLst>
                    <a:ext uri="{9D8B030D-6E8A-4147-A177-3AD203B41FA5}">
                      <a16:colId xmlns:a16="http://schemas.microsoft.com/office/drawing/2014/main" val="3601258864"/>
                    </a:ext>
                  </a:extLst>
                </a:gridCol>
                <a:gridCol w="2144332">
                  <a:extLst>
                    <a:ext uri="{9D8B030D-6E8A-4147-A177-3AD203B41FA5}">
                      <a16:colId xmlns:a16="http://schemas.microsoft.com/office/drawing/2014/main" val="2915004621"/>
                    </a:ext>
                  </a:extLst>
                </a:gridCol>
                <a:gridCol w="2144332">
                  <a:extLst>
                    <a:ext uri="{9D8B030D-6E8A-4147-A177-3AD203B41FA5}">
                      <a16:colId xmlns:a16="http://schemas.microsoft.com/office/drawing/2014/main" val="2293047215"/>
                    </a:ext>
                  </a:extLst>
                </a:gridCol>
              </a:tblGrid>
              <a:tr h="57527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Áreas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Satisfação</a:t>
                      </a: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  </a:t>
                      </a: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Quantitativa</a:t>
                      </a: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 %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Satisfação</a:t>
                      </a: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Qualitativa</a:t>
                      </a: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 %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53885"/>
                  </a:ext>
                </a:extLst>
              </a:tr>
              <a:tr h="6774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2025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2026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2025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2026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92495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Via Classica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66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45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10.17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7272680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MARVs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↑100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5781851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Malaria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2660586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MTB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90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↑100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0618811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MMC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63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35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22.2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3526539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TDRs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4077690"/>
                  </a:ext>
                </a:extLst>
              </a:tr>
            </a:tbl>
          </a:graphicData>
        </a:graphic>
      </p:graphicFrame>
      <p:sp>
        <p:nvSpPr>
          <p:cNvPr id="382" name="Slide Number 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9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Rectangle 38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Rectangle 38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431" name="Google Shape;431;p31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433" name="Google Shape;43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576" y="0"/>
            <a:ext cx="12192000" cy="669340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AED">
              <a:alpha val="80000"/>
            </a:srgbClr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B3A5B"/>
                </a:solidFill>
              </a:rPr>
              <a:t>Principais</a:t>
            </a:r>
            <a:r>
              <a:rPr lang="en-US" sz="3600" b="1" i="0" u="none" strike="noStrike" cap="none" dirty="0">
                <a:solidFill>
                  <a:srgbClr val="1B3A5B"/>
                </a:solidFill>
              </a:rPr>
              <a:t> </a:t>
            </a:r>
            <a:r>
              <a:rPr lang="en-US" sz="3600" b="1" i="0" u="none" strike="noStrike" cap="none" dirty="0" err="1">
                <a:solidFill>
                  <a:srgbClr val="1B3A5B"/>
                </a:solidFill>
              </a:rPr>
              <a:t>resultados</a:t>
            </a:r>
            <a:endParaRPr lang="en-US" sz="3600" b="1" i="0" u="none" strike="noStrike" cap="none" dirty="0">
              <a:solidFill>
                <a:srgbClr val="FFFFFF"/>
              </a:solidFill>
            </a:endParaRPr>
          </a:p>
          <a:p>
            <a:pPr algn="ctr"/>
            <a:r>
              <a:rPr lang="pt-BR" sz="3600" b="1" dirty="0">
                <a:solidFill>
                  <a:srgbClr val="1B3A5B"/>
                </a:solidFill>
              </a:rPr>
              <a:t>Indicadores hospitalares</a:t>
            </a:r>
            <a:endParaRPr lang="pt-BR" sz="3600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cxnSp>
        <p:nvCxnSpPr>
          <p:cNvPr id="435" name="Google Shape;435;p31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6" name="Google Shape;436;p31"/>
          <p:cNvSpPr txBox="1"/>
          <p:nvPr/>
        </p:nvSpPr>
        <p:spPr>
          <a:xfrm>
            <a:off x="73829" y="1070487"/>
            <a:ext cx="7908480" cy="8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31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8" name="Google Shape;438;p31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sp>
        <p:nvSpPr>
          <p:cNvPr id="440" name="Slide Number 1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Rectangle 44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Rectangle 44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791961" y="5688070"/>
            <a:ext cx="3647974" cy="802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Padroes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:</a:t>
            </a:r>
          </a:p>
          <a:p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Cama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Médico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Clinica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Geral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: 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10</a:t>
            </a:r>
          </a:p>
          <a:p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Cama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Enfermeiro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: 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12 - 14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 bwMode="auto">
          <a:xfrm>
            <a:off x="366810" y="87798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Cama/Médico e Enfermeiro</a:t>
            </a:r>
          </a:p>
        </p:txBody>
      </p:sp>
      <p:graphicFrame>
        <p:nvGraphicFramePr>
          <p:cNvPr id="2" name="Chart 1" descr="Chart"/>
          <p:cNvGraphicFramePr/>
          <p:nvPr>
            <p:extLst>
              <p:ext uri="{D42A27DB-BD31-4B8C-83A1-F6EECF244321}">
                <p14:modId xmlns:p14="http://schemas.microsoft.com/office/powerpoint/2010/main" val="2136063073"/>
              </p:ext>
            </p:extLst>
          </p:nvPr>
        </p:nvGraphicFramePr>
        <p:xfrm>
          <a:off x="298335" y="878528"/>
          <a:ext cx="10911938" cy="459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Slide Number 1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1640543" y="793832"/>
            <a:ext cx="8956141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Tempo De Espera Para Cirurgias Electivas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1842"/>
              </p:ext>
            </p:extLst>
          </p:nvPr>
        </p:nvGraphicFramePr>
        <p:xfrm>
          <a:off x="773373" y="1958958"/>
          <a:ext cx="10876083" cy="3298562"/>
        </p:xfrm>
        <a:graphic>
          <a:graphicData uri="http://schemas.openxmlformats.org/drawingml/2006/table">
            <a:tbl>
              <a:tblPr/>
              <a:tblGrid>
                <a:gridCol w="1797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29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29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1017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Hospitais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Cirurgia</a:t>
                      </a: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Geral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Ortopedia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Oftalmologia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Ginecologia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173">
                <a:tc v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10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HGJM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10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HGM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365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365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 dias 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 dias 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lide Number 1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ta: Para Cima 3">
            <a:extLst>
              <a:ext uri="{FF2B5EF4-FFF2-40B4-BE49-F238E27FC236}">
                <a16:creationId xmlns:a16="http://schemas.microsoft.com/office/drawing/2014/main" id="{C0250726-DECD-B3D0-AA36-103C5E902CD7}"/>
              </a:ext>
            </a:extLst>
          </p:cNvPr>
          <p:cNvSpPr/>
          <p:nvPr/>
        </p:nvSpPr>
        <p:spPr>
          <a:xfrm>
            <a:off x="4889500" y="3848100"/>
            <a:ext cx="114300" cy="3429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Cima 4">
            <a:extLst>
              <a:ext uri="{FF2B5EF4-FFF2-40B4-BE49-F238E27FC236}">
                <a16:creationId xmlns:a16="http://schemas.microsoft.com/office/drawing/2014/main" id="{BA923A51-5CE2-2ED5-197A-078A9E899A54}"/>
              </a:ext>
            </a:extLst>
          </p:cNvPr>
          <p:cNvSpPr/>
          <p:nvPr/>
        </p:nvSpPr>
        <p:spPr>
          <a:xfrm>
            <a:off x="11509756" y="3761920"/>
            <a:ext cx="114300" cy="3429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ta: Para Cima 5">
            <a:extLst>
              <a:ext uri="{FF2B5EF4-FFF2-40B4-BE49-F238E27FC236}">
                <a16:creationId xmlns:a16="http://schemas.microsoft.com/office/drawing/2014/main" id="{AAC78324-7343-230F-603C-8BA516D7F35B}"/>
              </a:ext>
            </a:extLst>
          </p:cNvPr>
          <p:cNvSpPr/>
          <p:nvPr/>
        </p:nvSpPr>
        <p:spPr>
          <a:xfrm rot="10800000">
            <a:off x="9677400" y="3848100"/>
            <a:ext cx="203200" cy="41184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25D7D88E-2435-9CF9-363D-002EAB2B5DB7}"/>
              </a:ext>
            </a:extLst>
          </p:cNvPr>
          <p:cNvSpPr/>
          <p:nvPr/>
        </p:nvSpPr>
        <p:spPr>
          <a:xfrm rot="10800000">
            <a:off x="11566906" y="4624892"/>
            <a:ext cx="203200" cy="41184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Taxa de Ocupação de Camas (Toc)</a:t>
            </a:r>
          </a:p>
        </p:txBody>
      </p:sp>
      <p:graphicFrame>
        <p:nvGraphicFramePr>
          <p:cNvPr id="4" name="Chart 6" descr="Chart"/>
          <p:cNvGraphicFramePr/>
          <p:nvPr>
            <p:extLst>
              <p:ext uri="{D42A27DB-BD31-4B8C-83A1-F6EECF244321}">
                <p14:modId xmlns:p14="http://schemas.microsoft.com/office/powerpoint/2010/main" val="3003689410"/>
              </p:ext>
            </p:extLst>
          </p:nvPr>
        </p:nvGraphicFramePr>
        <p:xfrm>
          <a:off x="403759" y="1252677"/>
          <a:ext cx="10690065" cy="4838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5999" y="6119462"/>
            <a:ext cx="4029635" cy="36933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alt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STANDARD OMS: (80-90%)</a:t>
            </a:r>
          </a:p>
        </p:txBody>
      </p:sp>
      <p:sp>
        <p:nvSpPr>
          <p:cNvPr id="10" name="Slide Number 13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Rendimento Médio Por Cama</a:t>
            </a:r>
          </a:p>
        </p:txBody>
      </p:sp>
      <p:graphicFrame>
        <p:nvGraphicFramePr>
          <p:cNvPr id="3" name="Gráfico 2" descr="Chart"/>
          <p:cNvGraphicFramePr/>
          <p:nvPr>
            <p:extLst>
              <p:ext uri="{D42A27DB-BD31-4B8C-83A1-F6EECF244321}">
                <p14:modId xmlns:p14="http://schemas.microsoft.com/office/powerpoint/2010/main" val="1754916969"/>
              </p:ext>
            </p:extLst>
          </p:nvPr>
        </p:nvGraphicFramePr>
        <p:xfrm>
          <a:off x="500342" y="1336431"/>
          <a:ext cx="10571517" cy="4673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901332" y="2563607"/>
            <a:ext cx="10170792" cy="343767"/>
            <a:chOff x="9212035" y="2334987"/>
            <a:chExt cx="2943095" cy="342302"/>
          </a:xfrm>
          <a:solidFill>
            <a:srgbClr val="0070C0"/>
          </a:solidFill>
        </p:grpSpPr>
        <p:sp>
          <p:nvSpPr>
            <p:cNvPr id="4" name="Rectangle 14"/>
            <p:cNvSpPr/>
            <p:nvPr/>
          </p:nvSpPr>
          <p:spPr>
            <a:xfrm>
              <a:off x="11799443" y="2334987"/>
              <a:ext cx="355687" cy="32657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b="1" dirty="0">
                  <a:latin typeface="Arial Narrow" panose="020B0606020202030204" pitchFamily="34" charset="0"/>
                </a:rPr>
                <a:t>50-60</a:t>
              </a:r>
              <a:endParaRPr lang="en-US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 flipV="1">
              <a:off x="9212035" y="2661557"/>
              <a:ext cx="2682836" cy="15732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9212035" y="2334987"/>
              <a:ext cx="2682836" cy="16327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954135" y="5911850"/>
            <a:ext cx="2117725" cy="40703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pt-BR" b="1" dirty="0">
                <a:solidFill>
                  <a:schemeClr val="tx1"/>
                </a:solidFill>
                <a:latin typeface="Arial Narrow" panose="020B0606020202030204" pitchFamily="34" charset="0"/>
              </a:rPr>
              <a:t>HPI - Residentes (73)</a:t>
            </a:r>
          </a:p>
        </p:txBody>
      </p:sp>
      <p:sp>
        <p:nvSpPr>
          <p:cNvPr id="12" name="Slide Number 1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Taxa de Reinternamento</a:t>
            </a:r>
          </a:p>
        </p:txBody>
      </p:sp>
      <p:graphicFrame>
        <p:nvGraphicFramePr>
          <p:cNvPr id="2" name="Gráfico 1" descr="Chart"/>
          <p:cNvGraphicFramePr/>
          <p:nvPr>
            <p:extLst>
              <p:ext uri="{D42A27DB-BD31-4B8C-83A1-F6EECF244321}">
                <p14:modId xmlns:p14="http://schemas.microsoft.com/office/powerpoint/2010/main" val="3340032996"/>
              </p:ext>
            </p:extLst>
          </p:nvPr>
        </p:nvGraphicFramePr>
        <p:xfrm>
          <a:off x="455051" y="1488000"/>
          <a:ext cx="10410173" cy="4830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" name="Group 3">
            <a:extLst>
              <a:ext uri="{FF2B5EF4-FFF2-40B4-BE49-F238E27FC236}">
                <a16:creationId xmlns:a16="http://schemas.microsoft.com/office/drawing/2014/main" id="{CA00D69A-A46C-E494-6A81-22C67D5A40AB}"/>
              </a:ext>
            </a:extLst>
          </p:cNvPr>
          <p:cNvGrpSpPr/>
          <p:nvPr/>
        </p:nvGrpSpPr>
        <p:grpSpPr>
          <a:xfrm>
            <a:off x="726929" y="3303270"/>
            <a:ext cx="11287760" cy="251460"/>
            <a:chOff x="9222879" y="2378588"/>
            <a:chExt cx="2804291" cy="251686"/>
          </a:xfrm>
          <a:solidFill>
            <a:schemeClr val="tx1"/>
          </a:solidFill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C51E8D52-A032-1C29-1D61-C3E797A5A1F8}"/>
                </a:ext>
              </a:extLst>
            </p:cNvPr>
            <p:cNvSpPr/>
            <p:nvPr/>
          </p:nvSpPr>
          <p:spPr>
            <a:xfrm>
              <a:off x="11766911" y="2378588"/>
              <a:ext cx="260259" cy="251686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latin typeface="Arial Narrow" panose="020B0606020202030204" pitchFamily="34" charset="0"/>
                </a:rPr>
                <a:t>3%</a:t>
              </a:r>
              <a:endParaRPr lang="en-US" sz="1600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10" name="Straight Connector 5">
              <a:extLst>
                <a:ext uri="{FF2B5EF4-FFF2-40B4-BE49-F238E27FC236}">
                  <a16:creationId xmlns:a16="http://schemas.microsoft.com/office/drawing/2014/main" id="{9207681E-CFF2-DFF7-C344-FAF419901DD7}"/>
                </a:ext>
              </a:extLst>
            </p:cNvPr>
            <p:cNvCxnSpPr>
              <a:endCxn id="9" idx="1"/>
            </p:cNvCxnSpPr>
            <p:nvPr/>
          </p:nvCxnSpPr>
          <p:spPr>
            <a:xfrm flipV="1">
              <a:off x="9222879" y="2504431"/>
              <a:ext cx="2544032" cy="2790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Slide Number 1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Taxa de Abandono</a:t>
            </a:r>
          </a:p>
        </p:txBody>
      </p:sp>
      <p:graphicFrame>
        <p:nvGraphicFramePr>
          <p:cNvPr id="2" name="Gráfico 1" descr="Chart"/>
          <p:cNvGraphicFramePr/>
          <p:nvPr>
            <p:extLst>
              <p:ext uri="{D42A27DB-BD31-4B8C-83A1-F6EECF244321}">
                <p14:modId xmlns:p14="http://schemas.microsoft.com/office/powerpoint/2010/main" val="872573791"/>
              </p:ext>
            </p:extLst>
          </p:nvPr>
        </p:nvGraphicFramePr>
        <p:xfrm>
          <a:off x="298335" y="1317951"/>
          <a:ext cx="10911938" cy="4840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Group 3"/>
          <p:cNvGrpSpPr/>
          <p:nvPr/>
        </p:nvGrpSpPr>
        <p:grpSpPr>
          <a:xfrm>
            <a:off x="605905" y="4673290"/>
            <a:ext cx="11287760" cy="251460"/>
            <a:chOff x="9222879" y="2378588"/>
            <a:chExt cx="2804291" cy="251686"/>
          </a:xfrm>
          <a:solidFill>
            <a:schemeClr val="tx1"/>
          </a:solidFill>
        </p:grpSpPr>
        <p:sp>
          <p:nvSpPr>
            <p:cNvPr id="8" name="Rectangle 4"/>
            <p:cNvSpPr/>
            <p:nvPr/>
          </p:nvSpPr>
          <p:spPr>
            <a:xfrm>
              <a:off x="11766911" y="2378588"/>
              <a:ext cx="260259" cy="251686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latin typeface="Arial Narrow" panose="020B0606020202030204" pitchFamily="34" charset="0"/>
                </a:rPr>
                <a:t>1%</a:t>
              </a:r>
              <a:endParaRPr lang="en-US" sz="1600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11" name="Straight Connector 5"/>
            <p:cNvCxnSpPr>
              <a:endCxn id="8" idx="1"/>
            </p:cNvCxnSpPr>
            <p:nvPr/>
          </p:nvCxnSpPr>
          <p:spPr>
            <a:xfrm flipV="1">
              <a:off x="9222879" y="2504431"/>
              <a:ext cx="2544032" cy="2790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3"/>
          <p:cNvSpPr/>
          <p:nvPr/>
        </p:nvSpPr>
        <p:spPr>
          <a:xfrm>
            <a:off x="298335" y="6411965"/>
            <a:ext cx="2684416" cy="32101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tx1"/>
                </a:solidFill>
              </a:rPr>
              <a:t>Fonte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pt-PT" sz="1200" i="1" dirty="0">
                <a:solidFill>
                  <a:schemeClr val="tx1"/>
                </a:solidFill>
              </a:rPr>
              <a:t>Balan</a:t>
            </a:r>
            <a:r>
              <a:rPr lang="pt-PT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 Semestral 2026</a:t>
            </a:r>
            <a:endParaRPr lang="en-US" sz="1200" i="1" dirty="0">
              <a:solidFill>
                <a:schemeClr val="tx1"/>
              </a:solidFill>
            </a:endParaRPr>
          </a:p>
        </p:txBody>
      </p:sp>
      <p:sp>
        <p:nvSpPr>
          <p:cNvPr id="12" name="Slide Number 1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Taxa de Mortalidade Intra-hospitalar</a:t>
            </a:r>
          </a:p>
        </p:txBody>
      </p:sp>
      <p:graphicFrame>
        <p:nvGraphicFramePr>
          <p:cNvPr id="2" name="Gráfico 1" descr="Chart"/>
          <p:cNvGraphicFramePr/>
          <p:nvPr>
            <p:extLst>
              <p:ext uri="{D42A27DB-BD31-4B8C-83A1-F6EECF244321}">
                <p14:modId xmlns:p14="http://schemas.microsoft.com/office/powerpoint/2010/main" val="3534448546"/>
              </p:ext>
            </p:extLst>
          </p:nvPr>
        </p:nvGraphicFramePr>
        <p:xfrm>
          <a:off x="298335" y="1371986"/>
          <a:ext cx="10738071" cy="4932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" name="Group 7"/>
          <p:cNvGrpSpPr/>
          <p:nvPr/>
        </p:nvGrpSpPr>
        <p:grpSpPr>
          <a:xfrm>
            <a:off x="1191065" y="3283952"/>
            <a:ext cx="10376030" cy="290095"/>
            <a:chOff x="9142836" y="1667480"/>
            <a:chExt cx="2938431" cy="260791"/>
          </a:xfrm>
          <a:solidFill>
            <a:schemeClr val="tx1"/>
          </a:solidFill>
        </p:grpSpPr>
        <p:sp>
          <p:nvSpPr>
            <p:cNvPr id="5" name="Rectangle 8"/>
            <p:cNvSpPr/>
            <p:nvPr/>
          </p:nvSpPr>
          <p:spPr>
            <a:xfrm>
              <a:off x="11868122" y="1667480"/>
              <a:ext cx="213145" cy="260791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 dirty="0">
                  <a:latin typeface="Arial Narrow" panose="020B0606020202030204" pitchFamily="34" charset="0"/>
                </a:rPr>
                <a:t>4%</a:t>
              </a:r>
              <a:endParaRPr lang="en-US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6" name="Straight Connector 9"/>
            <p:cNvCxnSpPr/>
            <p:nvPr/>
          </p:nvCxnSpPr>
          <p:spPr>
            <a:xfrm>
              <a:off x="9142836" y="1799735"/>
              <a:ext cx="2727027" cy="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" name="Rectangle 3"/>
          <p:cNvSpPr/>
          <p:nvPr/>
        </p:nvSpPr>
        <p:spPr>
          <a:xfrm>
            <a:off x="298335" y="6411965"/>
            <a:ext cx="2684416" cy="32101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tx1"/>
                </a:solidFill>
              </a:rPr>
              <a:t>Fonte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pt-PT" sz="1200" i="1" dirty="0">
                <a:solidFill>
                  <a:schemeClr val="tx1"/>
                </a:solidFill>
              </a:rPr>
              <a:t>Balan</a:t>
            </a:r>
            <a:r>
              <a:rPr lang="pt-PT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 Semestral 2026</a:t>
            </a:r>
            <a:endParaRPr lang="en-US" sz="1200" i="1" dirty="0">
              <a:solidFill>
                <a:schemeClr val="tx1"/>
              </a:solidFill>
            </a:endParaRPr>
          </a:p>
        </p:txBody>
      </p:sp>
      <p:sp>
        <p:nvSpPr>
          <p:cNvPr id="12" name="Slide Number 1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6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498" name="Google Shape;498;p36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500" name="Google Shape;50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33" y="0"/>
            <a:ext cx="12192000" cy="683883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6"/>
          <p:cNvSpPr/>
          <p:nvPr/>
        </p:nvSpPr>
        <p:spPr>
          <a:xfrm>
            <a:off x="29633" y="9585"/>
            <a:ext cx="12192000" cy="6838830"/>
          </a:xfrm>
          <a:prstGeom prst="rect">
            <a:avLst/>
          </a:prstGeom>
          <a:solidFill>
            <a:srgbClr val="8D96D5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Coberturas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Planeamento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Familiar</a:t>
            </a:r>
            <a:endParaRPr dirty="0"/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Consulta Pré-Natal</a:t>
            </a:r>
            <a:endParaRPr dirty="0"/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Partos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Institucionais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Mortalidade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Materna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p36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03" name="Google Shape;503;p36"/>
          <p:cNvSpPr txBox="1"/>
          <p:nvPr/>
        </p:nvSpPr>
        <p:spPr>
          <a:xfrm>
            <a:off x="-1" y="1075801"/>
            <a:ext cx="5362237" cy="681310"/>
          </a:xfrm>
          <a:prstGeom prst="rect">
            <a:avLst/>
          </a:prstGeom>
          <a:solidFill>
            <a:srgbClr val="E7EA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Saúde Materna e </a:t>
            </a:r>
            <a:r>
              <a:rPr lang="en-US" sz="3600" b="1" i="0" u="none" strike="noStrike" cap="none" dirty="0" err="1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Infantil</a:t>
            </a:r>
            <a:endParaRPr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36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07" name="Slide Number 18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08" name="Rectangle 50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Rectangle 50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Rectangle 50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4D6272-E1A8-C016-52E6-C0B35C9F3A05}"/>
              </a:ext>
            </a:extLst>
          </p:cNvPr>
          <p:cNvSpPr>
            <a:spLocks noGrp="1"/>
          </p:cNvSpPr>
          <p:nvPr/>
        </p:nvSpPr>
        <p:spPr bwMode="auto">
          <a:xfrm>
            <a:off x="373225" y="110169"/>
            <a:ext cx="11092735" cy="660393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600" b="1">
                <a:solidFill>
                  <a:srgbClr val="1B3A5B"/>
                </a:solidFill>
                <a:latin typeface="Bodoni MT"/>
              </a:rPr>
              <a:t>Consultas Planeamento Familiar (PF) - Novas Utentes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108BEDB-52FA-2ED9-8F30-6391B62AD326}"/>
              </a:ext>
            </a:extLst>
          </p:cNvPr>
          <p:cNvGraphicFramePr>
            <a:graphicFrameLocks noGrp="1"/>
          </p:cNvGraphicFramePr>
          <p:nvPr/>
        </p:nvGraphicFramePr>
        <p:xfrm>
          <a:off x="157725" y="770562"/>
          <a:ext cx="11308235" cy="57839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8133">
                  <a:extLst>
                    <a:ext uri="{9D8B030D-6E8A-4147-A177-3AD203B41FA5}">
                      <a16:colId xmlns:a16="http://schemas.microsoft.com/office/drawing/2014/main" val="413045603"/>
                    </a:ext>
                  </a:extLst>
                </a:gridCol>
                <a:gridCol w="1748133">
                  <a:extLst>
                    <a:ext uri="{9D8B030D-6E8A-4147-A177-3AD203B41FA5}">
                      <a16:colId xmlns:a16="http://schemas.microsoft.com/office/drawing/2014/main" val="443367654"/>
                    </a:ext>
                  </a:extLst>
                </a:gridCol>
                <a:gridCol w="1543273">
                  <a:extLst>
                    <a:ext uri="{9D8B030D-6E8A-4147-A177-3AD203B41FA5}">
                      <a16:colId xmlns:a16="http://schemas.microsoft.com/office/drawing/2014/main" val="3945569464"/>
                    </a:ext>
                  </a:extLst>
                </a:gridCol>
                <a:gridCol w="1447672">
                  <a:extLst>
                    <a:ext uri="{9D8B030D-6E8A-4147-A177-3AD203B41FA5}">
                      <a16:colId xmlns:a16="http://schemas.microsoft.com/office/drawing/2014/main" val="2075649298"/>
                    </a:ext>
                  </a:extLst>
                </a:gridCol>
                <a:gridCol w="1543273">
                  <a:extLst>
                    <a:ext uri="{9D8B030D-6E8A-4147-A177-3AD203B41FA5}">
                      <a16:colId xmlns:a16="http://schemas.microsoft.com/office/drawing/2014/main" val="1204435080"/>
                    </a:ext>
                  </a:extLst>
                </a:gridCol>
                <a:gridCol w="1625218">
                  <a:extLst>
                    <a:ext uri="{9D8B030D-6E8A-4147-A177-3AD203B41FA5}">
                      <a16:colId xmlns:a16="http://schemas.microsoft.com/office/drawing/2014/main" val="1019984498"/>
                    </a:ext>
                  </a:extLst>
                </a:gridCol>
                <a:gridCol w="1652533">
                  <a:extLst>
                    <a:ext uri="{9D8B030D-6E8A-4147-A177-3AD203B41FA5}">
                      <a16:colId xmlns:a16="http://schemas.microsoft.com/office/drawing/2014/main" val="2036484469"/>
                    </a:ext>
                  </a:extLst>
                </a:gridCol>
              </a:tblGrid>
              <a:tr h="554151"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Distritos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GA/ pop MIF´s (15 - 49 anos) censo 2017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Realizado novas Utentes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Evol  </a:t>
                      </a:r>
                    </a:p>
                  </a:txBody>
                  <a:tcPr marL="68580" marR="68580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TC (%)</a:t>
                      </a:r>
                    </a:p>
                  </a:txBody>
                  <a:tcPr marL="68580" marR="68580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1a Consulta SSR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812042"/>
                  </a:ext>
                </a:extLst>
              </a:tr>
              <a:tr h="796594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769136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KaMpfumu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20 058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7088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5810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-18%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29%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3709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0983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Nhlamankulu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33 473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2808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2454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-13%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4291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737102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KaMaxakeni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51 514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1905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2206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16%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5216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998485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KaMavota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86 073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3160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3128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-1%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6155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01349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KaMubukwana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84 277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3649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2969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-19%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4214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85188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KaTembe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7 584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643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-24%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660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117657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KaNyaka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1 569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-29%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393175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Total Cidade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284 549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19386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17148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-12%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6%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24303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179575"/>
                  </a:ext>
                </a:extLst>
              </a:tr>
            </a:tbl>
          </a:graphicData>
        </a:graphic>
      </p:graphicFrame>
      <p:sp>
        <p:nvSpPr>
          <p:cNvPr id="2" name="Elipse 8">
            <a:extLst>
              <a:ext uri="{FF2B5EF4-FFF2-40B4-BE49-F238E27FC236}">
                <a16:creationId xmlns:a16="http://schemas.microsoft.com/office/drawing/2014/main" id="{55FB88BB-EF9B-2EDE-BEFE-0A26AEFCFDAC}"/>
              </a:ext>
            </a:extLst>
          </p:cNvPr>
          <p:cNvSpPr/>
          <p:nvPr/>
        </p:nvSpPr>
        <p:spPr>
          <a:xfrm>
            <a:off x="9640241" y="573540"/>
            <a:ext cx="2178534" cy="61739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err="1">
                <a:solidFill>
                  <a:schemeClr val="tx1"/>
                </a:solidFill>
                <a:latin typeface="Arial Narrow"/>
              </a:rPr>
              <a:t>Cob</a:t>
            </a:r>
            <a:r>
              <a:rPr lang="pt-BR" sz="1600" b="1">
                <a:solidFill>
                  <a:schemeClr val="tx1"/>
                </a:solidFill>
                <a:latin typeface="Arial Narrow"/>
              </a:rPr>
              <a:t> GA (31,7%)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1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08780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77948A3-BDF1-FF70-0EBE-87AC7FF45A72}"/>
              </a:ext>
            </a:extLst>
          </p:cNvPr>
          <p:cNvSpPr>
            <a:spLocks noGrp="1"/>
          </p:cNvSpPr>
          <p:nvPr/>
        </p:nvSpPr>
        <p:spPr bwMode="auto">
          <a:xfrm>
            <a:off x="246581" y="161323"/>
            <a:ext cx="11342670" cy="711980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b="1">
                <a:solidFill>
                  <a:srgbClr val="1B3A5B"/>
                </a:solidFill>
                <a:latin typeface="Bodoni MT"/>
              </a:rPr>
              <a:t>1</a:t>
            </a:r>
            <a:r>
              <a:rPr lang="en-US" sz="3600" b="1" baseline="30000">
                <a:solidFill>
                  <a:srgbClr val="1B3A5B"/>
                </a:solidFill>
                <a:latin typeface="Bodoni MT"/>
              </a:rPr>
              <a:t>as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 </a:t>
            </a:r>
            <a:r>
              <a:rPr lang="en-US" sz="3600" b="1" err="1">
                <a:solidFill>
                  <a:srgbClr val="1B3A5B"/>
                </a:solidFill>
                <a:latin typeface="Bodoni MT"/>
              </a:rPr>
              <a:t>Consultas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 </a:t>
            </a:r>
            <a:r>
              <a:rPr lang="en-US" sz="3600" b="1" err="1">
                <a:solidFill>
                  <a:srgbClr val="1B3A5B"/>
                </a:solidFill>
                <a:latin typeface="Bodoni MT"/>
              </a:rPr>
              <a:t>Pré-Natais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 (100%)</a:t>
            </a:r>
            <a:endParaRPr lang="en-US" sz="3600" b="1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graphicFrame>
        <p:nvGraphicFramePr>
          <p:cNvPr id="4" name="Tabela 1"/>
          <p:cNvGraphicFramePr>
            <a:graphicFrameLocks noGrp="1"/>
          </p:cNvGraphicFramePr>
          <p:nvPr/>
        </p:nvGraphicFramePr>
        <p:xfrm>
          <a:off x="278111" y="873303"/>
          <a:ext cx="11259618" cy="5823372"/>
        </p:xfrm>
        <a:graphic>
          <a:graphicData uri="http://schemas.openxmlformats.org/drawingml/2006/table">
            <a:tbl>
              <a:tblPr/>
              <a:tblGrid>
                <a:gridCol w="1764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3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3945">
                  <a:extLst>
                    <a:ext uri="{9D8B030D-6E8A-4147-A177-3AD203B41FA5}">
                      <a16:colId xmlns:a16="http://schemas.microsoft.com/office/drawing/2014/main" val="1300948797"/>
                    </a:ext>
                  </a:extLst>
                </a:gridCol>
                <a:gridCol w="1203945">
                  <a:extLst>
                    <a:ext uri="{9D8B030D-6E8A-4147-A177-3AD203B41FA5}">
                      <a16:colId xmlns:a16="http://schemas.microsoft.com/office/drawing/2014/main" val="1674263204"/>
                    </a:ext>
                  </a:extLst>
                </a:gridCol>
              </a:tblGrid>
              <a:tr h="509551">
                <a:tc gridSpan="9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</a:rPr>
                        <a:t> </a:t>
                      </a:r>
                      <a:r>
                        <a:rPr lang="pt-BR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1ª CPN</a:t>
                      </a:r>
                      <a:r>
                        <a:rPr lang="pt-BR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</a:rPr>
                        <a:t> </a:t>
                      </a:r>
                      <a:r>
                        <a:rPr lang="pt-BR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 (GA = 5% da População)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pt-BR" sz="2000" b="1" i="0" u="none" strike="noStrike" kern="1200" cap="non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pt-BR" sz="2000" b="1" i="0" u="none" strike="noStrike" kern="1200" cap="non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18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</a:rPr>
                        <a:t>Distritos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Realizado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Tx.E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Meta (100% do GA)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TC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1" i="0" u="none" strike="noStrike" kern="1200" cap="non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96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391411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KaMpfumu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4374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4615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6 145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75%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115%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Nhlamankulu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3759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4149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9 680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  <a:endParaRPr lang="en-US" sz="1800" dirty="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KaMaxakeni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4780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5579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17%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6 493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86%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54%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KaMavota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6333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-1%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16 231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39%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36%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KaMubukwana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4483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-4%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11 473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38%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25%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KaTembe</a:t>
                      </a:r>
                      <a:endParaRPr lang="en-US" sz="1800" b="0" i="0" u="none" strike="noStrike" kern="1200" cap="none" err="1">
                        <a:solidFill>
                          <a:schemeClr val="tx1"/>
                        </a:solidFill>
                        <a:effectLst/>
                        <a:latin typeface="Arial Narrow"/>
                        <a:ea typeface="+mn-ea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501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1 246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35%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KaNyaka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1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Total Distritos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24292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25542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51 424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50%</a:t>
                      </a:r>
                      <a:endParaRPr lang="en-US" sz="1800" b="1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45%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2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61234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F489-4370-43A8-B761-969DD9958AE5}"/>
              </a:ext>
            </a:extLst>
          </p:cNvPr>
          <p:cNvSpPr>
            <a:spLocks noGrp="1"/>
          </p:cNvSpPr>
          <p:nvPr/>
        </p:nvSpPr>
        <p:spPr bwMode="auto">
          <a:xfrm>
            <a:off x="276240" y="155138"/>
            <a:ext cx="11340453" cy="63333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3600" b="1" err="1">
                <a:solidFill>
                  <a:srgbClr val="1B3A5B"/>
                </a:solidFill>
                <a:latin typeface="Bodoni MT"/>
              </a:rPr>
              <a:t>Distribui</a:t>
            </a:r>
            <a:r>
              <a:rPr lang="en-US" sz="3600" b="1" err="1">
                <a:solidFill>
                  <a:srgbClr val="1B3A5B"/>
                </a:solidFill>
                <a:latin typeface="Bodoni MT"/>
                <a:cs typeface="Times New Roman"/>
              </a:rPr>
              <a:t>çã</a:t>
            </a:r>
            <a:r>
              <a:rPr lang="en-US" sz="3600" b="1" err="1">
                <a:solidFill>
                  <a:srgbClr val="1B3A5B"/>
                </a:solidFill>
                <a:latin typeface="Bodoni MT"/>
              </a:rPr>
              <a:t>o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 de Redes </a:t>
            </a:r>
            <a:r>
              <a:rPr lang="en-US" sz="3600" b="1" err="1">
                <a:solidFill>
                  <a:srgbClr val="1B3A5B"/>
                </a:solidFill>
                <a:latin typeface="Bodoni MT"/>
              </a:rPr>
              <a:t>Mosquiteiras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 (98%)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482A58A-476F-39BD-5A48-D1391EABF563}"/>
              </a:ext>
            </a:extLst>
          </p:cNvPr>
          <p:cNvGraphicFramePr>
            <a:graphicFrameLocks noGrp="1"/>
          </p:cNvGraphicFramePr>
          <p:nvPr/>
        </p:nvGraphicFramePr>
        <p:xfrm>
          <a:off x="276239" y="930145"/>
          <a:ext cx="11340451" cy="5772716"/>
        </p:xfrm>
        <a:graphic>
          <a:graphicData uri="http://schemas.openxmlformats.org/drawingml/2006/table">
            <a:tbl>
              <a:tblPr/>
              <a:tblGrid>
                <a:gridCol w="2749890">
                  <a:extLst>
                    <a:ext uri="{9D8B030D-6E8A-4147-A177-3AD203B41FA5}">
                      <a16:colId xmlns:a16="http://schemas.microsoft.com/office/drawing/2014/main" val="1642023510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2825825669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69835733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2862759915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3421096284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932342331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2980984433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3175127800"/>
                    </a:ext>
                  </a:extLst>
                </a:gridCol>
              </a:tblGrid>
              <a:tr h="7448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MG inscrita na Coorte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MG Redes Distribuídas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Evolução</a:t>
                      </a:r>
                    </a:p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%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% Cumprimento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214632"/>
                  </a:ext>
                </a:extLst>
              </a:tr>
              <a:tr h="55865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pt-PT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268058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KaMpfumu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3996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4403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2804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2853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70%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988983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Nhlamankulu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3899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4147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3895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4147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74919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KaMaxakeni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4051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5560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2956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69388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6299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6755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6722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846588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4147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4978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4867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70748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471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469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700613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617702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Cidade De Maputo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22909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26413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19518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22078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832222"/>
                  </a:ext>
                </a:extLst>
              </a:tr>
            </a:tbl>
          </a:graphicData>
        </a:graphic>
      </p:graphicFrame>
      <p:sp>
        <p:nvSpPr>
          <p:cNvPr id="5" name="Slide Number 2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44719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16894D4-B61E-FE97-CD5D-9E7EB9BC4670}"/>
              </a:ext>
            </a:extLst>
          </p:cNvPr>
          <p:cNvGraphicFramePr>
            <a:graphicFrameLocks noGrp="1"/>
          </p:cNvGraphicFramePr>
          <p:nvPr/>
        </p:nvGraphicFramePr>
        <p:xfrm>
          <a:off x="335910" y="1023121"/>
          <a:ext cx="11562721" cy="5659415"/>
        </p:xfrm>
        <a:graphic>
          <a:graphicData uri="http://schemas.openxmlformats.org/drawingml/2006/table">
            <a:tbl>
              <a:tblPr/>
              <a:tblGrid>
                <a:gridCol w="1944100">
                  <a:extLst>
                    <a:ext uri="{9D8B030D-6E8A-4147-A177-3AD203B41FA5}">
                      <a16:colId xmlns:a16="http://schemas.microsoft.com/office/drawing/2014/main" val="338545124"/>
                    </a:ext>
                  </a:extLst>
                </a:gridCol>
                <a:gridCol w="1366812">
                  <a:extLst>
                    <a:ext uri="{9D8B030D-6E8A-4147-A177-3AD203B41FA5}">
                      <a16:colId xmlns:a16="http://schemas.microsoft.com/office/drawing/2014/main" val="265283643"/>
                    </a:ext>
                  </a:extLst>
                </a:gridCol>
                <a:gridCol w="1061190">
                  <a:extLst>
                    <a:ext uri="{9D8B030D-6E8A-4147-A177-3AD203B41FA5}">
                      <a16:colId xmlns:a16="http://schemas.microsoft.com/office/drawing/2014/main" val="2750717593"/>
                    </a:ext>
                  </a:extLst>
                </a:gridCol>
                <a:gridCol w="1061190">
                  <a:extLst>
                    <a:ext uri="{9D8B030D-6E8A-4147-A177-3AD203B41FA5}">
                      <a16:colId xmlns:a16="http://schemas.microsoft.com/office/drawing/2014/main" val="3157157121"/>
                    </a:ext>
                  </a:extLst>
                </a:gridCol>
                <a:gridCol w="1061190">
                  <a:extLst>
                    <a:ext uri="{9D8B030D-6E8A-4147-A177-3AD203B41FA5}">
                      <a16:colId xmlns:a16="http://schemas.microsoft.com/office/drawing/2014/main" val="2519813181"/>
                    </a:ext>
                  </a:extLst>
                </a:gridCol>
                <a:gridCol w="933845">
                  <a:extLst>
                    <a:ext uri="{9D8B030D-6E8A-4147-A177-3AD203B41FA5}">
                      <a16:colId xmlns:a16="http://schemas.microsoft.com/office/drawing/2014/main" val="3607442658"/>
                    </a:ext>
                  </a:extLst>
                </a:gridCol>
                <a:gridCol w="1655456">
                  <a:extLst>
                    <a:ext uri="{9D8B030D-6E8A-4147-A177-3AD203B41FA5}">
                      <a16:colId xmlns:a16="http://schemas.microsoft.com/office/drawing/2014/main" val="2593717671"/>
                    </a:ext>
                  </a:extLst>
                </a:gridCol>
                <a:gridCol w="1222489">
                  <a:extLst>
                    <a:ext uri="{9D8B030D-6E8A-4147-A177-3AD203B41FA5}">
                      <a16:colId xmlns:a16="http://schemas.microsoft.com/office/drawing/2014/main" val="975094596"/>
                    </a:ext>
                  </a:extLst>
                </a:gridCol>
                <a:gridCol w="1256449">
                  <a:extLst>
                    <a:ext uri="{9D8B030D-6E8A-4147-A177-3AD203B41FA5}">
                      <a16:colId xmlns:a16="http://schemas.microsoft.com/office/drawing/2014/main" val="1486161414"/>
                    </a:ext>
                  </a:extLst>
                </a:gridCol>
              </a:tblGrid>
              <a:tr h="133019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Mulheres inscritas (COORTE- 6meses)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Realizado 4ª CPN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TC%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2 ª Dose de TIP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4ª Dose de TIP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Mulheres que receberam CTZ na Coorte 6meses)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%TIP 2 e CTZ (Meta </a:t>
                      </a:r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89.9</a:t>
                      </a:r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%)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% TIP4 e CTZ (Meta - </a:t>
                      </a:r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85.8</a:t>
                      </a:r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%)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44808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KaMpfumu</a:t>
                      </a:r>
                      <a:endParaRPr lang="pt-PT" sz="2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4403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2900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2284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2101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483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59%</a:t>
                      </a:r>
                      <a:endParaRPr lang="pt-MZ" sz="2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365070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Nlhamankulu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4147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3437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3178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2711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482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505408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KaMaxakeni</a:t>
                      </a:r>
                      <a:endParaRPr lang="pt-PT" sz="2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5560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4148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2725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2332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65373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6755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6051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5193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4494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691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811369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4978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4079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4256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3699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40780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506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297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16002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846701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Maputo Cidade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26413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21011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18050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15672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2512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23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650F57B9-9C38-7E7F-2F55-4ECE7BBED477}"/>
              </a:ext>
            </a:extLst>
          </p:cNvPr>
          <p:cNvSpPr>
            <a:spLocks noGrp="1"/>
          </p:cNvSpPr>
          <p:nvPr/>
        </p:nvSpPr>
        <p:spPr bwMode="auto">
          <a:xfrm>
            <a:off x="441788" y="175464"/>
            <a:ext cx="11352945" cy="694678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3600" b="1">
                <a:solidFill>
                  <a:srgbClr val="1B3A5B"/>
                </a:solidFill>
                <a:latin typeface="Bodoni MT"/>
              </a:rPr>
              <a:t>Tratamento Intermitente Preventivo da Malária (TIP)</a:t>
            </a:r>
            <a:endParaRPr lang="pt-PT" altLang="en-US" sz="3600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5" name="Slide Number 2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60459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58F489-4370-43A8-B761-969DD9958AE5}"/>
              </a:ext>
            </a:extLst>
          </p:cNvPr>
          <p:cNvSpPr>
            <a:spLocks noGrp="1"/>
          </p:cNvSpPr>
          <p:nvPr/>
        </p:nvSpPr>
        <p:spPr bwMode="auto">
          <a:xfrm>
            <a:off x="564791" y="210222"/>
            <a:ext cx="10998293" cy="533400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4000" b="1" err="1">
                <a:solidFill>
                  <a:srgbClr val="1B3A5B"/>
                </a:solidFill>
                <a:latin typeface="Bodoni MT"/>
              </a:rPr>
              <a:t>Cobertura</a:t>
            </a:r>
            <a:r>
              <a:rPr lang="en-US" sz="4000" b="1">
                <a:solidFill>
                  <a:srgbClr val="1B3A5B"/>
                </a:solidFill>
                <a:latin typeface="Bodoni MT"/>
              </a:rPr>
              <a:t> de Partos </a:t>
            </a:r>
            <a:r>
              <a:rPr lang="en-US" sz="4000" b="1" err="1">
                <a:solidFill>
                  <a:srgbClr val="1B3A5B"/>
                </a:solidFill>
                <a:latin typeface="Bodoni MT"/>
              </a:rPr>
              <a:t>Instituicionais</a:t>
            </a:r>
            <a:r>
              <a:rPr lang="en-US" sz="4000" b="1">
                <a:solidFill>
                  <a:srgbClr val="1B3A5B"/>
                </a:solidFill>
                <a:latin typeface="Bodoni MT"/>
              </a:rPr>
              <a:t>  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44D2814-AD2F-E714-38DB-16908EEC2C98}"/>
              </a:ext>
            </a:extLst>
          </p:cNvPr>
          <p:cNvGraphicFramePr>
            <a:graphicFrameLocks noGrp="1"/>
          </p:cNvGraphicFramePr>
          <p:nvPr/>
        </p:nvGraphicFramePr>
        <p:xfrm>
          <a:off x="564790" y="829853"/>
          <a:ext cx="10998294" cy="5817927"/>
        </p:xfrm>
        <a:graphic>
          <a:graphicData uri="http://schemas.openxmlformats.org/drawingml/2006/table">
            <a:tbl>
              <a:tblPr/>
              <a:tblGrid>
                <a:gridCol w="2220053">
                  <a:extLst>
                    <a:ext uri="{9D8B030D-6E8A-4147-A177-3AD203B41FA5}">
                      <a16:colId xmlns:a16="http://schemas.microsoft.com/office/drawing/2014/main" val="3564965205"/>
                    </a:ext>
                  </a:extLst>
                </a:gridCol>
                <a:gridCol w="1932317">
                  <a:extLst>
                    <a:ext uri="{9D8B030D-6E8A-4147-A177-3AD203B41FA5}">
                      <a16:colId xmlns:a16="http://schemas.microsoft.com/office/drawing/2014/main" val="3775619829"/>
                    </a:ext>
                  </a:extLst>
                </a:gridCol>
                <a:gridCol w="1744607">
                  <a:extLst>
                    <a:ext uri="{9D8B030D-6E8A-4147-A177-3AD203B41FA5}">
                      <a16:colId xmlns:a16="http://schemas.microsoft.com/office/drawing/2014/main" val="3676989006"/>
                    </a:ext>
                  </a:extLst>
                </a:gridCol>
                <a:gridCol w="1645230">
                  <a:extLst>
                    <a:ext uri="{9D8B030D-6E8A-4147-A177-3AD203B41FA5}">
                      <a16:colId xmlns:a16="http://schemas.microsoft.com/office/drawing/2014/main" val="2576115574"/>
                    </a:ext>
                  </a:extLst>
                </a:gridCol>
                <a:gridCol w="1523771">
                  <a:extLst>
                    <a:ext uri="{9D8B030D-6E8A-4147-A177-3AD203B41FA5}">
                      <a16:colId xmlns:a16="http://schemas.microsoft.com/office/drawing/2014/main" val="1015013902"/>
                    </a:ext>
                  </a:extLst>
                </a:gridCol>
                <a:gridCol w="1932316">
                  <a:extLst>
                    <a:ext uri="{9D8B030D-6E8A-4147-A177-3AD203B41FA5}">
                      <a16:colId xmlns:a16="http://schemas.microsoft.com/office/drawing/2014/main" val="1330669029"/>
                    </a:ext>
                  </a:extLst>
                </a:gridCol>
              </a:tblGrid>
              <a:tr h="4595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Partos Institucionais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Evol 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Meta Anual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IC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17605"/>
                  </a:ext>
                </a:extLst>
              </a:tr>
              <a:tr h="459575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353469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KaMpfumu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6595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6964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12324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75896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Nhlamankulu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5928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7817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32%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12186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571558"/>
                  </a:ext>
                </a:extLst>
              </a:tr>
              <a:tr h="69188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KaMaxakeni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679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942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39%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1600,3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59%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828879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4952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6436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11526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56%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895726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KaMubukwana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1436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1468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2820,8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52%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786451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KaTembe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255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262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501,53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52%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79483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79,079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57%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096699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Cidade de Maputo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19885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23934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41037</a:t>
                      </a:r>
                      <a:endParaRPr lang="pt-MZ" sz="18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58%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176971"/>
                  </a:ext>
                </a:extLst>
              </a:tr>
            </a:tbl>
          </a:graphicData>
        </a:graphic>
      </p:graphicFrame>
      <p:sp>
        <p:nvSpPr>
          <p:cNvPr id="10" name="Slide Number 23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64041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58F489-4370-43A8-B761-969DD9958AE5}"/>
              </a:ext>
            </a:extLst>
          </p:cNvPr>
          <p:cNvSpPr>
            <a:spLocks noGrp="1"/>
          </p:cNvSpPr>
          <p:nvPr/>
        </p:nvSpPr>
        <p:spPr bwMode="auto">
          <a:xfrm>
            <a:off x="564792" y="210222"/>
            <a:ext cx="10685410" cy="533400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4000" b="1">
                <a:solidFill>
                  <a:srgbClr val="1B3A5B"/>
                </a:solidFill>
                <a:latin typeface="Bodoni MT"/>
              </a:rPr>
              <a:t>Partos Fora da </a:t>
            </a:r>
            <a:r>
              <a:rPr lang="en-US" sz="4000" b="1" err="1">
                <a:solidFill>
                  <a:srgbClr val="1B3A5B"/>
                </a:solidFill>
                <a:latin typeface="Bodoni MT"/>
              </a:rPr>
              <a:t>Maternidade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44D2814-AD2F-E714-38DB-16908EEC2C98}"/>
              </a:ext>
            </a:extLst>
          </p:cNvPr>
          <p:cNvGraphicFramePr>
            <a:graphicFrameLocks noGrp="1"/>
          </p:cNvGraphicFramePr>
          <p:nvPr/>
        </p:nvGraphicFramePr>
        <p:xfrm>
          <a:off x="564790" y="934945"/>
          <a:ext cx="10670524" cy="5541270"/>
        </p:xfrm>
        <a:graphic>
          <a:graphicData uri="http://schemas.openxmlformats.org/drawingml/2006/table">
            <a:tbl>
              <a:tblPr/>
              <a:tblGrid>
                <a:gridCol w="3247552">
                  <a:extLst>
                    <a:ext uri="{9D8B030D-6E8A-4147-A177-3AD203B41FA5}">
                      <a16:colId xmlns:a16="http://schemas.microsoft.com/office/drawing/2014/main" val="3564965205"/>
                    </a:ext>
                  </a:extLst>
                </a:gridCol>
                <a:gridCol w="1855743">
                  <a:extLst>
                    <a:ext uri="{9D8B030D-6E8A-4147-A177-3AD203B41FA5}">
                      <a16:colId xmlns:a16="http://schemas.microsoft.com/office/drawing/2014/main" val="3775619829"/>
                    </a:ext>
                  </a:extLst>
                </a:gridCol>
                <a:gridCol w="1855743">
                  <a:extLst>
                    <a:ext uri="{9D8B030D-6E8A-4147-A177-3AD203B41FA5}">
                      <a16:colId xmlns:a16="http://schemas.microsoft.com/office/drawing/2014/main" val="3676989006"/>
                    </a:ext>
                  </a:extLst>
                </a:gridCol>
                <a:gridCol w="1855743">
                  <a:extLst>
                    <a:ext uri="{9D8B030D-6E8A-4147-A177-3AD203B41FA5}">
                      <a16:colId xmlns:a16="http://schemas.microsoft.com/office/drawing/2014/main" val="2576115574"/>
                    </a:ext>
                  </a:extLst>
                </a:gridCol>
                <a:gridCol w="1855743">
                  <a:extLst>
                    <a:ext uri="{9D8B030D-6E8A-4147-A177-3AD203B41FA5}">
                      <a16:colId xmlns:a16="http://schemas.microsoft.com/office/drawing/2014/main" val="3170427381"/>
                    </a:ext>
                  </a:extLst>
                </a:gridCol>
              </a:tblGrid>
              <a:tr h="55412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Nº Partos Fora Maternidade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% Parto Fora</a:t>
                      </a:r>
                      <a:r>
                        <a:rPr lang="pt-PT" sz="2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 da Maternidade</a:t>
                      </a:r>
                      <a:endParaRPr lang="pt-PT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Evolução 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17605"/>
                  </a:ext>
                </a:extLst>
              </a:tr>
              <a:tr h="554127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353469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KaMpfumu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93%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975896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Nhlamankulu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6571558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KaMaxakeni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-7%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7828879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-40%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2895726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53%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786451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-25%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679483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9096699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Total Distritos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291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-7%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8176971"/>
                  </a:ext>
                </a:extLst>
              </a:tr>
            </a:tbl>
          </a:graphicData>
        </a:graphic>
      </p:graphicFrame>
      <p:sp>
        <p:nvSpPr>
          <p:cNvPr id="10" name="Slide Number 2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26146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4892-8B1D-E8D3-CE6C-8F66393B5DC6}"/>
              </a:ext>
            </a:extLst>
          </p:cNvPr>
          <p:cNvSpPr>
            <a:spLocks noGrp="1"/>
          </p:cNvSpPr>
          <p:nvPr/>
        </p:nvSpPr>
        <p:spPr bwMode="auto">
          <a:xfrm>
            <a:off x="564792" y="210222"/>
            <a:ext cx="10685410" cy="533400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4000" b="1" dirty="0" err="1">
                <a:solidFill>
                  <a:srgbClr val="1B3A5B"/>
                </a:solidFill>
                <a:latin typeface="Bodoni MT"/>
              </a:rPr>
              <a:t>Mortalidade</a:t>
            </a:r>
            <a:r>
              <a:rPr lang="en-US" sz="4000" b="1" dirty="0">
                <a:solidFill>
                  <a:srgbClr val="1B3A5B"/>
                </a:solidFill>
                <a:latin typeface="Bodoni MT"/>
              </a:rPr>
              <a:t> Intra-</a:t>
            </a:r>
            <a:r>
              <a:rPr lang="en-US" sz="4000" b="1" dirty="0" err="1">
                <a:solidFill>
                  <a:srgbClr val="1B3A5B"/>
                </a:solidFill>
                <a:latin typeface="Bodoni MT"/>
              </a:rPr>
              <a:t>hospitalar</a:t>
            </a:r>
            <a:endParaRPr lang="en-US" sz="4000" b="1" dirty="0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4" name="Google Shape;589;p42">
            <a:extLst>
              <a:ext uri="{FF2B5EF4-FFF2-40B4-BE49-F238E27FC236}">
                <a16:creationId xmlns:a16="http://schemas.microsoft.com/office/drawing/2014/main" id="{8943AA05-0FB4-92EC-02CA-A5810F4E1D96}"/>
              </a:ext>
            </a:extLst>
          </p:cNvPr>
          <p:cNvSpPr txBox="1"/>
          <p:nvPr/>
        </p:nvSpPr>
        <p:spPr>
          <a:xfrm>
            <a:off x="348343" y="922726"/>
            <a:ext cx="572703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Rácio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Mortalidade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Materna IH por 100,000 NV </a:t>
            </a:r>
            <a:endParaRPr dirty="0"/>
          </a:p>
        </p:txBody>
      </p:sp>
      <p:sp>
        <p:nvSpPr>
          <p:cNvPr id="5" name="Google Shape;590;p42">
            <a:extLst>
              <a:ext uri="{FF2B5EF4-FFF2-40B4-BE49-F238E27FC236}">
                <a16:creationId xmlns:a16="http://schemas.microsoft.com/office/drawing/2014/main" id="{7CA315F2-182B-9DC2-2A17-ACA42DF2470E}"/>
              </a:ext>
            </a:extLst>
          </p:cNvPr>
          <p:cNvSpPr txBox="1"/>
          <p:nvPr/>
        </p:nvSpPr>
        <p:spPr>
          <a:xfrm>
            <a:off x="6711011" y="872970"/>
            <a:ext cx="47950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natimortalidade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intra-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hospitalar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Chart 4" descr="Chart">
            <a:extLst>
              <a:ext uri="{FF2B5EF4-FFF2-40B4-BE49-F238E27FC236}">
                <a16:creationId xmlns:a16="http://schemas.microsoft.com/office/drawing/2014/main" id="{8CADCA3F-449B-CD07-33B6-2437D99E41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332963"/>
              </p:ext>
            </p:extLst>
          </p:nvPr>
        </p:nvGraphicFramePr>
        <p:xfrm>
          <a:off x="348343" y="1291456"/>
          <a:ext cx="5747657" cy="497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5" descr="Chart">
            <a:extLst>
              <a:ext uri="{FF2B5EF4-FFF2-40B4-BE49-F238E27FC236}">
                <a16:creationId xmlns:a16="http://schemas.microsoft.com/office/drawing/2014/main" id="{4A274FD9-3FA0-3ABE-EBF6-3C1B6EAA7C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803302"/>
              </p:ext>
            </p:extLst>
          </p:nvPr>
        </p:nvGraphicFramePr>
        <p:xfrm>
          <a:off x="6212114" y="1291457"/>
          <a:ext cx="5747657" cy="4958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lide Number 2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11086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3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616" name="Google Shape;616;p43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618" name="Google Shape;618;p43"/>
          <p:cNvPicPr preferRelativeResize="0"/>
          <p:nvPr/>
        </p:nvPicPr>
        <p:blipFill rotWithShape="1">
          <a:blip r:embed="rId3">
            <a:alphaModFix/>
          </a:blip>
          <a:srcRect b="6769"/>
          <a:stretch/>
        </p:blipFill>
        <p:spPr>
          <a:xfrm>
            <a:off x="-1" y="0"/>
            <a:ext cx="12211978" cy="820549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3"/>
          <p:cNvSpPr/>
          <p:nvPr/>
        </p:nvSpPr>
        <p:spPr>
          <a:xfrm>
            <a:off x="-1" y="-247292"/>
            <a:ext cx="12192000" cy="7930883"/>
          </a:xfrm>
          <a:prstGeom prst="rect">
            <a:avLst/>
          </a:prstGeom>
          <a:solidFill>
            <a:srgbClr val="5262C3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PT" sz="2400" b="1" dirty="0">
                <a:solidFill>
                  <a:schemeClr val="bg1"/>
                </a:solidFill>
                <a:latin typeface="+mj-lt"/>
              </a:rPr>
              <a:t>Baixo Peso a Nascença (&lt;4,3%)</a:t>
            </a:r>
            <a:endParaRPr lang="pt-PT" altLang="en-US" sz="2400" b="1" dirty="0">
              <a:solidFill>
                <a:schemeClr val="bg1"/>
              </a:solidFill>
              <a:latin typeface="+mj-lt"/>
            </a:endParaRPr>
          </a:p>
          <a:p>
            <a:r>
              <a:rPr lang="pt-PT" sz="2400" b="1" dirty="0">
                <a:solidFill>
                  <a:schemeClr val="bg1"/>
                </a:solidFill>
                <a:latin typeface="+mj-lt"/>
              </a:rPr>
              <a:t>Programa de Reabilitação Nutricional</a:t>
            </a:r>
            <a:endParaRPr lang="pt-PT" altLang="en-US" sz="2400" b="1" dirty="0">
              <a:solidFill>
                <a:schemeClr val="bg1"/>
              </a:solidFill>
              <a:latin typeface="+mj-lt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43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1" name="Google Shape;621;p43"/>
          <p:cNvSpPr txBox="1"/>
          <p:nvPr/>
        </p:nvSpPr>
        <p:spPr>
          <a:xfrm>
            <a:off x="0" y="1064507"/>
            <a:ext cx="4947385" cy="662060"/>
          </a:xfrm>
          <a:prstGeom prst="rect">
            <a:avLst/>
          </a:prstGeom>
          <a:solidFill>
            <a:srgbClr val="E7EA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Nutrição</a:t>
            </a: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43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3" name="Google Shape;623;p43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624" name="Google Shape;62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Slide Number 2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Rectangle 62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Rectangle 62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0A903DD-2AD3-5B65-241A-9B792E15AAA7}"/>
              </a:ext>
            </a:extLst>
          </p:cNvPr>
          <p:cNvSpPr>
            <a:spLocks noGrp="1"/>
          </p:cNvSpPr>
          <p:nvPr/>
        </p:nvSpPr>
        <p:spPr bwMode="auto">
          <a:xfrm>
            <a:off x="195210" y="175464"/>
            <a:ext cx="11722810" cy="694678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4000" b="1" dirty="0">
                <a:solidFill>
                  <a:srgbClr val="1B3A5B"/>
                </a:solidFill>
                <a:latin typeface="Bodoni MT"/>
              </a:rPr>
              <a:t>Baixo Peso a Nascença (&lt;4,3%)</a:t>
            </a:r>
            <a:endParaRPr lang="pt-PT" altLang="en-US" sz="4000" b="1" dirty="0">
              <a:solidFill>
                <a:schemeClr val="bg1"/>
              </a:solidFill>
              <a:latin typeface="Bodoni M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5209" y="1045631"/>
          <a:ext cx="11722808" cy="5413041"/>
        </p:xfrm>
        <a:graphic>
          <a:graphicData uri="http://schemas.openxmlformats.org/drawingml/2006/table">
            <a:tbl>
              <a:tblPr firstRow="1" firstCol="1" bandRow="1"/>
              <a:tblGrid>
                <a:gridCol w="244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1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8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9300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Distritos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7646" marR="676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Vivos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7646" marR="67646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Peso &lt;2,5 Kg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7646" marR="67646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Taxa de Baixo Peso a Nascença (&lt;4,3%)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7646" marR="67646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KaMpfumu</a:t>
                      </a:r>
                      <a:endParaRPr lang="en-GB" sz="2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6560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6981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305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Nhlamankulu</a:t>
                      </a:r>
                      <a:endParaRPr lang="en-GB" sz="2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5888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7685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KaMaxakeni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695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947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KaMavota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4901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6403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322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403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KaMubukwana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1430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1463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KaTembe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255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b="1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Maputo Cidade</a:t>
                      </a:r>
                      <a:endParaRPr lang="en-GB" sz="2000" b="1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19770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23784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856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1051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2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99862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0A903DD-2AD3-5B65-241A-9B792E15AAA7}"/>
              </a:ext>
            </a:extLst>
          </p:cNvPr>
          <p:cNvSpPr>
            <a:spLocks noGrp="1"/>
          </p:cNvSpPr>
          <p:nvPr/>
        </p:nvSpPr>
        <p:spPr bwMode="auto">
          <a:xfrm>
            <a:off x="239384" y="109203"/>
            <a:ext cx="11722810" cy="694678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3600" b="1" dirty="0">
                <a:solidFill>
                  <a:srgbClr val="1B3A5B"/>
                </a:solidFill>
                <a:latin typeface="Bodoni MT"/>
              </a:rPr>
              <a:t>Programa de Reabilitação Nutricional</a:t>
            </a:r>
            <a:endParaRPr lang="pt-PT" altLang="en-US" sz="3600" b="1" dirty="0">
              <a:solidFill>
                <a:schemeClr val="bg1"/>
              </a:solidFill>
              <a:latin typeface="Bodoni M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604" y="856710"/>
          <a:ext cx="11996791" cy="6001290"/>
        </p:xfrm>
        <a:graphic>
          <a:graphicData uri="http://schemas.openxmlformats.org/drawingml/2006/table">
            <a:tbl>
              <a:tblPr firstRow="1" firstCol="1" bandRow="1"/>
              <a:tblGrid>
                <a:gridCol w="180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1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72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2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76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7624">
                  <a:extLst>
                    <a:ext uri="{9D8B030D-6E8A-4147-A177-3AD203B41FA5}">
                      <a16:colId xmlns:a16="http://schemas.microsoft.com/office/drawing/2014/main" val="4039238917"/>
                    </a:ext>
                  </a:extLst>
                </a:gridCol>
                <a:gridCol w="787624">
                  <a:extLst>
                    <a:ext uri="{9D8B030D-6E8A-4147-A177-3AD203B41FA5}">
                      <a16:colId xmlns:a16="http://schemas.microsoft.com/office/drawing/2014/main" val="2251291794"/>
                    </a:ext>
                  </a:extLst>
                </a:gridCol>
                <a:gridCol w="787624">
                  <a:extLst>
                    <a:ext uri="{9D8B030D-6E8A-4147-A177-3AD203B41FA5}">
                      <a16:colId xmlns:a16="http://schemas.microsoft.com/office/drawing/2014/main" val="3999746899"/>
                    </a:ext>
                  </a:extLst>
                </a:gridCol>
              </a:tblGrid>
              <a:tr h="48393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Distritos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Admissões</a:t>
                      </a:r>
                      <a:endParaRPr lang="en-US" sz="200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Saídas</a:t>
                      </a:r>
                      <a:endParaRPr lang="en-US" sz="200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6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DAG</a:t>
                      </a:r>
                      <a:endParaRPr lang="en-US" sz="1800" dirty="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DAM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Total</a:t>
                      </a:r>
                      <a:endParaRPr lang="en-US" sz="180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Curados (&gt;80%)</a:t>
                      </a:r>
                      <a:endParaRPr lang="en-US" sz="1800" dirty="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Abandonos (&lt;15%)</a:t>
                      </a:r>
                      <a:endParaRPr lang="en-US" sz="1800" dirty="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Óbitos (&lt;10%)</a:t>
                      </a:r>
                      <a:endParaRPr lang="en-US" sz="1800" dirty="0">
                        <a:effectLst/>
                        <a:latin typeface="Arial Narrow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5725" marR="85725" algn="just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Refer. p/TDI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just">
                        <a:buNone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Transp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/outro sector/US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 pitchFamily="18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KaMpfumo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07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58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35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83.3%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4.7%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42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Nhlamankulu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41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49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71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86.5%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7.3%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82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KaMaxakeni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33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45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48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l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100%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48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/>
                        </a:rPr>
                        <a:t>KaMavota</a:t>
                      </a:r>
                      <a:endParaRPr lang="pt-PT" sz="2000" b="0" i="0" u="none" strike="noStrike" noProof="0" err="1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43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191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234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197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91.6%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4.1%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215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KaMubukwana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43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84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68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90.6%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6.6%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75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KaTembe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46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90.6%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32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00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06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100%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06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1" u="none" strike="noStrike" noProof="0">
                          <a:effectLst/>
                          <a:latin typeface="Arial Narrow"/>
                        </a:rPr>
                        <a:t>Maputo Cidade</a:t>
                      </a:r>
                      <a:endParaRPr lang="pt-PT" sz="2000" b="1" i="0" u="none" strike="noStrike" noProof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160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412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572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456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91.2%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22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4.4%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15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500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lide Number 28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84974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7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681" name="Google Shape;681;p47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683" name="Google Shape;683;p47"/>
          <p:cNvPicPr preferRelativeResize="0"/>
          <p:nvPr/>
        </p:nvPicPr>
        <p:blipFill rotWithShape="1">
          <a:blip r:embed="rId3">
            <a:alphaModFix/>
          </a:blip>
          <a:srcRect l="6000" r="586"/>
          <a:stretch/>
        </p:blipFill>
        <p:spPr>
          <a:xfrm>
            <a:off x="-1" y="2223"/>
            <a:ext cx="11385395" cy="6855777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7"/>
          <p:cNvSpPr/>
          <p:nvPr/>
        </p:nvSpPr>
        <p:spPr>
          <a:xfrm>
            <a:off x="1" y="0"/>
            <a:ext cx="12191999" cy="7251460"/>
          </a:xfrm>
          <a:prstGeom prst="rect">
            <a:avLst/>
          </a:prstGeom>
          <a:solidFill>
            <a:srgbClr val="E7EAED">
              <a:alpha val="80000"/>
            </a:srgbClr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r>
              <a:rPr lang="en-US" sz="2400" b="1" i="0" u="none" strike="noStrike" cap="none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1" i="0" u="none" strike="noStrike" cap="none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Crianças</a:t>
            </a:r>
            <a:r>
              <a:rPr lang="en-US" sz="2400" b="1" i="0" u="none" strike="noStrike" cap="none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Completamente</a:t>
            </a:r>
            <a:r>
              <a:rPr lang="en-US" sz="2400" b="1" i="0" u="none" strike="noStrike" cap="none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Vacina</a:t>
            </a:r>
            <a:endParaRPr dirty="0"/>
          </a:p>
          <a:p>
            <a: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5" name="Google Shape;685;p47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86" name="Google Shape;686;p47"/>
          <p:cNvSpPr txBox="1"/>
          <p:nvPr/>
        </p:nvSpPr>
        <p:spPr>
          <a:xfrm>
            <a:off x="-1" y="1198997"/>
            <a:ext cx="8534400" cy="8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 Alargado de Vacinação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47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88" name="Google Shape;688;p47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689" name="Google Shape;689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Slide Number 2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29</a:t>
            </a:r>
          </a:p>
        </p:txBody>
      </p:sp>
      <p:sp>
        <p:nvSpPr>
          <p:cNvPr id="691" name="Rectangle 69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2" name="Rectangle 69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3" name="Rectangle 69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3FB73EA-4168-C133-16F7-3C30D1697287}"/>
              </a:ext>
            </a:extLst>
          </p:cNvPr>
          <p:cNvSpPr>
            <a:spLocks noGrp="1"/>
          </p:cNvSpPr>
          <p:nvPr/>
        </p:nvSpPr>
        <p:spPr bwMode="auto">
          <a:xfrm>
            <a:off x="373225" y="227867"/>
            <a:ext cx="11318766" cy="56324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algn="ctr">
              <a:spcBef>
                <a:spcPct val="0"/>
              </a:spcBef>
            </a:pPr>
            <a:r>
              <a:rPr lang="pt-PT" sz="3600" b="1">
                <a:solidFill>
                  <a:srgbClr val="1B3A5B"/>
                </a:solidFill>
                <a:latin typeface="Bodoni MT"/>
              </a:rPr>
              <a:t>CCV - Criança Completamente Vacinada (</a:t>
            </a:r>
            <a:r>
              <a:rPr lang="pt-PT" sz="3600" b="1">
                <a:solidFill>
                  <a:srgbClr val="1B3A5B"/>
                </a:solidFill>
                <a:latin typeface="Calibri"/>
                <a:ea typeface="Calibri"/>
                <a:cs typeface="Calibri"/>
              </a:rPr>
              <a:t>≥</a:t>
            </a:r>
            <a:r>
              <a:rPr lang="pt-PT" sz="3600" b="1">
                <a:solidFill>
                  <a:srgbClr val="1B3A5B"/>
                </a:solidFill>
                <a:latin typeface="Bodoni MT"/>
              </a:rPr>
              <a:t>95%)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E1B91DC-E883-3882-18A1-1A97F668B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096347"/>
              </p:ext>
            </p:extLst>
          </p:nvPr>
        </p:nvGraphicFramePr>
        <p:xfrm>
          <a:off x="373224" y="914402"/>
          <a:ext cx="11318765" cy="5715729"/>
        </p:xfrm>
        <a:graphic>
          <a:graphicData uri="http://schemas.openxmlformats.org/drawingml/2006/table">
            <a:tbl>
              <a:tblPr/>
              <a:tblGrid>
                <a:gridCol w="2492822">
                  <a:extLst>
                    <a:ext uri="{9D8B030D-6E8A-4147-A177-3AD203B41FA5}">
                      <a16:colId xmlns:a16="http://schemas.microsoft.com/office/drawing/2014/main" val="3646222834"/>
                    </a:ext>
                  </a:extLst>
                </a:gridCol>
                <a:gridCol w="1616966">
                  <a:extLst>
                    <a:ext uri="{9D8B030D-6E8A-4147-A177-3AD203B41FA5}">
                      <a16:colId xmlns:a16="http://schemas.microsoft.com/office/drawing/2014/main" val="1977402102"/>
                    </a:ext>
                  </a:extLst>
                </a:gridCol>
                <a:gridCol w="2021209">
                  <a:extLst>
                    <a:ext uri="{9D8B030D-6E8A-4147-A177-3AD203B41FA5}">
                      <a16:colId xmlns:a16="http://schemas.microsoft.com/office/drawing/2014/main" val="2644300497"/>
                    </a:ext>
                  </a:extLst>
                </a:gridCol>
                <a:gridCol w="1616966">
                  <a:extLst>
                    <a:ext uri="{9D8B030D-6E8A-4147-A177-3AD203B41FA5}">
                      <a16:colId xmlns:a16="http://schemas.microsoft.com/office/drawing/2014/main" val="266639692"/>
                    </a:ext>
                  </a:extLst>
                </a:gridCol>
                <a:gridCol w="1616966">
                  <a:extLst>
                    <a:ext uri="{9D8B030D-6E8A-4147-A177-3AD203B41FA5}">
                      <a16:colId xmlns:a16="http://schemas.microsoft.com/office/drawing/2014/main" val="3617294073"/>
                    </a:ext>
                  </a:extLst>
                </a:gridCol>
                <a:gridCol w="1953836">
                  <a:extLst>
                    <a:ext uri="{9D8B030D-6E8A-4147-A177-3AD203B41FA5}">
                      <a16:colId xmlns:a16="http://schemas.microsoft.com/office/drawing/2014/main" val="4075549653"/>
                    </a:ext>
                  </a:extLst>
                </a:gridCol>
              </a:tblGrid>
              <a:tr h="54299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Realizado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Tx.E</a:t>
                      </a:r>
                      <a:endParaRPr lang="pt-PT" sz="2000" b="1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Meta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IC</a:t>
                      </a:r>
                      <a:endParaRPr lang="pt-PT" sz="200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448313"/>
                  </a:ext>
                </a:extLst>
              </a:tr>
              <a:tr h="60015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 dirty="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  <a:endParaRPr lang="pt-PT" sz="200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505231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KaMpfumu</a:t>
                      </a:r>
                      <a:endParaRPr lang="en-GB" sz="2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2131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2137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4205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35183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Nhlamankulu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1925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2064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3819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145989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KaMaxakeni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1151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1068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1984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123705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2926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3362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6229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590964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KaMubukwana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3394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3656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6039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61%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852063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KaTembe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445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446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781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57%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467638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-17%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48%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53957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Maputo Cidade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12031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12782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23159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55%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210343"/>
                  </a:ext>
                </a:extLst>
              </a:tr>
            </a:tbl>
          </a:graphicData>
        </a:graphic>
      </p:graphicFrame>
      <p:sp>
        <p:nvSpPr>
          <p:cNvPr id="9" name="Slide Number 3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8596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1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727" name="Google Shape;727;p51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729" name="Google Shape;72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6733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1"/>
          <p:cNvSpPr/>
          <p:nvPr/>
        </p:nvSpPr>
        <p:spPr>
          <a:xfrm>
            <a:off x="1" y="0"/>
            <a:ext cx="12192000" cy="7251460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1" name="Google Shape;731;p51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32" name="Google Shape;732;p51"/>
          <p:cNvSpPr txBox="1"/>
          <p:nvPr/>
        </p:nvSpPr>
        <p:spPr>
          <a:xfrm>
            <a:off x="-1" y="1198997"/>
            <a:ext cx="8534400" cy="8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Malaria e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Tuberculose</a:t>
            </a: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Google Shape;733;p51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34" name="Google Shape;734;p51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735" name="Google Shape;735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Slide Number 3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8" name="Rectangle 737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ectangle 738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2"/>
          <p:cNvSpPr txBox="1">
            <a:spLocks noGrp="1"/>
          </p:cNvSpPr>
          <p:nvPr>
            <p:ph type="title"/>
          </p:nvPr>
        </p:nvSpPr>
        <p:spPr>
          <a:xfrm>
            <a:off x="1495024" y="176100"/>
            <a:ext cx="10194600" cy="825300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n-US" sz="32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confirmados</a:t>
            </a:r>
            <a:r>
              <a:rPr lang="en-US" sz="32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2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malária</a:t>
            </a:r>
            <a:r>
              <a:rPr lang="en-US" sz="32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por 1,000 </a:t>
            </a:r>
            <a:r>
              <a:rPr lang="en-US" sz="32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habitantes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3" name="Google Shape;743;p52" descr="Chart"/>
          <p:cNvGraphicFramePr/>
          <p:nvPr>
            <p:extLst>
              <p:ext uri="{D42A27DB-BD31-4B8C-83A1-F6EECF244321}">
                <p14:modId xmlns:p14="http://schemas.microsoft.com/office/powerpoint/2010/main" val="1706111762"/>
              </p:ext>
            </p:extLst>
          </p:nvPr>
        </p:nvGraphicFramePr>
        <p:xfrm>
          <a:off x="386367" y="1518374"/>
          <a:ext cx="10615800" cy="4080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50" name="Google Shape;750;p52"/>
          <p:cNvSpPr txBox="1"/>
          <p:nvPr/>
        </p:nvSpPr>
        <p:spPr>
          <a:xfrm>
            <a:off x="386367" y="5790417"/>
            <a:ext cx="10615800" cy="5556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Número de casos de malária acima limite máximo estabelecido (309/1,000 hab).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●"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Aumento de casos: Manica, Niassa, Nampula, Tete e Sofala. 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751" name="Google Shape;751;p52"/>
          <p:cNvSpPr txBox="1"/>
          <p:nvPr/>
        </p:nvSpPr>
        <p:spPr>
          <a:xfrm>
            <a:off x="9595172" y="6431939"/>
            <a:ext cx="2094401" cy="31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Fonte: SISMA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2"/>
          <p:cNvSpPr txBox="1"/>
          <p:nvPr/>
        </p:nvSpPr>
        <p:spPr>
          <a:xfrm>
            <a:off x="749808" y="6537305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753" name="Google Shape;753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Slide Number 3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32</a:t>
            </a:r>
          </a:p>
        </p:txBody>
      </p:sp>
      <p:sp>
        <p:nvSpPr>
          <p:cNvPr id="755" name="Rectangle 754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6" name="Rectangle 755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Rectangle 756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01737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4824CCC-C54F-C62F-187F-C3D77A088854}"/>
              </a:ext>
            </a:extLst>
          </p:cNvPr>
          <p:cNvGraphicFramePr>
            <a:graphicFrameLocks noGrp="1"/>
          </p:cNvGraphicFramePr>
          <p:nvPr/>
        </p:nvGraphicFramePr>
        <p:xfrm>
          <a:off x="419529" y="1088569"/>
          <a:ext cx="11352946" cy="54223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1114">
                  <a:extLst>
                    <a:ext uri="{9D8B030D-6E8A-4147-A177-3AD203B41FA5}">
                      <a16:colId xmlns:a16="http://schemas.microsoft.com/office/drawing/2014/main" val="1419668591"/>
                    </a:ext>
                  </a:extLst>
                </a:gridCol>
                <a:gridCol w="1347792">
                  <a:extLst>
                    <a:ext uri="{9D8B030D-6E8A-4147-A177-3AD203B41FA5}">
                      <a16:colId xmlns:a16="http://schemas.microsoft.com/office/drawing/2014/main" val="52420604"/>
                    </a:ext>
                  </a:extLst>
                </a:gridCol>
                <a:gridCol w="1473754">
                  <a:extLst>
                    <a:ext uri="{9D8B030D-6E8A-4147-A177-3AD203B41FA5}">
                      <a16:colId xmlns:a16="http://schemas.microsoft.com/office/drawing/2014/main" val="64410534"/>
                    </a:ext>
                  </a:extLst>
                </a:gridCol>
                <a:gridCol w="1473754">
                  <a:extLst>
                    <a:ext uri="{9D8B030D-6E8A-4147-A177-3AD203B41FA5}">
                      <a16:colId xmlns:a16="http://schemas.microsoft.com/office/drawing/2014/main" val="361220923"/>
                    </a:ext>
                  </a:extLst>
                </a:gridCol>
                <a:gridCol w="1360388">
                  <a:extLst>
                    <a:ext uri="{9D8B030D-6E8A-4147-A177-3AD203B41FA5}">
                      <a16:colId xmlns:a16="http://schemas.microsoft.com/office/drawing/2014/main" val="283645458"/>
                    </a:ext>
                  </a:extLst>
                </a:gridCol>
                <a:gridCol w="1548072">
                  <a:extLst>
                    <a:ext uri="{9D8B030D-6E8A-4147-A177-3AD203B41FA5}">
                      <a16:colId xmlns:a16="http://schemas.microsoft.com/office/drawing/2014/main" val="3237436031"/>
                    </a:ext>
                  </a:extLst>
                </a:gridCol>
                <a:gridCol w="1548072">
                  <a:extLst>
                    <a:ext uri="{9D8B030D-6E8A-4147-A177-3AD203B41FA5}">
                      <a16:colId xmlns:a16="http://schemas.microsoft.com/office/drawing/2014/main" val="4125314599"/>
                    </a:ext>
                  </a:extLst>
                </a:gridCol>
              </a:tblGrid>
              <a:tr h="111561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Distrito</a:t>
                      </a:r>
                      <a:endParaRPr lang="pt-PT" sz="1800" dirty="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MAL - Doentes Testados para Malária por TDR + HTZ</a:t>
                      </a:r>
                      <a:endParaRPr lang="pt-PT" sz="1800" dirty="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MAL - Casos de Malária Confirmada (TDR+ HTZ positivos</a:t>
                      </a:r>
                      <a:endParaRPr lang="pt-PT" sz="180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Taxa de Positividade</a:t>
                      </a:r>
                      <a:endParaRPr lang="pt-PT" sz="180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277503"/>
                  </a:ext>
                </a:extLst>
              </a:tr>
              <a:tr h="47008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830178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KaMpfumu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9744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9203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1481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601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7%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695120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Nhlamankulu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21122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24342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1814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1948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47011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KaMaxakeni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8576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10495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630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324188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KaMavota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36845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28468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11832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3482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12%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71019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KaMubukwana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16612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13058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3327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1978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15%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5328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KaTembe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3637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4209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592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518470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KaNyaka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693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941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828143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Maputo Cidade</a:t>
                      </a:r>
                      <a:endParaRPr lang="pt-PT" sz="180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97229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90716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20364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9267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851320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866EEAE-73B8-81D7-5161-650048518B90}"/>
              </a:ext>
            </a:extLst>
          </p:cNvPr>
          <p:cNvSpPr>
            <a:spLocks noGrp="1"/>
          </p:cNvSpPr>
          <p:nvPr/>
        </p:nvSpPr>
        <p:spPr bwMode="auto">
          <a:xfrm>
            <a:off x="441788" y="175464"/>
            <a:ext cx="11352945" cy="694678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3600" b="1">
                <a:solidFill>
                  <a:srgbClr val="1B3A5B"/>
                </a:solidFill>
                <a:latin typeface="Bodoni MT"/>
              </a:rPr>
              <a:t>Taxa de Positividade por Malária</a:t>
            </a:r>
            <a:endParaRPr lang="pt-PT" altLang="en-US" sz="3600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9" name="Slide Number 33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57765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441788" y="6343982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 SIS-MA.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441788" y="175464"/>
            <a:ext cx="11352945" cy="694678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1">
                <a:solidFill>
                  <a:srgbClr val="1B3A5B"/>
                </a:solidFill>
                <a:latin typeface="Bodoni MT" panose="02070603080606020203" pitchFamily="18" charset="0"/>
                <a:ea typeface="Bodoni"/>
                <a:cs typeface="Bodoni"/>
                <a:sym typeface="Bodoni"/>
              </a:rPr>
              <a:t>Notificação de Tuberculose – Todas as Formas</a:t>
            </a:r>
            <a:endParaRPr sz="2800" b="1">
              <a:solidFill>
                <a:schemeClr val="lt1"/>
              </a:solidFill>
              <a:latin typeface="Bodoni MT" panose="02070603080606020203" pitchFamily="18" charset="0"/>
              <a:ea typeface="Bodoni"/>
              <a:cs typeface="Bodoni"/>
              <a:sym typeface="Bodoni"/>
            </a:endParaRPr>
          </a:p>
        </p:txBody>
      </p:sp>
      <p:graphicFrame>
        <p:nvGraphicFramePr>
          <p:cNvPr id="157" name="Google Shape;157;p3"/>
          <p:cNvGraphicFramePr/>
          <p:nvPr/>
        </p:nvGraphicFramePr>
        <p:xfrm>
          <a:off x="441788" y="1070385"/>
          <a:ext cx="10939406" cy="53274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7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642">
                  <a:extLst>
                    <a:ext uri="{9D8B030D-6E8A-4147-A177-3AD203B41FA5}">
                      <a16:colId xmlns:a16="http://schemas.microsoft.com/office/drawing/2014/main" val="1696026345"/>
                    </a:ext>
                  </a:extLst>
                </a:gridCol>
                <a:gridCol w="1352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7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21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Distrito</a:t>
                      </a:r>
                      <a:endParaRPr lang="pt-PT" sz="2000" u="none" strike="noStrike" cap="none" dirty="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Notificados</a:t>
                      </a:r>
                      <a:endParaRPr lang="pt-PT" sz="2000" u="none" strike="noStrike" cap="none" dirty="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Evolução</a:t>
                      </a:r>
                      <a:endParaRPr lang="pt-PT" sz="2000" u="none" strike="noStrike" cap="none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Meta Anual</a:t>
                      </a:r>
                      <a:endParaRPr lang="pt-PT" sz="2000" u="none" strike="noStrike" cap="none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IC</a:t>
                      </a:r>
                      <a:endParaRPr lang="pt-PT" sz="2000" u="none" strike="noStrike" cap="none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1" i="0" u="none" strike="noStrike" cap="none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2025</a:t>
                      </a:r>
                      <a:endParaRPr lang="pt-PT" sz="2000" b="1" i="0" u="none" strike="noStrike" cap="none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2026</a:t>
                      </a:r>
                      <a:endParaRPr lang="pt-PT" sz="2000" b="1" i="0" u="none" strike="noStrike" cap="none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 dirty="0" err="1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KaMpfumu</a:t>
                      </a:r>
                      <a:endParaRPr lang="pt-PT" sz="2000" b="0" i="0" u="none" strike="noStrike" cap="none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412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401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-3%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774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52%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Nhlamankulu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517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552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1160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48%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KaMaxakeni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298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286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-4%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662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43%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629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599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-5%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1311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46%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479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504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1056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48%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112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106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-5%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253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42%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41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-18%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43%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Maputo Cidade</a:t>
                      </a:r>
                      <a:endParaRPr lang="pt-PT" sz="200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2458</a:t>
                      </a:r>
                      <a:endParaRPr lang="en-US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2457</a:t>
                      </a:r>
                      <a:endParaRPr lang="en-US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5237</a:t>
                      </a:r>
                      <a:endParaRPr lang="en-US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8" name="Slide Number 3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05711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117988" y="307351"/>
            <a:ext cx="11662562" cy="664345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1" dirty="0">
                <a:solidFill>
                  <a:srgbClr val="1B3A5B"/>
                </a:solidFill>
                <a:latin typeface="Bodoni MT"/>
                <a:ea typeface="Times New Roman"/>
                <a:cs typeface="Times New Roman"/>
                <a:sym typeface="Times New Roman"/>
              </a:rPr>
              <a:t>Avaliação de TB Sensível – Taxa de Sucesso (≥90%)</a:t>
            </a:r>
            <a:endParaRPr sz="2800" b="1" dirty="0">
              <a:solidFill>
                <a:schemeClr val="bg1"/>
              </a:solidFill>
              <a:latin typeface="Bodoni MT"/>
              <a:ea typeface="Bodoni"/>
              <a:cs typeface="Bodoni"/>
              <a:sym typeface="Bodon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3F4DB6-ABF9-D79B-30F9-9ACFA2AB3289}"/>
              </a:ext>
            </a:extLst>
          </p:cNvPr>
          <p:cNvGraphicFramePr>
            <a:graphicFrameLocks noGrp="1"/>
          </p:cNvGraphicFramePr>
          <p:nvPr/>
        </p:nvGraphicFramePr>
        <p:xfrm>
          <a:off x="117988" y="1320800"/>
          <a:ext cx="11528580" cy="54363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1813">
                  <a:extLst>
                    <a:ext uri="{9D8B030D-6E8A-4147-A177-3AD203B41FA5}">
                      <a16:colId xmlns:a16="http://schemas.microsoft.com/office/drawing/2014/main" val="454667490"/>
                    </a:ext>
                  </a:extLst>
                </a:gridCol>
                <a:gridCol w="885332">
                  <a:extLst>
                    <a:ext uri="{9D8B030D-6E8A-4147-A177-3AD203B41FA5}">
                      <a16:colId xmlns:a16="http://schemas.microsoft.com/office/drawing/2014/main" val="1906194194"/>
                    </a:ext>
                  </a:extLst>
                </a:gridCol>
                <a:gridCol w="1117286">
                  <a:extLst>
                    <a:ext uri="{9D8B030D-6E8A-4147-A177-3AD203B41FA5}">
                      <a16:colId xmlns:a16="http://schemas.microsoft.com/office/drawing/2014/main" val="3248472847"/>
                    </a:ext>
                  </a:extLst>
                </a:gridCol>
                <a:gridCol w="1347922">
                  <a:extLst>
                    <a:ext uri="{9D8B030D-6E8A-4147-A177-3AD203B41FA5}">
                      <a16:colId xmlns:a16="http://schemas.microsoft.com/office/drawing/2014/main" val="164173050"/>
                    </a:ext>
                  </a:extLst>
                </a:gridCol>
                <a:gridCol w="982121">
                  <a:extLst>
                    <a:ext uri="{9D8B030D-6E8A-4147-A177-3AD203B41FA5}">
                      <a16:colId xmlns:a16="http://schemas.microsoft.com/office/drawing/2014/main" val="1163338764"/>
                    </a:ext>
                  </a:extLst>
                </a:gridCol>
                <a:gridCol w="1193653">
                  <a:extLst>
                    <a:ext uri="{9D8B030D-6E8A-4147-A177-3AD203B41FA5}">
                      <a16:colId xmlns:a16="http://schemas.microsoft.com/office/drawing/2014/main" val="2673742803"/>
                    </a:ext>
                  </a:extLst>
                </a:gridCol>
                <a:gridCol w="967011">
                  <a:extLst>
                    <a:ext uri="{9D8B030D-6E8A-4147-A177-3AD203B41FA5}">
                      <a16:colId xmlns:a16="http://schemas.microsoft.com/office/drawing/2014/main" val="2282546954"/>
                    </a:ext>
                  </a:extLst>
                </a:gridCol>
                <a:gridCol w="1072777">
                  <a:extLst>
                    <a:ext uri="{9D8B030D-6E8A-4147-A177-3AD203B41FA5}">
                      <a16:colId xmlns:a16="http://schemas.microsoft.com/office/drawing/2014/main" val="1279033852"/>
                    </a:ext>
                  </a:extLst>
                </a:gridCol>
                <a:gridCol w="1042558">
                  <a:extLst>
                    <a:ext uri="{9D8B030D-6E8A-4147-A177-3AD203B41FA5}">
                      <a16:colId xmlns:a16="http://schemas.microsoft.com/office/drawing/2014/main" val="3236736923"/>
                    </a:ext>
                  </a:extLst>
                </a:gridCol>
                <a:gridCol w="1118107">
                  <a:extLst>
                    <a:ext uri="{9D8B030D-6E8A-4147-A177-3AD203B41FA5}">
                      <a16:colId xmlns:a16="http://schemas.microsoft.com/office/drawing/2014/main" val="2068364650"/>
                    </a:ext>
                  </a:extLst>
                </a:gridCol>
              </a:tblGrid>
              <a:tr h="397554"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Distrito</a:t>
                      </a: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Not</a:t>
                      </a:r>
                    </a:p>
                  </a:txBody>
                  <a:tcPr marL="73025" marR="73025" marT="63500" marB="6350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2ᵃ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Linha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Avaliados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  <a:p>
                      <a:pPr algn="ctr" rtl="0" fontAlgn="b">
                        <a:buNone/>
                      </a:pP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T. Sucesso</a:t>
                      </a: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Óbitos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Perda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de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Seguimento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574797"/>
                  </a:ext>
                </a:extLst>
              </a:tr>
              <a:tr h="962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3025" marR="73025" marT="63500" marB="6350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NºPtes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%</a:t>
                      </a: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NºPtes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%</a:t>
                      </a: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NºPtes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%</a:t>
                      </a: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01896"/>
                  </a:ext>
                </a:extLst>
              </a:tr>
              <a:tr h="4629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NºPtes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04771"/>
                  </a:ext>
                </a:extLst>
              </a:tr>
              <a:tr h="4629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KaMpfumu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412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401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361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90%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337282"/>
                  </a:ext>
                </a:extLst>
              </a:tr>
              <a:tr h="5854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Nlhamankulu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519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18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501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451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90%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49006"/>
                  </a:ext>
                </a:extLst>
              </a:tr>
              <a:tr h="4629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KaMaxakeni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301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296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246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83%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8%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7%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416463"/>
                  </a:ext>
                </a:extLst>
              </a:tr>
              <a:tr h="53058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KaMavota</a:t>
                      </a:r>
                      <a:endParaRPr lang="en-US" sz="2000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631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30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601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553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92%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35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12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597610"/>
                  </a:ext>
                </a:extLst>
              </a:tr>
              <a:tr h="5854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KaMubukwana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481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471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425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90%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91185"/>
                  </a:ext>
                </a:extLst>
              </a:tr>
              <a:tr h="4629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KaTembe</a:t>
                      </a:r>
                      <a:endParaRPr lang="en-US" sz="2000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107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94%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132944"/>
                  </a:ext>
                </a:extLst>
              </a:tr>
              <a:tr h="4629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100%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372139"/>
                  </a:ext>
                </a:extLst>
              </a:tr>
              <a:tr h="58754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Maputo Cidade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2.469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74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2.395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2.154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90%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127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287601"/>
                  </a:ext>
                </a:extLst>
              </a:tr>
            </a:tbl>
          </a:graphicData>
        </a:graphic>
      </p:graphicFrame>
      <p:sp>
        <p:nvSpPr>
          <p:cNvPr id="207" name="Slide Number 3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35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13168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D1D4-B56F-AC4F-FDD7-DC69829AB2DF}"/>
              </a:ext>
            </a:extLst>
          </p:cNvPr>
          <p:cNvSpPr>
            <a:spLocks noGrp="1"/>
          </p:cNvSpPr>
          <p:nvPr/>
        </p:nvSpPr>
        <p:spPr bwMode="auto">
          <a:xfrm>
            <a:off x="479282" y="140904"/>
            <a:ext cx="10812018" cy="475545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algn="ctr">
              <a:spcBef>
                <a:spcPct val="0"/>
              </a:spcBef>
            </a:pPr>
            <a:r>
              <a:rPr lang="pt-BR" sz="3600" b="1">
                <a:solidFill>
                  <a:srgbClr val="1B3A5B"/>
                </a:solidFill>
                <a:latin typeface="Bodoni MT"/>
              </a:rPr>
              <a:t>Cobertura TARV - Activos Pediátricos</a:t>
            </a:r>
            <a:endParaRPr lang="pt-PT" altLang="en-US" sz="3600" b="1">
              <a:solidFill>
                <a:schemeClr val="bg1"/>
              </a:solidFill>
              <a:latin typeface="Bodoni MT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CEB4A04-0B94-FFD7-354C-0FC11FD20FB1}"/>
              </a:ext>
            </a:extLst>
          </p:cNvPr>
          <p:cNvGraphicFramePr>
            <a:graphicFrameLocks noGrp="1"/>
          </p:cNvGraphicFramePr>
          <p:nvPr/>
        </p:nvGraphicFramePr>
        <p:xfrm>
          <a:off x="479281" y="792180"/>
          <a:ext cx="10812018" cy="5629085"/>
        </p:xfrm>
        <a:graphic>
          <a:graphicData uri="http://schemas.openxmlformats.org/drawingml/2006/table">
            <a:tbl>
              <a:tblPr/>
              <a:tblGrid>
                <a:gridCol w="2269188">
                  <a:extLst>
                    <a:ext uri="{9D8B030D-6E8A-4147-A177-3AD203B41FA5}">
                      <a16:colId xmlns:a16="http://schemas.microsoft.com/office/drawing/2014/main" val="1924027072"/>
                    </a:ext>
                  </a:extLst>
                </a:gridCol>
                <a:gridCol w="1698403">
                  <a:extLst>
                    <a:ext uri="{9D8B030D-6E8A-4147-A177-3AD203B41FA5}">
                      <a16:colId xmlns:a16="http://schemas.microsoft.com/office/drawing/2014/main" val="3340926745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275888"/>
                    </a:ext>
                  </a:extLst>
                </a:gridCol>
                <a:gridCol w="1328286">
                  <a:extLst>
                    <a:ext uri="{9D8B030D-6E8A-4147-A177-3AD203B41FA5}">
                      <a16:colId xmlns:a16="http://schemas.microsoft.com/office/drawing/2014/main" val="3423843827"/>
                    </a:ext>
                  </a:extLst>
                </a:gridCol>
                <a:gridCol w="1212783">
                  <a:extLst>
                    <a:ext uri="{9D8B030D-6E8A-4147-A177-3AD203B41FA5}">
                      <a16:colId xmlns:a16="http://schemas.microsoft.com/office/drawing/2014/main" val="2022410277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2790408457"/>
                    </a:ext>
                  </a:extLst>
                </a:gridCol>
                <a:gridCol w="1560158">
                  <a:extLst>
                    <a:ext uri="{9D8B030D-6E8A-4147-A177-3AD203B41FA5}">
                      <a16:colId xmlns:a16="http://schemas.microsoft.com/office/drawing/2014/main" val="4270200016"/>
                    </a:ext>
                  </a:extLst>
                </a:gridCol>
              </a:tblGrid>
              <a:tr h="57285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Realizado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Tx.E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Meta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IC da Meta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PT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625805"/>
                  </a:ext>
                </a:extLst>
              </a:tr>
              <a:tr h="47339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2025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2026</a:t>
                      </a:r>
                      <a:endParaRPr lang="pt-PT" dirty="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2025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2026</a:t>
                      </a:r>
                      <a:endParaRPr lang="pt-PT" dirty="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840116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KaMpfumu</a:t>
                      </a:r>
                      <a:endParaRPr lang="pt-PT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1026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771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-25%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1184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557916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Nhlamankulu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1049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1097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1227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382416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KaMaxakeni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475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433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458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05892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1239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1196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-3%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1330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723733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1177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1235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1338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341199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129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155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92%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912817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-10%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81%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65317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Maputo Cidade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5115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4893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-4%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5717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30332"/>
                  </a:ext>
                </a:extLst>
              </a:tr>
            </a:tbl>
          </a:graphicData>
        </a:graphic>
      </p:graphicFrame>
      <p:sp>
        <p:nvSpPr>
          <p:cNvPr id="5" name="Slide Number 3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9052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e26ea22da_4_85"/>
          <p:cNvSpPr/>
          <p:nvPr/>
        </p:nvSpPr>
        <p:spPr>
          <a:xfrm>
            <a:off x="0" y="0"/>
            <a:ext cx="12330953" cy="70597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20001" b="-20001"/>
            </a:stretch>
          </a:blipFill>
          <a:ln w="25400" cap="flat" cmpd="sng">
            <a:solidFill>
              <a:srgbClr val="181D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ce26ea22da_4_85"/>
          <p:cNvSpPr/>
          <p:nvPr/>
        </p:nvSpPr>
        <p:spPr>
          <a:xfrm>
            <a:off x="0" y="0"/>
            <a:ext cx="12330953" cy="7059705"/>
          </a:xfrm>
          <a:prstGeom prst="rect">
            <a:avLst/>
          </a:prstGeom>
          <a:solidFill>
            <a:srgbClr val="E7EAED">
              <a:alpha val="80000"/>
            </a:srgbClr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Cascata de C&amp;T do HIV (95-90-86) </a:t>
            </a:r>
            <a:endParaRPr/>
          </a:p>
          <a:p>
            <a: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Cobertura do TARV em pessoas vivendo com HIV</a:t>
            </a:r>
            <a:r>
              <a:rPr lang="en-US" sz="2400" b="1" i="0" u="none" strike="noStrike" cap="none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1" name="Google Shape;801;g3ce26ea22da_4_85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02" name="Google Shape;802;g3ce26ea22da_4_85"/>
          <p:cNvSpPr txBox="1"/>
          <p:nvPr/>
        </p:nvSpPr>
        <p:spPr>
          <a:xfrm>
            <a:off x="-2" y="1198997"/>
            <a:ext cx="9460303" cy="8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Nacional de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Controlo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 HIV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3" name="Google Shape;803;g3ce26ea22da_4_85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04" name="Google Shape;804;g3ce26ea22da_4_85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805" name="Google Shape;805;g3ce26ea22da_4_8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Slide Number 3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807" name="Rectangle 806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8" name="Rectangle 807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9" name="Rectangle 808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6"/>
          <p:cNvSpPr txBox="1">
            <a:spLocks noGrp="1"/>
          </p:cNvSpPr>
          <p:nvPr>
            <p:ph type="title"/>
          </p:nvPr>
        </p:nvSpPr>
        <p:spPr>
          <a:xfrm>
            <a:off x="1020932" y="49370"/>
            <a:ext cx="10386875" cy="636430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28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Cascata</a:t>
            </a:r>
            <a:r>
              <a:rPr lang="en-US" sz="28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de C&amp;T do HIV (95-90-86) para PVHIV (</a:t>
            </a:r>
            <a:r>
              <a:rPr lang="en-US" sz="28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geral</a:t>
            </a:r>
            <a:r>
              <a:rPr lang="en-US" sz="28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), 2026</a:t>
            </a:r>
            <a:endParaRPr dirty="0"/>
          </a:p>
        </p:txBody>
      </p:sp>
      <p:sp>
        <p:nvSpPr>
          <p:cNvPr id="814" name="Google Shape;814;p56"/>
          <p:cNvSpPr txBox="1"/>
          <p:nvPr/>
        </p:nvSpPr>
        <p:spPr>
          <a:xfrm>
            <a:off x="8657768" y="6378538"/>
            <a:ext cx="2094401" cy="31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Fonte: SPECTRUM, SIS-MA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6" name="Google Shape;816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hart 3" descr="Chart"/>
          <p:cNvGraphicFramePr/>
          <p:nvPr>
            <p:extLst>
              <p:ext uri="{D42A27DB-BD31-4B8C-83A1-F6EECF244321}">
                <p14:modId xmlns:p14="http://schemas.microsoft.com/office/powerpoint/2010/main" val="3209409101"/>
              </p:ext>
            </p:extLst>
          </p:nvPr>
        </p:nvGraphicFramePr>
        <p:xfrm>
          <a:off x="440267" y="719666"/>
          <a:ext cx="10967540" cy="4899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17" name="Slide Number 38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38</a:t>
            </a:r>
          </a:p>
        </p:txBody>
      </p:sp>
      <p:sp>
        <p:nvSpPr>
          <p:cNvPr id="818" name="Rectangle 81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9" name="Rectangle 81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0" name="Rectangle 81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18195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7"/>
          <p:cNvSpPr txBox="1">
            <a:spLocks noGrp="1"/>
          </p:cNvSpPr>
          <p:nvPr>
            <p:ph type="title"/>
          </p:nvPr>
        </p:nvSpPr>
        <p:spPr>
          <a:xfrm>
            <a:off x="1118053" y="62680"/>
            <a:ext cx="10804658" cy="786796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Cascata de C&amp;T do HIV (95-90-86) para PVHIV - 2025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7"/>
          <p:cNvSpPr txBox="1"/>
          <p:nvPr/>
        </p:nvSpPr>
        <p:spPr>
          <a:xfrm>
            <a:off x="2263539" y="1325115"/>
            <a:ext cx="2290439" cy="338554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Crianças 0-14 anos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57"/>
          <p:cNvSpPr txBox="1"/>
          <p:nvPr/>
        </p:nvSpPr>
        <p:spPr>
          <a:xfrm>
            <a:off x="8034292" y="1419771"/>
            <a:ext cx="2148397" cy="338554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Adultos 15+ anos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8" name="Google Shape;828;p57"/>
          <p:cNvSpPr txBox="1"/>
          <p:nvPr/>
        </p:nvSpPr>
        <p:spPr>
          <a:xfrm>
            <a:off x="9947015" y="6540477"/>
            <a:ext cx="2094401" cy="31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Fonte: SPECTRUM, SIS-MA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7"/>
          <p:cNvSpPr txBox="1"/>
          <p:nvPr/>
        </p:nvSpPr>
        <p:spPr>
          <a:xfrm>
            <a:off x="776708" y="6539218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Conselho Coordenador de Saúde · Balanço do Sector da Saúde</a:t>
            </a:r>
            <a:endParaRPr/>
          </a:p>
        </p:txBody>
      </p:sp>
      <p:pic>
        <p:nvPicPr>
          <p:cNvPr id="830" name="Google Shape;830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Chart 11" descr="Chart"/>
          <p:cNvGraphicFramePr/>
          <p:nvPr>
            <p:extLst>
              <p:ext uri="{D42A27DB-BD31-4B8C-83A1-F6EECF244321}">
                <p14:modId xmlns:p14="http://schemas.microsoft.com/office/powerpoint/2010/main" val="2889711645"/>
              </p:ext>
            </p:extLst>
          </p:nvPr>
        </p:nvGraphicFramePr>
        <p:xfrm>
          <a:off x="168418" y="749644"/>
          <a:ext cx="5470382" cy="4666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 descr="Chart"/>
          <p:cNvGraphicFramePr/>
          <p:nvPr>
            <p:extLst>
              <p:ext uri="{D42A27DB-BD31-4B8C-83A1-F6EECF244321}">
                <p14:modId xmlns:p14="http://schemas.microsoft.com/office/powerpoint/2010/main" val="4229754834"/>
              </p:ext>
            </p:extLst>
          </p:nvPr>
        </p:nvGraphicFramePr>
        <p:xfrm>
          <a:off x="6179311" y="866560"/>
          <a:ext cx="5940000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31" name="Slide Number 3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39</a:t>
            </a:r>
          </a:p>
        </p:txBody>
      </p:sp>
      <p:sp>
        <p:nvSpPr>
          <p:cNvPr id="832" name="Rectangle 831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3" name="Rectangle 832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4" name="Rectangle 833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9877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a44c12be9_1_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850" name="Google Shape;850;g3fa44c12be9_1_0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852" name="Google Shape;852;g3fa44c12be9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975104"/>
            <a:ext cx="12192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g3fa44c12be9_1_0"/>
          <p:cNvSpPr/>
          <p:nvPr/>
        </p:nvSpPr>
        <p:spPr>
          <a:xfrm>
            <a:off x="49351" y="19250"/>
            <a:ext cx="12192000" cy="7251600"/>
          </a:xfrm>
          <a:prstGeom prst="rect">
            <a:avLst/>
          </a:prstGeom>
          <a:solidFill>
            <a:srgbClr val="8D96D5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1">
                <a:solidFill>
                  <a:schemeClr val="dk1"/>
                </a:solidFill>
              </a:rPr>
              <a:t>Cascata do rastreio do cancro do colo do útero </a:t>
            </a:r>
            <a:endParaRPr sz="2400">
              <a:solidFill>
                <a:schemeClr val="dk1"/>
              </a:solidFill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g3fa44c12be9_1_0"/>
          <p:cNvCxnSpPr/>
          <p:nvPr/>
        </p:nvCxnSpPr>
        <p:spPr>
          <a:xfrm rot="10800000" flipH="1">
            <a:off x="116104" y="2729683"/>
            <a:ext cx="12066900" cy="51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55" name="Google Shape;855;g3fa44c12be9_1_0"/>
          <p:cNvSpPr txBox="1"/>
          <p:nvPr/>
        </p:nvSpPr>
        <p:spPr>
          <a:xfrm>
            <a:off x="73824" y="1070471"/>
            <a:ext cx="6837900" cy="1175100"/>
          </a:xfrm>
          <a:prstGeom prst="rect">
            <a:avLst/>
          </a:prstGeom>
          <a:solidFill>
            <a:srgbClr val="E7EA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1B3A5B"/>
                </a:solidFill>
              </a:rPr>
              <a:t> </a:t>
            </a:r>
            <a:r>
              <a:rPr lang="en-US" sz="3600" b="1" dirty="0" err="1">
                <a:solidFill>
                  <a:srgbClr val="1B3A5B"/>
                </a:solidFill>
              </a:rPr>
              <a:t>Doenças</a:t>
            </a:r>
            <a:r>
              <a:rPr lang="en-US" sz="3600" b="1" dirty="0">
                <a:solidFill>
                  <a:srgbClr val="1B3A5B"/>
                </a:solidFill>
              </a:rPr>
              <a:t> </a:t>
            </a:r>
            <a:r>
              <a:rPr lang="en-US" sz="3600" b="1" dirty="0" err="1">
                <a:solidFill>
                  <a:srgbClr val="1B3A5B"/>
                </a:solidFill>
              </a:rPr>
              <a:t>não</a:t>
            </a:r>
            <a:r>
              <a:rPr lang="en-US" sz="3600" b="1" dirty="0">
                <a:solidFill>
                  <a:srgbClr val="1B3A5B"/>
                </a:solidFill>
              </a:rPr>
              <a:t> </a:t>
            </a:r>
            <a:r>
              <a:rPr lang="en-US" sz="3600" b="1" dirty="0" err="1">
                <a:solidFill>
                  <a:srgbClr val="1B3A5B"/>
                </a:solidFill>
              </a:rPr>
              <a:t>transmissíveis</a:t>
            </a:r>
            <a:endParaRPr sz="3600" b="1" i="0" u="none" strike="noStrike" cap="none" dirty="0">
              <a:solidFill>
                <a:schemeClr val="lt1"/>
              </a:solidFill>
            </a:endParaRPr>
          </a:p>
        </p:txBody>
      </p:sp>
      <p:cxnSp>
        <p:nvCxnSpPr>
          <p:cNvPr id="856" name="Google Shape;856;g3fa44c12be9_1_0"/>
          <p:cNvCxnSpPr/>
          <p:nvPr/>
        </p:nvCxnSpPr>
        <p:spPr>
          <a:xfrm>
            <a:off x="4" y="4083233"/>
            <a:ext cx="12290700" cy="450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57" name="Google Shape;857;g3fa44c12be9_1_0"/>
          <p:cNvSpPr txBox="1"/>
          <p:nvPr/>
        </p:nvSpPr>
        <p:spPr>
          <a:xfrm>
            <a:off x="749808" y="6355080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sp>
        <p:nvSpPr>
          <p:cNvPr id="859" name="Slide Number 4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860" name="Rectangle 85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1" name="Rectangle 86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2" name="Rectangle 86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6688-6D63-1CF7-D2E3-37AB938B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60084E9-71C9-DA81-2039-B135D05F73F0}"/>
              </a:ext>
            </a:extLst>
          </p:cNvPr>
          <p:cNvSpPr>
            <a:spLocks noGrp="1"/>
          </p:cNvSpPr>
          <p:nvPr/>
        </p:nvSpPr>
        <p:spPr bwMode="auto">
          <a:xfrm>
            <a:off x="308225" y="128338"/>
            <a:ext cx="11116638" cy="539482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</a:pPr>
            <a:r>
              <a:rPr lang="pt-PT" sz="2400" b="1">
                <a:solidFill>
                  <a:srgbClr val="1B3A5B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Doenças Não </a:t>
            </a:r>
            <a:r>
              <a:rPr lang="pt-PT" sz="2400" b="1">
                <a:solidFill>
                  <a:srgbClr val="1B3A5B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pt-PT" sz="2400" b="1">
                <a:solidFill>
                  <a:srgbClr val="1B3A5B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ransmissíveis de Notificação Obrigatória </a:t>
            </a:r>
            <a:endParaRPr lang="pt-PT" sz="4400" b="1">
              <a:solidFill>
                <a:schemeClr val="bg1"/>
              </a:solidFill>
              <a:latin typeface="Bodoni M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AC6C4B-8218-6E7A-F156-D4AC1F9FBF16}"/>
              </a:ext>
            </a:extLst>
          </p:cNvPr>
          <p:cNvGraphicFramePr>
            <a:graphicFrameLocks noGrp="1"/>
          </p:cNvGraphicFramePr>
          <p:nvPr/>
        </p:nvGraphicFramePr>
        <p:xfrm>
          <a:off x="390448" y="874121"/>
          <a:ext cx="11448626" cy="55396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8705">
                  <a:extLst>
                    <a:ext uri="{9D8B030D-6E8A-4147-A177-3AD203B41FA5}">
                      <a16:colId xmlns:a16="http://schemas.microsoft.com/office/drawing/2014/main" val="2219280435"/>
                    </a:ext>
                  </a:extLst>
                </a:gridCol>
                <a:gridCol w="1054171">
                  <a:extLst>
                    <a:ext uri="{9D8B030D-6E8A-4147-A177-3AD203B41FA5}">
                      <a16:colId xmlns:a16="http://schemas.microsoft.com/office/drawing/2014/main" val="1950751846"/>
                    </a:ext>
                  </a:extLst>
                </a:gridCol>
                <a:gridCol w="1465164">
                  <a:extLst>
                    <a:ext uri="{9D8B030D-6E8A-4147-A177-3AD203B41FA5}">
                      <a16:colId xmlns:a16="http://schemas.microsoft.com/office/drawing/2014/main" val="274220853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2047241479"/>
                    </a:ext>
                  </a:extLst>
                </a:gridCol>
                <a:gridCol w="1020278">
                  <a:extLst>
                    <a:ext uri="{9D8B030D-6E8A-4147-A177-3AD203B41FA5}">
                      <a16:colId xmlns:a16="http://schemas.microsoft.com/office/drawing/2014/main" val="504604109"/>
                    </a:ext>
                  </a:extLst>
                </a:gridCol>
                <a:gridCol w="1174282">
                  <a:extLst>
                    <a:ext uri="{9D8B030D-6E8A-4147-A177-3AD203B41FA5}">
                      <a16:colId xmlns:a16="http://schemas.microsoft.com/office/drawing/2014/main" val="2673044149"/>
                    </a:ext>
                  </a:extLst>
                </a:gridCol>
                <a:gridCol w="1260910">
                  <a:extLst>
                    <a:ext uri="{9D8B030D-6E8A-4147-A177-3AD203B41FA5}">
                      <a16:colId xmlns:a16="http://schemas.microsoft.com/office/drawing/2014/main" val="1385770739"/>
                    </a:ext>
                  </a:extLst>
                </a:gridCol>
                <a:gridCol w="1501541">
                  <a:extLst>
                    <a:ext uri="{9D8B030D-6E8A-4147-A177-3AD203B41FA5}">
                      <a16:colId xmlns:a16="http://schemas.microsoft.com/office/drawing/2014/main" val="309281887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625397445"/>
                    </a:ext>
                  </a:extLst>
                </a:gridCol>
              </a:tblGrid>
              <a:tr h="921374">
                <a:tc rowSpan="2" gridSpan="2">
                  <a:txBody>
                    <a:bodyPr/>
                    <a:lstStyle/>
                    <a:p>
                      <a:pPr marL="0" marR="0" algn="ctr" fontAlgn="b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700" dirty="0">
                          <a:solidFill>
                            <a:schemeClr val="tx1"/>
                          </a:solidFill>
                          <a:effectLst/>
                        </a:rPr>
                        <a:t>Doença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 fontAlgn="b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700" dirty="0">
                          <a:solidFill>
                            <a:schemeClr val="tx1"/>
                          </a:solidFill>
                          <a:effectLst/>
                        </a:rPr>
                        <a:t>№. de Casos Notificados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fontAlgn="b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700" err="1">
                          <a:solidFill>
                            <a:schemeClr val="tx1"/>
                          </a:solidFill>
                          <a:effectLst/>
                        </a:rPr>
                        <a:t>Evol</a:t>
                      </a:r>
                      <a:r>
                        <a:rPr lang="pt-PT" sz="1700">
                          <a:solidFill>
                            <a:schemeClr val="tx1"/>
                          </a:solidFill>
                          <a:effectLst/>
                        </a:rPr>
                        <a:t> %</a:t>
                      </a:r>
                    </a:p>
                    <a:p>
                      <a:pPr algn="ctr"/>
                      <a:r>
                        <a:rPr lang="pt-PT" sz="17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7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b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700">
                          <a:solidFill>
                            <a:schemeClr val="tx1"/>
                          </a:solidFill>
                          <a:effectLst/>
                        </a:rPr>
                        <a:t>№. de Óbitos notificados</a:t>
                      </a:r>
                      <a:endParaRPr lang="en-US" sz="17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700">
                          <a:solidFill>
                            <a:schemeClr val="tx1"/>
                          </a:solidFill>
                          <a:effectLst/>
                        </a:rPr>
                        <a:t>Taxa de letalidade</a:t>
                      </a:r>
                      <a:endParaRPr lang="en-US" sz="17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110939"/>
                  </a:ext>
                </a:extLst>
              </a:tr>
              <a:tr h="34405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2026</a:t>
                      </a:r>
                      <a:endParaRPr lang="pt-PT" sz="170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2026</a:t>
                      </a:r>
                      <a:endParaRPr lang="pt-PT" sz="170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2026</a:t>
                      </a:r>
                      <a:endParaRPr lang="pt-PT" sz="170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35415"/>
                  </a:ext>
                </a:extLst>
              </a:tr>
              <a:tr h="3216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Hipertensão</a:t>
                      </a: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15746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12778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-19%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0.01%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0.02%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045677"/>
                  </a:ext>
                </a:extLst>
              </a:tr>
              <a:tr h="3216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AVC/</a:t>
                      </a:r>
                      <a:r>
                        <a:rPr lang="en-US" sz="1700" b="1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trombose</a:t>
                      </a: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537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-48%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480854"/>
                  </a:ext>
                </a:extLst>
              </a:tr>
              <a:tr h="32161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Diabetes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ID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743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-85%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70448"/>
                  </a:ext>
                </a:extLst>
              </a:tr>
              <a:tr h="3216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NID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2159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4027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84326"/>
                  </a:ext>
                </a:extLst>
              </a:tr>
              <a:tr h="3216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Cancro do </a:t>
                      </a:r>
                      <a:r>
                        <a:rPr lang="en-US" sz="1700" b="1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Útero</a:t>
                      </a:r>
                      <a:endParaRPr lang="en-US" sz="17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-33%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671856"/>
                  </a:ext>
                </a:extLst>
              </a:tr>
              <a:tr h="3216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Cancro de Mama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-74%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25418"/>
                  </a:ext>
                </a:extLst>
              </a:tr>
              <a:tr h="5861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Cancro de </a:t>
                      </a:r>
                      <a:r>
                        <a:rPr lang="en-US" sz="1700" b="1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Prostata</a:t>
                      </a:r>
                      <a:endParaRPr lang="en-US" sz="17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-32%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57004"/>
                  </a:ext>
                </a:extLst>
              </a:tr>
              <a:tr h="5861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Asma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11307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5623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629857"/>
                  </a:ext>
                </a:extLst>
              </a:tr>
              <a:tr h="5861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Trauma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19372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16916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-13%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068869"/>
                  </a:ext>
                </a:extLst>
              </a:tr>
              <a:tr h="5861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Neoplasia </a:t>
                      </a:r>
                      <a:r>
                        <a:rPr lang="en-US" sz="17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Maligna</a:t>
                      </a: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-95%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594228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31590490-6374-2B16-9954-6B592DF510F2}"/>
              </a:ext>
            </a:extLst>
          </p:cNvPr>
          <p:cNvSpPr txBox="1"/>
          <p:nvPr/>
        </p:nvSpPr>
        <p:spPr>
          <a:xfrm>
            <a:off x="390448" y="6413806"/>
            <a:ext cx="6096000" cy="3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pt-PT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Fonte:</a:t>
            </a:r>
            <a:r>
              <a:rPr lang="pt-PT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Boletim Mensal dos Postos Sentinela – HCM, HGJM, HGC, HGM e HGPC.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Slide Number 4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862858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65"/>
          <p:cNvSpPr/>
          <p:nvPr/>
        </p:nvSpPr>
        <p:spPr>
          <a:xfrm>
            <a:off x="3048" y="-4313"/>
            <a:ext cx="12188952" cy="6858000"/>
          </a:xfrm>
          <a:prstGeom prst="rect">
            <a:avLst/>
          </a:prstGeom>
          <a:solidFill>
            <a:srgbClr val="181E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65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181E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5"/>
          <p:cNvSpPr txBox="1"/>
          <p:nvPr/>
        </p:nvSpPr>
        <p:spPr>
          <a:xfrm>
            <a:off x="2748109" y="2778356"/>
            <a:ext cx="610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ealizações do sector</a:t>
            </a:r>
            <a:endParaRPr/>
          </a:p>
        </p:txBody>
      </p:sp>
      <p:sp>
        <p:nvSpPr>
          <p:cNvPr id="935" name="Google Shape;935;p65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936" name="Google Shape;936;p6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Slide Number 4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938" name="Rectangle 93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9" name="Rectangle 93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0" name="Rectangle 93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A7B6-4B25-A87C-6BB8-94DF9783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4E750A8-A04C-F27C-DBE0-6581F869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4" y="137652"/>
            <a:ext cx="11155438" cy="707922"/>
          </a:xfr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0000"/>
          </a:bodyPr>
          <a:lstStyle/>
          <a:p>
            <a:pPr algn="ctr">
              <a:spcAft>
                <a:spcPts val="5675"/>
              </a:spcAft>
            </a:pPr>
            <a:r>
              <a:rPr lang="pt-PT" altLang="en-US" b="1">
                <a:solidFill>
                  <a:srgbClr val="1B3A5B"/>
                </a:solidFill>
                <a:latin typeface="Bodoni MT"/>
              </a:rPr>
              <a:t>Principais Realizações</a:t>
            </a:r>
            <a:r>
              <a:rPr lang="pt-PT" sz="2400" b="1" baseline="30000">
                <a:solidFill>
                  <a:srgbClr val="1B3A5B"/>
                </a:solidFill>
                <a:latin typeface="bodoni mt"/>
              </a:rPr>
              <a:t>(1)</a:t>
            </a:r>
            <a:endParaRPr lang="pt-PT" altLang="en-US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37B2-01D6-0BD4-E21C-807539FD7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76" y="1029879"/>
            <a:ext cx="10816576" cy="51546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200">
              <a:latin typeface="Arial Narrow" panose="020B0606020202030204" pitchFamily="34" charset="0"/>
              <a:cs typeface="Calibri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200">
              <a:latin typeface="Arial Narrow" panose="020B0606020202030204" pitchFamily="34" charset="0"/>
              <a:cs typeface="Calibri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11EDD1-AFA1-B854-6C04-CF053EBCF734}"/>
              </a:ext>
            </a:extLst>
          </p:cNvPr>
          <p:cNvGraphicFramePr/>
          <p:nvPr/>
        </p:nvGraphicFramePr>
        <p:xfrm>
          <a:off x="466997" y="1029879"/>
          <a:ext cx="10816576" cy="5468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43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836726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D8E819F-CFA3-2B26-EC43-324A765F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137652"/>
            <a:ext cx="11171767" cy="707922"/>
          </a:xfr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0000"/>
          </a:bodyPr>
          <a:lstStyle/>
          <a:p>
            <a:pPr algn="ctr">
              <a:spcAft>
                <a:spcPts val="5675"/>
              </a:spcAft>
            </a:pPr>
            <a:r>
              <a:rPr lang="pt-PT" altLang="en-US" b="1">
                <a:solidFill>
                  <a:srgbClr val="1B3A5B"/>
                </a:solidFill>
                <a:latin typeface="Bodoni MT"/>
              </a:rPr>
              <a:t>Principais Realizações</a:t>
            </a:r>
            <a:r>
              <a:rPr lang="pt-PT" sz="2400" b="1" baseline="30000">
                <a:solidFill>
                  <a:srgbClr val="1B3A5B"/>
                </a:solidFill>
                <a:latin typeface="bodoni mt"/>
              </a:rPr>
              <a:t>(2)</a:t>
            </a:r>
            <a:endParaRPr lang="pt-PT" altLang="en-US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43951-2519-B519-D745-7C48AFB5A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76" y="1029879"/>
            <a:ext cx="10816576" cy="51546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200">
              <a:latin typeface="Arial Narrow" panose="020B0606020202030204" pitchFamily="34" charset="0"/>
              <a:cs typeface="Calibri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200">
              <a:latin typeface="Arial Narrow" panose="020B0606020202030204" pitchFamily="34" charset="0"/>
              <a:cs typeface="Calibri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9A1BAF-6494-0273-34FD-C4C0FCDFC860}"/>
              </a:ext>
            </a:extLst>
          </p:cNvPr>
          <p:cNvGraphicFramePr/>
          <p:nvPr/>
        </p:nvGraphicFramePr>
        <p:xfrm>
          <a:off x="437029" y="1219200"/>
          <a:ext cx="10925734" cy="5271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4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42775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98EB89-0B9C-DC29-CFF8-B131716742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91" r="1712" b="30526"/>
          <a:stretch>
            <a:fillRect/>
          </a:stretch>
        </p:blipFill>
        <p:spPr>
          <a:xfrm>
            <a:off x="664240" y="825120"/>
            <a:ext cx="3629715" cy="2521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28A84E-B0DE-76BF-D149-8B93507AF306}"/>
              </a:ext>
            </a:extLst>
          </p:cNvPr>
          <p:cNvSpPr>
            <a:spLocks noGrp="1"/>
          </p:cNvSpPr>
          <p:nvPr/>
        </p:nvSpPr>
        <p:spPr bwMode="auto">
          <a:xfrm>
            <a:off x="664240" y="107535"/>
            <a:ext cx="10442916" cy="555406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5675"/>
              </a:spcAft>
            </a:pPr>
            <a:r>
              <a:rPr lang="pt-PT" altLang="en-US" sz="4000" b="1" dirty="0">
                <a:solidFill>
                  <a:srgbClr val="1B3A5B"/>
                </a:solidFill>
                <a:latin typeface="Bodoni MT"/>
              </a:rPr>
              <a:t>Fototeca</a:t>
            </a:r>
          </a:p>
        </p:txBody>
      </p:sp>
      <p:pic>
        <p:nvPicPr>
          <p:cNvPr id="5" name="Picture 4" descr="A person wearing a protective gear and gloves holding a tool&#10;&#10;AI-generated content may be incorrect.">
            <a:extLst>
              <a:ext uri="{FF2B5EF4-FFF2-40B4-BE49-F238E27FC236}">
                <a16:creationId xmlns:a16="http://schemas.microsoft.com/office/drawing/2014/main" id="{E939BBF3-AD29-E5C7-F85F-0AB25DAC4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8021"/>
          <a:stretch>
            <a:fillRect/>
          </a:stretch>
        </p:blipFill>
        <p:spPr>
          <a:xfrm>
            <a:off x="4525143" y="825120"/>
            <a:ext cx="3137297" cy="25212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EF2B1E-2031-C277-7EF1-9F748F064415}"/>
              </a:ext>
            </a:extLst>
          </p:cNvPr>
          <p:cNvSpPr txBox="1"/>
          <p:nvPr/>
        </p:nvSpPr>
        <p:spPr>
          <a:xfrm>
            <a:off x="1385890" y="3050467"/>
            <a:ext cx="227295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Rastreio</a:t>
            </a:r>
            <a:r>
              <a:rPr lang="en-US" sz="1400" dirty="0"/>
              <a:t> da </a:t>
            </a:r>
            <a:r>
              <a:rPr lang="en-US" sz="1400" dirty="0" err="1"/>
              <a:t>Desnutrição</a:t>
            </a:r>
            <a:r>
              <a:rPr lang="en-US" sz="1400" dirty="0"/>
              <a:t> </a:t>
            </a:r>
            <a:r>
              <a:rPr lang="en-US" sz="1400" dirty="0" err="1"/>
              <a:t>nos</a:t>
            </a:r>
            <a:r>
              <a:rPr lang="en-US" sz="1400" dirty="0"/>
              <a:t> Centros de </a:t>
            </a:r>
            <a:r>
              <a:rPr lang="en-US" sz="1400" dirty="0" err="1"/>
              <a:t>Acomodação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105611-1C9B-4178-3B4C-30148EEEC2D3}"/>
              </a:ext>
            </a:extLst>
          </p:cNvPr>
          <p:cNvSpPr txBox="1"/>
          <p:nvPr/>
        </p:nvSpPr>
        <p:spPr>
          <a:xfrm>
            <a:off x="5104936" y="3050467"/>
            <a:ext cx="1903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PIDOM </a:t>
            </a:r>
            <a:r>
              <a:rPr lang="en-US" sz="1400" dirty="0" err="1"/>
              <a:t>nos</a:t>
            </a:r>
            <a:r>
              <a:rPr lang="en-US" sz="1400" dirty="0"/>
              <a:t> Centros de </a:t>
            </a:r>
            <a:r>
              <a:rPr lang="en-US" sz="1400" dirty="0" err="1"/>
              <a:t>Acomodação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DDC641-51D2-30A6-158E-90A7D9D94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40" y="3720161"/>
            <a:ext cx="3491783" cy="26392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471E4E-BDBC-6C29-7653-C9C7A80266E6}"/>
              </a:ext>
            </a:extLst>
          </p:cNvPr>
          <p:cNvSpPr txBox="1"/>
          <p:nvPr/>
        </p:nvSpPr>
        <p:spPr>
          <a:xfrm>
            <a:off x="1161413" y="6116380"/>
            <a:ext cx="24974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Celebração</a:t>
            </a:r>
            <a:r>
              <a:rPr lang="en-US" sz="1400" dirty="0"/>
              <a:t> do </a:t>
            </a:r>
            <a:r>
              <a:rPr lang="en-US" sz="1400" dirty="0" err="1"/>
              <a:t>Março</a:t>
            </a:r>
            <a:r>
              <a:rPr lang="en-US" sz="1400" dirty="0"/>
              <a:t> </a:t>
            </a:r>
            <a:r>
              <a:rPr lang="en-US" sz="1400" dirty="0" err="1"/>
              <a:t>Lilás</a:t>
            </a:r>
            <a:r>
              <a:rPr lang="en-US" sz="1400" dirty="0"/>
              <a:t> e Entrega de material de CACUM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1F949D-C571-ED65-B8B6-61435D78B2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6624" y="3656593"/>
            <a:ext cx="3632702" cy="27458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78BBD4-B62A-11D4-B792-8C76176D9E91}"/>
              </a:ext>
            </a:extLst>
          </p:cNvPr>
          <p:cNvSpPr txBox="1"/>
          <p:nvPr/>
        </p:nvSpPr>
        <p:spPr>
          <a:xfrm>
            <a:off x="8235877" y="6082734"/>
            <a:ext cx="325937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Palestra no Mercado </a:t>
            </a:r>
            <a:r>
              <a:rPr lang="en-US" sz="1400" dirty="0" err="1"/>
              <a:t>Xipamanine</a:t>
            </a:r>
            <a:endParaRPr lang="en-US" sz="1400" dirty="0"/>
          </a:p>
          <a:p>
            <a:pPr algn="ctr"/>
            <a:r>
              <a:rPr lang="en-US" sz="1400" dirty="0" err="1"/>
              <a:t>Celebração</a:t>
            </a:r>
            <a:r>
              <a:rPr lang="en-US" sz="1400" dirty="0"/>
              <a:t> do Dia Mundial do Alimento Seguro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A84C91-A2CB-E593-BF41-2B8FAAF77E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7629" y="3666903"/>
            <a:ext cx="1934085" cy="273550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976D9D-8CEE-C390-D990-192DC1B786DB}"/>
              </a:ext>
            </a:extLst>
          </p:cNvPr>
          <p:cNvSpPr txBox="1"/>
          <p:nvPr/>
        </p:nvSpPr>
        <p:spPr>
          <a:xfrm>
            <a:off x="4698645" y="6140795"/>
            <a:ext cx="249743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Webinar </a:t>
            </a:r>
            <a:r>
              <a:rPr lang="en-US" sz="1400" dirty="0" err="1"/>
              <a:t>em</a:t>
            </a:r>
            <a:r>
              <a:rPr lang="en-US" sz="1400" dirty="0"/>
              <a:t> </a:t>
            </a:r>
            <a:r>
              <a:rPr lang="en-US" sz="1400" dirty="0" err="1"/>
              <a:t>Celebração</a:t>
            </a:r>
            <a:r>
              <a:rPr lang="en-US" sz="1400" dirty="0"/>
              <a:t> do Dia Mundial de </a:t>
            </a:r>
            <a:r>
              <a:rPr lang="en-US" sz="1400" dirty="0" err="1"/>
              <a:t>Conscientização</a:t>
            </a:r>
            <a:r>
              <a:rPr lang="en-US" sz="1400" dirty="0"/>
              <a:t> </a:t>
            </a:r>
            <a:r>
              <a:rPr lang="en-US" sz="1400" dirty="0" err="1"/>
              <a:t>sobre</a:t>
            </a:r>
            <a:r>
              <a:rPr lang="en-US" sz="1400" dirty="0"/>
              <a:t> o </a:t>
            </a:r>
            <a:r>
              <a:rPr lang="en-US" sz="1400" dirty="0" err="1"/>
              <a:t>Autismo</a:t>
            </a:r>
            <a:r>
              <a:rPr lang="en-US" sz="1400" dirty="0"/>
              <a:t>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306CC14-EA8D-C802-89A3-171B0992EB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8209" y="825120"/>
            <a:ext cx="3380870" cy="25554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F73B71D-E40A-F3DD-C559-003096324360}"/>
              </a:ext>
            </a:extLst>
          </p:cNvPr>
          <p:cNvSpPr txBox="1"/>
          <p:nvPr/>
        </p:nvSpPr>
        <p:spPr>
          <a:xfrm>
            <a:off x="8454624" y="2973523"/>
            <a:ext cx="259753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Promoção</a:t>
            </a:r>
            <a:r>
              <a:rPr lang="en-US" sz="1200" dirty="0"/>
              <a:t> do </a:t>
            </a:r>
            <a:r>
              <a:rPr lang="en-US" sz="1200" dirty="0" err="1"/>
              <a:t>uso</a:t>
            </a:r>
            <a:r>
              <a:rPr lang="en-US" sz="1200" dirty="0"/>
              <a:t> do </a:t>
            </a:r>
            <a:r>
              <a:rPr lang="en-US" sz="1200" dirty="0" err="1"/>
              <a:t>RxCAD</a:t>
            </a:r>
            <a:r>
              <a:rPr lang="en-US" sz="1200" dirty="0"/>
              <a:t> para </a:t>
            </a:r>
            <a:r>
              <a:rPr lang="en-US" sz="1200" dirty="0" err="1"/>
              <a:t>rastreio</a:t>
            </a:r>
            <a:r>
              <a:rPr lang="en-US" sz="1200" dirty="0"/>
              <a:t> da TB – </a:t>
            </a:r>
            <a:r>
              <a:rPr lang="en-US" sz="1200" dirty="0" err="1"/>
              <a:t>Celebração</a:t>
            </a:r>
            <a:r>
              <a:rPr lang="en-US" sz="1200" dirty="0"/>
              <a:t> do Dia Mundial de Combate à TB</a:t>
            </a:r>
          </a:p>
        </p:txBody>
      </p:sp>
      <p:sp>
        <p:nvSpPr>
          <p:cNvPr id="28" name="Slide Number 4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583185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B223D9B-2879-0937-10C6-E240238A03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2" b="14914"/>
          <a:stretch>
            <a:fillRect/>
          </a:stretch>
        </p:blipFill>
        <p:spPr bwMode="auto">
          <a:xfrm>
            <a:off x="8399320" y="3786823"/>
            <a:ext cx="3650440" cy="2502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35D3CFB1-3D89-E143-A35B-5C1EA1689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43" b="13134"/>
          <a:stretch>
            <a:fillRect/>
          </a:stretch>
        </p:blipFill>
        <p:spPr>
          <a:xfrm>
            <a:off x="595463" y="568960"/>
            <a:ext cx="3671737" cy="265175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723C14A2-BC30-A309-A9AC-C429010555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1" b="12131"/>
          <a:stretch>
            <a:fillRect/>
          </a:stretch>
        </p:blipFill>
        <p:spPr bwMode="auto">
          <a:xfrm>
            <a:off x="4482782" y="3786823"/>
            <a:ext cx="3650440" cy="2502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5C7789E4-3130-E6AD-29A9-7B01D6EE37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8" b="13384"/>
          <a:stretch>
            <a:fillRect/>
          </a:stretch>
        </p:blipFill>
        <p:spPr bwMode="auto">
          <a:xfrm>
            <a:off x="267016" y="3786823"/>
            <a:ext cx="4000184" cy="2502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C0F6A4-EE3D-3469-DC95-BFE904B903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23" b="13134"/>
          <a:stretch>
            <a:fillRect/>
          </a:stretch>
        </p:blipFill>
        <p:spPr bwMode="auto">
          <a:xfrm>
            <a:off x="4544846" y="568958"/>
            <a:ext cx="3167521" cy="2651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B2BC0A6-F194-1634-DA07-720F6FDE0B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8109" y="568958"/>
            <a:ext cx="3481282" cy="26517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B7F538A2-4278-EEF0-36D3-DBD9A55B2B7E}"/>
              </a:ext>
            </a:extLst>
          </p:cNvPr>
          <p:cNvSpPr/>
          <p:nvPr/>
        </p:nvSpPr>
        <p:spPr>
          <a:xfrm>
            <a:off x="3142766" y="36985"/>
            <a:ext cx="2804160" cy="497840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3A5B"/>
                </a:solidFill>
              </a:rPr>
              <a:t>Feira de Saúde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387ED4-26B8-3B12-8174-3999B0F7DF88}"/>
              </a:ext>
            </a:extLst>
          </p:cNvPr>
          <p:cNvSpPr/>
          <p:nvPr/>
        </p:nvSpPr>
        <p:spPr>
          <a:xfrm>
            <a:off x="8209280" y="36985"/>
            <a:ext cx="2804160" cy="49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Dia Mensal de Saúde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2CAEA55-4CD1-A830-8B1B-CE946D362161}"/>
              </a:ext>
            </a:extLst>
          </p:cNvPr>
          <p:cNvSpPr/>
          <p:nvPr/>
        </p:nvSpPr>
        <p:spPr>
          <a:xfrm>
            <a:off x="1029251" y="3254849"/>
            <a:ext cx="2804160" cy="49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Entrega</a:t>
            </a:r>
            <a:r>
              <a:rPr lang="en-US" dirty="0"/>
              <a:t> de </a:t>
            </a:r>
            <a:r>
              <a:rPr lang="en-US" dirty="0" err="1"/>
              <a:t>equipamento</a:t>
            </a:r>
            <a:r>
              <a:rPr lang="en-US" dirty="0"/>
              <a:t> de </a:t>
            </a:r>
            <a:r>
              <a:rPr lang="en-US" dirty="0" err="1"/>
              <a:t>hematologia</a:t>
            </a:r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DC7360E-8940-2A1F-522C-36EC2CBDACFA}"/>
              </a:ext>
            </a:extLst>
          </p:cNvPr>
          <p:cNvSpPr/>
          <p:nvPr/>
        </p:nvSpPr>
        <p:spPr>
          <a:xfrm>
            <a:off x="8730531" y="3300569"/>
            <a:ext cx="2804160" cy="49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Entrega</a:t>
            </a:r>
            <a:r>
              <a:rPr lang="en-US" dirty="0"/>
              <a:t> de </a:t>
            </a:r>
            <a:r>
              <a:rPr lang="en-US" dirty="0" err="1"/>
              <a:t>furo</a:t>
            </a:r>
            <a:r>
              <a:rPr lang="en-US" dirty="0"/>
              <a:t> para </a:t>
            </a:r>
            <a:r>
              <a:rPr lang="en-US" dirty="0" err="1"/>
              <a:t>abastecimento</a:t>
            </a:r>
            <a:r>
              <a:rPr lang="en-US" dirty="0"/>
              <a:t> de </a:t>
            </a:r>
            <a:r>
              <a:rPr lang="en-US" dirty="0" err="1"/>
              <a:t>agua</a:t>
            </a:r>
            <a:endParaRPr lang="en-US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C224E7D-8484-BA07-0656-66CA59950758}"/>
              </a:ext>
            </a:extLst>
          </p:cNvPr>
          <p:cNvSpPr/>
          <p:nvPr/>
        </p:nvSpPr>
        <p:spPr>
          <a:xfrm>
            <a:off x="4879891" y="3254849"/>
            <a:ext cx="2804160" cy="49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Entrega</a:t>
            </a:r>
            <a:r>
              <a:rPr lang="en-US" dirty="0"/>
              <a:t> das </a:t>
            </a:r>
            <a:r>
              <a:rPr lang="en-US" dirty="0" err="1"/>
              <a:t>maternidades</a:t>
            </a:r>
            <a:r>
              <a:rPr lang="en-US" dirty="0"/>
              <a:t> </a:t>
            </a:r>
            <a:r>
              <a:rPr lang="en-US" dirty="0" err="1"/>
              <a:t>reabilitadas</a:t>
            </a:r>
            <a:endParaRPr lang="en-US" dirty="0"/>
          </a:p>
        </p:txBody>
      </p:sp>
      <p:sp>
        <p:nvSpPr>
          <p:cNvPr id="14" name="Slide Number 4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931380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75"/>
          <p:cNvSpPr/>
          <p:nvPr/>
        </p:nvSpPr>
        <p:spPr>
          <a:xfrm>
            <a:off x="3048" y="-4313"/>
            <a:ext cx="12188952" cy="6858000"/>
          </a:xfrm>
          <a:prstGeom prst="rect">
            <a:avLst/>
          </a:prstGeom>
          <a:solidFill>
            <a:srgbClr val="181E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75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75"/>
          <p:cNvSpPr txBox="1"/>
          <p:nvPr/>
        </p:nvSpPr>
        <p:spPr>
          <a:xfrm>
            <a:off x="1963274" y="2485200"/>
            <a:ext cx="7409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Constrangimentos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600" b="1" dirty="0" err="1">
                <a:solidFill>
                  <a:srgbClr val="FFFFFF"/>
                </a:solidFill>
              </a:rPr>
              <a:t>Perspectivas</a:t>
            </a:r>
            <a:endParaRPr dirty="0"/>
          </a:p>
        </p:txBody>
      </p:sp>
      <p:sp>
        <p:nvSpPr>
          <p:cNvPr id="1066" name="Google Shape;1066;p75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1067" name="Google Shape;1067;p7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Slide Number 4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47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Rectangle 106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Rectangle 107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43951-2519-B519-D745-7C48AFB5A2E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762914" y="1192213"/>
            <a:ext cx="8623139" cy="56657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400" dirty="0" err="1"/>
              <a:t>Défice</a:t>
            </a:r>
            <a:r>
              <a:rPr lang="en-US" sz="2400" dirty="0"/>
              <a:t> de </a:t>
            </a:r>
            <a:r>
              <a:rPr lang="en-US" sz="2400" dirty="0" err="1"/>
              <a:t>recursos</a:t>
            </a:r>
            <a:r>
              <a:rPr lang="en-US" sz="2400" dirty="0"/>
              <a:t> humanos, </a:t>
            </a:r>
            <a:r>
              <a:rPr lang="en-US" sz="2400" dirty="0" err="1"/>
              <a:t>agravado</a:t>
            </a:r>
            <a:r>
              <a:rPr lang="en-US" sz="2400" dirty="0"/>
              <a:t> pela </a:t>
            </a:r>
            <a:r>
              <a:rPr lang="en-US" sz="2400" dirty="0" err="1"/>
              <a:t>suspensão</a:t>
            </a:r>
            <a:r>
              <a:rPr lang="en-US" sz="2400" dirty="0"/>
              <a:t> de </a:t>
            </a:r>
            <a:r>
              <a:rPr lang="en-US" sz="2400" dirty="0" err="1"/>
              <a:t>pessoal</a:t>
            </a:r>
            <a:r>
              <a:rPr lang="en-US" sz="2400" dirty="0"/>
              <a:t> </a:t>
            </a:r>
            <a:r>
              <a:rPr lang="en-US" sz="2400" dirty="0" err="1"/>
              <a:t>financiado</a:t>
            </a:r>
            <a:r>
              <a:rPr lang="en-US" sz="2400" dirty="0"/>
              <a:t> por </a:t>
            </a:r>
            <a:r>
              <a:rPr lang="en-US" sz="2400" dirty="0" err="1"/>
              <a:t>parceiros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Défice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máquinas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lavar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secar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nivel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 US;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GB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Défice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GB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Orçamento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PT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manutenção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 </a:t>
            </a:r>
            <a:r>
              <a:rPr lang="en-US" altLang="en-GB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Unidades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Sanitárias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endParaRPr lang="en-US" altLang="en-GB" sz="2400" dirty="0">
              <a:solidFill>
                <a:schemeClr val="tx1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Deficiente seguimento e fecho das queixas porque maior parte dos utentes não colocam contactos certos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dirty="0" err="1"/>
              <a:t>Rupturas</a:t>
            </a:r>
            <a:r>
              <a:rPr lang="en-US" sz="2400" dirty="0"/>
              <a:t> </a:t>
            </a:r>
            <a:r>
              <a:rPr lang="en-US" sz="2400" dirty="0" err="1"/>
              <a:t>recorrentes</a:t>
            </a:r>
            <a:r>
              <a:rPr lang="en-US" sz="2400" dirty="0"/>
              <a:t> de medicamentos, </a:t>
            </a:r>
            <a:r>
              <a:rPr lang="en-US" sz="2400" dirty="0" err="1"/>
              <a:t>vacinas</a:t>
            </a:r>
            <a:r>
              <a:rPr lang="en-US" sz="2400" dirty="0"/>
              <a:t> e </a:t>
            </a:r>
            <a:r>
              <a:rPr lang="en-US" sz="2400" dirty="0" err="1"/>
              <a:t>insumos</a:t>
            </a:r>
            <a:r>
              <a:rPr lang="en-US" sz="2400" dirty="0"/>
              <a:t> </a:t>
            </a:r>
            <a:r>
              <a:rPr lang="en-US" sz="2400" dirty="0" err="1"/>
              <a:t>laboratoriais</a:t>
            </a:r>
            <a:r>
              <a:rPr lang="en-US" sz="2400" dirty="0"/>
              <a:t>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dirty="0"/>
              <a:t>Baixa </a:t>
            </a:r>
            <a:r>
              <a:rPr lang="en-US" sz="2400" dirty="0" err="1"/>
              <a:t>integração</a:t>
            </a:r>
            <a:r>
              <a:rPr lang="en-US" sz="2400" dirty="0"/>
              <a:t> do sector privado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implementação</a:t>
            </a:r>
            <a:r>
              <a:rPr lang="en-US" sz="2400" dirty="0"/>
              <a:t> de </a:t>
            </a:r>
            <a:r>
              <a:rPr lang="en-US" sz="2400" dirty="0" err="1"/>
              <a:t>programas</a:t>
            </a:r>
            <a:r>
              <a:rPr lang="en-US" sz="2400" dirty="0"/>
              <a:t> </a:t>
            </a:r>
            <a:r>
              <a:rPr lang="en-US" sz="2400" dirty="0" err="1"/>
              <a:t>prioritários</a:t>
            </a:r>
            <a:r>
              <a:rPr lang="en-US" sz="2400" dirty="0"/>
              <a:t> (HIV, SMI e </a:t>
            </a:r>
            <a:r>
              <a:rPr lang="en-US" sz="2400" dirty="0" err="1"/>
              <a:t>Malária</a:t>
            </a:r>
            <a:r>
              <a:rPr lang="en-US" sz="2400" dirty="0"/>
              <a:t>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E436D6-D956-307F-A677-F934FE6373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915" r="16574" b="-2"/>
          <a:stretch>
            <a:fillRect/>
          </a:stretch>
        </p:blipFill>
        <p:spPr>
          <a:xfrm>
            <a:off x="-254643" y="-121596"/>
            <a:ext cx="3345085" cy="6979596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D8E819F-CFA3-2B26-EC43-324A765FB2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33475" y="155575"/>
            <a:ext cx="9925050" cy="660400"/>
          </a:xfr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>
              <a:spcAft>
                <a:spcPts val="5675"/>
              </a:spcAft>
            </a:pPr>
            <a:r>
              <a:rPr lang="pt-PT" b="1">
                <a:solidFill>
                  <a:srgbClr val="1B3A5B"/>
                </a:solidFill>
                <a:latin typeface="Bodoni MT"/>
              </a:rPr>
              <a:t>Constrangimentos</a:t>
            </a:r>
            <a:endParaRPr lang="en-US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11" name="Slide Number 4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290205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A84E-B0DE-76BF-D149-8B93507AF306}"/>
              </a:ext>
            </a:extLst>
          </p:cNvPr>
          <p:cNvSpPr>
            <a:spLocks noGrp="1"/>
          </p:cNvSpPr>
          <p:nvPr/>
        </p:nvSpPr>
        <p:spPr bwMode="auto">
          <a:xfrm>
            <a:off x="878703" y="2359633"/>
            <a:ext cx="10442916" cy="1623527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5675"/>
              </a:spcAft>
            </a:pPr>
            <a:r>
              <a:rPr lang="pt-PT" altLang="en-US" sz="4800" b="1">
                <a:solidFill>
                  <a:schemeClr val="bg1"/>
                </a:solidFill>
                <a:latin typeface="Bodoni MT"/>
              </a:rPr>
              <a:t>Perspectivas</a:t>
            </a:r>
          </a:p>
        </p:txBody>
      </p:sp>
      <p:sp>
        <p:nvSpPr>
          <p:cNvPr id="3" name="Slide Number 5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550921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862" y="244475"/>
            <a:ext cx="10836803" cy="889591"/>
          </a:xfr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pt-PT" b="1" err="1">
                <a:solidFill>
                  <a:srgbClr val="1B3A5B"/>
                </a:solidFill>
                <a:latin typeface="Bodoni MT"/>
                <a:ea typeface="+mn-ea"/>
                <a:cs typeface="+mn-cs"/>
              </a:rPr>
              <a:t>Perspectivas</a:t>
            </a:r>
            <a:r>
              <a:rPr lang="pt-PT" b="1" baseline="30000">
                <a:solidFill>
                  <a:srgbClr val="1B3A5B"/>
                </a:solidFill>
                <a:latin typeface="Bodoni MT"/>
              </a:rPr>
              <a:t>(1)</a:t>
            </a:r>
            <a:endParaRPr lang="pt-PT" b="1">
              <a:solidFill>
                <a:schemeClr val="bg1"/>
              </a:solidFill>
              <a:latin typeface="Bodoni MT"/>
              <a:ea typeface="+mn-ea"/>
              <a:cs typeface="+mn-cs"/>
            </a:endParaRPr>
          </a:p>
        </p:txBody>
      </p:sp>
      <p:graphicFrame>
        <p:nvGraphicFramePr>
          <p:cNvPr id="12" name="Marcador de Posição de Conteúdo 2">
            <a:extLst>
              <a:ext uri="{FF2B5EF4-FFF2-40B4-BE49-F238E27FC236}">
                <a16:creationId xmlns:a16="http://schemas.microsoft.com/office/drawing/2014/main" id="{7717D6EC-6FCF-5D76-26B6-7544124A79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730" y="1359123"/>
          <a:ext cx="10836540" cy="5498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lide Number 5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183137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2"/>
          <p:cNvSpPr/>
          <p:nvPr/>
        </p:nvSpPr>
        <p:spPr>
          <a:xfrm>
            <a:off x="3048" y="-4313"/>
            <a:ext cx="12188952" cy="6858000"/>
          </a:xfrm>
          <a:prstGeom prst="rect">
            <a:avLst/>
          </a:prstGeom>
          <a:solidFill>
            <a:srgbClr val="181E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8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82"/>
          <p:cNvSpPr txBox="1"/>
          <p:nvPr/>
        </p:nvSpPr>
        <p:spPr>
          <a:xfrm>
            <a:off x="2874099" y="2512100"/>
            <a:ext cx="5288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</a:rPr>
              <a:t>  Muito Obrigado</a:t>
            </a:r>
            <a:endParaRPr sz="4000" b="1" i="0" u="none" strike="noStrike" cap="none">
              <a:solidFill>
                <a:srgbClr val="FFFFFF"/>
              </a:solidFill>
            </a:endParaRPr>
          </a:p>
        </p:txBody>
      </p:sp>
      <p:sp>
        <p:nvSpPr>
          <p:cNvPr id="1113" name="Google Shape;1113;p82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1114" name="Google Shape;1114;p8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Slide Number 52"/>
          <p:cNvSpPr txBox="1"/>
          <p:nvPr/>
        </p:nvSpPr>
        <p:spPr>
          <a:xfrm>
            <a:off x="11649456" y="6514430"/>
            <a:ext cx="310896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b="0">
                <a:solidFill>
                  <a:srgbClr val="FFFFFF"/>
                </a:solidFill>
                <a:latin typeface="Calibri"/>
              </a:rPr>
              <a:t>53</a:t>
            </a:r>
            <a:endParaRPr sz="9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16" name="Rectangle 111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Rectangle 111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Rectangle 111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9*330"/>
  <p:tag name="TABLE_ENDDRAG_RECT" val="31*103*859*330"/>
</p:tagLst>
</file>

<file path=ppt/theme/theme1.xml><?xml version="1.0" encoding="utf-8"?>
<a:theme xmlns:a="http://schemas.openxmlformats.org/drawingml/2006/main" name="Slice">
  <a:themeElements>
    <a:clrScheme name="Slice">
      <a:dk1>
        <a:srgbClr val="000000"/>
      </a:dk1>
      <a:lt1>
        <a:srgbClr val="FFFFFF"/>
      </a:lt1>
      <a:dk2>
        <a:srgbClr val="21295C"/>
      </a:dk2>
      <a:lt2>
        <a:srgbClr val="C9922E"/>
      </a:lt2>
      <a:accent1>
        <a:srgbClr val="21295C"/>
      </a:accent1>
      <a:accent2>
        <a:srgbClr val="C9922E"/>
      </a:accent2>
      <a:accent3>
        <a:srgbClr val="3E7D5A"/>
      </a:accent3>
      <a:accent4>
        <a:srgbClr val="3E7D5A"/>
      </a:accent4>
      <a:accent5>
        <a:srgbClr val="C9922E"/>
      </a:accent5>
      <a:accent6>
        <a:srgbClr val="B3261E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3721</TotalTime>
  <Words>3222</Words>
  <Application>Microsoft Office PowerPoint</Application>
  <PresentationFormat>Ecrã Panorâmico</PresentationFormat>
  <Paragraphs>1421</Paragraphs>
  <Slides>53</Slides>
  <Notes>36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53</vt:i4>
      </vt:variant>
    </vt:vector>
  </HeadingPairs>
  <TitlesOfParts>
    <vt:vector size="70" baseType="lpstr">
      <vt:lpstr>Aptos</vt:lpstr>
      <vt:lpstr>Arial</vt:lpstr>
      <vt:lpstr>Arial Narrow</vt:lpstr>
      <vt:lpstr>Bodoni</vt:lpstr>
      <vt:lpstr>Bodoni MT</vt:lpstr>
      <vt:lpstr>Bodoni MT</vt:lpstr>
      <vt:lpstr>Calibri</vt:lpstr>
      <vt:lpstr>Cambria</vt:lpstr>
      <vt:lpstr>Century Gothic</vt:lpstr>
      <vt:lpstr>Courier New</vt:lpstr>
      <vt:lpstr>Garet Bold</vt:lpstr>
      <vt:lpstr>Garet Bold Italics</vt:lpstr>
      <vt:lpstr>Noto Sans Symbols</vt:lpstr>
      <vt:lpstr>Times New Roman</vt:lpstr>
      <vt:lpstr>Wingdings 3</vt:lpstr>
      <vt:lpstr>Slice</vt:lpstr>
      <vt:lpstr>1_Slice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Efectivo de RHS no Subsistema Público de Saúde (N=3490)</vt:lpstr>
      <vt:lpstr>Recursos Humanos - Novas admissões e Perda de Pessoal</vt:lpstr>
      <vt:lpstr>Disponibilidade de medicamentos essenciais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Casos confirmados de malária por 1,000 habitantes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Cascata de C&amp;T do HIV (95-90-86) para PVHIV (geral), 2026</vt:lpstr>
      <vt:lpstr>Cascata de C&amp;T do HIV (95-90-86) para PVHIV - 2025</vt:lpstr>
      <vt:lpstr>Apresentação do PowerPoint</vt:lpstr>
      <vt:lpstr>Apresentação do PowerPoint</vt:lpstr>
      <vt:lpstr>Apresentação do PowerPoint</vt:lpstr>
      <vt:lpstr>Principais Realizações(1)</vt:lpstr>
      <vt:lpstr>Principais Realizações(2)</vt:lpstr>
      <vt:lpstr>Apresentação do PowerPoint</vt:lpstr>
      <vt:lpstr>Apresentação do PowerPoint</vt:lpstr>
      <vt:lpstr>Apresentação do PowerPoint</vt:lpstr>
      <vt:lpstr>Constrangimentos</vt:lpstr>
      <vt:lpstr>Apresentação do PowerPoint</vt:lpstr>
      <vt:lpstr>Perspectivas(1)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zacariasjoao13@hotmail.com</cp:lastModifiedBy>
  <cp:revision>19</cp:revision>
  <dcterms:created xsi:type="dcterms:W3CDTF">2025-07-14T08:03:25Z</dcterms:created>
  <dcterms:modified xsi:type="dcterms:W3CDTF">2026-10-11T17:12:51Z</dcterms:modified>
</cp:coreProperties>
</file>