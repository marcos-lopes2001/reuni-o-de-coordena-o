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57" r:id="rId4"/>
    <p:sldId id="346" r:id="rId5"/>
    <p:sldId id="259" r:id="rId6"/>
    <p:sldId id="260" r:id="rId7"/>
    <p:sldId id="287" r:id="rId8"/>
    <p:sldId id="262" r:id="rId9"/>
    <p:sldId id="286" r:id="rId10"/>
    <p:sldId id="263" r:id="rId11"/>
    <p:sldId id="288" r:id="rId12"/>
    <p:sldId id="285" r:id="rId13"/>
    <p:sldId id="265" r:id="rId14"/>
    <p:sldId id="266" r:id="rId15"/>
    <p:sldId id="267" r:id="rId16"/>
    <p:sldId id="270" r:id="rId17"/>
    <p:sldId id="271" r:id="rId18"/>
    <p:sldId id="275" r:id="rId19"/>
    <p:sldId id="276" r:id="rId20"/>
    <p:sldId id="289" r:id="rId21"/>
    <p:sldId id="279" r:id="rId22"/>
    <p:sldId id="281" r:id="rId23"/>
    <p:sldId id="282" r:id="rId24"/>
    <p:sldId id="283" r:id="rId25"/>
  </p:sldIdLst>
  <p:sldSz cx="12192000" cy="6858000"/>
  <p:notesSz cx="6858000" cy="9144000"/>
  <p:custDataLst>
    <p:tags r:id="rId28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718061-57EE-423A-BDB2-C579F79A9B92}" v="7" dt="2026-09-29T19:40:27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998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8461471829330166E-2"/>
          <c:y val="4.6408358474239339E-2"/>
          <c:w val="0.69041440818895294"/>
          <c:h val="0.92806704436492904"/>
        </c:manualLayout>
      </c:layout>
      <c:pie3DChart>
        <c:varyColors val="1"/>
        <c:ser>
          <c:idx val="0"/>
          <c:order val="0"/>
          <c:dPt>
            <c:idx val="0"/>
            <c:bubble3D val="0"/>
            <c:explosion val="1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1768-4D13-B30F-AE4870D048D0}"/>
              </c:ext>
            </c:extLst>
          </c:dPt>
          <c:dPt>
            <c:idx val="1"/>
            <c:bubble3D val="0"/>
            <c:explosion val="8"/>
            <c:spPr>
              <a:solidFill>
                <a:srgbClr val="FFFF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1768-4D13-B30F-AE4870D048D0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1768-4D13-B30F-AE4870D048D0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Bodoni" panose="020B060402020202020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Plan1!$A$2:$C$2</c:f>
              <c:strCache>
                <c:ptCount val="3"/>
                <c:pt idx="0">
                  <c:v>Cumprido</c:v>
                </c:pt>
                <c:pt idx="1">
                  <c:v>Cumprido parcialmente</c:v>
                </c:pt>
                <c:pt idx="2">
                  <c:v>Não cumprido</c:v>
                </c:pt>
              </c:strCache>
            </c:strRef>
          </c:cat>
          <c:val>
            <c:numRef>
              <c:f>Plan1!$A$3:$C$3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68-4D13-B30F-AE4870D048D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bg1"/>
              </a:solidFill>
              <a:latin typeface="Bodoni" panose="020B060402020202020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41418758-AD2B-F7E3-CDC7-BCD7D093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366A4DFC-EFB7-9947-D4D9-96EA5A9C4C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88CA8C93-74BF-56A1-284E-DD373AB06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86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B106DD9A-329B-9584-5859-386B8D4E9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>
            <a:extLst>
              <a:ext uri="{FF2B5EF4-FFF2-40B4-BE49-F238E27FC236}">
                <a16:creationId xmlns:a16="http://schemas.microsoft.com/office/drawing/2014/main" id="{822BCFC5-3531-D781-088B-8B6971D8F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>
            <a:extLst>
              <a:ext uri="{FF2B5EF4-FFF2-40B4-BE49-F238E27FC236}">
                <a16:creationId xmlns:a16="http://schemas.microsoft.com/office/drawing/2014/main" id="{C916D7F6-AC3F-3818-BF24-34E41C054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62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>
            <a:spLocks noGrp="1"/>
          </p:cNvSpPr>
          <p:nvPr>
            <p:ph type="ftr" idx="11"/>
          </p:nvPr>
        </p:nvSpPr>
        <p:spPr>
          <a:xfrm>
            <a:off x="1827213" y="6089650"/>
            <a:ext cx="62976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sldNum" idx="12"/>
          </p:nvPr>
        </p:nvSpPr>
        <p:spPr>
          <a:xfrm>
            <a:off x="8589963" y="6042025"/>
            <a:ext cx="684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943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 txBox="1"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600"/>
              <a:buFont typeface="Calibri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body" idx="1"/>
          </p:nvPr>
        </p:nvSpPr>
        <p:spPr>
          <a:xfrm>
            <a:off x="677863" y="2160588"/>
            <a:ext cx="8596312" cy="388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dt" idx="10"/>
          </p:nvPr>
        </p:nvSpPr>
        <p:spPr>
          <a:xfrm>
            <a:off x="7205663" y="6042025"/>
            <a:ext cx="9112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ftr" idx="11"/>
          </p:nvPr>
        </p:nvSpPr>
        <p:spPr>
          <a:xfrm>
            <a:off x="1827213" y="6089650"/>
            <a:ext cx="62976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sldNum" idx="12"/>
          </p:nvPr>
        </p:nvSpPr>
        <p:spPr>
          <a:xfrm>
            <a:off x="8589963" y="6042025"/>
            <a:ext cx="684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81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  <p:sldLayoutId id="2147483706" r:id="rId4"/>
    <p:sldLayoutId id="2147483707" r:id="rId5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08" y="5678419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Bodoni" panose="020B060402020202020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39" y="10779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Bodoni" panose="020B060402020202020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52923" y="3327400"/>
            <a:ext cx="10705672" cy="188199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</a:pPr>
            <a:r>
              <a:rPr lang="pt-BR" sz="3200" b="1" dirty="0">
                <a:solidFill>
                  <a:schemeClr val="bg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Grau de Cumprimento das Recomendações da Matriz da V Reunião de Coordenação  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/>
          <p:nvPr/>
        </p:nvSpPr>
        <p:spPr>
          <a:xfrm>
            <a:off x="707345" y="1919529"/>
            <a:ext cx="10153160" cy="296815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785" dist="33020" dir="3180000" algn="ctr">
              <a:srgbClr val="000000">
                <a:alpha val="3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pt-BR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Objectivos da Apresentação</a:t>
            </a:r>
            <a:endParaRPr sz="2400" dirty="0">
              <a:latin typeface="Bodoni" panose="020B0604020202020204" charset="0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pt-BR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Metodologia de Avaliação</a:t>
            </a:r>
            <a:endParaRPr sz="2400" dirty="0">
              <a:latin typeface="Bodoni" panose="020B0604020202020204" charset="0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pt-BR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Grau de Cumprimento das Recomendações</a:t>
            </a:r>
            <a:endParaRPr sz="2400" dirty="0">
              <a:latin typeface="Bodoni" panose="020B0604020202020204" charset="0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pt-PT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Avaliação</a:t>
            </a:r>
            <a:r>
              <a:rPr lang="pt-BR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 Geral</a:t>
            </a:r>
            <a:endParaRPr sz="2400" dirty="0">
              <a:latin typeface="Bodoni" panose="020B0604020202020204" charset="0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2417961" y="722500"/>
            <a:ext cx="6937055" cy="558301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doni"/>
              <a:buNone/>
            </a:pPr>
            <a:r>
              <a:rPr lang="pt-BR" sz="3400" b="1" i="0" u="none" strike="noStrike" cap="none" spc="0" dirty="0">
                <a:solidFill>
                  <a:schemeClr val="lt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Conteúdo de Apresentação </a:t>
            </a:r>
            <a:endParaRPr sz="3400" b="1" i="0" u="none" strike="noStrike" cap="none" spc="0" dirty="0">
              <a:solidFill>
                <a:schemeClr val="lt1"/>
              </a:solidFill>
              <a:latin typeface="Bodoni" panose="020B0604020202020204" charset="0"/>
              <a:ea typeface="Bodoni"/>
              <a:cs typeface="Bodoni"/>
              <a:sym typeface="Bodoni"/>
            </a:endParaRPr>
          </a:p>
        </p:txBody>
      </p:sp>
      <p:pic>
        <p:nvPicPr>
          <p:cNvPr id="154" name="Google Shape;15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2225" y="-28575"/>
            <a:ext cx="739775" cy="11763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90;p7">
            <a:extLst>
              <a:ext uri="{FF2B5EF4-FFF2-40B4-BE49-F238E27FC236}">
                <a16:creationId xmlns:a16="http://schemas.microsoft.com/office/drawing/2014/main" id="{64965965-A388-0B3D-027A-60BE4B79994B}"/>
              </a:ext>
            </a:extLst>
          </p:cNvPr>
          <p:cNvSpPr/>
          <p:nvPr/>
        </p:nvSpPr>
        <p:spPr>
          <a:xfrm>
            <a:off x="11213432" y="6319246"/>
            <a:ext cx="978568" cy="376791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pt-BR" sz="2000" b="1" i="0" u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000" b="1" i="0" u="none" strike="noStrike" cap="none" spc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863600" y="1699654"/>
            <a:ext cx="10436225" cy="289266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785" dist="33020" dir="3180000" algn="ctr">
              <a:srgbClr val="000000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Avaliar o grau de cumprimento das recomendações da Matriz da V Reunião de Coordenação do Serviço de Saúde da Cidade de Maputo, identificando avanços, constrangimentos e medidas de melhoria que contribuam para a prestação de um serviço de saúde de qualidade e humanizado para todos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Arial Narrow" panose="020B0606020202030204" pitchFamily="34" charset="0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spc="0" dirty="0">
              <a:solidFill>
                <a:srgbClr val="FF0000"/>
              </a:solidFill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2063023" y="559594"/>
            <a:ext cx="7853919" cy="558301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doni"/>
              <a:buNone/>
            </a:pPr>
            <a:r>
              <a:rPr lang="pt-BR" sz="3400" b="1" i="0" u="none" strike="noStrike" cap="none" spc="0" dirty="0">
                <a:solidFill>
                  <a:schemeClr val="lt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Objectivo</a:t>
            </a:r>
            <a:endParaRPr sz="3400" b="1" i="0" u="none" strike="noStrike" cap="none" spc="0" dirty="0">
              <a:solidFill>
                <a:schemeClr val="lt1"/>
              </a:solidFill>
              <a:latin typeface="Bodoni" panose="020B0604020202020204" charset="0"/>
              <a:ea typeface="Bodoni"/>
              <a:cs typeface="Bodoni"/>
              <a:sym typeface="Bodoni"/>
            </a:endParaRPr>
          </a:p>
        </p:txBody>
      </p:sp>
      <p:pic>
        <p:nvPicPr>
          <p:cNvPr id="162" name="Google Shape;16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2225" y="-28575"/>
            <a:ext cx="739775" cy="117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/>
          <p:nvPr/>
        </p:nvSpPr>
        <p:spPr>
          <a:xfrm>
            <a:off x="2127577" y="463964"/>
            <a:ext cx="7543961" cy="683154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doni"/>
              <a:buNone/>
            </a:pPr>
            <a:r>
              <a:rPr lang="pt-BR" sz="3200" b="1" i="0" u="none" strike="noStrike" cap="none" spc="0" dirty="0">
                <a:solidFill>
                  <a:schemeClr val="lt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Metodologia de Avaliação</a:t>
            </a:r>
            <a:endParaRPr sz="3200" b="1" i="0" u="none" strike="noStrike" cap="none" spc="0" dirty="0">
              <a:solidFill>
                <a:schemeClr val="lt1"/>
              </a:solidFill>
              <a:latin typeface="Bodoni" panose="020B0604020202020204" charset="0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0" name="Google Shape;170;p4"/>
          <p:cNvGraphicFramePr/>
          <p:nvPr>
            <p:extLst>
              <p:ext uri="{D42A27DB-BD31-4B8C-83A1-F6EECF244321}">
                <p14:modId xmlns:p14="http://schemas.microsoft.com/office/powerpoint/2010/main" val="3480537087"/>
              </p:ext>
            </p:extLst>
          </p:nvPr>
        </p:nvGraphicFramePr>
        <p:xfrm>
          <a:off x="1615969" y="2102086"/>
          <a:ext cx="4044750" cy="2357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4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71" name="Google Shape;17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2225" y="-28575"/>
            <a:ext cx="739775" cy="11763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4"/>
          <p:cNvGraphicFramePr/>
          <p:nvPr>
            <p:extLst>
              <p:ext uri="{D42A27DB-BD31-4B8C-83A1-F6EECF244321}">
                <p14:modId xmlns:p14="http://schemas.microsoft.com/office/powerpoint/2010/main" val="2813918257"/>
              </p:ext>
            </p:extLst>
          </p:nvPr>
        </p:nvGraphicFramePr>
        <p:xfrm>
          <a:off x="5666956" y="2096420"/>
          <a:ext cx="4909075" cy="2357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90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7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 </a:t>
                      </a:r>
                      <a:r>
                        <a:rPr lang="pt-BR" sz="24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100%</a:t>
                      </a:r>
                      <a:endParaRPr sz="2400" dirty="0"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 Parcialmente </a:t>
                      </a:r>
                      <a:r>
                        <a:rPr lang="pt-BR" sz="24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50</a:t>
                      </a:r>
                      <a:r>
                        <a:rPr lang="pt-BR" sz="2400" b="0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à </a:t>
                      </a:r>
                      <a:r>
                        <a:rPr lang="pt-BR" sz="24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99%</a:t>
                      </a:r>
                      <a:endParaRPr sz="2400" dirty="0"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 Narrow"/>
                        <a:buNone/>
                      </a:pPr>
                      <a:r>
                        <a:rPr lang="pt-BR" sz="2400" b="0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Não Cumprido </a:t>
                      </a:r>
                      <a:r>
                        <a:rPr lang="pt-BR" sz="24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0 - 49%</a:t>
                      </a:r>
                      <a:endParaRPr sz="2400" dirty="0"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3;p2">
            <a:extLst>
              <a:ext uri="{FF2B5EF4-FFF2-40B4-BE49-F238E27FC236}">
                <a16:creationId xmlns:a16="http://schemas.microsoft.com/office/drawing/2014/main" id="{FD72B500-61C3-65B1-8B88-286DA7071A90}"/>
              </a:ext>
            </a:extLst>
          </p:cNvPr>
          <p:cNvSpPr/>
          <p:nvPr/>
        </p:nvSpPr>
        <p:spPr>
          <a:xfrm>
            <a:off x="979713" y="504781"/>
            <a:ext cx="10091056" cy="683939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2400"/>
            </a:pPr>
            <a:r>
              <a:rPr lang="pt-BR" sz="3400" b="1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Recomendações Transitadas da IV Reunião</a:t>
            </a:r>
          </a:p>
        </p:txBody>
      </p:sp>
      <p:graphicFrame>
        <p:nvGraphicFramePr>
          <p:cNvPr id="183" name="Google Shape;183;p6"/>
          <p:cNvGraphicFramePr/>
          <p:nvPr>
            <p:extLst>
              <p:ext uri="{D42A27DB-BD31-4B8C-83A1-F6EECF244321}">
                <p14:modId xmlns:p14="http://schemas.microsoft.com/office/powerpoint/2010/main" val="1243931961"/>
              </p:ext>
            </p:extLst>
          </p:nvPr>
        </p:nvGraphicFramePr>
        <p:xfrm>
          <a:off x="512362" y="1735552"/>
          <a:ext cx="11025757" cy="36279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74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67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2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57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1. Elevado tempo de espera para cirurgias nos hospitais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Realizar campanhas de cirurgias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HGM e HGJM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2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Parcialmente Cumprido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525" marR="9525" marT="9525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748790"/>
                  </a:ext>
                </a:extLst>
              </a:tr>
              <a:tr h="198665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Foram realizadas </a:t>
                      </a:r>
                      <a:r>
                        <a:rPr lang="pt-BR" sz="22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campanhas de cirurgia de catarata, tendo abrangido </a:t>
                      </a:r>
                      <a:r>
                        <a:rPr lang="pt-BR" sz="22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501</a:t>
                      </a: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adultos e </a:t>
                      </a:r>
                      <a:r>
                        <a:rPr lang="pt-BR" sz="22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20 </a:t>
                      </a: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crianças. Contudo, devido a falta de material médico cirúrgico  e anestesicos, não foram realizadas camapanhas para outras especialidades.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525" marR="9525" marT="95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2562B5AB-BFAA-34F9-C275-F02A984C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D23326D-6513-6DAF-F2AB-33C8A2B83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220211"/>
              </p:ext>
            </p:extLst>
          </p:nvPr>
        </p:nvGraphicFramePr>
        <p:xfrm>
          <a:off x="657959" y="2068282"/>
          <a:ext cx="10975239" cy="2862942"/>
        </p:xfrm>
        <a:graphic>
          <a:graphicData uri="http://schemas.openxmlformats.org/drawingml/2006/table">
            <a:tbl>
              <a:tblPr/>
              <a:tblGrid>
                <a:gridCol w="181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9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9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0317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Hospitais</a:t>
                      </a:r>
                    </a:p>
                  </a:txBody>
                  <a:tcPr marL="9412" marR="9412" marT="94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Cirurgia</a:t>
                      </a: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Geral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Ortopedia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Oftalmologia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Ginecologia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179">
                <a:tc v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2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HGJM</a:t>
                      </a:r>
                    </a:p>
                  </a:txBody>
                  <a:tcPr marL="9412" marR="9412" marT="94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180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2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HGM</a:t>
                      </a:r>
                    </a:p>
                  </a:txBody>
                  <a:tcPr marL="9412" marR="9412" marT="94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365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365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 dias 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21E46202-A11C-CA33-46FE-15C00570BD3D}"/>
              </a:ext>
            </a:extLst>
          </p:cNvPr>
          <p:cNvSpPr txBox="1"/>
          <p:nvPr/>
        </p:nvSpPr>
        <p:spPr>
          <a:xfrm>
            <a:off x="577423" y="1437792"/>
            <a:ext cx="88619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2400"/>
            </a:pPr>
            <a:r>
              <a:rPr lang="pt-BR" sz="2200" b="1" dirty="0">
                <a:solidFill>
                  <a:schemeClr val="bg1"/>
                </a:solidFill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Tempo de Espera para Cirurgia</a:t>
            </a:r>
          </a:p>
        </p:txBody>
      </p:sp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75CF4A77-499A-2113-CEA0-EAB980BA145D}"/>
              </a:ext>
            </a:extLst>
          </p:cNvPr>
          <p:cNvSpPr/>
          <p:nvPr/>
        </p:nvSpPr>
        <p:spPr>
          <a:xfrm>
            <a:off x="9642336" y="3587471"/>
            <a:ext cx="237893" cy="34568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E9838A84-4308-4DBA-7DD9-182CE7E528D3}"/>
              </a:ext>
            </a:extLst>
          </p:cNvPr>
          <p:cNvSpPr/>
          <p:nvPr/>
        </p:nvSpPr>
        <p:spPr>
          <a:xfrm rot="10800000">
            <a:off x="4770511" y="3668749"/>
            <a:ext cx="237893" cy="34568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91C9CAB8-1F23-34F6-A8ED-D9B59B5B4BAD}"/>
              </a:ext>
            </a:extLst>
          </p:cNvPr>
          <p:cNvSpPr/>
          <p:nvPr/>
        </p:nvSpPr>
        <p:spPr>
          <a:xfrm rot="10800000">
            <a:off x="11415094" y="3578550"/>
            <a:ext cx="237893" cy="34568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7C9D20C6-A099-5229-E9E3-001A6D79B537}"/>
              </a:ext>
            </a:extLst>
          </p:cNvPr>
          <p:cNvSpPr/>
          <p:nvPr/>
        </p:nvSpPr>
        <p:spPr>
          <a:xfrm>
            <a:off x="11539354" y="4465326"/>
            <a:ext cx="237893" cy="34568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74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" name="Google Shape;189;p7"/>
          <p:cNvGraphicFramePr/>
          <p:nvPr>
            <p:extLst>
              <p:ext uri="{D42A27DB-BD31-4B8C-83A1-F6EECF244321}">
                <p14:modId xmlns:p14="http://schemas.microsoft.com/office/powerpoint/2010/main" val="2625439555"/>
              </p:ext>
            </p:extLst>
          </p:nvPr>
        </p:nvGraphicFramePr>
        <p:xfrm>
          <a:off x="456237" y="1445689"/>
          <a:ext cx="11301293" cy="5201353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687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9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6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b="1" i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dirty="0"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b="1" i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b="1" i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b="1" i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b="1" dirty="0"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00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 Narrow" panose="020B0606020202030204" pitchFamily="34" charset="0"/>
                          <a:sym typeface="Arial Narrow"/>
                        </a:rPr>
                        <a:t>2. A triagem de doentes nos Centros de Saúde está sendo feita pelo pessoal de enfermagem</a:t>
                      </a:r>
                      <a:endParaRPr sz="2000" dirty="0"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 Narrow" panose="020B0606020202030204" pitchFamily="34" charset="0"/>
                          <a:sym typeface="Arial Narrow"/>
                        </a:rPr>
                        <a:t>Os Centros de Saúde devem fazer redistribuição do pessoal de modo a colocar técnicos de medicina geral nos gabinetes de triagem</a:t>
                      </a:r>
                      <a:endParaRPr sz="2000" dirty="0"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latin typeface="Arial Narrow" panose="020B0606020202030204" pitchFamily="34" charset="0"/>
                          <a:sym typeface="Arial Narrow"/>
                        </a:rPr>
                        <a:t>DDS/RH</a:t>
                      </a:r>
                      <a:endParaRPr sz="2000" dirty="0"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Não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 Cumprido</a:t>
                      </a:r>
                      <a:endParaRPr sz="2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500532"/>
                  </a:ext>
                </a:extLst>
              </a:tr>
              <a:tr h="411669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Foi possível garantir o atendimento na triagem com recurso a médicos e TMG’s nos distritos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KaNyaka e KaMaxakeni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, apesar de ainda se verificar um défice de TMG.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Nos distritos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KaTembe, KaMavota, KaMpfumu, KaMubukwana e Nlhamankulo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, a triagem continua a ser assegurada por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enfermeiros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, em virtude do défice de TMG, situação que permanece como um dos desafios na garantia da cobertura adequada dos serviços.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153;p2">
            <a:extLst>
              <a:ext uri="{FF2B5EF4-FFF2-40B4-BE49-F238E27FC236}">
                <a16:creationId xmlns:a16="http://schemas.microsoft.com/office/drawing/2014/main" id="{794040D0-EF30-C826-FA9C-B73AB4E731E3}"/>
              </a:ext>
            </a:extLst>
          </p:cNvPr>
          <p:cNvSpPr/>
          <p:nvPr/>
        </p:nvSpPr>
        <p:spPr>
          <a:xfrm>
            <a:off x="1604317" y="452949"/>
            <a:ext cx="9358324" cy="674811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2400"/>
            </a:pPr>
            <a:r>
              <a:rPr lang="pt-BR" sz="3400" b="1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Recomendações Transitadas da IV Reunião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212;p11">
            <a:extLst>
              <a:ext uri="{FF2B5EF4-FFF2-40B4-BE49-F238E27FC236}">
                <a16:creationId xmlns:a16="http://schemas.microsoft.com/office/drawing/2014/main" id="{492089D3-F520-56E3-ECB5-A527931F52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240781"/>
              </p:ext>
            </p:extLst>
          </p:nvPr>
        </p:nvGraphicFramePr>
        <p:xfrm>
          <a:off x="662779" y="1201590"/>
          <a:ext cx="10722615" cy="47646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77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947">
                  <a:extLst>
                    <a:ext uri="{9D8B030D-6E8A-4147-A177-3AD203B41FA5}">
                      <a16:colId xmlns:a16="http://schemas.microsoft.com/office/drawing/2014/main" val="2116087476"/>
                    </a:ext>
                  </a:extLst>
                </a:gridCol>
                <a:gridCol w="1968391">
                  <a:extLst>
                    <a:ext uri="{9D8B030D-6E8A-4147-A177-3AD203B41FA5}">
                      <a16:colId xmlns:a16="http://schemas.microsoft.com/office/drawing/2014/main" val="2561435146"/>
                    </a:ext>
                  </a:extLst>
                </a:gridCol>
                <a:gridCol w="1927504">
                  <a:extLst>
                    <a:ext uri="{9D8B030D-6E8A-4147-A177-3AD203B41FA5}">
                      <a16:colId xmlns:a16="http://schemas.microsoft.com/office/drawing/2014/main" val="83673414"/>
                    </a:ext>
                  </a:extLst>
                </a:gridCol>
                <a:gridCol w="2178769">
                  <a:extLst>
                    <a:ext uri="{9D8B030D-6E8A-4147-A177-3AD203B41FA5}">
                      <a16:colId xmlns:a16="http://schemas.microsoft.com/office/drawing/2014/main" val="3995296418"/>
                    </a:ext>
                  </a:extLst>
                </a:gridCol>
              </a:tblGrid>
              <a:tr h="364674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Distritos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PT" sz="1800" b="1" dirty="0">
                          <a:solidFill>
                            <a:schemeClr val="bg1"/>
                          </a:solidFill>
                          <a:latin typeface="Bodoni" panose="020B0604020202020204" charset="0"/>
                        </a:rPr>
                        <a:t>TMG´s existentes</a:t>
                      </a:r>
                      <a:endParaRPr sz="18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Necessidade de TMG’s</a:t>
                      </a:r>
                      <a:endParaRPr lang="en-US" sz="19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7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</a:rPr>
                        <a:t>SNS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</a:rPr>
                        <a:t>Parceiros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</a:rPr>
                        <a:t>Total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094135"/>
                  </a:ext>
                </a:extLst>
              </a:tr>
              <a:tr h="3964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KaMpfumu</a:t>
                      </a:r>
                      <a:endParaRPr sz="1900" b="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17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7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24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5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7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 err="1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Nhlamankulu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14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20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7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KaMaxakeni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18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4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KaMavota</a:t>
                      </a:r>
                      <a:endParaRPr sz="190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9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25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7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KaMubukwana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23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7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30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4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KaTembe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4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3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7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4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67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KaNyaka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115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Cidade de Maputo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91 (73%)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34 (27%)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125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31</a:t>
                      </a:r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Google Shape;153;p2">
            <a:extLst>
              <a:ext uri="{FF2B5EF4-FFF2-40B4-BE49-F238E27FC236}">
                <a16:creationId xmlns:a16="http://schemas.microsoft.com/office/drawing/2014/main" id="{3D695025-B652-DE7C-06C3-D5D210B76252}"/>
              </a:ext>
            </a:extLst>
          </p:cNvPr>
          <p:cNvSpPr/>
          <p:nvPr/>
        </p:nvSpPr>
        <p:spPr>
          <a:xfrm>
            <a:off x="1434556" y="447631"/>
            <a:ext cx="9322888" cy="522851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2400"/>
            </a:pPr>
            <a:r>
              <a:rPr lang="pt-BR" sz="3200" b="1" dirty="0">
                <a:latin typeface="Bodoni" panose="020B0604020202020204" charset="0"/>
                <a:ea typeface="Arial Narrow"/>
                <a:cs typeface="Times New Roman" panose="02020603050405020304" pitchFamily="18" charset="0"/>
                <a:sym typeface="Arial Narrow"/>
              </a:rPr>
              <a:t>Necessidade de Técnicos de Medicina Geral</a:t>
            </a:r>
          </a:p>
        </p:txBody>
      </p:sp>
    </p:spTree>
    <p:extLst>
      <p:ext uri="{BB962C8B-B14F-4D97-AF65-F5344CB8AC3E}">
        <p14:creationId xmlns:p14="http://schemas.microsoft.com/office/powerpoint/2010/main" val="2526637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1107439" y="500871"/>
            <a:ext cx="10169435" cy="703089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4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Balanço do Desempenho dos Indicadores de SP</a:t>
            </a:r>
            <a:endParaRPr sz="3400" dirty="0">
              <a:latin typeface="Bodoni" panose="020B0604020202020204" charset="0"/>
            </a:endParaRPr>
          </a:p>
        </p:txBody>
      </p:sp>
      <p:graphicFrame>
        <p:nvGraphicFramePr>
          <p:cNvPr id="200" name="Google Shape;200;p9"/>
          <p:cNvGraphicFramePr/>
          <p:nvPr>
            <p:extLst>
              <p:ext uri="{D42A27DB-BD31-4B8C-83A1-F6EECF244321}">
                <p14:modId xmlns:p14="http://schemas.microsoft.com/office/powerpoint/2010/main" val="2631847456"/>
              </p:ext>
            </p:extLst>
          </p:nvPr>
        </p:nvGraphicFramePr>
        <p:xfrm>
          <a:off x="506186" y="1520247"/>
          <a:ext cx="11179627" cy="38175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64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0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845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3. Deficiente uso de Sanitários nas US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Activação dos Comités de Saúde para melhor envolvimento da comunidade sobre o uso das US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Hospitais/DDS/DS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Cumprido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852786"/>
                  </a:ext>
                </a:extLst>
              </a:tr>
              <a:tr h="237162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b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</a:rPr>
                        <a:t>Houve a reactivação dos Comités de Saúde em todos os distritos e hospitais, contudo, a sua operacionalização continua um desafio, tendo em conta que os membros dos Comités manifestam preocupação relacionada com a falta de incentivos, o que comprometer a sua participação e o regular funcionamento das actividades.</a:t>
                      </a:r>
                      <a:endParaRPr sz="20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75658F9-E2DF-87E5-0E13-6CD6E801F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29" y="396427"/>
            <a:ext cx="4449337" cy="326730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77C475D8-34D1-1C4B-A031-8DDC234D3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665" y="3663735"/>
            <a:ext cx="3133495" cy="290993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B926EB7-B01B-91BE-928A-ACEFB9CE5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458" y="3652028"/>
            <a:ext cx="4204011" cy="29606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E1158EA-69EA-8FA1-5E03-680E39FCA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1972" y="384838"/>
            <a:ext cx="4092498" cy="327889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A4870E8-0C1B-B935-3E1D-7D6AD6D6D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329" y="3663735"/>
            <a:ext cx="4449336" cy="296064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FC83491-3409-F043-1FDD-0ABD249D88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4664" y="396426"/>
            <a:ext cx="3595896" cy="327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5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CC9F05AE-8E8C-5233-0AB4-FD062E86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9">
            <a:extLst>
              <a:ext uri="{FF2B5EF4-FFF2-40B4-BE49-F238E27FC236}">
                <a16:creationId xmlns:a16="http://schemas.microsoft.com/office/drawing/2014/main" id="{36F579A4-6F2C-F989-9CB5-2A8AC7F15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432180"/>
              </p:ext>
            </p:extLst>
          </p:nvPr>
        </p:nvGraphicFramePr>
        <p:xfrm>
          <a:off x="381727" y="1600201"/>
          <a:ext cx="11179627" cy="38963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63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9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0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51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4. Baixo alcance da meta de distribuição de redes mosquiteiras na CPN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Extractificar os dados da rede pública e privada, para avaliar o desempenho da rede pública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DS/DEPC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2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78840"/>
                  </a:ext>
                </a:extLst>
              </a:tr>
              <a:tr h="298332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Durante o 1.º semestre de 2026, foram atendidas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26.413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mulheres na 1.ª consulta de CPN. Destas,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21.322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foram atendidas na rede pública, com uma cobertura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99,8% 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de mulheres que receberam redes. 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Na rede privada foram registadas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5.091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primeiras consultas, com distribuição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793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redes mosquiteiras, correspondendo a cerca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15,6%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Google Shape;195;p8">
            <a:extLst>
              <a:ext uri="{FF2B5EF4-FFF2-40B4-BE49-F238E27FC236}">
                <a16:creationId xmlns:a16="http://schemas.microsoft.com/office/drawing/2014/main" id="{9BA7148C-7728-10C5-9517-5DDEC8D82800}"/>
              </a:ext>
            </a:extLst>
          </p:cNvPr>
          <p:cNvSpPr/>
          <p:nvPr/>
        </p:nvSpPr>
        <p:spPr>
          <a:xfrm>
            <a:off x="780142" y="761891"/>
            <a:ext cx="10382795" cy="555769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4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Balanço do Desempenho dos Indicadores de SP</a:t>
            </a:r>
            <a:endParaRPr sz="3400" dirty="0">
              <a:latin typeface="Bodoni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28723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p10"/>
          <p:cNvGraphicFramePr/>
          <p:nvPr>
            <p:extLst>
              <p:ext uri="{D42A27DB-BD31-4B8C-83A1-F6EECF244321}">
                <p14:modId xmlns:p14="http://schemas.microsoft.com/office/powerpoint/2010/main" val="965086302"/>
              </p:ext>
            </p:extLst>
          </p:nvPr>
        </p:nvGraphicFramePr>
        <p:xfrm>
          <a:off x="506186" y="924290"/>
          <a:ext cx="11179628" cy="58227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3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2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2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2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5. Aumento do Rácio de Mortalidade Materna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Reforçar a capacitação e supervisão das enfermeiras de SMI em matéria de monitoria adequada do trabalho de parto através do partograma, bem como no reconhecimento precoce e manejo das principais complicações obstétricas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DS/Hospitais/DDS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Parcialmente cumprido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616349"/>
                  </a:ext>
                </a:extLst>
              </a:tr>
              <a:tr h="479470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Todas as maternidades contam com o acompanhamento de um padrinho Gineco-Obstetra, que, durante as visitas de supervisão e apoio técnico, realiza capacitações em serviço, com enfoque na utilização adequada do partograma e na melhoria da qualidade da assistência ao parto.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Apesar destas intervenções, a Província continua a registar um rácio de mortalidade materna acima do padrão estabelecido, o que demonstra a necessidade de intensificar as acções de melhoria da qualidade dos cuidados, fortalecer a identificação e referência das gestantes de alto risco e assegurar a resposta atempada às emergências obstétricas.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195;p8">
            <a:extLst>
              <a:ext uri="{FF2B5EF4-FFF2-40B4-BE49-F238E27FC236}">
                <a16:creationId xmlns:a16="http://schemas.microsoft.com/office/drawing/2014/main" id="{54999F3B-3E94-D08A-05D3-ECCA97581485}"/>
              </a:ext>
            </a:extLst>
          </p:cNvPr>
          <p:cNvSpPr/>
          <p:nvPr/>
        </p:nvSpPr>
        <p:spPr>
          <a:xfrm>
            <a:off x="939980" y="110925"/>
            <a:ext cx="10312040" cy="703089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Balanço do Desempenho dos Indicadores de SP</a:t>
            </a:r>
            <a:endParaRPr sz="3200" dirty="0">
              <a:latin typeface="Bodoni" panose="020B0604020202020204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11"/>
          <p:cNvGraphicFramePr/>
          <p:nvPr>
            <p:extLst>
              <p:ext uri="{D42A27DB-BD31-4B8C-83A1-F6EECF244321}">
                <p14:modId xmlns:p14="http://schemas.microsoft.com/office/powerpoint/2010/main" val="889364867"/>
              </p:ext>
            </p:extLst>
          </p:nvPr>
        </p:nvGraphicFramePr>
        <p:xfrm>
          <a:off x="654279" y="1012343"/>
          <a:ext cx="10896600" cy="53714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3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999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Distritos</a:t>
                      </a:r>
                      <a:endParaRPr sz="2000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Nº Óbitos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2025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Nº Óbitos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2026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Nados Vivos</a:t>
                      </a:r>
                      <a:endParaRPr sz="2000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2026</a:t>
                      </a:r>
                      <a:endParaRPr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u="none" strike="noStrike" cap="none" spc="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Rácio MM Intra hospitalares/100.000 N.V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u="none" strike="noStrike" cap="none" spc="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2026</a:t>
                      </a:r>
                      <a:endParaRPr sz="2400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KaMpfumu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33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32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6981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458/1000000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Nhlamankulu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11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7685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143/100000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KaMaxakeni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947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KaMavota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9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7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6403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109/100000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KaMubukwana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1463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KaTembe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260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KaNyaka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45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0/100000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Cidade de Maputo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46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50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23784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210/100000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Google Shape;190;p7">
            <a:extLst>
              <a:ext uri="{FF2B5EF4-FFF2-40B4-BE49-F238E27FC236}">
                <a16:creationId xmlns:a16="http://schemas.microsoft.com/office/drawing/2014/main" id="{CE052375-2901-F80A-BD5F-AAB21D49CFFF}"/>
              </a:ext>
            </a:extLst>
          </p:cNvPr>
          <p:cNvSpPr/>
          <p:nvPr/>
        </p:nvSpPr>
        <p:spPr>
          <a:xfrm>
            <a:off x="11213432" y="6319246"/>
            <a:ext cx="978568" cy="376791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pt-BR" sz="2000" b="1" strike="noStrike" cap="none" spc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2000" b="1" i="0" u="none" strike="noStrike" cap="none" spc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46113A-2B4F-537D-DBE1-6B7CB5EC97AB}"/>
              </a:ext>
            </a:extLst>
          </p:cNvPr>
          <p:cNvSpPr txBox="1"/>
          <p:nvPr/>
        </p:nvSpPr>
        <p:spPr>
          <a:xfrm>
            <a:off x="654279" y="274174"/>
            <a:ext cx="6149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 Narrow"/>
                <a:ea typeface="Arial Narrow"/>
                <a:cs typeface="Arial Narrow"/>
                <a:sym typeface="Arial Narrow"/>
              </a:rPr>
              <a:t>Rácio da Mortalidade Materna por Distrito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/>
          <p:nvPr/>
        </p:nvSpPr>
        <p:spPr>
          <a:xfrm>
            <a:off x="1341120" y="257670"/>
            <a:ext cx="9356463" cy="603848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Situação Epidemiológica da Cidade de Maputo</a:t>
            </a:r>
            <a:endParaRPr sz="32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23" name="Google Shape;223;p13"/>
          <p:cNvGraphicFramePr/>
          <p:nvPr>
            <p:extLst>
              <p:ext uri="{D42A27DB-BD31-4B8C-83A1-F6EECF244321}">
                <p14:modId xmlns:p14="http://schemas.microsoft.com/office/powerpoint/2010/main" val="2357260511"/>
              </p:ext>
            </p:extLst>
          </p:nvPr>
        </p:nvGraphicFramePr>
        <p:xfrm>
          <a:off x="488576" y="984613"/>
          <a:ext cx="11214847" cy="569699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7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75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9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974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6. Aumento dos casos de Malária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Realizar refrescamentos contínuos em manejo de casos de malária nos cuidados de saúde primário garantido a actualização permanente das equipas clínicas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0" marR="63500" marT="0" marB="0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51724"/>
                  </a:ext>
                </a:extLst>
              </a:tr>
              <a:tr h="464003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Durante o 1.º semestre de 2026, registou-se uma redução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16% </a:t>
                      </a: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dos casos de malária, em comparação com o mesmo período de 2025. Este resultado foi acompanhado pelo reforço da qualidade do diagnóstico e manejo dos casos, através das seguintes acções: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Refrescamento em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20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unidades sanitárias, abrangendo cerca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210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participantes;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Divulgação do curso de Malária na plataforma Telessaúde; e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Disseminação das Normas de Tratamento da Malária – 4.ª Edição (2025). 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0" marR="63500" marT="0" marB="0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15"/>
          <p:cNvGraphicFramePr/>
          <p:nvPr>
            <p:extLst>
              <p:ext uri="{D42A27DB-BD31-4B8C-83A1-F6EECF244321}">
                <p14:modId xmlns:p14="http://schemas.microsoft.com/office/powerpoint/2010/main" val="738187840"/>
              </p:ext>
            </p:extLst>
          </p:nvPr>
        </p:nvGraphicFramePr>
        <p:xfrm>
          <a:off x="354216" y="1086734"/>
          <a:ext cx="11164994" cy="55358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0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1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55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19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i="0" u="none" strike="noStrike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1900" b="1" i="0" u="none" strike="noStrike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19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74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7. Redução de receitas a nível das Instituições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Realizar um trabalho conjunto para averiguar os motivos da redução das receitas a nível das instituições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DAF/DEPC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1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38919"/>
                  </a:ext>
                </a:extLst>
              </a:tr>
              <a:tr h="457709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Foi realizado o exercício de averiguação das causas da redução da receita arrecadada, tendo-se concluído que os principais factores associados são: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342900" marR="0" lvl="0" indent="-34290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Falta de actualização das taxas moderadoras;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342900" marR="0" lvl="0" indent="-34290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Insuficiência de orçamento para a aquisição de consumíveis necessários à prestação de serviços, devido a falta de retorno do orçamento da receita.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Propostas de melhoria: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342900" marR="0" lvl="0" indent="-34290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Rever e actualizar as taxas moderadoras aplicadas no CEM;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342900" marR="0" lvl="0" indent="-34290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Submeter e aprovar a proposta de introdução de consultas especiais nos Hospitais Gerais, como medida de reforço da capacidade de geração de receitas. 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229;p14">
            <a:extLst>
              <a:ext uri="{FF2B5EF4-FFF2-40B4-BE49-F238E27FC236}">
                <a16:creationId xmlns:a16="http://schemas.microsoft.com/office/drawing/2014/main" id="{B9258CE4-8FF6-9E42-E510-38C2652F45E8}"/>
              </a:ext>
            </a:extLst>
          </p:cNvPr>
          <p:cNvSpPr/>
          <p:nvPr/>
        </p:nvSpPr>
        <p:spPr>
          <a:xfrm>
            <a:off x="2002365" y="235433"/>
            <a:ext cx="8187270" cy="576394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0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Desempenho Orçamental e Financeiro</a:t>
            </a:r>
            <a:endParaRPr sz="30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4" name="Google Shape;190;p7">
            <a:extLst>
              <a:ext uri="{FF2B5EF4-FFF2-40B4-BE49-F238E27FC236}">
                <a16:creationId xmlns:a16="http://schemas.microsoft.com/office/drawing/2014/main" id="{83A0879B-C036-B6E9-66BD-1ADAD3C4C965}"/>
              </a:ext>
            </a:extLst>
          </p:cNvPr>
          <p:cNvSpPr/>
          <p:nvPr/>
        </p:nvSpPr>
        <p:spPr>
          <a:xfrm>
            <a:off x="11213432" y="6319246"/>
            <a:ext cx="978568" cy="376791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pt-BR" sz="2000" b="1" strike="noStrike" cap="none" spc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2000" b="1" i="0" u="none" strike="noStrike" cap="none" spc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p16"/>
          <p:cNvGraphicFramePr/>
          <p:nvPr>
            <p:extLst>
              <p:ext uri="{D42A27DB-BD31-4B8C-83A1-F6EECF244321}">
                <p14:modId xmlns:p14="http://schemas.microsoft.com/office/powerpoint/2010/main" val="3233951182"/>
              </p:ext>
            </p:extLst>
          </p:nvPr>
        </p:nvGraphicFramePr>
        <p:xfrm>
          <a:off x="441020" y="1365513"/>
          <a:ext cx="11164995" cy="41841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0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b="1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76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8. Falta de refeições para os pacientes dos Hospitais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Garantir no mínimo duas refeições para os pacientes com familiares e três para pacientes sem família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Hospitais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088337"/>
                  </a:ext>
                </a:extLst>
              </a:tr>
              <a:tr h="264826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endParaRPr lang="pt-BR" sz="2000" b="0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Os Hospitais da Cidade de Maputo oferecem 2 refeições aos pacientes com familiares e 3 refeições para pacientes que não recebem familiares, no entanto a garantia do número de refeições está condicionada pela disponibilidade Orçamental.</a:t>
                      </a:r>
                      <a:endParaRPr sz="2000" b="0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229;p14">
            <a:extLst>
              <a:ext uri="{FF2B5EF4-FFF2-40B4-BE49-F238E27FC236}">
                <a16:creationId xmlns:a16="http://schemas.microsoft.com/office/drawing/2014/main" id="{42F78AE8-A7FD-6CB8-2C60-9A498A0FB14E}"/>
              </a:ext>
            </a:extLst>
          </p:cNvPr>
          <p:cNvSpPr/>
          <p:nvPr/>
        </p:nvSpPr>
        <p:spPr>
          <a:xfrm>
            <a:off x="1869440" y="524849"/>
            <a:ext cx="8923775" cy="521134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Desempenho Orçamental e Financeiro</a:t>
            </a:r>
            <a:endParaRPr sz="32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Google Shape;262;p20"/>
          <p:cNvGraphicFramePr/>
          <p:nvPr>
            <p:extLst>
              <p:ext uri="{D42A27DB-BD31-4B8C-83A1-F6EECF244321}">
                <p14:modId xmlns:p14="http://schemas.microsoft.com/office/powerpoint/2010/main" val="897896443"/>
              </p:ext>
            </p:extLst>
          </p:nvPr>
        </p:nvGraphicFramePr>
        <p:xfrm>
          <a:off x="477155" y="1325704"/>
          <a:ext cx="11237689" cy="504694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16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7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501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9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9. Dificuldades na busca de parcerias para a melhoria das condições das US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Identificar potenciais parceiros com perspectiva de assinatura de Memorandos de entendimento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DEPC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Em curso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8575" marR="68575" marT="0" marB="0" anchor="ctr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707281"/>
                  </a:ext>
                </a:extLst>
              </a:tr>
              <a:tr h="387766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Foram assinados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11</a:t>
                      </a: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 novos Memorandos de Entendimento com parceiros não governamentais, estabelecendo mecanismos de colaboração e apoio às diferentes áreas de intervenção do sector da saúde.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Adicionalmente, tem-se verificado um maior envolvimento de agentes económicos, que têm contribuído através de apoio financeiro, fornecimento de bens e materiais, bem como realização de obras e intervenções de melhoria das infra-estruturas das Unidades Sanitárias.</a:t>
                      </a:r>
                      <a:endParaRPr lang="en-US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7" name="Google Shape;257;p19"/>
          <p:cNvSpPr/>
          <p:nvPr/>
        </p:nvSpPr>
        <p:spPr>
          <a:xfrm>
            <a:off x="497475" y="316784"/>
            <a:ext cx="11237689" cy="716010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28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Mecanismo de Aumento de Financiamento no Sector da Saúde</a:t>
            </a:r>
            <a:endParaRPr sz="28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3" name="Google Shape;190;p7">
            <a:extLst>
              <a:ext uri="{FF2B5EF4-FFF2-40B4-BE49-F238E27FC236}">
                <a16:creationId xmlns:a16="http://schemas.microsoft.com/office/drawing/2014/main" id="{F43D348D-1B28-BF04-8E49-522D58FEE32C}"/>
              </a:ext>
            </a:extLst>
          </p:cNvPr>
          <p:cNvSpPr/>
          <p:nvPr/>
        </p:nvSpPr>
        <p:spPr>
          <a:xfrm>
            <a:off x="11213432" y="6319246"/>
            <a:ext cx="978568" cy="376791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pt-BR" sz="2000" b="1" strike="noStrike" cap="none" spc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2000" b="1" i="0" u="none" strike="noStrike" cap="none" spc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/>
          <p:nvPr/>
        </p:nvSpPr>
        <p:spPr>
          <a:xfrm>
            <a:off x="1862503" y="355082"/>
            <a:ext cx="8622617" cy="596857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Humanização dos Cuidados de Saúde</a:t>
            </a:r>
            <a:endParaRPr sz="32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73" name="Google Shape;273;p22"/>
          <p:cNvGraphicFramePr/>
          <p:nvPr>
            <p:extLst>
              <p:ext uri="{D42A27DB-BD31-4B8C-83A1-F6EECF244321}">
                <p14:modId xmlns:p14="http://schemas.microsoft.com/office/powerpoint/2010/main" val="2204395213"/>
              </p:ext>
            </p:extLst>
          </p:nvPr>
        </p:nvGraphicFramePr>
        <p:xfrm>
          <a:off x="379142" y="1237131"/>
          <a:ext cx="11242790" cy="45797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4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5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3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10. Persistência do Mau atendimento a nível das Us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Os gestores dos hospitais devem continuar vigilantes de modo que os valores dos profissionais de saúde não se percam e responsabilizar os profissionais com uma má conduta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 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RH/DS/Hospitais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200" b="1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922538"/>
                  </a:ext>
                </a:extLst>
              </a:tr>
              <a:tr h="336014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Foram instaurados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10 processos disciplinares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contra funcionários envolvidos em casos de má conduta e mau atendimento aos utentes, sendo os mesmos responsabilizados de acordo com o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EGFAE vigente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. As unidades sanitárias têm reforçado a supervisão e a responsabilização dos profissionais, através de participações e instauração de processos disciplinares, conforme a gravidade de cada caso, garantindo igualmente o acompanhamento dos processos até ao seu devido desfecho.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189B109E-78D7-DD65-4FDD-E622B6578B37}"/>
              </a:ext>
            </a:extLst>
          </p:cNvPr>
          <p:cNvSpPr txBox="1"/>
          <p:nvPr/>
        </p:nvSpPr>
        <p:spPr>
          <a:xfrm>
            <a:off x="1812344" y="375276"/>
            <a:ext cx="93162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sz="2000" b="1" dirty="0">
                <a:solidFill>
                  <a:schemeClr val="bg1"/>
                </a:solidFill>
              </a:rPr>
              <a:t>Dados </a:t>
            </a:r>
            <a:r>
              <a:rPr lang="pt-PT" sz="2000" b="1" dirty="0">
                <a:solidFill>
                  <a:schemeClr val="bg1"/>
                </a:solidFill>
                <a:latin typeface="Bodoni" panose="020B0604020202020204" charset="0"/>
              </a:rPr>
              <a:t>comparativos</a:t>
            </a:r>
            <a:r>
              <a:rPr lang="pt-PT" sz="2000" b="1" dirty="0">
                <a:solidFill>
                  <a:schemeClr val="bg1"/>
                </a:solidFill>
              </a:rPr>
              <a:t> dos PD instaurados em 2025 e 2026 ( 1°Semestre)</a:t>
            </a:r>
            <a:endParaRPr lang="pt-PT" sz="20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849BD06D-7E4C-3202-FE2C-550B62674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511908"/>
              </p:ext>
            </p:extLst>
          </p:nvPr>
        </p:nvGraphicFramePr>
        <p:xfrm>
          <a:off x="371979" y="1013329"/>
          <a:ext cx="11002962" cy="5754693"/>
        </p:xfrm>
        <a:graphic>
          <a:graphicData uri="http://schemas.openxmlformats.org/drawingml/2006/table">
            <a:tbl>
              <a:tblPr firstRow="1" firstCol="1" bandRow="1"/>
              <a:tblGrid>
                <a:gridCol w="1054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7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3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26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23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370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29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29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26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435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435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44165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Instituição</a:t>
                      </a: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Processos Instruidos 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Processos concluídos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 tramitação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1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Sancionados 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Arquivados 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(b)-(a)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(b)-(a)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(b)-(a)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SSCM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HGM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HGJM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HGPC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HPI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HGC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ICSM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42.8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614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Google Shape;284;p24"/>
          <p:cNvGraphicFramePr/>
          <p:nvPr>
            <p:extLst>
              <p:ext uri="{D42A27DB-BD31-4B8C-83A1-F6EECF244321}">
                <p14:modId xmlns:p14="http://schemas.microsoft.com/office/powerpoint/2010/main" val="591658648"/>
              </p:ext>
            </p:extLst>
          </p:nvPr>
        </p:nvGraphicFramePr>
        <p:xfrm>
          <a:off x="400050" y="1330722"/>
          <a:ext cx="11107279" cy="535910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88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5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92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dirty="0"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Prazo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/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64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11. Verifica-se um esgotamento mental por parte dos funcionários das US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Garantir que todos os profissionais de saúde façam consultas regulares de saúde mental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DS/RH/Hospitais/DDS/ICSM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Permanente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000" b="1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521"/>
                  </a:ext>
                </a:extLst>
              </a:tr>
              <a:tr h="380467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 Serviço de Saúde e as Unidades Sanitárias têm reforçado acções de apoio e acompanhamento dos profissionais, através da identificação de funcionários que apresentam sinais de desgaste emocional, encaminhamento para acompanhamento especializado, realização de sessões de sensibilização sobre saúde mental e gestão do stress, bem como promoção de momentos de escuta e apoio psicossocia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l, </a:t>
                      </a: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tendo reservado um dia específico para o atendimento em saúde mental para o trabalhador.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9" name="Google Shape;279;p23"/>
          <p:cNvSpPr/>
          <p:nvPr/>
        </p:nvSpPr>
        <p:spPr>
          <a:xfrm>
            <a:off x="946785" y="407071"/>
            <a:ext cx="10298430" cy="619089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Auto-cuidado e Bem-estar do Profissional de Saúde</a:t>
            </a:r>
            <a:endParaRPr sz="3200" dirty="0">
              <a:latin typeface="Bodoni" panose="020B0604020202020204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28"/>
          <p:cNvGraphicFramePr/>
          <p:nvPr>
            <p:extLst>
              <p:ext uri="{D42A27DB-BD31-4B8C-83A1-F6EECF244321}">
                <p14:modId xmlns:p14="http://schemas.microsoft.com/office/powerpoint/2010/main" val="3431932185"/>
              </p:ext>
            </p:extLst>
          </p:nvPr>
        </p:nvGraphicFramePr>
        <p:xfrm>
          <a:off x="345440" y="305182"/>
          <a:ext cx="11470640" cy="58912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27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86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b="1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12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12. Existência de serviços que ainda não dispõem da plataforma SIS-H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Expandir o SIS-H aos serviços que ainda não dispõem da plataforma, assegurando a sua interoperabilidade com outros sistemas em funcionamento no hospital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SSCM/HGM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Parcialmente Cumprido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663586"/>
                  </a:ext>
                </a:extLst>
              </a:tr>
              <a:tr h="474353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Actualmente, o sistema encontra-se operacional nos Serviços de Urgência, Bloco Operatório, enfermarias, com excepção da Neonatologia, e em algumas áreas de consultas externas.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 implementação ainda não abrange integralmente todos os serviços, encontrando-se pendentes as áreas de Psicologia, Terapia da Fala, Terapia Ocupacional, Doenças Crónicas, CAIVV, Fisioterapia, Estomatologia, Laboratório e Imagiologia.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No que concerne à interoperabilidade do SIS-H com os demais sistemas de informação em saúde, esta componente ainda não foi efectivada, permanecendo como uma das prioridades no processo de consolidação e expansão do sistema.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/>
          <p:nvPr/>
        </p:nvSpPr>
        <p:spPr>
          <a:xfrm>
            <a:off x="2051456" y="457002"/>
            <a:ext cx="7932614" cy="618565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odoni"/>
              <a:buNone/>
            </a:pPr>
            <a:r>
              <a:rPr lang="pt-PT" sz="3400" b="1" i="0" u="none" strike="noStrike" cap="none" spc="0" dirty="0">
                <a:latin typeface="Bodoni" panose="020B0604020202020204" charset="0"/>
                <a:ea typeface="Bodoni"/>
                <a:cs typeface="Bodoni"/>
                <a:sym typeface="Bodoni"/>
              </a:rPr>
              <a:t>Avaliação Geral</a:t>
            </a:r>
            <a:endParaRPr sz="3400" b="0" i="0" u="none" strike="noStrike" cap="none" spc="0" dirty="0">
              <a:latin typeface="Bodoni" panose="020B0604020202020204" charset="0"/>
              <a:ea typeface="Bodoni"/>
              <a:cs typeface="Bodoni"/>
              <a:sym typeface="Bodoni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70DABF0-2DC9-9751-D37B-B670F79D13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5563701"/>
              </p:ext>
            </p:extLst>
          </p:nvPr>
        </p:nvGraphicFramePr>
        <p:xfrm>
          <a:off x="886265" y="1330959"/>
          <a:ext cx="10262997" cy="5070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/>
          <p:nvPr/>
        </p:nvSpPr>
        <p:spPr>
          <a:xfrm>
            <a:off x="859459" y="1976717"/>
            <a:ext cx="9871296" cy="2366682"/>
          </a:xfrm>
          <a:prstGeom prst="flowChartMultidocumen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doni"/>
              <a:buNone/>
            </a:pPr>
            <a:r>
              <a:rPr lang="pt-BR" sz="4800" b="1" i="1" u="none">
                <a:solidFill>
                  <a:schemeClr val="lt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Muito Obrigado! </a:t>
            </a:r>
            <a:endParaRPr sz="4000" b="1" i="1" u="none">
              <a:solidFill>
                <a:schemeClr val="lt1"/>
              </a:solidFill>
              <a:latin typeface="Bodoni" panose="020B0604020202020204" charset="0"/>
              <a:ea typeface="Bodoni"/>
              <a:cs typeface="Bodoni"/>
              <a:sym typeface="Bodon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>
              <a:solidFill>
                <a:srgbClr val="002060"/>
              </a:solidFill>
              <a:latin typeface="Bodoni" panose="020B0604020202020204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doni"/>
              <a:buNone/>
            </a:pPr>
            <a:r>
              <a:rPr lang="pt-BR" sz="2000" b="1" i="1" u="none">
                <a:solidFill>
                  <a:schemeClr val="dk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Maputo Cidade, pela Convergência Económica, Inclusão, Inovação e Progresso Social. </a:t>
            </a:r>
            <a:endParaRPr sz="2000" b="1" i="1" u="none">
              <a:solidFill>
                <a:schemeClr val="dk1"/>
              </a:solidFill>
              <a:latin typeface="Bodoni" panose="020B0604020202020204" charset="0"/>
              <a:ea typeface="Bodoni"/>
              <a:cs typeface="Bodoni"/>
              <a:sym typeface="Bodon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>
              <a:solidFill>
                <a:srgbClr val="FFFFFF"/>
              </a:solidFill>
              <a:latin typeface="Bodoni" panose="020B060402020202020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9590</TotalTime>
  <Words>1935</Words>
  <Application>Microsoft Office PowerPoint</Application>
  <PresentationFormat>Ecrã Panorâmico</PresentationFormat>
  <Paragraphs>471</Paragraphs>
  <Slides>24</Slides>
  <Notes>20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36" baseType="lpstr">
      <vt:lpstr>Aptos</vt:lpstr>
      <vt:lpstr>Arial</vt:lpstr>
      <vt:lpstr>Arial Narrow</vt:lpstr>
      <vt:lpstr>Bodoni</vt:lpstr>
      <vt:lpstr>Calibri</vt:lpstr>
      <vt:lpstr>Century Gothic</vt:lpstr>
      <vt:lpstr>Courier New</vt:lpstr>
      <vt:lpstr>Garet Bold</vt:lpstr>
      <vt:lpstr>Garet Bold Italics</vt:lpstr>
      <vt:lpstr>Times New Roman</vt:lpstr>
      <vt:lpstr>Wingdings 3</vt:lpstr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zacariasjoao13@hotmail.com</cp:lastModifiedBy>
  <cp:revision>135</cp:revision>
  <dcterms:created xsi:type="dcterms:W3CDTF">2025-07-14T08:03:00Z</dcterms:created>
  <dcterms:modified xsi:type="dcterms:W3CDTF">2026-10-11T15:19:54Z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