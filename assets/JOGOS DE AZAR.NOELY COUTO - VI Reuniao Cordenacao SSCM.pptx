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rg&amp;utm_campaign=index&amp;utm_content=original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06" r:id="rId2"/>
  </p:sldMasterIdLst>
  <p:notesMasterIdLst>
    <p:notesMasterId r:id="rId26"/>
  </p:notesMasterIdLst>
  <p:handoutMasterIdLst>
    <p:handoutMasterId r:id="rId27"/>
  </p:handoutMasterIdLst>
  <p:sldIdLst>
    <p:sldId id="256" r:id="rId3"/>
    <p:sldId id="258" r:id="rId4"/>
    <p:sldId id="333" r:id="rId5"/>
    <p:sldId id="345" r:id="rId6"/>
    <p:sldId id="346" r:id="rId7"/>
    <p:sldId id="347" r:id="rId8"/>
    <p:sldId id="348" r:id="rId9"/>
    <p:sldId id="274" r:id="rId10"/>
    <p:sldId id="349" r:id="rId11"/>
    <p:sldId id="350" r:id="rId12"/>
    <p:sldId id="351" r:id="rId13"/>
    <p:sldId id="352" r:id="rId14"/>
    <p:sldId id="353" r:id="rId15"/>
    <p:sldId id="354" r:id="rId16"/>
    <p:sldId id="344" r:id="rId17"/>
    <p:sldId id="355" r:id="rId18"/>
    <p:sldId id="356" r:id="rId19"/>
    <p:sldId id="357" r:id="rId20"/>
    <p:sldId id="358" r:id="rId21"/>
    <p:sldId id="359" r:id="rId22"/>
    <p:sldId id="360" r:id="rId23"/>
    <p:sldId id="361" r:id="rId24"/>
    <p:sldId id="343" r:id="rId25"/>
  </p:sldIdLst>
  <p:sldSz cx="12192000" cy="6858000"/>
  <p:notesSz cx="6858000" cy="9144000"/>
  <p:custDataLst>
    <p:tags r:id="rId28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gano" initials="" lastIdx="0" clrIdx="0"/>
  <p:cmAuthor id="2" name="Maria da Luz Velho VAZ" initials="" lastIdx="0" clrIdx="1"/>
  <p:cmAuthor id="3" name="Nelita Nassone" initials="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51FF"/>
    <a:srgbClr val="FF0065"/>
    <a:srgbClr val="FF2600"/>
    <a:srgbClr val="FF9300"/>
    <a:srgbClr val="FFC000"/>
    <a:srgbClr val="FEBC4B"/>
    <a:srgbClr val="E4F8FD"/>
    <a:srgbClr val="E8F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94"/>
    <p:restoredTop sz="94658"/>
  </p:normalViewPr>
  <p:slideViewPr>
    <p:cSldViewPr snapToGrid="0">
      <p:cViewPr varScale="1">
        <p:scale>
          <a:sx n="120" d="100"/>
          <a:sy n="120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576"/>
    </p:cViewPr>
  </p:sorterViewPr>
  <p:notesViewPr>
    <p:cSldViewPr snapToGrid="0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slide" Target="slides/slide11.xml" /><Relationship Id="rId18" Type="http://schemas.openxmlformats.org/officeDocument/2006/relationships/slide" Target="slides/slide16.xml" /><Relationship Id="rId26" Type="http://schemas.openxmlformats.org/officeDocument/2006/relationships/notesMaster" Target="notesMasters/notesMaster1.xml" /><Relationship Id="rId3" Type="http://schemas.openxmlformats.org/officeDocument/2006/relationships/slide" Target="slides/slide1.xml" /><Relationship Id="rId21" Type="http://schemas.openxmlformats.org/officeDocument/2006/relationships/slide" Target="slides/slide19.xml" /><Relationship Id="rId7" Type="http://schemas.openxmlformats.org/officeDocument/2006/relationships/slide" Target="slides/slide5.xml" /><Relationship Id="rId12" Type="http://schemas.openxmlformats.org/officeDocument/2006/relationships/slide" Target="slides/slide10.xml" /><Relationship Id="rId17" Type="http://schemas.openxmlformats.org/officeDocument/2006/relationships/slide" Target="slides/slide15.xml" /><Relationship Id="rId25" Type="http://schemas.openxmlformats.org/officeDocument/2006/relationships/slide" Target="slides/slide23.xml" /><Relationship Id="rId33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14.xml" /><Relationship Id="rId20" Type="http://schemas.openxmlformats.org/officeDocument/2006/relationships/slide" Target="slides/slide18.xml" /><Relationship Id="rId29" Type="http://schemas.openxmlformats.org/officeDocument/2006/relationships/commentAuthors" Target="commentAuthor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24" Type="http://schemas.openxmlformats.org/officeDocument/2006/relationships/slide" Target="slides/slide22.xml" /><Relationship Id="rId32" Type="http://schemas.openxmlformats.org/officeDocument/2006/relationships/theme" Target="theme/theme1.xml" /><Relationship Id="rId5" Type="http://schemas.openxmlformats.org/officeDocument/2006/relationships/slide" Target="slides/slide3.xml" /><Relationship Id="rId15" Type="http://schemas.openxmlformats.org/officeDocument/2006/relationships/slide" Target="slides/slide13.xml" /><Relationship Id="rId23" Type="http://schemas.openxmlformats.org/officeDocument/2006/relationships/slide" Target="slides/slide21.xml" /><Relationship Id="rId28" Type="http://schemas.openxmlformats.org/officeDocument/2006/relationships/tags" Target="tags/tag1.xml" /><Relationship Id="rId10" Type="http://schemas.openxmlformats.org/officeDocument/2006/relationships/slide" Target="slides/slide8.xml" /><Relationship Id="rId19" Type="http://schemas.openxmlformats.org/officeDocument/2006/relationships/slide" Target="slides/slide17.xml" /><Relationship Id="rId31" Type="http://schemas.openxmlformats.org/officeDocument/2006/relationships/viewProps" Target="viewProps.xml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slide" Target="slides/slide12.xml" /><Relationship Id="rId22" Type="http://schemas.openxmlformats.org/officeDocument/2006/relationships/slide" Target="slides/slide20.xml" /><Relationship Id="rId27" Type="http://schemas.openxmlformats.org/officeDocument/2006/relationships/handoutMaster" Target="handoutMasters/handoutMaster1.xml" /><Relationship Id="rId30" Type="http://schemas.openxmlformats.org/officeDocument/2006/relationships/presProps" Target="presProps.xml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C0A86F-DF87-4D11-A243-90C18EE2C8BC}" type="doc">
      <dgm:prSet loTypeId="urn:microsoft.com/office/officeart/2008/layout/LinedList" loCatId="list" qsTypeId="urn:microsoft.com/office/officeart/2005/8/quickstyle/simple1#3" qsCatId="simple" csTypeId="urn:microsoft.com/office/officeart/2005/8/colors/colorful2#1" csCatId="colorful"/>
      <dgm:spPr/>
      <dgm:t>
        <a:bodyPr/>
        <a:lstStyle/>
        <a:p>
          <a:endParaRPr lang="en-US"/>
        </a:p>
      </dgm:t>
    </dgm:pt>
    <dgm:pt modelId="{FE8EF525-A6A4-4480-BFBC-C5E353826D49}">
      <dgm:prSet custT="1"/>
      <dgm:spPr/>
      <dgm:t>
        <a:bodyPr/>
        <a:lstStyle/>
        <a:p>
          <a:r>
            <a:rPr lang="pt-PT" sz="2800" b="0" dirty="0">
              <a:solidFill>
                <a:schemeClr val="bg1"/>
              </a:solidFill>
            </a:rPr>
            <a:t>Definição</a:t>
          </a:r>
          <a:endParaRPr lang="en-US" sz="2800" b="0" dirty="0">
            <a:solidFill>
              <a:schemeClr val="bg1"/>
            </a:solidFill>
          </a:endParaRPr>
        </a:p>
      </dgm:t>
    </dgm:pt>
    <dgm:pt modelId="{2628A4F2-C7D8-4BBA-8549-DFD28815639D}" type="parTrans" cxnId="{700985D1-6995-4D0F-87C3-259EF8B93913}">
      <dgm:prSet/>
      <dgm:spPr/>
      <dgm:t>
        <a:bodyPr/>
        <a:lstStyle/>
        <a:p>
          <a:endParaRPr lang="en-US" sz="2800" b="0">
            <a:solidFill>
              <a:schemeClr val="bg1"/>
            </a:solidFill>
          </a:endParaRPr>
        </a:p>
      </dgm:t>
    </dgm:pt>
    <dgm:pt modelId="{E1CA75A1-965B-4874-AA2B-E8991B2F5850}" type="sibTrans" cxnId="{700985D1-6995-4D0F-87C3-259EF8B93913}">
      <dgm:prSet/>
      <dgm:spPr/>
      <dgm:t>
        <a:bodyPr/>
        <a:lstStyle/>
        <a:p>
          <a:endParaRPr lang="en-US" sz="2800" b="0">
            <a:solidFill>
              <a:schemeClr val="bg1"/>
            </a:solidFill>
          </a:endParaRPr>
        </a:p>
      </dgm:t>
    </dgm:pt>
    <dgm:pt modelId="{50B16205-5825-4197-83DA-20CDE6CDB865}">
      <dgm:prSet custT="1"/>
      <dgm:spPr/>
      <dgm:t>
        <a:bodyPr/>
        <a:lstStyle/>
        <a:p>
          <a:r>
            <a:rPr lang="pt-PT" sz="2800" b="0" dirty="0">
              <a:solidFill>
                <a:schemeClr val="bg1"/>
              </a:solidFill>
            </a:rPr>
            <a:t>Fardo Epidemiológico Global</a:t>
          </a:r>
          <a:endParaRPr lang="en-US" sz="2800" b="0" dirty="0">
            <a:solidFill>
              <a:schemeClr val="bg1"/>
            </a:solidFill>
          </a:endParaRPr>
        </a:p>
      </dgm:t>
    </dgm:pt>
    <dgm:pt modelId="{CB3127DE-669A-47D1-BB95-56FE02A30E83}" type="parTrans" cxnId="{252269AE-D962-4844-BB65-A9574B280A4E}">
      <dgm:prSet/>
      <dgm:spPr/>
      <dgm:t>
        <a:bodyPr/>
        <a:lstStyle/>
        <a:p>
          <a:endParaRPr lang="en-US" sz="2800" b="0">
            <a:solidFill>
              <a:schemeClr val="bg1"/>
            </a:solidFill>
          </a:endParaRPr>
        </a:p>
      </dgm:t>
    </dgm:pt>
    <dgm:pt modelId="{E5E5A489-1310-426A-A319-2C29D6FC0A69}" type="sibTrans" cxnId="{252269AE-D962-4844-BB65-A9574B280A4E}">
      <dgm:prSet/>
      <dgm:spPr/>
      <dgm:t>
        <a:bodyPr/>
        <a:lstStyle/>
        <a:p>
          <a:endParaRPr lang="en-US" sz="2800" b="0">
            <a:solidFill>
              <a:schemeClr val="bg1"/>
            </a:solidFill>
          </a:endParaRPr>
        </a:p>
      </dgm:t>
    </dgm:pt>
    <dgm:pt modelId="{F50576E6-82F1-4525-8097-F382AA259113}">
      <dgm:prSet custT="1"/>
      <dgm:spPr/>
      <dgm:t>
        <a:bodyPr/>
        <a:lstStyle/>
        <a:p>
          <a:r>
            <a:rPr lang="pt-PT" sz="2800" b="0" dirty="0">
              <a:solidFill>
                <a:schemeClr val="bg1"/>
              </a:solidFill>
            </a:rPr>
            <a:t>Neurobiologia </a:t>
          </a:r>
          <a:endParaRPr lang="en-US" sz="2800" b="0" dirty="0">
            <a:solidFill>
              <a:schemeClr val="bg1"/>
            </a:solidFill>
          </a:endParaRPr>
        </a:p>
      </dgm:t>
    </dgm:pt>
    <dgm:pt modelId="{2CE57B8B-192C-45BD-83B2-2B262271109E}" type="parTrans" cxnId="{C7A9F0F7-A801-46FB-A293-FE484A5B2A3D}">
      <dgm:prSet/>
      <dgm:spPr/>
      <dgm:t>
        <a:bodyPr/>
        <a:lstStyle/>
        <a:p>
          <a:endParaRPr lang="en-US" sz="2800" b="0">
            <a:solidFill>
              <a:schemeClr val="bg1"/>
            </a:solidFill>
          </a:endParaRPr>
        </a:p>
      </dgm:t>
    </dgm:pt>
    <dgm:pt modelId="{1023FC44-6B56-4580-ACEE-46F8B104EAEF}" type="sibTrans" cxnId="{C7A9F0F7-A801-46FB-A293-FE484A5B2A3D}">
      <dgm:prSet/>
      <dgm:spPr/>
      <dgm:t>
        <a:bodyPr/>
        <a:lstStyle/>
        <a:p>
          <a:endParaRPr lang="en-US" sz="2800" b="0">
            <a:solidFill>
              <a:schemeClr val="bg1"/>
            </a:solidFill>
          </a:endParaRPr>
        </a:p>
      </dgm:t>
    </dgm:pt>
    <dgm:pt modelId="{4EEEBF4F-6678-4B4C-80F1-5D8487BE3DAB}">
      <dgm:prSet custT="1"/>
      <dgm:spPr/>
      <dgm:t>
        <a:bodyPr/>
        <a:lstStyle/>
        <a:p>
          <a:r>
            <a:rPr lang="pt-PT" sz="2800" b="0">
              <a:solidFill>
                <a:schemeClr val="bg1"/>
              </a:solidFill>
            </a:rPr>
            <a:t>Consequências individuais e sociais</a:t>
          </a:r>
          <a:endParaRPr lang="en-US" sz="2800" b="0">
            <a:solidFill>
              <a:schemeClr val="bg1"/>
            </a:solidFill>
          </a:endParaRPr>
        </a:p>
      </dgm:t>
    </dgm:pt>
    <dgm:pt modelId="{25EE1A04-4697-47EB-A07B-63B3440D91DA}" type="parTrans" cxnId="{0BE33342-3663-4276-BE7C-ACB69B59B0D3}">
      <dgm:prSet/>
      <dgm:spPr/>
      <dgm:t>
        <a:bodyPr/>
        <a:lstStyle/>
        <a:p>
          <a:endParaRPr lang="en-US" sz="2800" b="0">
            <a:solidFill>
              <a:schemeClr val="bg1"/>
            </a:solidFill>
          </a:endParaRPr>
        </a:p>
      </dgm:t>
    </dgm:pt>
    <dgm:pt modelId="{5AAD2076-F4F7-44BD-B409-42EDE1D7AD9C}" type="sibTrans" cxnId="{0BE33342-3663-4276-BE7C-ACB69B59B0D3}">
      <dgm:prSet/>
      <dgm:spPr/>
      <dgm:t>
        <a:bodyPr/>
        <a:lstStyle/>
        <a:p>
          <a:endParaRPr lang="en-US" sz="2800" b="0">
            <a:solidFill>
              <a:schemeClr val="bg1"/>
            </a:solidFill>
          </a:endParaRPr>
        </a:p>
      </dgm:t>
    </dgm:pt>
    <dgm:pt modelId="{D0AB33E2-0F7F-449C-B0C5-B902F9EE3950}">
      <dgm:prSet custT="1"/>
      <dgm:spPr/>
      <dgm:t>
        <a:bodyPr/>
        <a:lstStyle/>
        <a:p>
          <a:r>
            <a:rPr lang="pt-PT" sz="2800" b="0" dirty="0">
              <a:solidFill>
                <a:schemeClr val="bg1"/>
              </a:solidFill>
            </a:rPr>
            <a:t>Responsabilidade  Regulatória </a:t>
          </a:r>
          <a:endParaRPr lang="en-US" sz="2800" b="0" dirty="0">
            <a:solidFill>
              <a:schemeClr val="bg1"/>
            </a:solidFill>
          </a:endParaRPr>
        </a:p>
      </dgm:t>
    </dgm:pt>
    <dgm:pt modelId="{9AC562C5-7CF4-4424-8D1F-970AAC2A383D}" type="parTrans" cxnId="{79610AAF-0D8C-4427-B344-2B111C6C44A9}">
      <dgm:prSet/>
      <dgm:spPr/>
      <dgm:t>
        <a:bodyPr/>
        <a:lstStyle/>
        <a:p>
          <a:endParaRPr lang="en-US" sz="2800" b="0">
            <a:solidFill>
              <a:schemeClr val="bg1"/>
            </a:solidFill>
          </a:endParaRPr>
        </a:p>
      </dgm:t>
    </dgm:pt>
    <dgm:pt modelId="{64F5B3EE-17A3-4B3C-A22A-7380F693C4F7}" type="sibTrans" cxnId="{79610AAF-0D8C-4427-B344-2B111C6C44A9}">
      <dgm:prSet/>
      <dgm:spPr/>
      <dgm:t>
        <a:bodyPr/>
        <a:lstStyle/>
        <a:p>
          <a:endParaRPr lang="en-US" sz="2800" b="0">
            <a:solidFill>
              <a:schemeClr val="bg1"/>
            </a:solidFill>
          </a:endParaRPr>
        </a:p>
      </dgm:t>
    </dgm:pt>
    <dgm:pt modelId="{FF992A82-8580-4C12-B3F9-3AE7EC886073}">
      <dgm:prSet custT="1"/>
      <dgm:spPr/>
      <dgm:t>
        <a:bodyPr/>
        <a:lstStyle/>
        <a:p>
          <a:r>
            <a:rPr lang="pt-PT" sz="2800" b="0" dirty="0">
              <a:solidFill>
                <a:schemeClr val="bg1"/>
              </a:solidFill>
            </a:rPr>
            <a:t>Recomendações </a:t>
          </a:r>
          <a:endParaRPr lang="en-US" sz="2800" b="0" dirty="0">
            <a:solidFill>
              <a:schemeClr val="bg1"/>
            </a:solidFill>
          </a:endParaRPr>
        </a:p>
      </dgm:t>
    </dgm:pt>
    <dgm:pt modelId="{A98C6F92-660E-4019-871D-D5F0E133A56E}" type="parTrans" cxnId="{BA3E7E55-6FC5-4C4D-ABC9-7BD6F843B694}">
      <dgm:prSet/>
      <dgm:spPr/>
      <dgm:t>
        <a:bodyPr/>
        <a:lstStyle/>
        <a:p>
          <a:endParaRPr lang="en-US" sz="2800" b="0">
            <a:solidFill>
              <a:schemeClr val="bg1"/>
            </a:solidFill>
          </a:endParaRPr>
        </a:p>
      </dgm:t>
    </dgm:pt>
    <dgm:pt modelId="{CEB59050-598C-4429-ABEA-77344024D660}" type="sibTrans" cxnId="{BA3E7E55-6FC5-4C4D-ABC9-7BD6F843B694}">
      <dgm:prSet/>
      <dgm:spPr/>
      <dgm:t>
        <a:bodyPr/>
        <a:lstStyle/>
        <a:p>
          <a:endParaRPr lang="en-US" sz="2800" b="0">
            <a:solidFill>
              <a:schemeClr val="bg1"/>
            </a:solidFill>
          </a:endParaRPr>
        </a:p>
      </dgm:t>
    </dgm:pt>
    <dgm:pt modelId="{56CDC1E3-A387-4752-B554-EBDBD70954EC}" type="pres">
      <dgm:prSet presAssocID="{74C0A86F-DF87-4D11-A243-90C18EE2C8BC}" presName="vert0" presStyleCnt="0">
        <dgm:presLayoutVars>
          <dgm:dir/>
          <dgm:animOne val="branch"/>
          <dgm:animLvl val="lvl"/>
        </dgm:presLayoutVars>
      </dgm:prSet>
      <dgm:spPr/>
    </dgm:pt>
    <dgm:pt modelId="{6F2C6C9F-90E6-4935-A90E-AAC0CBED3E97}" type="pres">
      <dgm:prSet presAssocID="{FE8EF525-A6A4-4480-BFBC-C5E353826D49}" presName="thickLine" presStyleLbl="alignNode1" presStyleIdx="0" presStyleCnt="6"/>
      <dgm:spPr/>
    </dgm:pt>
    <dgm:pt modelId="{8778CDA2-5BAA-4770-9F17-7506D9F1FD90}" type="pres">
      <dgm:prSet presAssocID="{FE8EF525-A6A4-4480-BFBC-C5E353826D49}" presName="horz1" presStyleCnt="0"/>
      <dgm:spPr/>
    </dgm:pt>
    <dgm:pt modelId="{63E75C6E-3395-4776-9AD5-94AE6D2F4912}" type="pres">
      <dgm:prSet presAssocID="{FE8EF525-A6A4-4480-BFBC-C5E353826D49}" presName="tx1" presStyleLbl="revTx" presStyleIdx="0" presStyleCnt="6"/>
      <dgm:spPr/>
    </dgm:pt>
    <dgm:pt modelId="{40C28D1A-FE72-4AAC-A719-A448845C5463}" type="pres">
      <dgm:prSet presAssocID="{FE8EF525-A6A4-4480-BFBC-C5E353826D49}" presName="vert1" presStyleCnt="0"/>
      <dgm:spPr/>
    </dgm:pt>
    <dgm:pt modelId="{6F96F96E-8786-41F9-9C11-0F539BE6E875}" type="pres">
      <dgm:prSet presAssocID="{50B16205-5825-4197-83DA-20CDE6CDB865}" presName="thickLine" presStyleLbl="alignNode1" presStyleIdx="1" presStyleCnt="6"/>
      <dgm:spPr/>
    </dgm:pt>
    <dgm:pt modelId="{03EEE995-7FA1-4575-BBA0-89D506198A93}" type="pres">
      <dgm:prSet presAssocID="{50B16205-5825-4197-83DA-20CDE6CDB865}" presName="horz1" presStyleCnt="0"/>
      <dgm:spPr/>
    </dgm:pt>
    <dgm:pt modelId="{E9127251-CEE0-4072-B75B-86906393E108}" type="pres">
      <dgm:prSet presAssocID="{50B16205-5825-4197-83DA-20CDE6CDB865}" presName="tx1" presStyleLbl="revTx" presStyleIdx="1" presStyleCnt="6"/>
      <dgm:spPr/>
    </dgm:pt>
    <dgm:pt modelId="{F07F5246-502A-4757-B16A-806369F3D3D1}" type="pres">
      <dgm:prSet presAssocID="{50B16205-5825-4197-83DA-20CDE6CDB865}" presName="vert1" presStyleCnt="0"/>
      <dgm:spPr/>
    </dgm:pt>
    <dgm:pt modelId="{9047CB99-841A-43B4-97E8-F49CE0A2BA01}" type="pres">
      <dgm:prSet presAssocID="{F50576E6-82F1-4525-8097-F382AA259113}" presName="thickLine" presStyleLbl="alignNode1" presStyleIdx="2" presStyleCnt="6"/>
      <dgm:spPr/>
    </dgm:pt>
    <dgm:pt modelId="{35DC454B-8F45-4BC8-BEE4-2D37E6A78B88}" type="pres">
      <dgm:prSet presAssocID="{F50576E6-82F1-4525-8097-F382AA259113}" presName="horz1" presStyleCnt="0"/>
      <dgm:spPr/>
    </dgm:pt>
    <dgm:pt modelId="{C9E7CA69-A1DC-4DF1-90F8-86717B75F720}" type="pres">
      <dgm:prSet presAssocID="{F50576E6-82F1-4525-8097-F382AA259113}" presName="tx1" presStyleLbl="revTx" presStyleIdx="2" presStyleCnt="6"/>
      <dgm:spPr/>
    </dgm:pt>
    <dgm:pt modelId="{7FD105A6-F0AB-4A5E-88BB-9583BEB3EBB5}" type="pres">
      <dgm:prSet presAssocID="{F50576E6-82F1-4525-8097-F382AA259113}" presName="vert1" presStyleCnt="0"/>
      <dgm:spPr/>
    </dgm:pt>
    <dgm:pt modelId="{A6B1CAD0-9DF9-42F4-A0F1-8065AD370D5A}" type="pres">
      <dgm:prSet presAssocID="{4EEEBF4F-6678-4B4C-80F1-5D8487BE3DAB}" presName="thickLine" presStyleLbl="alignNode1" presStyleIdx="3" presStyleCnt="6"/>
      <dgm:spPr/>
    </dgm:pt>
    <dgm:pt modelId="{6E906A49-1052-4D2E-9186-BA1EF340CE4E}" type="pres">
      <dgm:prSet presAssocID="{4EEEBF4F-6678-4B4C-80F1-5D8487BE3DAB}" presName="horz1" presStyleCnt="0"/>
      <dgm:spPr/>
    </dgm:pt>
    <dgm:pt modelId="{28F4FA79-3213-43EA-BEFE-57F98C29949F}" type="pres">
      <dgm:prSet presAssocID="{4EEEBF4F-6678-4B4C-80F1-5D8487BE3DAB}" presName="tx1" presStyleLbl="revTx" presStyleIdx="3" presStyleCnt="6"/>
      <dgm:spPr/>
    </dgm:pt>
    <dgm:pt modelId="{2A57C99A-70E1-4F5C-B2B9-01A3FD594109}" type="pres">
      <dgm:prSet presAssocID="{4EEEBF4F-6678-4B4C-80F1-5D8487BE3DAB}" presName="vert1" presStyleCnt="0"/>
      <dgm:spPr/>
    </dgm:pt>
    <dgm:pt modelId="{92551F7B-F3DB-49EB-852F-DDAF749A4B9D}" type="pres">
      <dgm:prSet presAssocID="{D0AB33E2-0F7F-449C-B0C5-B902F9EE3950}" presName="thickLine" presStyleLbl="alignNode1" presStyleIdx="4" presStyleCnt="6"/>
      <dgm:spPr/>
    </dgm:pt>
    <dgm:pt modelId="{6415BA56-C081-4A12-8BA7-61A5618CABAA}" type="pres">
      <dgm:prSet presAssocID="{D0AB33E2-0F7F-449C-B0C5-B902F9EE3950}" presName="horz1" presStyleCnt="0"/>
      <dgm:spPr/>
    </dgm:pt>
    <dgm:pt modelId="{5D5C912A-25DE-44C2-8006-D1674CA9E766}" type="pres">
      <dgm:prSet presAssocID="{D0AB33E2-0F7F-449C-B0C5-B902F9EE3950}" presName="tx1" presStyleLbl="revTx" presStyleIdx="4" presStyleCnt="6"/>
      <dgm:spPr/>
    </dgm:pt>
    <dgm:pt modelId="{1F6CDC22-AB85-476E-9354-7D46AA79F524}" type="pres">
      <dgm:prSet presAssocID="{D0AB33E2-0F7F-449C-B0C5-B902F9EE3950}" presName="vert1" presStyleCnt="0"/>
      <dgm:spPr/>
    </dgm:pt>
    <dgm:pt modelId="{02BC4B4E-4CB5-4743-BF7D-6209042204CC}" type="pres">
      <dgm:prSet presAssocID="{FF992A82-8580-4C12-B3F9-3AE7EC886073}" presName="thickLine" presStyleLbl="alignNode1" presStyleIdx="5" presStyleCnt="6"/>
      <dgm:spPr/>
    </dgm:pt>
    <dgm:pt modelId="{E9182F12-97C7-49B9-8573-D497560BD23D}" type="pres">
      <dgm:prSet presAssocID="{FF992A82-8580-4C12-B3F9-3AE7EC886073}" presName="horz1" presStyleCnt="0"/>
      <dgm:spPr/>
    </dgm:pt>
    <dgm:pt modelId="{7DB2DEC4-E2D6-4396-AB33-56DDC0DD9BE4}" type="pres">
      <dgm:prSet presAssocID="{FF992A82-8580-4C12-B3F9-3AE7EC886073}" presName="tx1" presStyleLbl="revTx" presStyleIdx="5" presStyleCnt="6"/>
      <dgm:spPr/>
    </dgm:pt>
    <dgm:pt modelId="{67C177D9-ACCC-41CC-8466-5EB10852E460}" type="pres">
      <dgm:prSet presAssocID="{FF992A82-8580-4C12-B3F9-3AE7EC886073}" presName="vert1" presStyleCnt="0"/>
      <dgm:spPr/>
    </dgm:pt>
  </dgm:ptLst>
  <dgm:cxnLst>
    <dgm:cxn modelId="{8CB48114-1AE1-4F7D-ACA8-7213E0EA102D}" type="presOf" srcId="{FF992A82-8580-4C12-B3F9-3AE7EC886073}" destId="{7DB2DEC4-E2D6-4396-AB33-56DDC0DD9BE4}" srcOrd="0" destOrd="0" presId="urn:microsoft.com/office/officeart/2008/layout/LinedList"/>
    <dgm:cxn modelId="{B7214A21-B2D3-4B9D-ADA9-BF215C451875}" type="presOf" srcId="{4EEEBF4F-6678-4B4C-80F1-5D8487BE3DAB}" destId="{28F4FA79-3213-43EA-BEFE-57F98C29949F}" srcOrd="0" destOrd="0" presId="urn:microsoft.com/office/officeart/2008/layout/LinedList"/>
    <dgm:cxn modelId="{73DADA39-A08C-4DE8-B8E4-44647E771EA9}" type="presOf" srcId="{F50576E6-82F1-4525-8097-F382AA259113}" destId="{C9E7CA69-A1DC-4DF1-90F8-86717B75F720}" srcOrd="0" destOrd="0" presId="urn:microsoft.com/office/officeart/2008/layout/LinedList"/>
    <dgm:cxn modelId="{0BE33342-3663-4276-BE7C-ACB69B59B0D3}" srcId="{74C0A86F-DF87-4D11-A243-90C18EE2C8BC}" destId="{4EEEBF4F-6678-4B4C-80F1-5D8487BE3DAB}" srcOrd="3" destOrd="0" parTransId="{25EE1A04-4697-47EB-A07B-63B3440D91DA}" sibTransId="{5AAD2076-F4F7-44BD-B409-42EDE1D7AD9C}"/>
    <dgm:cxn modelId="{BA3E7E55-6FC5-4C4D-ABC9-7BD6F843B694}" srcId="{74C0A86F-DF87-4D11-A243-90C18EE2C8BC}" destId="{FF992A82-8580-4C12-B3F9-3AE7EC886073}" srcOrd="5" destOrd="0" parTransId="{A98C6F92-660E-4019-871D-D5F0E133A56E}" sibTransId="{CEB59050-598C-4429-ABEA-77344024D660}"/>
    <dgm:cxn modelId="{D4EFB77D-854E-4A0E-A5DB-8BB7E7CCDD40}" type="presOf" srcId="{D0AB33E2-0F7F-449C-B0C5-B902F9EE3950}" destId="{5D5C912A-25DE-44C2-8006-D1674CA9E766}" srcOrd="0" destOrd="0" presId="urn:microsoft.com/office/officeart/2008/layout/LinedList"/>
    <dgm:cxn modelId="{1BDC14A5-C8E2-45E9-ACD8-27285188785B}" type="presOf" srcId="{74C0A86F-DF87-4D11-A243-90C18EE2C8BC}" destId="{56CDC1E3-A387-4752-B554-EBDBD70954EC}" srcOrd="0" destOrd="0" presId="urn:microsoft.com/office/officeart/2008/layout/LinedList"/>
    <dgm:cxn modelId="{252269AE-D962-4844-BB65-A9574B280A4E}" srcId="{74C0A86F-DF87-4D11-A243-90C18EE2C8BC}" destId="{50B16205-5825-4197-83DA-20CDE6CDB865}" srcOrd="1" destOrd="0" parTransId="{CB3127DE-669A-47D1-BB95-56FE02A30E83}" sibTransId="{E5E5A489-1310-426A-A319-2C29D6FC0A69}"/>
    <dgm:cxn modelId="{79610AAF-0D8C-4427-B344-2B111C6C44A9}" srcId="{74C0A86F-DF87-4D11-A243-90C18EE2C8BC}" destId="{D0AB33E2-0F7F-449C-B0C5-B902F9EE3950}" srcOrd="4" destOrd="0" parTransId="{9AC562C5-7CF4-4424-8D1F-970AAC2A383D}" sibTransId="{64F5B3EE-17A3-4B3C-A22A-7380F693C4F7}"/>
    <dgm:cxn modelId="{700985D1-6995-4D0F-87C3-259EF8B93913}" srcId="{74C0A86F-DF87-4D11-A243-90C18EE2C8BC}" destId="{FE8EF525-A6A4-4480-BFBC-C5E353826D49}" srcOrd="0" destOrd="0" parTransId="{2628A4F2-C7D8-4BBA-8549-DFD28815639D}" sibTransId="{E1CA75A1-965B-4874-AA2B-E8991B2F5850}"/>
    <dgm:cxn modelId="{366C4EE0-4ECD-4462-B0DA-74A9D2AF8E6C}" type="presOf" srcId="{50B16205-5825-4197-83DA-20CDE6CDB865}" destId="{E9127251-CEE0-4072-B75B-86906393E108}" srcOrd="0" destOrd="0" presId="urn:microsoft.com/office/officeart/2008/layout/LinedList"/>
    <dgm:cxn modelId="{67F986E2-3964-4D69-AD9A-6B77BF0A0EE3}" type="presOf" srcId="{FE8EF525-A6A4-4480-BFBC-C5E353826D49}" destId="{63E75C6E-3395-4776-9AD5-94AE6D2F4912}" srcOrd="0" destOrd="0" presId="urn:microsoft.com/office/officeart/2008/layout/LinedList"/>
    <dgm:cxn modelId="{C7A9F0F7-A801-46FB-A293-FE484A5B2A3D}" srcId="{74C0A86F-DF87-4D11-A243-90C18EE2C8BC}" destId="{F50576E6-82F1-4525-8097-F382AA259113}" srcOrd="2" destOrd="0" parTransId="{2CE57B8B-192C-45BD-83B2-2B262271109E}" sibTransId="{1023FC44-6B56-4580-ACEE-46F8B104EAEF}"/>
    <dgm:cxn modelId="{DA8799CA-BF2F-4305-9906-0EB35A14D209}" type="presParOf" srcId="{56CDC1E3-A387-4752-B554-EBDBD70954EC}" destId="{6F2C6C9F-90E6-4935-A90E-AAC0CBED3E97}" srcOrd="0" destOrd="0" presId="urn:microsoft.com/office/officeart/2008/layout/LinedList"/>
    <dgm:cxn modelId="{0714D26E-5D57-4BAD-BCAF-A1CC3475BBDF}" type="presParOf" srcId="{56CDC1E3-A387-4752-B554-EBDBD70954EC}" destId="{8778CDA2-5BAA-4770-9F17-7506D9F1FD90}" srcOrd="1" destOrd="0" presId="urn:microsoft.com/office/officeart/2008/layout/LinedList"/>
    <dgm:cxn modelId="{1C415288-5C6C-4D5C-A007-52A167BF8F80}" type="presParOf" srcId="{8778CDA2-5BAA-4770-9F17-7506D9F1FD90}" destId="{63E75C6E-3395-4776-9AD5-94AE6D2F4912}" srcOrd="0" destOrd="0" presId="urn:microsoft.com/office/officeart/2008/layout/LinedList"/>
    <dgm:cxn modelId="{F4D59F7F-9E75-4895-BD13-A21E70A80287}" type="presParOf" srcId="{8778CDA2-5BAA-4770-9F17-7506D9F1FD90}" destId="{40C28D1A-FE72-4AAC-A719-A448845C5463}" srcOrd="1" destOrd="0" presId="urn:microsoft.com/office/officeart/2008/layout/LinedList"/>
    <dgm:cxn modelId="{E97AEAFC-A0D0-4AC2-8927-7A646CEEB0C3}" type="presParOf" srcId="{56CDC1E3-A387-4752-B554-EBDBD70954EC}" destId="{6F96F96E-8786-41F9-9C11-0F539BE6E875}" srcOrd="2" destOrd="0" presId="urn:microsoft.com/office/officeart/2008/layout/LinedList"/>
    <dgm:cxn modelId="{97CA884A-BFB2-416A-8525-2AC33FFA391C}" type="presParOf" srcId="{56CDC1E3-A387-4752-B554-EBDBD70954EC}" destId="{03EEE995-7FA1-4575-BBA0-89D506198A93}" srcOrd="3" destOrd="0" presId="urn:microsoft.com/office/officeart/2008/layout/LinedList"/>
    <dgm:cxn modelId="{F8B9ABED-98E7-44D4-B218-5F8B08EF41D7}" type="presParOf" srcId="{03EEE995-7FA1-4575-BBA0-89D506198A93}" destId="{E9127251-CEE0-4072-B75B-86906393E108}" srcOrd="0" destOrd="0" presId="urn:microsoft.com/office/officeart/2008/layout/LinedList"/>
    <dgm:cxn modelId="{3FED41DC-14B0-4084-B298-95D8B3D46F4D}" type="presParOf" srcId="{03EEE995-7FA1-4575-BBA0-89D506198A93}" destId="{F07F5246-502A-4757-B16A-806369F3D3D1}" srcOrd="1" destOrd="0" presId="urn:microsoft.com/office/officeart/2008/layout/LinedList"/>
    <dgm:cxn modelId="{8E6DCBBC-3B1B-46E0-9EDA-40CAAFCA3B48}" type="presParOf" srcId="{56CDC1E3-A387-4752-B554-EBDBD70954EC}" destId="{9047CB99-841A-43B4-97E8-F49CE0A2BA01}" srcOrd="4" destOrd="0" presId="urn:microsoft.com/office/officeart/2008/layout/LinedList"/>
    <dgm:cxn modelId="{BCD4EA6E-8BD4-4070-B405-0400BCC646C7}" type="presParOf" srcId="{56CDC1E3-A387-4752-B554-EBDBD70954EC}" destId="{35DC454B-8F45-4BC8-BEE4-2D37E6A78B88}" srcOrd="5" destOrd="0" presId="urn:microsoft.com/office/officeart/2008/layout/LinedList"/>
    <dgm:cxn modelId="{452A8B22-54A4-44E6-9E1D-657043543963}" type="presParOf" srcId="{35DC454B-8F45-4BC8-BEE4-2D37E6A78B88}" destId="{C9E7CA69-A1DC-4DF1-90F8-86717B75F720}" srcOrd="0" destOrd="0" presId="urn:microsoft.com/office/officeart/2008/layout/LinedList"/>
    <dgm:cxn modelId="{CBB0E5CF-C711-4086-9161-EC7050D416DB}" type="presParOf" srcId="{35DC454B-8F45-4BC8-BEE4-2D37E6A78B88}" destId="{7FD105A6-F0AB-4A5E-88BB-9583BEB3EBB5}" srcOrd="1" destOrd="0" presId="urn:microsoft.com/office/officeart/2008/layout/LinedList"/>
    <dgm:cxn modelId="{552ECC1B-9278-4766-9119-3193356BFCFD}" type="presParOf" srcId="{56CDC1E3-A387-4752-B554-EBDBD70954EC}" destId="{A6B1CAD0-9DF9-42F4-A0F1-8065AD370D5A}" srcOrd="6" destOrd="0" presId="urn:microsoft.com/office/officeart/2008/layout/LinedList"/>
    <dgm:cxn modelId="{4F74E4E8-8BFB-4B3E-9532-0AB822D58511}" type="presParOf" srcId="{56CDC1E3-A387-4752-B554-EBDBD70954EC}" destId="{6E906A49-1052-4D2E-9186-BA1EF340CE4E}" srcOrd="7" destOrd="0" presId="urn:microsoft.com/office/officeart/2008/layout/LinedList"/>
    <dgm:cxn modelId="{C88C55CB-895D-4694-9A70-69F2FD9B1501}" type="presParOf" srcId="{6E906A49-1052-4D2E-9186-BA1EF340CE4E}" destId="{28F4FA79-3213-43EA-BEFE-57F98C29949F}" srcOrd="0" destOrd="0" presId="urn:microsoft.com/office/officeart/2008/layout/LinedList"/>
    <dgm:cxn modelId="{332893B7-FA6C-4EBA-9A67-25E860FCF6E6}" type="presParOf" srcId="{6E906A49-1052-4D2E-9186-BA1EF340CE4E}" destId="{2A57C99A-70E1-4F5C-B2B9-01A3FD594109}" srcOrd="1" destOrd="0" presId="urn:microsoft.com/office/officeart/2008/layout/LinedList"/>
    <dgm:cxn modelId="{AABC54A3-9CFF-43A1-8832-B721E0BC65E5}" type="presParOf" srcId="{56CDC1E3-A387-4752-B554-EBDBD70954EC}" destId="{92551F7B-F3DB-49EB-852F-DDAF749A4B9D}" srcOrd="8" destOrd="0" presId="urn:microsoft.com/office/officeart/2008/layout/LinedList"/>
    <dgm:cxn modelId="{765E50D7-8FF7-414C-AD6D-6D1E2D675962}" type="presParOf" srcId="{56CDC1E3-A387-4752-B554-EBDBD70954EC}" destId="{6415BA56-C081-4A12-8BA7-61A5618CABAA}" srcOrd="9" destOrd="0" presId="urn:microsoft.com/office/officeart/2008/layout/LinedList"/>
    <dgm:cxn modelId="{CD564960-E30E-43E3-A071-D7236CB051AE}" type="presParOf" srcId="{6415BA56-C081-4A12-8BA7-61A5618CABAA}" destId="{5D5C912A-25DE-44C2-8006-D1674CA9E766}" srcOrd="0" destOrd="0" presId="urn:microsoft.com/office/officeart/2008/layout/LinedList"/>
    <dgm:cxn modelId="{23AB6786-DD10-4F61-9FBE-530D533E3F22}" type="presParOf" srcId="{6415BA56-C081-4A12-8BA7-61A5618CABAA}" destId="{1F6CDC22-AB85-476E-9354-7D46AA79F524}" srcOrd="1" destOrd="0" presId="urn:microsoft.com/office/officeart/2008/layout/LinedList"/>
    <dgm:cxn modelId="{EBA913B3-0AAD-40A3-A96D-457A60DB7D16}" type="presParOf" srcId="{56CDC1E3-A387-4752-B554-EBDBD70954EC}" destId="{02BC4B4E-4CB5-4743-BF7D-6209042204CC}" srcOrd="10" destOrd="0" presId="urn:microsoft.com/office/officeart/2008/layout/LinedList"/>
    <dgm:cxn modelId="{DA0AE7B1-04FF-44B2-8365-DCD9C0A08DE7}" type="presParOf" srcId="{56CDC1E3-A387-4752-B554-EBDBD70954EC}" destId="{E9182F12-97C7-49B9-8573-D497560BD23D}" srcOrd="11" destOrd="0" presId="urn:microsoft.com/office/officeart/2008/layout/LinedList"/>
    <dgm:cxn modelId="{3A3F796F-F3BF-48EA-8C77-A067B4D9E928}" type="presParOf" srcId="{E9182F12-97C7-49B9-8573-D497560BD23D}" destId="{7DB2DEC4-E2D6-4396-AB33-56DDC0DD9BE4}" srcOrd="0" destOrd="0" presId="urn:microsoft.com/office/officeart/2008/layout/LinedList"/>
    <dgm:cxn modelId="{EF624C7B-73A8-49FF-993D-597415AD1128}" type="presParOf" srcId="{E9182F12-97C7-49B9-8573-D497560BD23D}" destId="{67C177D9-ACCC-41CC-8466-5EB10852E46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2C6C9F-90E6-4935-A90E-AAC0CBED3E97}">
      <dsp:nvSpPr>
        <dsp:cNvPr id="0" name=""/>
        <dsp:cNvSpPr/>
      </dsp:nvSpPr>
      <dsp:spPr>
        <a:xfrm>
          <a:off x="0" y="2700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E75C6E-3395-4776-9AD5-94AE6D2F4912}">
      <dsp:nvSpPr>
        <dsp:cNvPr id="0" name=""/>
        <dsp:cNvSpPr/>
      </dsp:nvSpPr>
      <dsp:spPr>
        <a:xfrm>
          <a:off x="0" y="2700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b="0" kern="1200" dirty="0">
              <a:solidFill>
                <a:schemeClr val="bg1"/>
              </a:solidFill>
            </a:rPr>
            <a:t>Definição</a:t>
          </a:r>
          <a:endParaRPr lang="en-US" sz="2800" b="0" kern="1200" dirty="0">
            <a:solidFill>
              <a:schemeClr val="bg1"/>
            </a:solidFill>
          </a:endParaRPr>
        </a:p>
      </dsp:txBody>
      <dsp:txXfrm>
        <a:off x="0" y="2700"/>
        <a:ext cx="6291714" cy="920888"/>
      </dsp:txXfrm>
    </dsp:sp>
    <dsp:sp modelId="{6F96F96E-8786-41F9-9C11-0F539BE6E875}">
      <dsp:nvSpPr>
        <dsp:cNvPr id="0" name=""/>
        <dsp:cNvSpPr/>
      </dsp:nvSpPr>
      <dsp:spPr>
        <a:xfrm>
          <a:off x="0" y="923589"/>
          <a:ext cx="6291714" cy="0"/>
        </a:xfrm>
        <a:prstGeom prst="line">
          <a:avLst/>
        </a:prstGeom>
        <a:solidFill>
          <a:schemeClr val="accent2">
            <a:hueOff val="-167625"/>
            <a:satOff val="-1932"/>
            <a:lumOff val="432"/>
            <a:alphaOff val="0"/>
          </a:schemeClr>
        </a:solidFill>
        <a:ln w="10795" cap="flat" cmpd="sng" algn="ctr">
          <a:solidFill>
            <a:schemeClr val="accent2">
              <a:hueOff val="-167625"/>
              <a:satOff val="-1932"/>
              <a:lumOff val="43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127251-CEE0-4072-B75B-86906393E108}">
      <dsp:nvSpPr>
        <dsp:cNvPr id="0" name=""/>
        <dsp:cNvSpPr/>
      </dsp:nvSpPr>
      <dsp:spPr>
        <a:xfrm>
          <a:off x="0" y="923589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b="0" kern="1200" dirty="0">
              <a:solidFill>
                <a:schemeClr val="bg1"/>
              </a:solidFill>
            </a:rPr>
            <a:t>Fardo Epidemiológico Global</a:t>
          </a:r>
          <a:endParaRPr lang="en-US" sz="2800" b="0" kern="1200" dirty="0">
            <a:solidFill>
              <a:schemeClr val="bg1"/>
            </a:solidFill>
          </a:endParaRPr>
        </a:p>
      </dsp:txBody>
      <dsp:txXfrm>
        <a:off x="0" y="923589"/>
        <a:ext cx="6291714" cy="920888"/>
      </dsp:txXfrm>
    </dsp:sp>
    <dsp:sp modelId="{9047CB99-841A-43B4-97E8-F49CE0A2BA01}">
      <dsp:nvSpPr>
        <dsp:cNvPr id="0" name=""/>
        <dsp:cNvSpPr/>
      </dsp:nvSpPr>
      <dsp:spPr>
        <a:xfrm>
          <a:off x="0" y="1844478"/>
          <a:ext cx="6291714" cy="0"/>
        </a:xfrm>
        <a:prstGeom prst="line">
          <a:avLst/>
        </a:prstGeom>
        <a:solidFill>
          <a:schemeClr val="accent2">
            <a:hueOff val="-335249"/>
            <a:satOff val="-3863"/>
            <a:lumOff val="864"/>
            <a:alphaOff val="0"/>
          </a:schemeClr>
        </a:solidFill>
        <a:ln w="10795" cap="flat" cmpd="sng" algn="ctr">
          <a:solidFill>
            <a:schemeClr val="accent2">
              <a:hueOff val="-335249"/>
              <a:satOff val="-3863"/>
              <a:lumOff val="86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E7CA69-A1DC-4DF1-90F8-86717B75F720}">
      <dsp:nvSpPr>
        <dsp:cNvPr id="0" name=""/>
        <dsp:cNvSpPr/>
      </dsp:nvSpPr>
      <dsp:spPr>
        <a:xfrm>
          <a:off x="0" y="1844478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b="0" kern="1200" dirty="0">
              <a:solidFill>
                <a:schemeClr val="bg1"/>
              </a:solidFill>
            </a:rPr>
            <a:t>Neurobiologia </a:t>
          </a:r>
          <a:endParaRPr lang="en-US" sz="2800" b="0" kern="1200" dirty="0">
            <a:solidFill>
              <a:schemeClr val="bg1"/>
            </a:solidFill>
          </a:endParaRPr>
        </a:p>
      </dsp:txBody>
      <dsp:txXfrm>
        <a:off x="0" y="1844478"/>
        <a:ext cx="6291714" cy="920888"/>
      </dsp:txXfrm>
    </dsp:sp>
    <dsp:sp modelId="{A6B1CAD0-9DF9-42F4-A0F1-8065AD370D5A}">
      <dsp:nvSpPr>
        <dsp:cNvPr id="0" name=""/>
        <dsp:cNvSpPr/>
      </dsp:nvSpPr>
      <dsp:spPr>
        <a:xfrm>
          <a:off x="0" y="2765367"/>
          <a:ext cx="6291714" cy="0"/>
        </a:xfrm>
        <a:prstGeom prst="line">
          <a:avLst/>
        </a:prstGeom>
        <a:solidFill>
          <a:schemeClr val="accent2">
            <a:hueOff val="-502874"/>
            <a:satOff val="-5795"/>
            <a:lumOff val="1295"/>
            <a:alphaOff val="0"/>
          </a:schemeClr>
        </a:solidFill>
        <a:ln w="10795" cap="flat" cmpd="sng" algn="ctr">
          <a:solidFill>
            <a:schemeClr val="accent2">
              <a:hueOff val="-502874"/>
              <a:satOff val="-5795"/>
              <a:lumOff val="12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F4FA79-3213-43EA-BEFE-57F98C29949F}">
      <dsp:nvSpPr>
        <dsp:cNvPr id="0" name=""/>
        <dsp:cNvSpPr/>
      </dsp:nvSpPr>
      <dsp:spPr>
        <a:xfrm>
          <a:off x="0" y="2765367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b="0" kern="1200">
              <a:solidFill>
                <a:schemeClr val="bg1"/>
              </a:solidFill>
            </a:rPr>
            <a:t>Consequências individuais e sociais</a:t>
          </a:r>
          <a:endParaRPr lang="en-US" sz="2800" b="0" kern="1200">
            <a:solidFill>
              <a:schemeClr val="bg1"/>
            </a:solidFill>
          </a:endParaRPr>
        </a:p>
      </dsp:txBody>
      <dsp:txXfrm>
        <a:off x="0" y="2765367"/>
        <a:ext cx="6291714" cy="920888"/>
      </dsp:txXfrm>
    </dsp:sp>
    <dsp:sp modelId="{92551F7B-F3DB-49EB-852F-DDAF749A4B9D}">
      <dsp:nvSpPr>
        <dsp:cNvPr id="0" name=""/>
        <dsp:cNvSpPr/>
      </dsp:nvSpPr>
      <dsp:spPr>
        <a:xfrm>
          <a:off x="0" y="3686256"/>
          <a:ext cx="6291714" cy="0"/>
        </a:xfrm>
        <a:prstGeom prst="line">
          <a:avLst/>
        </a:prstGeom>
        <a:solidFill>
          <a:schemeClr val="accent2">
            <a:hueOff val="-670499"/>
            <a:satOff val="-7726"/>
            <a:lumOff val="1727"/>
            <a:alphaOff val="0"/>
          </a:schemeClr>
        </a:solidFill>
        <a:ln w="10795" cap="flat" cmpd="sng" algn="ctr">
          <a:solidFill>
            <a:schemeClr val="accent2">
              <a:hueOff val="-670499"/>
              <a:satOff val="-7726"/>
              <a:lumOff val="172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5C912A-25DE-44C2-8006-D1674CA9E766}">
      <dsp:nvSpPr>
        <dsp:cNvPr id="0" name=""/>
        <dsp:cNvSpPr/>
      </dsp:nvSpPr>
      <dsp:spPr>
        <a:xfrm>
          <a:off x="0" y="3686256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b="0" kern="1200" dirty="0">
              <a:solidFill>
                <a:schemeClr val="bg1"/>
              </a:solidFill>
            </a:rPr>
            <a:t>Responsabilidade  Regulatória </a:t>
          </a:r>
          <a:endParaRPr lang="en-US" sz="2800" b="0" kern="1200" dirty="0">
            <a:solidFill>
              <a:schemeClr val="bg1"/>
            </a:solidFill>
          </a:endParaRPr>
        </a:p>
      </dsp:txBody>
      <dsp:txXfrm>
        <a:off x="0" y="3686256"/>
        <a:ext cx="6291714" cy="920888"/>
      </dsp:txXfrm>
    </dsp:sp>
    <dsp:sp modelId="{02BC4B4E-4CB5-4743-BF7D-6209042204CC}">
      <dsp:nvSpPr>
        <dsp:cNvPr id="0" name=""/>
        <dsp:cNvSpPr/>
      </dsp:nvSpPr>
      <dsp:spPr>
        <a:xfrm>
          <a:off x="0" y="4607145"/>
          <a:ext cx="6291714" cy="0"/>
        </a:xfrm>
        <a:prstGeom prst="line">
          <a:avLst/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 w="10795" cap="flat" cmpd="sng" algn="ctr">
          <a:solidFill>
            <a:schemeClr val="accent2">
              <a:hueOff val="-838123"/>
              <a:satOff val="-9658"/>
              <a:lumOff val="21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B2DEC4-E2D6-4396-AB33-56DDC0DD9BE4}">
      <dsp:nvSpPr>
        <dsp:cNvPr id="0" name=""/>
        <dsp:cNvSpPr/>
      </dsp:nvSpPr>
      <dsp:spPr>
        <a:xfrm>
          <a:off x="0" y="4607145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b="0" kern="1200" dirty="0">
              <a:solidFill>
                <a:schemeClr val="bg1"/>
              </a:solidFill>
            </a:rPr>
            <a:t>Recomendações </a:t>
          </a:r>
          <a:endParaRPr lang="en-US" sz="2800" b="0" kern="1200" dirty="0">
            <a:solidFill>
              <a:schemeClr val="bg1"/>
            </a:solidFill>
          </a:endParaRPr>
        </a:p>
      </dsp:txBody>
      <dsp:txXfrm>
        <a:off x="0" y="4607145"/>
        <a:ext cx="6291714" cy="9208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1DC68F-8B2C-CA23-8B5B-106CC325D7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0C4CB5-B549-5A34-AD1E-2D8F527CD7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5A9B5E7-730D-47F3-A20F-21BEEC4675EC}" type="datetimeFigureOut">
              <a:rPr lang="en-US"/>
              <a:pPr>
                <a:defRPr/>
              </a:pPr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7C1B0C-5C66-58FB-709F-C521B149C2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3DECB-0946-2995-68E8-A73D83DC43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4CFE4AED-41EF-44BB-A7AE-BB514A6161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264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Posição da Imagem do Diapositivo 1">
            <a:extLst>
              <a:ext uri="{FF2B5EF4-FFF2-40B4-BE49-F238E27FC236}">
                <a16:creationId xmlns:a16="http://schemas.microsoft.com/office/drawing/2014/main" id="{10530BF5-A971-5043-1665-5472D211B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Marcador de Posição de Notas 2">
            <a:extLst>
              <a:ext uri="{FF2B5EF4-FFF2-40B4-BE49-F238E27FC236}">
                <a16:creationId xmlns:a16="http://schemas.microsoft.com/office/drawing/2014/main" id="{48A3E538-F2FA-A4FF-B547-5C9806249A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pt-PT" altLang="en-US"/>
          </a:p>
        </p:txBody>
      </p:sp>
      <p:sp>
        <p:nvSpPr>
          <p:cNvPr id="25604" name="Marcador de Posição do Número do Diapositivo 3">
            <a:extLst>
              <a:ext uri="{FF2B5EF4-FFF2-40B4-BE49-F238E27FC236}">
                <a16:creationId xmlns:a16="http://schemas.microsoft.com/office/drawing/2014/main" id="{B1E488B7-D5EB-83C8-E3A8-19F6124E28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A623A8E-B97A-462B-AF83-3CB1386C2B58}" type="slidenum">
              <a:rPr lang="en-US" altLang="en-US">
                <a:solidFill>
                  <a:srgbClr val="000000"/>
                </a:solidFill>
                <a:latin typeface="Aptos" panose="020B00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75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E0ECDB-78A6-E0EE-99D8-DB08368F4D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85724"/>
            <a:ext cx="12192001" cy="6943724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BBB5C81C-D85F-F74F-CDB1-B6C8E40B22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6913" y="962025"/>
            <a:ext cx="933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/>
              <a:t>MISAU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3E06F1-1F79-6D72-8F24-50EB1D5F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7175" y="6391672"/>
            <a:ext cx="504825" cy="442912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C6E4D48-D476-9079-8A1D-DE51783549FE}"/>
              </a:ext>
            </a:extLst>
          </p:cNvPr>
          <p:cNvSpPr>
            <a:spLocks noGrp="1"/>
          </p:cNvSpPr>
          <p:nvPr userDrawn="1"/>
        </p:nvSpPr>
        <p:spPr>
          <a:xfrm>
            <a:off x="0" y="0"/>
            <a:ext cx="12192000" cy="92948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endParaRPr lang="pt-BR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9BFB0EC2-6DD9-15D4-D949-F84E4666B1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62309"/>
            <a:ext cx="933450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6A6BFBD-9882-3474-49D7-A2C5B31EDF50}"/>
              </a:ext>
            </a:extLst>
          </p:cNvPr>
          <p:cNvSpPr>
            <a:spLocks noGrp="1"/>
          </p:cNvSpPr>
          <p:nvPr userDrawn="1"/>
        </p:nvSpPr>
        <p:spPr>
          <a:xfrm>
            <a:off x="112713" y="6430566"/>
            <a:ext cx="12079287" cy="365125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1100" b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9937859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D2A2499E-EE88-5471-CDB1-8A3B7D4CA3A5}"/>
              </a:ext>
            </a:extLst>
          </p:cNvPr>
          <p:cNvSpPr txBox="1"/>
          <p:nvPr userDrawn="1"/>
        </p:nvSpPr>
        <p:spPr>
          <a:xfrm>
            <a:off x="1624552" y="5047785"/>
            <a:ext cx="8738648" cy="337015"/>
          </a:xfrm>
          <a:prstGeom prst="rect">
            <a:avLst/>
          </a:prstGeom>
          <a:solidFill>
            <a:schemeClr val="tx2">
              <a:lumMod val="20000"/>
              <a:lumOff val="80000"/>
              <a:alpha val="19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: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Por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um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Serviço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Nacional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Saúde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Qualidade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Humanizado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para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Todos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89E0EDC5-73C9-2395-68B4-8A503E6408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03700" y="6416675"/>
            <a:ext cx="3452813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ts val="2238"/>
              </a:lnSpc>
            </a:pP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Outubro</a:t>
            </a: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2026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7862B9C7-0C60-3A2F-AA91-DFA9DADAA4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713" y="328613"/>
            <a:ext cx="1139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9">
            <a:extLst>
              <a:ext uri="{FF2B5EF4-FFF2-40B4-BE49-F238E27FC236}">
                <a16:creationId xmlns:a16="http://schemas.microsoft.com/office/drawing/2014/main" id="{76213641-9A3B-6AE3-DA0B-574EBF26EE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51338" y="1473200"/>
            <a:ext cx="3184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8B83F8ED-4006-F527-B285-22339460F0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11663" y="1795463"/>
            <a:ext cx="26495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6DA0EF47-91A2-4BC1-F84A-EE9389D71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6000" y="1473200"/>
            <a:ext cx="69913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</a:p>
          <a:p>
            <a:pPr algn="ctr" eaLnBrk="1" hangingPunct="1"/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</a:p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Representação do Estado</a:t>
            </a:r>
            <a:endParaRPr lang="pt-PT" altLang="en-US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</a:t>
            </a:r>
            <a:endParaRPr lang="pt-PT" alt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B842B1E-3AA6-EB75-2CDE-F4F8C35B6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39524" y="5540375"/>
            <a:ext cx="752475" cy="6699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B193FA8A-A7BD-41F9-BCEB-6C5AB8D10B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9861ADA-BA1A-DC7E-389F-A3336FE57971}"/>
              </a:ext>
            </a:extLst>
          </p:cNvPr>
          <p:cNvSpPr>
            <a:spLocks noGrp="1"/>
          </p:cNvSpPr>
          <p:nvPr userDrawn="1"/>
        </p:nvSpPr>
        <p:spPr>
          <a:xfrm>
            <a:off x="590549" y="3487302"/>
            <a:ext cx="10744201" cy="64008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3600" b="1" dirty="0">
              <a:solidFill>
                <a:srgbClr val="00B050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184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9228B11-0A5F-34E2-20F3-CD5ECDEADF7B}"/>
              </a:ext>
            </a:extLst>
          </p:cNvPr>
          <p:cNvSpPr txBox="1"/>
          <p:nvPr userDrawn="1"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659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602097-4003-F68D-8DBF-86E4F9746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9FCFCF-439E-2A99-87B8-4AE47A0F40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5F23EB9-1F5A-F930-F7A8-836920C2F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23D47-6BFD-46C2-9BEF-11F8810680DD}" type="datetime1">
              <a:rPr lang="pt-PT" smtClean="0"/>
              <a:t>06/10/2026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68F51A2-6B0C-1A8C-8F43-6D575343B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D89F69F-89D0-E0C4-D406-9AA4EBC74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3AB89-34B1-4902-9E57-FEEED430C8E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15527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FDBDA1-4320-D20F-1129-487A70FDC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7FBCB48-CFA6-2EB2-F7C2-244A96A39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AFCEC5C-45DA-121B-3E22-D0FC4324A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2F7C-A7E9-49E4-97A3-BD8CB35D188A}" type="datetime1">
              <a:rPr lang="pt-PT" smtClean="0"/>
              <a:t>06/10/2026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719A89A-8D91-D1F2-2388-B984A961D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63B4186-CFE5-0DCF-711A-26EE4061D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3AB89-34B1-4902-9E57-FEEED430C8E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95049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DDF5E-4737-4592-D68B-46E11EA28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FA4FB33-CBF2-A588-0EF6-A79B6FF75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9E7E822-50A6-95CA-2B80-7ABF9B21D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5B82E-D851-4269-9E0A-0F81A314C66B}" type="datetime1">
              <a:rPr lang="pt-PT" smtClean="0"/>
              <a:t>06/10/2026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3698AE8-34BA-7BE6-31F0-68EB1F10E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3A544DA-0226-412F-0E10-D5E661A74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3AB89-34B1-4902-9E57-FEEED430C8E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04076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E8014F-1B24-C555-BDCA-FBA6D2ECC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6EFBE59-0C0D-7643-56EF-7BEBC8C7D5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88E6E47A-2D73-9F3D-56CF-8D5401871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3D59498-13CF-C75F-4B58-F9E9DBB20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A038-965D-43DE-97E8-060C0D86B4EB}" type="datetime1">
              <a:rPr lang="pt-PT" smtClean="0"/>
              <a:t>06/10/2026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47630C6-087E-7D52-4ED3-83A0C1992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F3A7475-91D1-9EA8-CBA1-176DD8B14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3AB89-34B1-4902-9E57-FEEED430C8E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73859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EA7058-7DA1-87A3-4DC9-61465C252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D0C1799-F2DF-E57F-1735-4C6216326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B338C0BF-7C50-75A6-39CA-FE1598474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0FFE4D2E-00E9-2D7B-D920-13357378C4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FEA06D20-D9A4-D792-C828-DE89EBA65B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639F94BA-77B9-F349-B0E2-4D339376F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3C8C3-9F39-4867-9471-FEE32DA2BA42}" type="datetime1">
              <a:rPr lang="pt-PT" smtClean="0"/>
              <a:t>06/10/2026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BFA8CD4A-437D-AC02-6A4C-C97576F33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492B4544-9AED-8DB8-DF02-CD4956A86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3AB89-34B1-4902-9E57-FEEED430C8E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97463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FC01A-DA10-2C38-49B8-0D90CA02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3B77F30C-0449-EBF9-0751-B96C0FC5C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D3AE0-834C-4B26-BF1E-BFA2E45F4E0F}" type="datetime1">
              <a:rPr lang="pt-PT" smtClean="0"/>
              <a:t>06/10/2026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8B7B456D-CA5B-483E-1B8D-ED568FEE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9AA528DA-9A47-1817-1F6D-B33E7191A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3AB89-34B1-4902-9E57-FEEED430C8E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2593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614D981C-98D1-F018-DA2E-44C61F1A5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DBBD4-D8F3-43AE-9D51-4DBE0DAC6B00}" type="datetime1">
              <a:rPr lang="pt-PT" smtClean="0"/>
              <a:t>06/10/2026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3A3595C7-20DF-5B30-9FF1-30AFC91CA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EF4D997-3693-5AB8-7F8D-12AA03438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3AB89-34B1-4902-9E57-FEEED430C8E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03527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F8F78-09C1-CDE0-B3DC-81527753C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1D489F9-A895-5C19-CFE8-30258BC91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5A5892A8-5D52-0E0D-0DA1-4FC1865D08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377A5177-92EB-7B1C-D404-D122AAF93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3C787-DE60-4622-9F89-F054BE582905}" type="datetime1">
              <a:rPr lang="pt-PT" smtClean="0"/>
              <a:t>06/10/2026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EEC80117-215F-DB84-F96E-C69A81DBC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6EFBF7D-804E-39C3-89E0-59CEB032A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3AB89-34B1-4902-9E57-FEEED430C8E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22741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3E61D6-17B8-C619-97D0-6BA058A3F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ACAAD066-28A1-6B39-3BB5-4BAA22E7AA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C47FBC2E-49BE-7E22-7477-DC100FE133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E8DBB54-BA74-117C-569B-42497AD7E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BED53-C6F1-4F29-A5B5-E8E8896216C0}" type="datetime1">
              <a:rPr lang="pt-PT" smtClean="0"/>
              <a:t>06/10/2026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ADB9003B-3ABA-2245-8EDA-E99FE5FBC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398BB08-02A5-1C6E-43EA-8ADFBBC69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3AB89-34B1-4902-9E57-FEEED430C8E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62180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3F66BA-6B47-E66F-0E0D-182568F04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C4578B9A-ABDD-FC2A-D548-CFB35E51D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5278953-4860-CEE1-2F73-DA77B59E3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A100-D5F6-44F3-9407-0B99DF6AA848}" type="datetime1">
              <a:rPr lang="pt-PT" smtClean="0"/>
              <a:t>06/10/2026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DD19252-4567-4424-93DF-D02189A16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A9DF40C-7268-DEF9-CDF2-CD1A12B31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3AB89-34B1-4902-9E57-FEEED430C8E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96138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C226EE1-CF21-3B6F-4740-5983ED2BEE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A2E4DABB-36EE-C86C-0568-99F7DF52A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298D81E-48E1-F813-7AF4-3B1DD6128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99410-B5CD-45B2-9703-2C6985535A46}" type="datetime1">
              <a:rPr lang="pt-PT" smtClean="0"/>
              <a:t>06/10/2026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692CB28-F8C6-FBB7-9C97-D9090C793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9125951-8A0D-6AA1-B793-53E36CED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3AB89-34B1-4902-9E57-FEEED430C8E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753029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894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4" Type="http://schemas.openxmlformats.org/officeDocument/2006/relationships/theme" Target="../theme/theme1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 /><Relationship Id="rId13" Type="http://schemas.openxmlformats.org/officeDocument/2006/relationships/theme" Target="../theme/theme2.xml" /><Relationship Id="rId3" Type="http://schemas.openxmlformats.org/officeDocument/2006/relationships/slideLayout" Target="../slideLayouts/slideLayout6.xml" /><Relationship Id="rId7" Type="http://schemas.openxmlformats.org/officeDocument/2006/relationships/slideLayout" Target="../slideLayouts/slideLayout10.xml" /><Relationship Id="rId12" Type="http://schemas.openxmlformats.org/officeDocument/2006/relationships/slideLayout" Target="../slideLayouts/slideLayout15.xml" /><Relationship Id="rId2" Type="http://schemas.openxmlformats.org/officeDocument/2006/relationships/slideLayout" Target="../slideLayouts/slideLayout5.xml" /><Relationship Id="rId1" Type="http://schemas.openxmlformats.org/officeDocument/2006/relationships/slideLayout" Target="../slideLayouts/slideLayout4.xml" /><Relationship Id="rId6" Type="http://schemas.openxmlformats.org/officeDocument/2006/relationships/slideLayout" Target="../slideLayouts/slideLayout9.xml" /><Relationship Id="rId11" Type="http://schemas.openxmlformats.org/officeDocument/2006/relationships/slideLayout" Target="../slideLayouts/slideLayout14.xml" /><Relationship Id="rId5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3.xml" /><Relationship Id="rId4" Type="http://schemas.openxmlformats.org/officeDocument/2006/relationships/slideLayout" Target="../slideLayouts/slideLayout7.xml" /><Relationship Id="rId9" Type="http://schemas.openxmlformats.org/officeDocument/2006/relationships/slideLayout" Target="../slideLayouts/slideLayout1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999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90D06-E9AE-8F03-358A-71217EDE6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487863"/>
            <a:ext cx="8534400" cy="150653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EC7FF63-1BBA-6EC0-B837-0E7C160DE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685800"/>
            <a:ext cx="8534400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C7AB8-83E6-AA9B-0DE6-F1D2E0D23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04413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A5C41711-BAAE-4BDB-A12A-371F15FA4D86}" type="datetime1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9089C-0474-881D-1C85-5358C154A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4213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5E069-E462-3A0E-5ED1-E1FCA9FF6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3000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32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CEC704D9-9568-4213-8D58-9E458B3C0F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pSp>
        <p:nvGrpSpPr>
          <p:cNvPr id="1031" name="Group 12">
            <a:extLst>
              <a:ext uri="{FF2B5EF4-FFF2-40B4-BE49-F238E27FC236}">
                <a16:creationId xmlns:a16="http://schemas.microsoft.com/office/drawing/2014/main" id="{6B13CA1E-7907-9AB6-908D-32161B0BD30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201399" y="4067175"/>
            <a:ext cx="836613" cy="2790825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522650F-7975-6F37-4042-51852AC61418}"/>
                </a:ext>
              </a:extLst>
            </p:cNvPr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3E9F241-085F-350D-7D44-CD2B30443A19}"/>
                </a:ext>
              </a:extLst>
            </p:cNvPr>
            <p:cNvCxnSpPr/>
            <p:nvPr/>
          </p:nvCxnSpPr>
          <p:spPr>
            <a:xfrm flipH="1">
              <a:off x="9206969" y="3189669"/>
              <a:ext cx="2981858" cy="298253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E0FAACB-49E0-E6BF-D33C-FC3A456E497B}"/>
                </a:ext>
              </a:extLst>
            </p:cNvPr>
            <p:cNvCxnSpPr/>
            <p:nvPr/>
          </p:nvCxnSpPr>
          <p:spPr>
            <a:xfrm flipH="1">
              <a:off x="10290950" y="3284585"/>
              <a:ext cx="1897877" cy="189648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33AA4A-CBCA-3D61-EA1B-F136D8B1A963}"/>
                </a:ext>
              </a:extLst>
            </p:cNvPr>
            <p:cNvCxnSpPr/>
            <p:nvPr/>
          </p:nvCxnSpPr>
          <p:spPr>
            <a:xfrm flipH="1">
              <a:off x="10444240" y="3131260"/>
              <a:ext cx="1744587" cy="1744981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0A5788E-D8F1-605B-31C0-32ADC2166684}"/>
                </a:ext>
              </a:extLst>
            </p:cNvPr>
            <p:cNvCxnSpPr/>
            <p:nvPr/>
          </p:nvCxnSpPr>
          <p:spPr>
            <a:xfrm flipH="1">
              <a:off x="10918709" y="3682499"/>
              <a:ext cx="1270118" cy="12704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93" r:id="rId2"/>
    <p:sldLayoutId id="2147483705" r:id="rId3"/>
  </p:sldLayoutIdLst>
  <p:hf hdr="0" ftr="0" dt="0"/>
  <p:txStyles>
    <p:titleStyle>
      <a:lvl1pPr algn="l" defTabSz="457200" rtl="0" fontAlgn="base">
        <a:spcBef>
          <a:spcPct val="0"/>
        </a:spcBef>
        <a:spcAft>
          <a:spcPct val="0"/>
        </a:spcAft>
        <a:defRPr sz="3600" kern="12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>
          <a:solidFill>
            <a:srgbClr val="0F496F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ern="1200">
          <a:solidFill>
            <a:srgbClr val="0F496F"/>
          </a:solidFill>
          <a:latin typeface="+mn-lt"/>
          <a:ea typeface="+mn-ea"/>
          <a:cs typeface="+mn-cs"/>
        </a:defRPr>
      </a:lvl2pPr>
      <a:lvl3pPr marL="12001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>
          <a:solidFill>
            <a:srgbClr val="0F496F"/>
          </a:solidFill>
          <a:latin typeface="+mn-lt"/>
          <a:ea typeface="+mn-ea"/>
          <a:cs typeface="+mn-cs"/>
        </a:defRPr>
      </a:lvl3pPr>
      <a:lvl4pPr marL="15430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4pPr>
      <a:lvl5pPr marL="20002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61744DFF-B145-271B-0649-011695237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293BE3D-EED0-A225-BF15-1772BC3FB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DEE6996-EA6E-5101-D9BD-00AE27537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2533F9-7DD9-46D4-B319-11DC3EFB0884}" type="datetime1">
              <a:rPr lang="pt-PT" smtClean="0"/>
              <a:t>06/10/2026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129063B-4C8A-73BC-B7D0-9065446DB3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3F8CFE9-2753-CB32-E66C-DBEF9EAAC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23AB89-34B1-4902-9E57-FEEED430C8E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12499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 /><Relationship Id="rId2" Type="http://schemas.openxmlformats.org/officeDocument/2006/relationships/diagramData" Target="../diagrams/data1.xml" /><Relationship Id="rId1" Type="http://schemas.openxmlformats.org/officeDocument/2006/relationships/slideLayout" Target="../slideLayouts/slideLayout1.xml" /><Relationship Id="rId6" Type="http://schemas.microsoft.com/office/2007/relationships/diagramDrawing" Target="../diagrams/drawing1.xml" /><Relationship Id="rId5" Type="http://schemas.openxmlformats.org/officeDocument/2006/relationships/diagramColors" Target="../diagrams/colors1.xml" /><Relationship Id="rId4" Type="http://schemas.openxmlformats.org/officeDocument/2006/relationships/diagramQuickStyle" Target="../diagrams/quickStyle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7" Type="http://schemas.openxmlformats.org/officeDocument/2006/relationships/image" Target="../media/image12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1.png" /><Relationship Id="rId5" Type="http://schemas.openxmlformats.org/officeDocument/2006/relationships/image" Target="../media/image10.png" /><Relationship Id="rId4" Type="http://schemas.openxmlformats.org/officeDocument/2006/relationships/image" Target="../media/image9.png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 /><Relationship Id="rId3" Type="http://schemas.openxmlformats.org/officeDocument/2006/relationships/image" Target="../media/image14.png" /><Relationship Id="rId7" Type="http://schemas.openxmlformats.org/officeDocument/2006/relationships/image" Target="../media/image18.png" /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7.png" /><Relationship Id="rId5" Type="http://schemas.openxmlformats.org/officeDocument/2006/relationships/image" Target="../media/image16.png" /><Relationship Id="rId10" Type="http://schemas.openxmlformats.org/officeDocument/2006/relationships/image" Target="../media/image21.svg" /><Relationship Id="rId4" Type="http://schemas.openxmlformats.org/officeDocument/2006/relationships/image" Target="../media/image15.png" /><Relationship Id="rId9" Type="http://schemas.openxmlformats.org/officeDocument/2006/relationships/image" Target="../media/image20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15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 /><Relationship Id="rId2" Type="http://schemas.openxmlformats.org/officeDocument/2006/relationships/image" Target="../media/image24.svg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 /><Relationship Id="rId2" Type="http://schemas.openxmlformats.org/officeDocument/2006/relationships/image" Target="../media/image26.jp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0.png" /><Relationship Id="rId5" Type="http://schemas.openxmlformats.org/officeDocument/2006/relationships/image" Target="../media/image29.png" /><Relationship Id="rId4" Type="http://schemas.openxmlformats.org/officeDocument/2006/relationships/image" Target="../media/image28.jpe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 /><Relationship Id="rId2" Type="http://schemas.openxmlformats.org/officeDocument/2006/relationships/image" Target="../media/image32.png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 /><Relationship Id="rId2" Type="http://schemas.openxmlformats.org/officeDocument/2006/relationships/image" Target="../media/image34.png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37.png" /><Relationship Id="rId4" Type="http://schemas.openxmlformats.org/officeDocument/2006/relationships/image" Target="../media/image36.pn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 /><Relationship Id="rId2" Type="http://schemas.openxmlformats.org/officeDocument/2006/relationships/image" Target="../media/image38.png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org&amp;utm_campaign=index&amp;utm_content=origina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 /><Relationship Id="rId1" Type="http://schemas.openxmlformats.org/officeDocument/2006/relationships/slideLayout" Target="../slideLayouts/slideLayout1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 /><Relationship Id="rId1" Type="http://schemas.openxmlformats.org/officeDocument/2006/relationships/slideLayout" Target="../slideLayouts/slideLayout1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 /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cpr.2025.102542" TargetMode="External" /><Relationship Id="rId7" Type="http://schemas.openxmlformats.org/officeDocument/2006/relationships/hyperlink" Target="https://doi.org/10.1016/S2468-2667(24)00167-1" TargetMode="External" /><Relationship Id="rId2" Type="http://schemas.openxmlformats.org/officeDocument/2006/relationships/hyperlink" Target="https://doi.org/10.70121/001c.121678" TargetMode="External" /><Relationship Id="rId1" Type="http://schemas.openxmlformats.org/officeDocument/2006/relationships/slideLayout" Target="../slideLayouts/slideLayout1.xml" /><Relationship Id="rId6" Type="http://schemas.openxmlformats.org/officeDocument/2006/relationships/hyperlink" Target="https://doi.org/10.1016/S2468-2667(20)30290-5" TargetMode="External" /><Relationship Id="rId5" Type="http://schemas.openxmlformats.org/officeDocument/2006/relationships/hyperlink" Target="https://igamingexpert.com/regions/europe/sweden-reform/" TargetMode="External" /><Relationship Id="rId4" Type="http://schemas.openxmlformats.org/officeDocument/2006/relationships/hyperlink" Target="https://www.gov.uk/government/news/major-reform-of-gambling-laws-to-protect-vulnerable-users-in-smartphone-era" TargetMode="Externa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686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A4012CFA-58F9-3F43-704D-7C6D4C70C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824" y="5678419"/>
            <a:ext cx="9783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Maputo, Outubro de 2026</a:t>
            </a:r>
            <a:endParaRPr lang="en-US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5C866598-F616-1F5F-A9F9-9B89097F1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939" y="1179581"/>
            <a:ext cx="9029700" cy="18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Serviços</a:t>
            </a: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Representação do Estado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</a:t>
            </a:r>
            <a:r>
              <a:rPr lang="pt-PT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Saúde</a:t>
            </a:r>
            <a:endParaRPr lang="pt-PT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580" name="Picture 7" descr="C:\Users\DACUNHA\Pictures\image_preview.png">
            <a:extLst>
              <a:ext uri="{FF2B5EF4-FFF2-40B4-BE49-F238E27FC236}">
                <a16:creationId xmlns:a16="http://schemas.microsoft.com/office/drawing/2014/main" id="{FA5EF871-EDDE-BAD2-1693-91DAF3A24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56858" y="174625"/>
            <a:ext cx="931694" cy="75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F74C49A-5555-F6DF-2344-48955F797FD8}"/>
              </a:ext>
            </a:extLst>
          </p:cNvPr>
          <p:cNvSpPr txBox="1"/>
          <p:nvPr/>
        </p:nvSpPr>
        <p:spPr>
          <a:xfrm>
            <a:off x="698643" y="3575878"/>
            <a:ext cx="10705672" cy="104749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1" hangingPunct="1">
              <a:defRPr/>
            </a:pPr>
            <a:r>
              <a:rPr lang="pt-BR" altLang="en-US" sz="3200" b="1" dirty="0">
                <a:ea typeface="MS PGothic" panose="020B0600070205080204" pitchFamily="34" charset="-128"/>
              </a:rPr>
              <a:t>Tema:</a:t>
            </a:r>
            <a:r>
              <a:rPr lang="pt-PT"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Jogos de Azar - impacto para a sociedade</a:t>
            </a:r>
            <a:endParaRPr lang="pt-BR" sz="3200" b="1" dirty="0">
              <a:solidFill>
                <a:schemeClr val="bg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5678C29-B991-E318-C6A6-550E6CF7E735}"/>
              </a:ext>
            </a:extLst>
          </p:cNvPr>
          <p:cNvSpPr txBox="1"/>
          <p:nvPr/>
        </p:nvSpPr>
        <p:spPr>
          <a:xfrm>
            <a:off x="2416995" y="221163"/>
            <a:ext cx="6169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3600" b="1" dirty="0">
                <a:solidFill>
                  <a:schemeClr val="bg1"/>
                </a:solidFill>
                <a:cs typeface="Arial" panose="020B0604020202020204" pitchFamily="34" charset="0"/>
              </a:rPr>
              <a:t>Sumário</a:t>
            </a:r>
            <a:endParaRPr lang="pt-BR" sz="3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0B5270-1A52-5D76-CC54-0DD60D9E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  <p:graphicFrame>
        <p:nvGraphicFramePr>
          <p:cNvPr id="2" name="Marcador de Posição de Conteúdo 2">
            <a:extLst>
              <a:ext uri="{FF2B5EF4-FFF2-40B4-BE49-F238E27FC236}">
                <a16:creationId xmlns:a16="http://schemas.microsoft.com/office/drawing/2014/main" id="{E88F89D8-82D8-818E-4964-2E7AE64F44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7094234"/>
              </p:ext>
            </p:extLst>
          </p:nvPr>
        </p:nvGraphicFramePr>
        <p:xfrm>
          <a:off x="2950143" y="1202864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5791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25103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D7E823-D380-E273-595E-61F6F2EB7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6D8B86-B83D-4C8D-3792-B16F375CBE53}"/>
              </a:ext>
            </a:extLst>
          </p:cNvPr>
          <p:cNvSpPr txBox="1"/>
          <p:nvPr/>
        </p:nvSpPr>
        <p:spPr>
          <a:xfrm>
            <a:off x="2620195" y="284985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Jogo de azar</a:t>
            </a:r>
            <a:endParaRPr lang="pt-BR" sz="28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A3970E-9389-B344-A17C-EDC562656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  <p:sp>
        <p:nvSpPr>
          <p:cNvPr id="2" name="Retângulo: Cantos Arredondados 9">
            <a:extLst>
              <a:ext uri="{FF2B5EF4-FFF2-40B4-BE49-F238E27FC236}">
                <a16:creationId xmlns:a16="http://schemas.microsoft.com/office/drawing/2014/main" id="{2C24AEF5-A35E-0B45-A66E-7DAB673ECC5E}"/>
              </a:ext>
            </a:extLst>
          </p:cNvPr>
          <p:cNvSpPr/>
          <p:nvPr/>
        </p:nvSpPr>
        <p:spPr>
          <a:xfrm>
            <a:off x="551543" y="1144236"/>
            <a:ext cx="11178346" cy="1209998"/>
          </a:xfrm>
          <a:prstGeom prst="roundRect">
            <a:avLst/>
          </a:prstGeom>
          <a:ln w="31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2800" dirty="0">
                <a:cs typeface="Times New Roman" panose="02020603050405020304" pitchFamily="18" charset="0"/>
              </a:rPr>
              <a:t>Actividade onde se </a:t>
            </a:r>
            <a:r>
              <a:rPr lang="pt-PT" sz="2800" b="1" dirty="0">
                <a:solidFill>
                  <a:schemeClr val="bg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aposta</a:t>
            </a:r>
            <a:r>
              <a:rPr lang="pt-PT" sz="2800" b="1" dirty="0">
                <a:solidFill>
                  <a:schemeClr val="tx2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 </a:t>
            </a:r>
            <a:r>
              <a:rPr lang="pt-PT" sz="2800" dirty="0">
                <a:cs typeface="Times New Roman" panose="02020603050405020304" pitchFamily="18" charset="0"/>
              </a:rPr>
              <a:t>valor num evento de resultado incerto</a:t>
            </a:r>
            <a:br>
              <a:rPr lang="pt-PT" sz="2800" dirty="0">
                <a:cs typeface="Times New Roman" panose="02020603050405020304" pitchFamily="18" charset="0"/>
              </a:rPr>
            </a:br>
            <a:r>
              <a:rPr lang="pt-PT" sz="2800" dirty="0">
                <a:cs typeface="Times New Roman" panose="02020603050405020304" pitchFamily="18" charset="0"/>
              </a:rPr>
              <a:t>(primariamente </a:t>
            </a:r>
            <a:r>
              <a:rPr lang="pt-PT" sz="2800" b="1" dirty="0">
                <a:solidFill>
                  <a:srgbClr val="7030A0"/>
                </a:solidFill>
                <a:cs typeface="Times New Roman" panose="02020603050405020304" pitchFamily="18" charset="0"/>
              </a:rPr>
              <a:t>acaso</a:t>
            </a:r>
            <a:r>
              <a:rPr lang="pt-PT" sz="2800" dirty="0">
                <a:cs typeface="Times New Roman" panose="02020603050405020304" pitchFamily="18" charset="0"/>
              </a:rPr>
              <a:t>) para ganhar um </a:t>
            </a:r>
            <a:r>
              <a:rPr lang="pt-PT" sz="2800" b="1" dirty="0">
                <a:solidFill>
                  <a:schemeClr val="accent2">
                    <a:lumMod val="75000"/>
                  </a:schemeClr>
                </a:solidFill>
                <a:cs typeface="Times New Roman" panose="02020603050405020304" pitchFamily="18" charset="0"/>
              </a:rPr>
              <a:t>prémio.</a:t>
            </a:r>
          </a:p>
        </p:txBody>
      </p:sp>
      <p:pic>
        <p:nvPicPr>
          <p:cNvPr id="4" name="Imagem 6">
            <a:extLst>
              <a:ext uri="{FF2B5EF4-FFF2-40B4-BE49-F238E27FC236}">
                <a16:creationId xmlns:a16="http://schemas.microsoft.com/office/drawing/2014/main" id="{BC1702C6-CB30-A589-4915-967908E10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594" y="2503076"/>
            <a:ext cx="9856243" cy="388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7151C-0345-7F15-F974-6C44ADA0E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5F6B58-9E13-B434-88A5-50020F4FC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  <p:sp>
        <p:nvSpPr>
          <p:cNvPr id="2" name="Marcador de Posição de Conteúdo 2">
            <a:extLst>
              <a:ext uri="{FF2B5EF4-FFF2-40B4-BE49-F238E27FC236}">
                <a16:creationId xmlns:a16="http://schemas.microsoft.com/office/drawing/2014/main" id="{5EBAE0B5-9AFC-8B5E-1C2C-0C7E8B12541A}"/>
              </a:ext>
            </a:extLst>
          </p:cNvPr>
          <p:cNvSpPr txBox="1">
            <a:spLocks/>
          </p:cNvSpPr>
          <p:nvPr/>
        </p:nvSpPr>
        <p:spPr>
          <a:xfrm>
            <a:off x="333829" y="2852093"/>
            <a:ext cx="4615542" cy="3742762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3pPr>
            <a:lvl4pPr marL="1543050" indent="-1714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>
              <a:spcAft>
                <a:spcPts val="800"/>
              </a:spcAft>
              <a:buSzPts val="1000"/>
              <a:buFont typeface="Wingdings 3" panose="05040102010807070707" pitchFamily="18" charset="2"/>
              <a:buNone/>
              <a:tabLst>
                <a:tab pos="457200" algn="l"/>
              </a:tabLst>
            </a:pPr>
            <a:r>
              <a:rPr lang="pt-PT" sz="2800" b="1" kern="100" dirty="0">
                <a:solidFill>
                  <a:schemeClr val="bg1"/>
                </a:solidFill>
                <a:ea typeface="DengXian" panose="02010600030101010101" pitchFamily="2" charset="-122"/>
                <a:cs typeface="Times New Roman" panose="02020603050405020304" pitchFamily="18" charset="0"/>
              </a:rPr>
              <a:t>O jogo é um comportamento individual… </a:t>
            </a:r>
          </a:p>
          <a:p>
            <a:pPr marL="0" indent="0" algn="ctr" eaLnBrk="1" hangingPunct="1">
              <a:spcAft>
                <a:spcPts val="800"/>
              </a:spcAft>
              <a:buSzPts val="1000"/>
              <a:buFont typeface="Wingdings 3" panose="05040102010807070707" pitchFamily="18" charset="2"/>
              <a:buNone/>
              <a:tabLst>
                <a:tab pos="457200" algn="l"/>
              </a:tabLst>
            </a:pPr>
            <a:r>
              <a:rPr lang="pt-PT" sz="2800" b="1" kern="100" dirty="0">
                <a:solidFill>
                  <a:schemeClr val="bg1"/>
                </a:solidFill>
                <a:ea typeface="DengXian" panose="02010600030101010101" pitchFamily="2" charset="-122"/>
                <a:cs typeface="Times New Roman" panose="02020603050405020304" pitchFamily="18" charset="0"/>
              </a:rPr>
              <a:t>…ou um fenómeno estruturado por sistemas económicos e legais? </a:t>
            </a:r>
          </a:p>
          <a:p>
            <a:pPr eaLnBrk="1" hangingPunct="1"/>
            <a:endParaRPr lang="pt-PT" sz="16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9309020-9B83-7FDD-E502-CCEB592AC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61" y="1146629"/>
            <a:ext cx="5135880" cy="1899912"/>
          </a:xfrm>
        </p:spPr>
        <p:txBody>
          <a:bodyPr>
            <a:normAutofit/>
          </a:bodyPr>
          <a:lstStyle/>
          <a:p>
            <a:r>
              <a:rPr lang="pt-PT" sz="3200" b="1" kern="100" dirty="0">
                <a:solidFill>
                  <a:schemeClr val="bg1"/>
                </a:solidFill>
                <a:ea typeface="DengXian" panose="02010600030101010101" pitchFamily="2" charset="-122"/>
                <a:cs typeface="Times New Roman" panose="02020603050405020304" pitchFamily="18" charset="0"/>
              </a:rPr>
              <a:t>    Pergunta Central</a:t>
            </a:r>
            <a:endParaRPr lang="pt-PT" sz="32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pic>
        <p:nvPicPr>
          <p:cNvPr id="7" name="Picture 6" descr="Colourful clear dices on a glass surface">
            <a:extLst>
              <a:ext uri="{FF2B5EF4-FFF2-40B4-BE49-F238E27FC236}">
                <a16:creationId xmlns:a16="http://schemas.microsoft.com/office/drawing/2014/main" id="{248275E6-C5E3-1192-434B-51CAC28A1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65" b="27265"/>
          <a:stretch>
            <a:fillRect/>
          </a:stretch>
        </p:blipFill>
        <p:spPr>
          <a:xfrm>
            <a:off x="4992624" y="1773936"/>
            <a:ext cx="6382512" cy="1938528"/>
          </a:xfrm>
          <a:prstGeom prst="rect">
            <a:avLst/>
          </a:prstGeom>
        </p:spPr>
      </p:pic>
      <p:pic>
        <p:nvPicPr>
          <p:cNvPr id="11" name="Picture 10" descr="Documents and graphs on table">
            <a:extLst>
              <a:ext uri="{FF2B5EF4-FFF2-40B4-BE49-F238E27FC236}">
                <a16:creationId xmlns:a16="http://schemas.microsoft.com/office/drawing/2014/main" id="{ED9439D5-FCB9-8794-C948-2532C6F0FA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75" b="23566"/>
          <a:stretch>
            <a:fillRect/>
          </a:stretch>
        </p:blipFill>
        <p:spPr>
          <a:xfrm>
            <a:off x="4992624" y="3703320"/>
            <a:ext cx="6382512" cy="239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063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DA2DE-BD14-4970-0E1D-527BD457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53;p15" descr="image.png">
            <a:extLst>
              <a:ext uri="{FF2B5EF4-FFF2-40B4-BE49-F238E27FC236}">
                <a16:creationId xmlns:a16="http://schemas.microsoft.com/office/drawing/2014/main" id="{DE8409E5-4DA6-012C-B407-EB1A7F4586B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tretch/>
        </p:blipFill>
        <p:spPr>
          <a:xfrm>
            <a:off x="4590175" y="2558614"/>
            <a:ext cx="3347211" cy="302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52;p15" descr="image.png">
            <a:extLst>
              <a:ext uri="{FF2B5EF4-FFF2-40B4-BE49-F238E27FC236}">
                <a16:creationId xmlns:a16="http://schemas.microsoft.com/office/drawing/2014/main" id="{7EE256EE-0E26-2200-46F2-EC10865FBA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tretch/>
        </p:blipFill>
        <p:spPr>
          <a:xfrm>
            <a:off x="733997" y="2585341"/>
            <a:ext cx="3237425" cy="30027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09F61-7516-D6FF-0B58-876EAC067054}"/>
              </a:ext>
            </a:extLst>
          </p:cNvPr>
          <p:cNvSpPr txBox="1"/>
          <p:nvPr/>
        </p:nvSpPr>
        <p:spPr>
          <a:xfrm>
            <a:off x="1662251" y="192135"/>
            <a:ext cx="8396149" cy="6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rgbClr val="002147"/>
                </a:solidFill>
                <a:latin typeface="+mj-lt"/>
                <a:ea typeface="Poppins"/>
                <a:cs typeface="Times New Roman" panose="02020603050405020304" pitchFamily="18" charset="0"/>
                <a:sym typeface="Poppins"/>
              </a:rPr>
              <a:t>Crescimento</a:t>
            </a:r>
            <a:r>
              <a:rPr lang="en-US" sz="3600" b="1" dirty="0">
                <a:solidFill>
                  <a:srgbClr val="002147"/>
                </a:solidFill>
                <a:latin typeface="+mj-lt"/>
                <a:ea typeface="Poppins"/>
                <a:cs typeface="Times New Roman" panose="02020603050405020304" pitchFamily="18" charset="0"/>
                <a:sym typeface="Poppins"/>
              </a:rPr>
              <a:t> e Modelo de </a:t>
            </a:r>
            <a:r>
              <a:rPr lang="en-US" sz="3600" b="1" dirty="0" err="1">
                <a:solidFill>
                  <a:srgbClr val="002147"/>
                </a:solidFill>
                <a:latin typeface="+mj-lt"/>
                <a:ea typeface="Poppins"/>
                <a:cs typeface="Times New Roman" panose="02020603050405020304" pitchFamily="18" charset="0"/>
                <a:sym typeface="Poppins"/>
              </a:rPr>
              <a:t>Negócio</a:t>
            </a:r>
            <a:endParaRPr lang="en-US" sz="3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96ED76-8F06-5B0E-0907-38C4A604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  <p:sp>
        <p:nvSpPr>
          <p:cNvPr id="4" name="CaixaDeTexto 2">
            <a:extLst>
              <a:ext uri="{FF2B5EF4-FFF2-40B4-BE49-F238E27FC236}">
                <a16:creationId xmlns:a16="http://schemas.microsoft.com/office/drawing/2014/main" id="{AE12B7C1-4E0C-2217-12F5-97A9700E6AF3}"/>
              </a:ext>
            </a:extLst>
          </p:cNvPr>
          <p:cNvSpPr txBox="1"/>
          <p:nvPr/>
        </p:nvSpPr>
        <p:spPr>
          <a:xfrm>
            <a:off x="297180" y="1134511"/>
            <a:ext cx="117061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b="1" i="0" u="none" strike="noStrike" cap="none" dirty="0" err="1">
                <a:solidFill>
                  <a:schemeClr val="bg1"/>
                </a:solidFill>
                <a:latin typeface="+mj-lt"/>
                <a:ea typeface="Lato"/>
                <a:cs typeface="Times New Roman" panose="02020603050405020304" pitchFamily="18" charset="0"/>
                <a:sym typeface="Lato"/>
              </a:rPr>
              <a:t>Projecções</a:t>
            </a:r>
            <a:r>
              <a:rPr lang="pt-PT" sz="2800" b="1" i="0" u="none" strike="noStrike" cap="none" dirty="0">
                <a:solidFill>
                  <a:schemeClr val="bg1"/>
                </a:solidFill>
                <a:latin typeface="+mj-lt"/>
                <a:ea typeface="Lato"/>
                <a:cs typeface="Times New Roman" panose="02020603050405020304" pitchFamily="18" charset="0"/>
                <a:sym typeface="Lato"/>
              </a:rPr>
              <a:t> financeiras e a concentração da receita em utilizadores de alto risco</a:t>
            </a:r>
            <a:endParaRPr lang="pt-PT" sz="28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7" name="Google Shape;168;p15" descr="image.png">
            <a:extLst>
              <a:ext uri="{FF2B5EF4-FFF2-40B4-BE49-F238E27FC236}">
                <a16:creationId xmlns:a16="http://schemas.microsoft.com/office/drawing/2014/main" id="{0D6D8599-AA94-2477-C3CD-178377897A8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tretch/>
        </p:blipFill>
        <p:spPr>
          <a:xfrm>
            <a:off x="882915" y="2782594"/>
            <a:ext cx="371707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59;p15">
            <a:extLst>
              <a:ext uri="{FF2B5EF4-FFF2-40B4-BE49-F238E27FC236}">
                <a16:creationId xmlns:a16="http://schemas.microsoft.com/office/drawing/2014/main" id="{E31FF0B9-9F46-CF36-2ECD-D99FB3DE54ED}"/>
              </a:ext>
            </a:extLst>
          </p:cNvPr>
          <p:cNvSpPr txBox="1"/>
          <p:nvPr/>
        </p:nvSpPr>
        <p:spPr>
          <a:xfrm>
            <a:off x="1336782" y="2750236"/>
            <a:ext cx="3079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147"/>
                </a:solidFill>
                <a:latin typeface="+mn-lt"/>
                <a:ea typeface="Poppins"/>
                <a:cs typeface="Times New Roman" panose="02020603050405020304" pitchFamily="18" charset="0"/>
                <a:sym typeface="Poppins"/>
              </a:rPr>
              <a:t>RECEITA GLOBAL</a:t>
            </a:r>
            <a:endParaRPr sz="24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0" name="Google Shape;160;p15">
            <a:extLst>
              <a:ext uri="{FF2B5EF4-FFF2-40B4-BE49-F238E27FC236}">
                <a16:creationId xmlns:a16="http://schemas.microsoft.com/office/drawing/2014/main" id="{1B17FC8F-B8BC-C670-6BAE-D9F4B17F321B}"/>
              </a:ext>
            </a:extLst>
          </p:cNvPr>
          <p:cNvSpPr txBox="1"/>
          <p:nvPr/>
        </p:nvSpPr>
        <p:spPr>
          <a:xfrm>
            <a:off x="1400893" y="3331726"/>
            <a:ext cx="1628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008080"/>
                </a:solidFill>
                <a:latin typeface="+mn-lt"/>
                <a:ea typeface="Poppins"/>
                <a:cs typeface="Times New Roman" panose="02020603050405020304" pitchFamily="18" charset="0"/>
                <a:sym typeface="Poppins"/>
              </a:rPr>
              <a:t>US$ 700B</a:t>
            </a:r>
            <a:endParaRPr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1" name="Google Shape;161;p15">
            <a:extLst>
              <a:ext uri="{FF2B5EF4-FFF2-40B4-BE49-F238E27FC236}">
                <a16:creationId xmlns:a16="http://schemas.microsoft.com/office/drawing/2014/main" id="{C6D96A50-492C-2E45-BD3B-63F39B217D7D}"/>
              </a:ext>
            </a:extLst>
          </p:cNvPr>
          <p:cNvSpPr txBox="1"/>
          <p:nvPr/>
        </p:nvSpPr>
        <p:spPr>
          <a:xfrm>
            <a:off x="896131" y="3906626"/>
            <a:ext cx="2913156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P</a:t>
            </a:r>
            <a:r>
              <a:rPr lang="en-US" sz="2400" b="1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erdas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</a:t>
            </a:r>
            <a:r>
              <a:rPr lang="en-US" sz="2400" b="1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líquidas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dos </a:t>
            </a:r>
            <a:r>
              <a:rPr lang="en-US" sz="2400" b="1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consumidores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(</a:t>
            </a:r>
            <a:r>
              <a:rPr lang="en-US" sz="2400" b="1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lucro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da </a:t>
            </a:r>
            <a:r>
              <a:rPr lang="en-US" sz="2400" b="1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indústria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) até 2028.</a:t>
            </a:r>
            <a:endParaRPr sz="24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3" name="Google Shape;169;p15" descr="image.png">
            <a:extLst>
              <a:ext uri="{FF2B5EF4-FFF2-40B4-BE49-F238E27FC236}">
                <a16:creationId xmlns:a16="http://schemas.microsoft.com/office/drawing/2014/main" id="{77C35851-3933-DA3F-735D-AE91AA91C82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3474" y="2714959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62;p15">
            <a:extLst>
              <a:ext uri="{FF2B5EF4-FFF2-40B4-BE49-F238E27FC236}">
                <a16:creationId xmlns:a16="http://schemas.microsoft.com/office/drawing/2014/main" id="{D22E8974-4F11-637C-D0A2-8664C69A832A}"/>
              </a:ext>
            </a:extLst>
          </p:cNvPr>
          <p:cNvSpPr txBox="1"/>
          <p:nvPr/>
        </p:nvSpPr>
        <p:spPr>
          <a:xfrm>
            <a:off x="5139224" y="2701891"/>
            <a:ext cx="25014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147"/>
                </a:solidFill>
                <a:latin typeface="+mn-lt"/>
                <a:ea typeface="Poppins"/>
                <a:cs typeface="Times New Roman" panose="02020603050405020304" pitchFamily="18" charset="0"/>
                <a:sym typeface="Poppins"/>
              </a:rPr>
              <a:t>JOGO ONLINE</a:t>
            </a:r>
            <a:endParaRPr sz="24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5" name="Google Shape;163;p15">
            <a:extLst>
              <a:ext uri="{FF2B5EF4-FFF2-40B4-BE49-F238E27FC236}">
                <a16:creationId xmlns:a16="http://schemas.microsoft.com/office/drawing/2014/main" id="{66990A21-9D21-4F74-8F8F-795AF9288FB5}"/>
              </a:ext>
            </a:extLst>
          </p:cNvPr>
          <p:cNvSpPr txBox="1"/>
          <p:nvPr/>
        </p:nvSpPr>
        <p:spPr>
          <a:xfrm>
            <a:off x="5335897" y="3207073"/>
            <a:ext cx="1628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008080"/>
                </a:solidFill>
                <a:latin typeface="+mn-lt"/>
                <a:ea typeface="Poppins"/>
                <a:cs typeface="Times New Roman" panose="02020603050405020304" pitchFamily="18" charset="0"/>
                <a:sym typeface="Poppins"/>
              </a:rPr>
              <a:t>US$ 205B</a:t>
            </a:r>
            <a:endParaRPr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6" name="Google Shape;164;p15">
            <a:extLst>
              <a:ext uri="{FF2B5EF4-FFF2-40B4-BE49-F238E27FC236}">
                <a16:creationId xmlns:a16="http://schemas.microsoft.com/office/drawing/2014/main" id="{1E6DC2B7-A19B-50A4-CDB0-D1B0A5C171A5}"/>
              </a:ext>
            </a:extLst>
          </p:cNvPr>
          <p:cNvSpPr txBox="1"/>
          <p:nvPr/>
        </p:nvSpPr>
        <p:spPr>
          <a:xfrm>
            <a:off x="4657990" y="3857571"/>
            <a:ext cx="3279396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Projecção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de </a:t>
            </a:r>
            <a:r>
              <a:rPr lang="en-US" sz="2400" b="1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rendimento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</a:t>
            </a:r>
            <a:r>
              <a:rPr lang="en-US" sz="2400" b="1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bruto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</a:t>
            </a:r>
            <a:r>
              <a:rPr lang="en-US" sz="2400" b="1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apenas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do </a:t>
            </a:r>
            <a:r>
              <a:rPr lang="en-US" sz="2400" b="1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segmento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digital até 2030.</a:t>
            </a:r>
            <a:endParaRPr sz="24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20" name="Google Shape;154;p15" descr="image.png">
            <a:extLst>
              <a:ext uri="{FF2B5EF4-FFF2-40B4-BE49-F238E27FC236}">
                <a16:creationId xmlns:a16="http://schemas.microsoft.com/office/drawing/2014/main" id="{D411009E-010D-612A-60E8-951B81C5B8E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tretch/>
        </p:blipFill>
        <p:spPr>
          <a:xfrm>
            <a:off x="8280315" y="2572516"/>
            <a:ext cx="3347210" cy="302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70;p15" descr="image.png">
            <a:extLst>
              <a:ext uri="{FF2B5EF4-FFF2-40B4-BE49-F238E27FC236}">
                <a16:creationId xmlns:a16="http://schemas.microsoft.com/office/drawing/2014/main" id="{0AE00F6F-5F4A-92BD-DB04-B81AA36CEC8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97856" y="263510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65;p15">
            <a:extLst>
              <a:ext uri="{FF2B5EF4-FFF2-40B4-BE49-F238E27FC236}">
                <a16:creationId xmlns:a16="http://schemas.microsoft.com/office/drawing/2014/main" id="{686F5736-89A4-6805-E23A-34B6ADE07F5D}"/>
              </a:ext>
            </a:extLst>
          </p:cNvPr>
          <p:cNvSpPr txBox="1"/>
          <p:nvPr/>
        </p:nvSpPr>
        <p:spPr>
          <a:xfrm>
            <a:off x="9168905" y="2661046"/>
            <a:ext cx="25182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147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DEPENDÊNCIA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Google Shape;166;p15">
            <a:extLst>
              <a:ext uri="{FF2B5EF4-FFF2-40B4-BE49-F238E27FC236}">
                <a16:creationId xmlns:a16="http://schemas.microsoft.com/office/drawing/2014/main" id="{99F8838B-6B7C-B618-E063-FBF05C0783E2}"/>
              </a:ext>
            </a:extLst>
          </p:cNvPr>
          <p:cNvSpPr txBox="1"/>
          <p:nvPr/>
        </p:nvSpPr>
        <p:spPr>
          <a:xfrm>
            <a:off x="9684940" y="3163281"/>
            <a:ext cx="743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00808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60%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Google Shape;167;p15">
            <a:extLst>
              <a:ext uri="{FF2B5EF4-FFF2-40B4-BE49-F238E27FC236}">
                <a16:creationId xmlns:a16="http://schemas.microsoft.com/office/drawing/2014/main" id="{9419019C-AB26-6292-B047-8032AA8DD067}"/>
              </a:ext>
            </a:extLst>
          </p:cNvPr>
          <p:cNvSpPr txBox="1"/>
          <p:nvPr/>
        </p:nvSpPr>
        <p:spPr>
          <a:xfrm>
            <a:off x="8577049" y="3602829"/>
            <a:ext cx="2962699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Percentagem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da </a:t>
            </a:r>
            <a:r>
              <a:rPr lang="en-US" sz="2400" b="1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receita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total </a:t>
            </a:r>
            <a:r>
              <a:rPr lang="en-US" sz="2400" b="1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gerada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</a:t>
            </a:r>
            <a:r>
              <a:rPr lang="en-US" sz="2400" b="1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por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</a:t>
            </a:r>
            <a:r>
              <a:rPr lang="en-US" sz="2400" b="1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pessoas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</a:t>
            </a:r>
            <a:r>
              <a:rPr lang="en-US" sz="2400" b="1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que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</a:t>
            </a:r>
            <a:r>
              <a:rPr lang="en-US" sz="2400" b="1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jogam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</a:t>
            </a:r>
            <a:r>
              <a:rPr lang="en-US" sz="2400" b="1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em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</a:t>
            </a:r>
            <a:r>
              <a:rPr lang="en-US" sz="2400" b="1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níveis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</a:t>
            </a:r>
            <a:r>
              <a:rPr lang="en-US" sz="2400" b="1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prejudiciais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.</a:t>
            </a:r>
            <a:endParaRPr sz="24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5" name="Google Shape;155;p15">
            <a:extLst>
              <a:ext uri="{FF2B5EF4-FFF2-40B4-BE49-F238E27FC236}">
                <a16:creationId xmlns:a16="http://schemas.microsoft.com/office/drawing/2014/main" id="{82E2AF7C-4240-3952-2A0F-15D05AE6DC14}"/>
              </a:ext>
            </a:extLst>
          </p:cNvPr>
          <p:cNvSpPr txBox="1"/>
          <p:nvPr/>
        </p:nvSpPr>
        <p:spPr>
          <a:xfrm>
            <a:off x="477619" y="5747516"/>
            <a:ext cx="3210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GLOBAL INDUSTRY ESTIMATES | LANCET 2024</a:t>
            </a:r>
            <a:endParaRPr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6" name="CaixaDeTexto 4">
            <a:extLst>
              <a:ext uri="{FF2B5EF4-FFF2-40B4-BE49-F238E27FC236}">
                <a16:creationId xmlns:a16="http://schemas.microsoft.com/office/drawing/2014/main" id="{7ABAB851-E0A7-64E5-2EEA-367E5F44B6BB}"/>
              </a:ext>
            </a:extLst>
          </p:cNvPr>
          <p:cNvSpPr txBox="1"/>
          <p:nvPr/>
        </p:nvSpPr>
        <p:spPr>
          <a:xfrm>
            <a:off x="9146659" y="5733846"/>
            <a:ext cx="2237980" cy="25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PT" sz="1000" i="1" kern="100" dirty="0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pt-PT" sz="1000" i="1" kern="100" dirty="0" err="1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Wardle</a:t>
            </a:r>
            <a:r>
              <a:rPr lang="pt-PT" sz="1000" i="1" kern="100" dirty="0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pt-PT" sz="1000" i="1" kern="100" dirty="0" err="1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et</a:t>
            </a:r>
            <a:r>
              <a:rPr lang="pt-PT" sz="1000" i="1" kern="100" dirty="0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 al., 2024)</a:t>
            </a:r>
          </a:p>
        </p:txBody>
      </p:sp>
    </p:spTree>
    <p:extLst>
      <p:ext uri="{BB962C8B-B14F-4D97-AF65-F5344CB8AC3E}">
        <p14:creationId xmlns:p14="http://schemas.microsoft.com/office/powerpoint/2010/main" val="2501639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3E60D-CA30-7621-A324-FE080EC4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28538C-1797-43F2-72AC-B4FE2FF73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  <p:sp>
        <p:nvSpPr>
          <p:cNvPr id="2" name="Google Shape;91;p13">
            <a:extLst>
              <a:ext uri="{FF2B5EF4-FFF2-40B4-BE49-F238E27FC236}">
                <a16:creationId xmlns:a16="http://schemas.microsoft.com/office/drawing/2014/main" id="{A6BB6014-F933-47C0-E666-7296F8B27DDD}"/>
              </a:ext>
            </a:extLst>
          </p:cNvPr>
          <p:cNvSpPr txBox="1"/>
          <p:nvPr/>
        </p:nvSpPr>
        <p:spPr>
          <a:xfrm>
            <a:off x="1421039" y="185769"/>
            <a:ext cx="112014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2147"/>
                </a:solidFill>
                <a:latin typeface="+mj-lt"/>
                <a:ea typeface="Poppins"/>
                <a:cs typeface="Times New Roman" panose="02020603050405020304" pitchFamily="18" charset="0"/>
                <a:sym typeface="Poppins"/>
              </a:rPr>
              <a:t>Fardo </a:t>
            </a:r>
            <a:r>
              <a:rPr lang="en-US" sz="3600" b="1" i="0" u="none" strike="noStrike" cap="none" dirty="0" err="1">
                <a:solidFill>
                  <a:srgbClr val="002147"/>
                </a:solidFill>
                <a:latin typeface="+mj-lt"/>
                <a:ea typeface="Poppins"/>
                <a:cs typeface="Times New Roman" panose="02020603050405020304" pitchFamily="18" charset="0"/>
                <a:sym typeface="Poppins"/>
              </a:rPr>
              <a:t>Epidemiológico</a:t>
            </a:r>
            <a:r>
              <a:rPr lang="en-US" sz="3600" b="1" i="0" u="none" strike="noStrike" cap="none" dirty="0">
                <a:solidFill>
                  <a:srgbClr val="002147"/>
                </a:solidFill>
                <a:latin typeface="+mj-lt"/>
                <a:ea typeface="Poppins"/>
                <a:cs typeface="Times New Roman" panose="02020603050405020304" pitchFamily="18" charset="0"/>
                <a:sym typeface="Poppins"/>
              </a:rPr>
              <a:t> Global do Jogo</a:t>
            </a:r>
            <a:endParaRPr sz="3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Google Shape;92;p13">
            <a:extLst>
              <a:ext uri="{FF2B5EF4-FFF2-40B4-BE49-F238E27FC236}">
                <a16:creationId xmlns:a16="http://schemas.microsoft.com/office/drawing/2014/main" id="{D836FA92-4CB0-5A95-1332-88AF0AFF86AE}"/>
              </a:ext>
            </a:extLst>
          </p:cNvPr>
          <p:cNvSpPr txBox="1"/>
          <p:nvPr/>
        </p:nvSpPr>
        <p:spPr>
          <a:xfrm>
            <a:off x="500742" y="1186068"/>
            <a:ext cx="1138645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Prevalência</a:t>
            </a:r>
            <a:r>
              <a:rPr lang="en-US" sz="28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, </a:t>
            </a:r>
            <a:r>
              <a:rPr lang="en-US" sz="2800" b="1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Morbilidade</a:t>
            </a:r>
            <a:r>
              <a:rPr lang="en-US" sz="28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e </a:t>
            </a:r>
            <a:r>
              <a:rPr lang="en-US" sz="2800" b="1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Riscos</a:t>
            </a:r>
            <a:r>
              <a:rPr lang="en-US" sz="28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</a:t>
            </a:r>
            <a:r>
              <a:rPr lang="en-US" sz="2800" b="1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Emergentes</a:t>
            </a:r>
            <a:r>
              <a:rPr lang="en-US" sz="28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</a:t>
            </a:r>
            <a:r>
              <a:rPr lang="en-US" sz="2800" b="1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na</a:t>
            </a:r>
            <a:r>
              <a:rPr lang="en-US" sz="28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</a:t>
            </a:r>
            <a:r>
              <a:rPr lang="en-US" sz="2800" b="1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Saúde</a:t>
            </a:r>
            <a:r>
              <a:rPr lang="en-US" sz="28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Pública Mundial</a:t>
            </a:r>
            <a:endParaRPr sz="28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5" name="Google Shape;85;p13" descr="image.png">
            <a:extLst>
              <a:ext uri="{FF2B5EF4-FFF2-40B4-BE49-F238E27FC236}">
                <a16:creationId xmlns:a16="http://schemas.microsoft.com/office/drawing/2014/main" id="{1BE616CE-883E-9220-7F9E-B00E9A5F586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tretch/>
        </p:blipFill>
        <p:spPr>
          <a:xfrm>
            <a:off x="372600" y="2407965"/>
            <a:ext cx="5133576" cy="138115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9;p13">
            <a:extLst>
              <a:ext uri="{FF2B5EF4-FFF2-40B4-BE49-F238E27FC236}">
                <a16:creationId xmlns:a16="http://schemas.microsoft.com/office/drawing/2014/main" id="{FACC8F58-722C-E0C5-1BD8-58CE91D6B081}"/>
              </a:ext>
            </a:extLst>
          </p:cNvPr>
          <p:cNvSpPr txBox="1"/>
          <p:nvPr/>
        </p:nvSpPr>
        <p:spPr>
          <a:xfrm>
            <a:off x="581296" y="2537592"/>
            <a:ext cx="51911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6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PARTICIPAÇÃO ANUAL (</a:t>
            </a:r>
            <a:r>
              <a:rPr lang="en-US" sz="1600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A</a:t>
            </a:r>
            <a:r>
              <a:rPr lang="en-US" sz="1600" b="0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dultos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/ </a:t>
            </a:r>
            <a:r>
              <a:rPr lang="en-US" sz="1600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A</a:t>
            </a:r>
            <a:r>
              <a:rPr lang="en-US" sz="1600" b="0" i="0" u="none" strike="noStrike" cap="none" dirty="0" err="1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dolescentes</a:t>
            </a:r>
            <a:r>
              <a:rPr lang="en-US" sz="1600" b="1" i="0" u="none" strike="noStrike" cap="none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)</a:t>
            </a:r>
            <a:endParaRPr sz="16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8" name="Google Shape;94;p13" descr="image.png">
            <a:extLst>
              <a:ext uri="{FF2B5EF4-FFF2-40B4-BE49-F238E27FC236}">
                <a16:creationId xmlns:a16="http://schemas.microsoft.com/office/drawing/2014/main" id="{C7FF0755-3725-540C-08DA-E184613EB7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tretch/>
        </p:blipFill>
        <p:spPr>
          <a:xfrm>
            <a:off x="660944" y="3120811"/>
            <a:ext cx="433614" cy="439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8;p13" descr="image.png">
            <a:extLst>
              <a:ext uri="{FF2B5EF4-FFF2-40B4-BE49-F238E27FC236}">
                <a16:creationId xmlns:a16="http://schemas.microsoft.com/office/drawing/2014/main" id="{208EC4A9-6297-4909-93B6-A003E497DDE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tretch/>
        </p:blipFill>
        <p:spPr>
          <a:xfrm>
            <a:off x="704577" y="3194379"/>
            <a:ext cx="313403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0;p13">
            <a:extLst>
              <a:ext uri="{FF2B5EF4-FFF2-40B4-BE49-F238E27FC236}">
                <a16:creationId xmlns:a16="http://schemas.microsoft.com/office/drawing/2014/main" id="{4A9DDF09-ABF3-B2F9-E2A7-1FE647E285C5}"/>
              </a:ext>
            </a:extLst>
          </p:cNvPr>
          <p:cNvSpPr txBox="1"/>
          <p:nvPr/>
        </p:nvSpPr>
        <p:spPr>
          <a:xfrm>
            <a:off x="1409291" y="3067374"/>
            <a:ext cx="36004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2147"/>
                </a:solidFill>
                <a:latin typeface="+mn-lt"/>
                <a:ea typeface="Poppins"/>
                <a:cs typeface="Times New Roman" panose="02020603050405020304" pitchFamily="18" charset="0"/>
                <a:sym typeface="Poppins"/>
              </a:rPr>
              <a:t>46.2% | 17.9%</a:t>
            </a:r>
            <a:endParaRPr sz="1400" dirty="0"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1" name="Google Shape;86;p13" descr="image.png">
            <a:extLst>
              <a:ext uri="{FF2B5EF4-FFF2-40B4-BE49-F238E27FC236}">
                <a16:creationId xmlns:a16="http://schemas.microsoft.com/office/drawing/2014/main" id="{FA5EAF19-6BD2-8C01-0359-1A47D9A82CF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tretch/>
        </p:blipFill>
        <p:spPr>
          <a:xfrm>
            <a:off x="6046431" y="2399618"/>
            <a:ext cx="5049333" cy="138115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11;p13">
            <a:extLst>
              <a:ext uri="{FF2B5EF4-FFF2-40B4-BE49-F238E27FC236}">
                <a16:creationId xmlns:a16="http://schemas.microsoft.com/office/drawing/2014/main" id="{FE71DD01-0FD6-7770-09D5-4F52653E2411}"/>
              </a:ext>
            </a:extLst>
          </p:cNvPr>
          <p:cNvSpPr txBox="1"/>
          <p:nvPr/>
        </p:nvSpPr>
        <p:spPr>
          <a:xfrm>
            <a:off x="6247540" y="2537032"/>
            <a:ext cx="48482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RISCO DE CONVERSÃO PARA TRANSTORNO</a:t>
            </a:r>
            <a:endParaRPr lang="en-US" sz="1600" dirty="0"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3" name="Google Shape;97;p13" descr="image.png">
            <a:extLst>
              <a:ext uri="{FF2B5EF4-FFF2-40B4-BE49-F238E27FC236}">
                <a16:creationId xmlns:a16="http://schemas.microsoft.com/office/drawing/2014/main" id="{DAC6A50F-6C08-8DFC-583D-0BC9EAE3858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tretch/>
        </p:blipFill>
        <p:spPr>
          <a:xfrm>
            <a:off x="6411349" y="2946730"/>
            <a:ext cx="440406" cy="446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10;p13" descr="image.png">
            <a:extLst>
              <a:ext uri="{FF2B5EF4-FFF2-40B4-BE49-F238E27FC236}">
                <a16:creationId xmlns:a16="http://schemas.microsoft.com/office/drawing/2014/main" id="{CE1D0C09-3653-3D4E-A1E2-DC4E48D5591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22014" y="3027204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12;p13">
            <a:extLst>
              <a:ext uri="{FF2B5EF4-FFF2-40B4-BE49-F238E27FC236}">
                <a16:creationId xmlns:a16="http://schemas.microsoft.com/office/drawing/2014/main" id="{204A2A0E-A779-F8F1-6E0A-8E46344A8163}"/>
              </a:ext>
            </a:extLst>
          </p:cNvPr>
          <p:cNvSpPr txBox="1"/>
          <p:nvPr/>
        </p:nvSpPr>
        <p:spPr>
          <a:xfrm>
            <a:off x="7350940" y="2974647"/>
            <a:ext cx="19382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accent3">
                    <a:lumMod val="50000"/>
                  </a:schemeClr>
                </a:solidFill>
                <a:latin typeface="+mn-lt"/>
                <a:ea typeface="Poppins"/>
                <a:cs typeface="Times New Roman" panose="02020603050405020304" pitchFamily="18" charset="0"/>
                <a:sym typeface="Poppins"/>
              </a:rPr>
              <a:t>15.8%</a:t>
            </a:r>
            <a:endParaRPr sz="1400" dirty="0">
              <a:solidFill>
                <a:schemeClr val="accent3">
                  <a:lumMod val="50000"/>
                </a:schemeClr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6" name="Google Shape;87;p13" descr="image.png">
            <a:extLst>
              <a:ext uri="{FF2B5EF4-FFF2-40B4-BE49-F238E27FC236}">
                <a16:creationId xmlns:a16="http://schemas.microsoft.com/office/drawing/2014/main" id="{4DF7DC42-B512-464F-CBB3-176032DCF46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tretch/>
        </p:blipFill>
        <p:spPr>
          <a:xfrm>
            <a:off x="372600" y="4149246"/>
            <a:ext cx="5133576" cy="1787097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07;p13">
            <a:extLst>
              <a:ext uri="{FF2B5EF4-FFF2-40B4-BE49-F238E27FC236}">
                <a16:creationId xmlns:a16="http://schemas.microsoft.com/office/drawing/2014/main" id="{89B765F0-F857-3510-8F26-F8E88557DF67}"/>
              </a:ext>
            </a:extLst>
          </p:cNvPr>
          <p:cNvSpPr txBox="1"/>
          <p:nvPr/>
        </p:nvSpPr>
        <p:spPr>
          <a:xfrm>
            <a:off x="581296" y="4318352"/>
            <a:ext cx="45053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TRANSTORNO DO JOGO (</a:t>
            </a:r>
            <a:r>
              <a:rPr lang="en-US" b="1" dirty="0">
                <a:solidFill>
                  <a:srgbClr val="334155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CID 11</a:t>
            </a:r>
            <a:r>
              <a:rPr lang="en-US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)</a:t>
            </a:r>
            <a:endParaRPr dirty="0"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8" name="Google Shape;96;p13" descr="image.png">
            <a:extLst>
              <a:ext uri="{FF2B5EF4-FFF2-40B4-BE49-F238E27FC236}">
                <a16:creationId xmlns:a16="http://schemas.microsoft.com/office/drawing/2014/main" id="{FC3B4FA1-B7D8-926B-3047-F13E4349443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tretch/>
        </p:blipFill>
        <p:spPr>
          <a:xfrm>
            <a:off x="633179" y="4889421"/>
            <a:ext cx="433614" cy="439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06;p13" descr="image.png">
            <a:extLst>
              <a:ext uri="{FF2B5EF4-FFF2-40B4-BE49-F238E27FC236}">
                <a16:creationId xmlns:a16="http://schemas.microsoft.com/office/drawing/2014/main" id="{33F1F535-7FF1-DBD1-5BA1-971C70A69641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tretch/>
        </p:blipFill>
        <p:spPr>
          <a:xfrm>
            <a:off x="711720" y="4966451"/>
            <a:ext cx="276532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08;p13">
            <a:extLst>
              <a:ext uri="{FF2B5EF4-FFF2-40B4-BE49-F238E27FC236}">
                <a16:creationId xmlns:a16="http://schemas.microsoft.com/office/drawing/2014/main" id="{F018CFF4-A02E-619C-42FF-189292F2D0ED}"/>
              </a:ext>
            </a:extLst>
          </p:cNvPr>
          <p:cNvSpPr txBox="1"/>
          <p:nvPr/>
        </p:nvSpPr>
        <p:spPr>
          <a:xfrm>
            <a:off x="1479164" y="4896515"/>
            <a:ext cx="35528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E53E3E"/>
                </a:solidFill>
                <a:latin typeface="+mn-lt"/>
                <a:ea typeface="Poppins"/>
                <a:cs typeface="Times New Roman" panose="02020603050405020304" pitchFamily="18" charset="0"/>
                <a:sym typeface="Poppins"/>
              </a:rPr>
              <a:t>80 </a:t>
            </a:r>
            <a:r>
              <a:rPr lang="en-US" sz="2800" b="1" i="0" u="none" strike="noStrike" cap="none" dirty="0" err="1">
                <a:solidFill>
                  <a:srgbClr val="E53E3E"/>
                </a:solidFill>
                <a:latin typeface="+mn-lt"/>
                <a:ea typeface="Poppins"/>
                <a:cs typeface="Times New Roman" panose="02020603050405020304" pitchFamily="18" charset="0"/>
                <a:sym typeface="Poppins"/>
              </a:rPr>
              <a:t>Milhões</a:t>
            </a:r>
            <a:endParaRPr sz="1400" dirty="0"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21" name="Google Shape;86;p13" descr="image.png">
            <a:extLst>
              <a:ext uri="{FF2B5EF4-FFF2-40B4-BE49-F238E27FC236}">
                <a16:creationId xmlns:a16="http://schemas.microsoft.com/office/drawing/2014/main" id="{7D399580-8CE9-2998-44F9-3F9BDD88217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tretch/>
        </p:blipFill>
        <p:spPr>
          <a:xfrm>
            <a:off x="6096001" y="4132552"/>
            <a:ext cx="5085488" cy="180379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03;p13">
            <a:extLst>
              <a:ext uri="{FF2B5EF4-FFF2-40B4-BE49-F238E27FC236}">
                <a16:creationId xmlns:a16="http://schemas.microsoft.com/office/drawing/2014/main" id="{5E6523CF-4551-383D-9D7F-3F06225F182F}"/>
              </a:ext>
            </a:extLst>
          </p:cNvPr>
          <p:cNvSpPr txBox="1"/>
          <p:nvPr/>
        </p:nvSpPr>
        <p:spPr>
          <a:xfrm>
            <a:off x="6247540" y="4252234"/>
            <a:ext cx="36004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POPULAÇÃO</a:t>
            </a:r>
            <a:r>
              <a:rPr lang="en-US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AFECTADA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Google Shape;95;p13" descr="image.png">
            <a:extLst>
              <a:ext uri="{FF2B5EF4-FFF2-40B4-BE49-F238E27FC236}">
                <a16:creationId xmlns:a16="http://schemas.microsoft.com/office/drawing/2014/main" id="{45CC3215-6583-1EE0-D768-80DD945CA5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7511" y="4804955"/>
            <a:ext cx="519071" cy="522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raphic 24" descr="Users with solid fill">
            <a:extLst>
              <a:ext uri="{FF2B5EF4-FFF2-40B4-BE49-F238E27FC236}">
                <a16:creationId xmlns:a16="http://schemas.microsoft.com/office/drawing/2014/main" id="{58746842-81D8-93B4-77EA-A5E41E1A8A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4336" y="4894624"/>
            <a:ext cx="429401" cy="429401"/>
          </a:xfrm>
          <a:prstGeom prst="rect">
            <a:avLst/>
          </a:prstGeom>
        </p:spPr>
      </p:pic>
      <p:sp>
        <p:nvSpPr>
          <p:cNvPr id="26" name="Google Shape;104;p13">
            <a:extLst>
              <a:ext uri="{FF2B5EF4-FFF2-40B4-BE49-F238E27FC236}">
                <a16:creationId xmlns:a16="http://schemas.microsoft.com/office/drawing/2014/main" id="{DE3C2068-F240-CADC-751B-0F90F2A99142}"/>
              </a:ext>
            </a:extLst>
          </p:cNvPr>
          <p:cNvSpPr txBox="1"/>
          <p:nvPr/>
        </p:nvSpPr>
        <p:spPr>
          <a:xfrm>
            <a:off x="7088822" y="4850734"/>
            <a:ext cx="36004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2147"/>
                </a:solidFill>
                <a:latin typeface="+mn-lt"/>
                <a:ea typeface="Poppins"/>
                <a:cs typeface="Times New Roman" panose="02020603050405020304" pitchFamily="18" charset="0"/>
                <a:sym typeface="Poppins"/>
              </a:rPr>
              <a:t>448.7M</a:t>
            </a:r>
            <a:endParaRPr sz="14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7" name="Google Shape;105;p13">
            <a:extLst>
              <a:ext uri="{FF2B5EF4-FFF2-40B4-BE49-F238E27FC236}">
                <a16:creationId xmlns:a16="http://schemas.microsoft.com/office/drawing/2014/main" id="{28C538EA-750C-D683-52D7-601AC9E0247B}"/>
              </a:ext>
            </a:extLst>
          </p:cNvPr>
          <p:cNvSpPr txBox="1"/>
          <p:nvPr/>
        </p:nvSpPr>
        <p:spPr>
          <a:xfrm>
            <a:off x="6161813" y="5506782"/>
            <a:ext cx="501967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64748B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Adultos</a:t>
            </a:r>
            <a:r>
              <a:rPr lang="en-US" b="0" i="0" u="none" strike="noStrike" cap="none" dirty="0">
                <a:solidFill>
                  <a:srgbClr val="64748B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64748B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que</a:t>
            </a:r>
            <a:r>
              <a:rPr lang="en-US" b="0" i="0" u="none" strike="noStrike" cap="none" dirty="0">
                <a:solidFill>
                  <a:srgbClr val="64748B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64748B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enfrentam</a:t>
            </a:r>
            <a:r>
              <a:rPr lang="en-US" b="0" i="0" u="none" strike="noStrike" cap="none" dirty="0">
                <a:solidFill>
                  <a:srgbClr val="64748B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64748B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algum</a:t>
            </a:r>
            <a:r>
              <a:rPr lang="en-US" b="0" i="0" u="none" strike="noStrike" cap="none" dirty="0">
                <a:solidFill>
                  <a:srgbClr val="64748B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64748B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nível</a:t>
            </a:r>
            <a:r>
              <a:rPr lang="en-US" b="0" i="0" u="none" strike="noStrike" cap="none" dirty="0">
                <a:solidFill>
                  <a:srgbClr val="64748B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 de </a:t>
            </a:r>
            <a:r>
              <a:rPr lang="en-US" b="0" i="0" u="none" strike="noStrike" cap="none" dirty="0" err="1">
                <a:solidFill>
                  <a:srgbClr val="64748B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dano</a:t>
            </a:r>
            <a:endParaRPr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8" name="CaixaDeTexto 2">
            <a:extLst>
              <a:ext uri="{FF2B5EF4-FFF2-40B4-BE49-F238E27FC236}">
                <a16:creationId xmlns:a16="http://schemas.microsoft.com/office/drawing/2014/main" id="{E44ADFF2-B241-01AF-52CC-F415A5DF5512}"/>
              </a:ext>
            </a:extLst>
          </p:cNvPr>
          <p:cNvSpPr txBox="1"/>
          <p:nvPr/>
        </p:nvSpPr>
        <p:spPr>
          <a:xfrm>
            <a:off x="501059" y="6409635"/>
            <a:ext cx="2629558" cy="25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PT" sz="1000" i="1" kern="100" dirty="0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pt-PT" sz="1000" i="1" kern="100" dirty="0" err="1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Wardle</a:t>
            </a:r>
            <a:r>
              <a:rPr lang="pt-PT" sz="1000" i="1" kern="100" dirty="0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pt-PT" sz="1000" i="1" kern="100" dirty="0" err="1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et</a:t>
            </a:r>
            <a:r>
              <a:rPr lang="pt-PT" sz="1000" i="1" kern="100" dirty="0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 al., 2024)</a:t>
            </a:r>
          </a:p>
        </p:txBody>
      </p:sp>
    </p:spTree>
    <p:extLst>
      <p:ext uri="{BB962C8B-B14F-4D97-AF65-F5344CB8AC3E}">
        <p14:creationId xmlns:p14="http://schemas.microsoft.com/office/powerpoint/2010/main" val="3638549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D4A1468-66A0-D23E-7CF6-F2EEA0621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721" y="741680"/>
            <a:ext cx="8980397" cy="5770607"/>
          </a:xfrm>
          <a:prstGeom prst="rect">
            <a:avLst/>
          </a:prstGeom>
          <a:ln>
            <a:noFill/>
          </a:ln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BAC3BEE-21A5-B70D-D4B8-22EDBCB38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080" y="19847"/>
            <a:ext cx="6368349" cy="115675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20144888-A890-7985-B5C9-42DCEDC9029B}"/>
              </a:ext>
            </a:extLst>
          </p:cNvPr>
          <p:cNvSpPr txBox="1"/>
          <p:nvPr/>
        </p:nvSpPr>
        <p:spPr>
          <a:xfrm>
            <a:off x="7965440" y="1011778"/>
            <a:ext cx="4122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haker 2 Lancet"/>
                <a:ea typeface="+mn-ea"/>
                <a:cs typeface="+mn-cs"/>
              </a:rPr>
              <a:t>Lancet Public Health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haker 2 Lancet"/>
                <a:ea typeface="+mn-ea"/>
                <a:cs typeface="+mn-cs"/>
              </a:rPr>
              <a:t>2024; 9: e594–613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haker 2 Lancet"/>
              <a:ea typeface="+mn-ea"/>
              <a:cs typeface="+mn-cs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521B52A-9FB2-A1FD-F10B-7B475A7F6938}"/>
              </a:ext>
            </a:extLst>
          </p:cNvPr>
          <p:cNvSpPr txBox="1"/>
          <p:nvPr/>
        </p:nvSpPr>
        <p:spPr>
          <a:xfrm>
            <a:off x="6410960" y="4917440"/>
            <a:ext cx="264160" cy="8617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50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34274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1"/>
                                        </p:tgtEl>
                                      </p:cBhvr>
                                      <p:by x="400000" y="4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10325-FEEA-839B-EF4C-CBC8CB8E8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F187D9-43B4-BCEC-1672-FD9EE13C5993}"/>
              </a:ext>
            </a:extLst>
          </p:cNvPr>
          <p:cNvSpPr txBox="1"/>
          <p:nvPr/>
        </p:nvSpPr>
        <p:spPr>
          <a:xfrm>
            <a:off x="2416994" y="221163"/>
            <a:ext cx="71334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36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Categorização dos Produtos</a:t>
            </a:r>
            <a:endParaRPr lang="pt-BR" sz="36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D205FA-01C5-2873-6358-DC0E1473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EEEAA0-01F0-1566-2F18-EA1F9C9A047F}"/>
              </a:ext>
            </a:extLst>
          </p:cNvPr>
          <p:cNvSpPr txBox="1"/>
          <p:nvPr/>
        </p:nvSpPr>
        <p:spPr>
          <a:xfrm>
            <a:off x="533582" y="1177576"/>
            <a:ext cx="109002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pt-PT" sz="28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Classificados de acordo com a sua mecânica e nível de risco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D1E5B0-5A99-DDD6-D592-FF2561C69358}"/>
              </a:ext>
            </a:extLst>
          </p:cNvPr>
          <p:cNvSpPr/>
          <p:nvPr/>
        </p:nvSpPr>
        <p:spPr>
          <a:xfrm>
            <a:off x="227600" y="1909482"/>
            <a:ext cx="3097124" cy="44821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2000" b="1" dirty="0">
                <a:solidFill>
                  <a:schemeClr val="bg1"/>
                </a:solidFill>
              </a:rPr>
              <a:t>Lotarias - Raspadinhas - Apostas desportivas tradicionais</a:t>
            </a:r>
          </a:p>
          <a:p>
            <a:pPr algn="ctr"/>
            <a:endParaRPr lang="en-PT" sz="2000" b="1" dirty="0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B0D5F10-DF2C-00AC-CC44-3C9339B852B6}"/>
              </a:ext>
            </a:extLst>
          </p:cNvPr>
          <p:cNvSpPr/>
          <p:nvPr/>
        </p:nvSpPr>
        <p:spPr>
          <a:xfrm>
            <a:off x="405511" y="5227650"/>
            <a:ext cx="2741302" cy="5803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F41254-EAA8-8B80-2067-9B641EB3843C}"/>
              </a:ext>
            </a:extLst>
          </p:cNvPr>
          <p:cNvSpPr txBox="1"/>
          <p:nvPr/>
        </p:nvSpPr>
        <p:spPr>
          <a:xfrm>
            <a:off x="924747" y="5330835"/>
            <a:ext cx="2340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20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Risco moderado </a:t>
            </a:r>
          </a:p>
        </p:txBody>
      </p:sp>
      <p:pic>
        <p:nvPicPr>
          <p:cNvPr id="12" name="Graphic 11" descr="Upward trend with solid fill">
            <a:extLst>
              <a:ext uri="{FF2B5EF4-FFF2-40B4-BE49-F238E27FC236}">
                <a16:creationId xmlns:a16="http://schemas.microsoft.com/office/drawing/2014/main" id="{76E31629-92CD-EA42-1F29-6DE3125A23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4935" y="5397218"/>
            <a:ext cx="392081" cy="39208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6CA190D-CCB9-98FB-6672-38E65D7F640A}"/>
              </a:ext>
            </a:extLst>
          </p:cNvPr>
          <p:cNvSpPr txBox="1"/>
          <p:nvPr/>
        </p:nvSpPr>
        <p:spPr>
          <a:xfrm>
            <a:off x="364289" y="2149399"/>
            <a:ext cx="28237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2400" b="1" dirty="0">
                <a:solidFill>
                  <a:schemeClr val="accent5">
                    <a:lumMod val="50000"/>
                  </a:schemeClr>
                </a:solidFill>
              </a:rPr>
              <a:t>Eventos Discretos</a:t>
            </a:r>
          </a:p>
          <a:p>
            <a:pPr algn="ctr"/>
            <a:endParaRPr lang="en-PT" sz="2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192DDD-9E3B-F017-5C26-E397631CE0DD}"/>
              </a:ext>
            </a:extLst>
          </p:cNvPr>
          <p:cNvSpPr/>
          <p:nvPr/>
        </p:nvSpPr>
        <p:spPr>
          <a:xfrm>
            <a:off x="3561912" y="1909483"/>
            <a:ext cx="3847151" cy="4482187"/>
          </a:xfrm>
          <a:prstGeom prst="rect">
            <a:avLst/>
          </a:prstGeom>
          <a:solidFill>
            <a:srgbClr val="FEBC4B">
              <a:alpha val="21176"/>
            </a:srgbClr>
          </a:solidFill>
          <a:ln>
            <a:solidFill>
              <a:srgbClr val="FF9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2000" b="1" dirty="0">
                <a:solidFill>
                  <a:schemeClr val="bg1"/>
                </a:solidFill>
              </a:rPr>
              <a:t>Slot machines – Jogos de casino ao vivo</a:t>
            </a:r>
          </a:p>
          <a:p>
            <a:pPr algn="ctr"/>
            <a:endParaRPr lang="en-PT" sz="2000" b="1" dirty="0">
              <a:solidFill>
                <a:schemeClr val="bg1"/>
              </a:solidFill>
            </a:endParaRPr>
          </a:p>
          <a:p>
            <a:pPr algn="ctr"/>
            <a:r>
              <a:rPr lang="en-PT" sz="2000" b="1" dirty="0">
                <a:solidFill>
                  <a:schemeClr val="bg1"/>
                </a:solidFill>
              </a:rPr>
              <a:t>Ciclo </a:t>
            </a:r>
            <a:r>
              <a:rPr lang="en-GB" sz="2000" b="1" dirty="0" err="1">
                <a:solidFill>
                  <a:schemeClr val="bg1"/>
                </a:solidFill>
              </a:rPr>
              <a:t>rápido</a:t>
            </a:r>
            <a:r>
              <a:rPr lang="en-PT" sz="2000" b="1" dirty="0">
                <a:solidFill>
                  <a:schemeClr val="bg1"/>
                </a:solidFill>
              </a:rPr>
              <a:t> de apostas e reforço imediato.</a:t>
            </a:r>
          </a:p>
          <a:p>
            <a:pPr algn="ctr"/>
            <a:endParaRPr lang="en-PT" b="1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B5259B-D7A9-911C-CC77-184B7C033142}"/>
              </a:ext>
            </a:extLst>
          </p:cNvPr>
          <p:cNvSpPr txBox="1"/>
          <p:nvPr/>
        </p:nvSpPr>
        <p:spPr>
          <a:xfrm>
            <a:off x="4350263" y="2141624"/>
            <a:ext cx="2695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2400" b="1" dirty="0">
                <a:solidFill>
                  <a:srgbClr val="FF9300"/>
                </a:solidFill>
              </a:rPr>
              <a:t>Alta Frequência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1BCFD0-91EF-67FA-BB0D-BA97757F99B9}"/>
              </a:ext>
            </a:extLst>
          </p:cNvPr>
          <p:cNvSpPr/>
          <p:nvPr/>
        </p:nvSpPr>
        <p:spPr>
          <a:xfrm>
            <a:off x="7794929" y="1909482"/>
            <a:ext cx="3892246" cy="4482189"/>
          </a:xfrm>
          <a:prstGeom prst="rect">
            <a:avLst/>
          </a:prstGeom>
          <a:solidFill>
            <a:schemeClr val="accent1">
              <a:lumMod val="40000"/>
              <a:lumOff val="60000"/>
              <a:alpha val="2117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b="1" dirty="0">
              <a:solidFill>
                <a:schemeClr val="bg1"/>
              </a:solidFill>
            </a:endParaRPr>
          </a:p>
          <a:p>
            <a:pPr algn="ctr"/>
            <a:r>
              <a:rPr lang="en-PT" sz="2000" b="1" dirty="0">
                <a:solidFill>
                  <a:schemeClr val="bg1"/>
                </a:solidFill>
              </a:rPr>
              <a:t>Apostas desportivas – Mercado em crescimento</a:t>
            </a:r>
          </a:p>
          <a:p>
            <a:pPr algn="ctr"/>
            <a:endParaRPr lang="en-PT" sz="2000" b="1" dirty="0">
              <a:solidFill>
                <a:schemeClr val="bg1"/>
              </a:solidFill>
            </a:endParaRPr>
          </a:p>
          <a:p>
            <a:pPr algn="ctr"/>
            <a:r>
              <a:rPr lang="pt-PT" sz="2000" b="1" dirty="0">
                <a:solidFill>
                  <a:schemeClr val="bg1"/>
                </a:solidFill>
              </a:rPr>
              <a:t>A ilusão de ”conhecimento técnico” mascara a natureza aleatória e as margens da casa</a:t>
            </a:r>
            <a:r>
              <a:rPr lang="en-PT" sz="2000" b="1" dirty="0">
                <a:solidFill>
                  <a:schemeClr val="bg1"/>
                </a:solidFill>
              </a:rPr>
              <a:t>.</a:t>
            </a:r>
          </a:p>
          <a:p>
            <a:pPr algn="ctr"/>
            <a:endParaRPr lang="en-PT" b="1" dirty="0">
              <a:solidFill>
                <a:schemeClr val="bg1"/>
              </a:solidFill>
            </a:endParaRPr>
          </a:p>
          <a:p>
            <a:pPr algn="ctr"/>
            <a:endParaRPr lang="en-PT" b="1" dirty="0">
              <a:solidFill>
                <a:schemeClr val="bg1"/>
              </a:solidFill>
            </a:endParaRPr>
          </a:p>
          <a:p>
            <a:pPr algn="ctr"/>
            <a:endParaRPr lang="en-PT" b="1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FEA2DD-5BE4-3ED1-4CFB-40E1384F41FC}"/>
              </a:ext>
            </a:extLst>
          </p:cNvPr>
          <p:cNvSpPr txBox="1"/>
          <p:nvPr/>
        </p:nvSpPr>
        <p:spPr>
          <a:xfrm>
            <a:off x="8539954" y="2100123"/>
            <a:ext cx="2647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2400" b="1" dirty="0">
                <a:solidFill>
                  <a:schemeClr val="bg2"/>
                </a:solidFill>
              </a:rPr>
              <a:t>Apostas Online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077D203-17D6-9FC6-0FF4-120F657C8B14}"/>
              </a:ext>
            </a:extLst>
          </p:cNvPr>
          <p:cNvSpPr/>
          <p:nvPr/>
        </p:nvSpPr>
        <p:spPr>
          <a:xfrm>
            <a:off x="7996790" y="5300145"/>
            <a:ext cx="3554234" cy="707886"/>
          </a:xfrm>
          <a:prstGeom prst="round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20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691DF3-D763-8D96-D3E6-4606F59C8037}"/>
              </a:ext>
            </a:extLst>
          </p:cNvPr>
          <p:cNvSpPr txBox="1"/>
          <p:nvPr/>
        </p:nvSpPr>
        <p:spPr>
          <a:xfrm>
            <a:off x="8469588" y="5454033"/>
            <a:ext cx="3341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2000" b="1" dirty="0">
                <a:solidFill>
                  <a:schemeClr val="bg2"/>
                </a:solidFill>
              </a:rPr>
              <a:t>Crescimento acelerado </a:t>
            </a:r>
          </a:p>
        </p:txBody>
      </p:sp>
      <p:pic>
        <p:nvPicPr>
          <p:cNvPr id="25" name="Graphic 24" descr="Upward trend with solid fill">
            <a:extLst>
              <a:ext uri="{FF2B5EF4-FFF2-40B4-BE49-F238E27FC236}">
                <a16:creationId xmlns:a16="http://schemas.microsoft.com/office/drawing/2014/main" id="{EFD08BCC-C9BB-25D1-6709-EECCCF05DF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0324" y="5495757"/>
            <a:ext cx="369333" cy="36933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DDF6FDA-2DDB-944B-7B0D-855ED09CF720}"/>
              </a:ext>
            </a:extLst>
          </p:cNvPr>
          <p:cNvSpPr/>
          <p:nvPr/>
        </p:nvSpPr>
        <p:spPr>
          <a:xfrm>
            <a:off x="4175375" y="5300145"/>
            <a:ext cx="2588788" cy="586229"/>
          </a:xfrm>
          <a:prstGeom prst="roundRect">
            <a:avLst/>
          </a:prstGeom>
          <a:solidFill>
            <a:srgbClr val="FFC000">
              <a:alpha val="37647"/>
            </a:srgbClr>
          </a:solidFill>
          <a:ln>
            <a:solidFill>
              <a:srgbClr val="FF9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2000" b="1" dirty="0">
                <a:solidFill>
                  <a:srgbClr val="FF9300"/>
                </a:solidFill>
              </a:rPr>
              <a:t>Os mais viciantes</a:t>
            </a:r>
          </a:p>
        </p:txBody>
      </p:sp>
      <p:sp>
        <p:nvSpPr>
          <p:cNvPr id="2" name="CaixaDeTexto 4">
            <a:extLst>
              <a:ext uri="{FF2B5EF4-FFF2-40B4-BE49-F238E27FC236}">
                <a16:creationId xmlns:a16="http://schemas.microsoft.com/office/drawing/2014/main" id="{79BAD8D0-7177-0D1B-A679-AA56D3FA1774}"/>
              </a:ext>
            </a:extLst>
          </p:cNvPr>
          <p:cNvSpPr txBox="1"/>
          <p:nvPr/>
        </p:nvSpPr>
        <p:spPr>
          <a:xfrm>
            <a:off x="1214727" y="6415541"/>
            <a:ext cx="2404533" cy="25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PT" sz="1000" i="1" kern="100" dirty="0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pt-PT" sz="1000" i="1" kern="100" dirty="0" err="1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Wardle</a:t>
            </a:r>
            <a:r>
              <a:rPr lang="pt-PT" sz="1000" i="1" kern="100" dirty="0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pt-PT" sz="1000" i="1" kern="100" dirty="0" err="1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et</a:t>
            </a:r>
            <a:r>
              <a:rPr lang="pt-PT" sz="1000" i="1" kern="100" dirty="0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 al., 2024)</a:t>
            </a:r>
          </a:p>
        </p:txBody>
      </p:sp>
    </p:spTree>
    <p:extLst>
      <p:ext uri="{BB962C8B-B14F-4D97-AF65-F5344CB8AC3E}">
        <p14:creationId xmlns:p14="http://schemas.microsoft.com/office/powerpoint/2010/main" val="2197821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E72F1-18FF-AA75-1BE2-8011DC31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93114C0-E92A-2665-4919-33C14DF9AAFA}"/>
              </a:ext>
            </a:extLst>
          </p:cNvPr>
          <p:cNvSpPr txBox="1"/>
          <p:nvPr/>
        </p:nvSpPr>
        <p:spPr>
          <a:xfrm>
            <a:off x="1484555" y="221163"/>
            <a:ext cx="84770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bg1"/>
                </a:solidFill>
                <a:latin typeface="+mj-lt"/>
                <a:ea typeface="Poppins"/>
                <a:cs typeface="Times New Roman" panose="02020603050405020304" pitchFamily="18" charset="0"/>
                <a:sym typeface="Poppins"/>
              </a:rPr>
              <a:t>Jogos</a:t>
            </a:r>
            <a:r>
              <a:rPr lang="en-US" sz="3600" b="1" dirty="0">
                <a:solidFill>
                  <a:schemeClr val="bg1"/>
                </a:solidFill>
                <a:latin typeface="+mj-lt"/>
                <a:ea typeface="Poppins"/>
                <a:cs typeface="Times New Roman" panose="02020603050405020304" pitchFamily="18" charset="0"/>
                <a:sym typeface="Poppins"/>
              </a:rPr>
              <a:t> de azar: </a:t>
            </a:r>
            <a:r>
              <a:rPr lang="en-US" sz="3600" b="1" dirty="0" err="1">
                <a:solidFill>
                  <a:schemeClr val="bg1"/>
                </a:solidFill>
                <a:latin typeface="+mj-lt"/>
                <a:ea typeface="Poppins"/>
                <a:cs typeface="Times New Roman" panose="02020603050405020304" pitchFamily="18" charset="0"/>
                <a:sym typeface="Poppins"/>
              </a:rPr>
              <a:t>neurobiologia</a:t>
            </a:r>
            <a:r>
              <a:rPr lang="en-US" sz="3600" b="1" dirty="0">
                <a:solidFill>
                  <a:schemeClr val="bg1"/>
                </a:solidFill>
                <a:latin typeface="+mj-lt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endParaRPr lang="en-US" sz="3600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969944-D08B-2C87-C626-A2C84491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  <p:sp>
        <p:nvSpPr>
          <p:cNvPr id="2" name="Google Shape;182;p16">
            <a:extLst>
              <a:ext uri="{FF2B5EF4-FFF2-40B4-BE49-F238E27FC236}">
                <a16:creationId xmlns:a16="http://schemas.microsoft.com/office/drawing/2014/main" id="{C7F3F94E-2791-FAE4-B9DB-CA871423FBD0}"/>
              </a:ext>
            </a:extLst>
          </p:cNvPr>
          <p:cNvSpPr txBox="1"/>
          <p:nvPr/>
        </p:nvSpPr>
        <p:spPr>
          <a:xfrm>
            <a:off x="571500" y="1125274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1" i="0" u="none" strike="noStrike" cap="none" noProof="0" dirty="0">
                <a:solidFill>
                  <a:schemeClr val="bg1"/>
                </a:solidFill>
                <a:latin typeface="+mn-lt"/>
                <a:ea typeface="Lato"/>
                <a:cs typeface="Times New Roman" panose="02020603050405020304" pitchFamily="18" charset="0"/>
                <a:sym typeface="Lato"/>
              </a:rPr>
              <a:t>Da percepção ao cérebro: não é apenas comportamento</a:t>
            </a:r>
            <a:endParaRPr lang="pt-PT" sz="2400" b="1" noProof="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7BDBDB3-B858-332E-B306-57F32CDD8BEE}"/>
              </a:ext>
            </a:extLst>
          </p:cNvPr>
          <p:cNvSpPr/>
          <p:nvPr/>
        </p:nvSpPr>
        <p:spPr>
          <a:xfrm>
            <a:off x="318976" y="1881963"/>
            <a:ext cx="5971972" cy="5048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2000" b="1" dirty="0"/>
              <a:t>1. DEFINIÇÕES: ONDE COMEÇA</a:t>
            </a:r>
          </a:p>
        </p:txBody>
      </p:sp>
      <p:pic>
        <p:nvPicPr>
          <p:cNvPr id="14" name="Picture 13" descr="Deck of cards in front of green background">
            <a:extLst>
              <a:ext uri="{FF2B5EF4-FFF2-40B4-BE49-F238E27FC236}">
                <a16:creationId xmlns:a16="http://schemas.microsoft.com/office/drawing/2014/main" id="{B9EDC04C-4D7F-CE8E-E5C1-8A0DD6EBF3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7" t="10428" r="40596" b="13710"/>
          <a:stretch>
            <a:fillRect/>
          </a:stretch>
        </p:blipFill>
        <p:spPr>
          <a:xfrm>
            <a:off x="318976" y="2522964"/>
            <a:ext cx="1518777" cy="13632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EF4FFD0-4BDB-5390-2210-583785D033C1}"/>
              </a:ext>
            </a:extLst>
          </p:cNvPr>
          <p:cNvSpPr txBox="1"/>
          <p:nvPr/>
        </p:nvSpPr>
        <p:spPr>
          <a:xfrm>
            <a:off x="225961" y="3956730"/>
            <a:ext cx="1704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</a:rPr>
              <a:t>J</a:t>
            </a:r>
            <a:r>
              <a:rPr lang="en-PT" sz="1600" b="1" dirty="0">
                <a:solidFill>
                  <a:schemeClr val="bg1"/>
                </a:solidFill>
              </a:rPr>
              <a:t>OGO DE AZAR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C4341B-A96B-C75D-F012-27F3AEBEF634}"/>
              </a:ext>
            </a:extLst>
          </p:cNvPr>
          <p:cNvSpPr txBox="1"/>
          <p:nvPr/>
        </p:nvSpPr>
        <p:spPr>
          <a:xfrm>
            <a:off x="154661" y="4365756"/>
            <a:ext cx="18474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dirty="0">
                <a:solidFill>
                  <a:schemeClr val="bg1"/>
                </a:solidFill>
              </a:rPr>
              <a:t>Resultado determinado predominantemente pelo acaso.</a:t>
            </a:r>
          </a:p>
        </p:txBody>
      </p:sp>
      <p:pic>
        <p:nvPicPr>
          <p:cNvPr id="21" name="Picture 20" descr="Origami paper brain">
            <a:extLst>
              <a:ext uri="{FF2B5EF4-FFF2-40B4-BE49-F238E27FC236}">
                <a16:creationId xmlns:a16="http://schemas.microsoft.com/office/drawing/2014/main" id="{2140813D-CBD0-D745-F63A-6988CD619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54" t="27441" r="23202" b="25882"/>
          <a:stretch>
            <a:fillRect/>
          </a:stretch>
        </p:blipFill>
        <p:spPr>
          <a:xfrm>
            <a:off x="2418906" y="2522963"/>
            <a:ext cx="1689395" cy="136323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FB3095F-D174-252A-9B95-B66B4E5A874A}"/>
              </a:ext>
            </a:extLst>
          </p:cNvPr>
          <p:cNvSpPr txBox="1"/>
          <p:nvPr/>
        </p:nvSpPr>
        <p:spPr>
          <a:xfrm>
            <a:off x="2116301" y="3956730"/>
            <a:ext cx="23773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600" b="1" dirty="0">
                <a:solidFill>
                  <a:schemeClr val="bg1"/>
                </a:solidFill>
              </a:rPr>
              <a:t>JOGO DE HABILIDADE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EC265C-9E41-1093-A8F2-5F557C210EDA}"/>
              </a:ext>
            </a:extLst>
          </p:cNvPr>
          <p:cNvSpPr txBox="1"/>
          <p:nvPr/>
        </p:nvSpPr>
        <p:spPr>
          <a:xfrm>
            <a:off x="2302361" y="4295284"/>
            <a:ext cx="19317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dirty="0">
                <a:solidFill>
                  <a:schemeClr val="bg1"/>
                </a:solidFill>
              </a:rPr>
              <a:t>Resultado determinado predominantemente pela competência do jogador.</a:t>
            </a:r>
          </a:p>
        </p:txBody>
      </p:sp>
      <p:pic>
        <p:nvPicPr>
          <p:cNvPr id="25" name="Picture 24" descr="Football in the middle of a road">
            <a:extLst>
              <a:ext uri="{FF2B5EF4-FFF2-40B4-BE49-F238E27FC236}">
                <a16:creationId xmlns:a16="http://schemas.microsoft.com/office/drawing/2014/main" id="{F7A57CAC-0CB5-2C51-A970-A6C00061F3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78" t="20305" r="17445" b="36938"/>
          <a:stretch>
            <a:fillRect/>
          </a:stretch>
        </p:blipFill>
        <p:spPr>
          <a:xfrm>
            <a:off x="4839192" y="2482622"/>
            <a:ext cx="1459105" cy="137368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7047900-20AC-5F59-75ED-7CD1B2740C7A}"/>
              </a:ext>
            </a:extLst>
          </p:cNvPr>
          <p:cNvSpPr txBox="1"/>
          <p:nvPr/>
        </p:nvSpPr>
        <p:spPr>
          <a:xfrm>
            <a:off x="4551894" y="3956730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600" b="1" dirty="0">
                <a:solidFill>
                  <a:schemeClr val="bg1"/>
                </a:solidFill>
              </a:rPr>
              <a:t>APOSTAS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7B4100-2D75-7E00-598F-E7C4613D832D}"/>
              </a:ext>
            </a:extLst>
          </p:cNvPr>
          <p:cNvSpPr txBox="1"/>
          <p:nvPr/>
        </p:nvSpPr>
        <p:spPr>
          <a:xfrm>
            <a:off x="4426959" y="4295284"/>
            <a:ext cx="23773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dirty="0">
                <a:solidFill>
                  <a:schemeClr val="bg1"/>
                </a:solidFill>
              </a:rPr>
              <a:t>Previsão sobre eventos futurros, muitas vezes com sensação de influência no resultado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7459580-FDA8-1A5D-14C9-145CF6EE1A9B}"/>
              </a:ext>
            </a:extLst>
          </p:cNvPr>
          <p:cNvSpPr/>
          <p:nvPr/>
        </p:nvSpPr>
        <p:spPr>
          <a:xfrm>
            <a:off x="7073153" y="1881963"/>
            <a:ext cx="4975412" cy="504825"/>
          </a:xfrm>
          <a:prstGeom prst="roundRect">
            <a:avLst/>
          </a:prstGeom>
          <a:solidFill>
            <a:srgbClr val="FF00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2000" b="1" dirty="0"/>
              <a:t>2. NÃO É APENAS COMPORTAMENTO</a:t>
            </a:r>
          </a:p>
        </p:txBody>
      </p:sp>
      <p:pic>
        <p:nvPicPr>
          <p:cNvPr id="29" name="Imagem 6">
            <a:extLst>
              <a:ext uri="{FF2B5EF4-FFF2-40B4-BE49-F238E27FC236}">
                <a16:creationId xmlns:a16="http://schemas.microsoft.com/office/drawing/2014/main" id="{6CE9C366-2C52-8994-2A2A-AC2DCE9D38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4656" y="2384535"/>
            <a:ext cx="3672405" cy="3665075"/>
          </a:xfrm>
          <a:prstGeom prst="rect">
            <a:avLst/>
          </a:prstGeom>
        </p:spPr>
      </p:pic>
      <p:pic>
        <p:nvPicPr>
          <p:cNvPr id="37" name="Imagem 8">
            <a:extLst>
              <a:ext uri="{FF2B5EF4-FFF2-40B4-BE49-F238E27FC236}">
                <a16:creationId xmlns:a16="http://schemas.microsoft.com/office/drawing/2014/main" id="{FB1CC6C8-10FC-B901-5B31-630908C97F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13" y="6190985"/>
            <a:ext cx="4746179" cy="500573"/>
          </a:xfrm>
          <a:prstGeom prst="rect">
            <a:avLst/>
          </a:prstGeom>
        </p:spPr>
      </p:pic>
      <p:sp>
        <p:nvSpPr>
          <p:cNvPr id="38" name="CaixaDeTexto 10">
            <a:extLst>
              <a:ext uri="{FF2B5EF4-FFF2-40B4-BE49-F238E27FC236}">
                <a16:creationId xmlns:a16="http://schemas.microsoft.com/office/drawing/2014/main" id="{DC11D2CB-48C5-1542-6CB6-778237B49223}"/>
              </a:ext>
            </a:extLst>
          </p:cNvPr>
          <p:cNvSpPr txBox="1"/>
          <p:nvPr/>
        </p:nvSpPr>
        <p:spPr>
          <a:xfrm>
            <a:off x="6538913" y="6125545"/>
            <a:ext cx="7833360" cy="25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PT" sz="1000" i="1" kern="100" dirty="0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pt-PT" sz="1000" i="1" kern="100" dirty="0" err="1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The</a:t>
            </a:r>
            <a:r>
              <a:rPr lang="pt-PT" sz="1000" i="1" kern="100" dirty="0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 Lancet </a:t>
            </a:r>
            <a:r>
              <a:rPr lang="pt-PT" sz="1000" i="1" kern="100" dirty="0" err="1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Public</a:t>
            </a:r>
            <a:r>
              <a:rPr lang="pt-PT" sz="1000" i="1" kern="100" dirty="0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pt-PT" sz="1000" i="1" kern="100" dirty="0" err="1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Health</a:t>
            </a:r>
            <a:r>
              <a:rPr lang="pt-PT" sz="1000" i="1" kern="100" dirty="0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, 2021; </a:t>
            </a:r>
            <a:r>
              <a:rPr lang="pt-PT" sz="1000" i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Caroline N. </a:t>
            </a:r>
            <a:r>
              <a:rPr lang="pt-PT" sz="1000" i="1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Nguyen</a:t>
            </a:r>
            <a:r>
              <a:rPr lang="pt-PT" sz="1000" i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, 2022</a:t>
            </a:r>
            <a:r>
              <a:rPr lang="pt-PT" sz="1000" i="1" kern="100" dirty="0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 e </a:t>
            </a:r>
            <a:r>
              <a:rPr lang="pt-PT" sz="1000" i="1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Wardle</a:t>
            </a:r>
            <a:r>
              <a:rPr lang="pt-PT" sz="1000" i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pt-PT" sz="1000" i="1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et</a:t>
            </a:r>
            <a:r>
              <a:rPr lang="pt-PT" sz="1000" i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 al., 2024)</a:t>
            </a:r>
            <a:endParaRPr lang="pt-PT" sz="1000" i="1" kern="100" dirty="0">
              <a:solidFill>
                <a:schemeClr val="bg1"/>
              </a:solidFill>
              <a:effectLst/>
              <a:latin typeface="+mn-lt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454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6C364-33E8-0DBE-B881-CE18B2A9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1CF0B2-5F72-A708-23DB-3EF090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  <p:pic>
        <p:nvPicPr>
          <p:cNvPr id="17" name="Picture 16" descr="image-822e6a41e76fab50dc285db3be1fb29d.jpg">
            <a:extLst>
              <a:ext uri="{FF2B5EF4-FFF2-40B4-BE49-F238E27FC236}">
                <a16:creationId xmlns:a16="http://schemas.microsoft.com/office/drawing/2014/main" id="{900C4FE8-927F-CD39-0B5A-230E4226A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446" y="1318902"/>
            <a:ext cx="4639141" cy="3841405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A0AACD15-3B6B-0A2A-B9CE-BE5772EC4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103" y="229566"/>
            <a:ext cx="10588752" cy="713232"/>
          </a:xfrm>
        </p:spPr>
        <p:txBody>
          <a:bodyPr wrap="square" lIns="18288" tIns="9144" rIns="18288" bIns="914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2800" b="1" cap="none" dirty="0">
                <a:solidFill>
                  <a:srgbClr val="121212"/>
                </a:solidFill>
              </a:rPr>
              <a:t>O </a:t>
            </a:r>
            <a:r>
              <a:rPr lang="en-GB" sz="2800" b="1" cap="none" dirty="0" err="1">
                <a:solidFill>
                  <a:srgbClr val="121212"/>
                </a:solidFill>
              </a:rPr>
              <a:t>jogo</a:t>
            </a:r>
            <a:r>
              <a:rPr lang="en-GB" sz="2800" b="1" cap="none" dirty="0">
                <a:solidFill>
                  <a:srgbClr val="121212"/>
                </a:solidFill>
              </a:rPr>
              <a:t> </a:t>
            </a:r>
            <a:r>
              <a:rPr lang="en-GB" sz="2800" b="1" cap="none" dirty="0" err="1">
                <a:solidFill>
                  <a:srgbClr val="121212"/>
                </a:solidFill>
              </a:rPr>
              <a:t>treina</a:t>
            </a:r>
            <a:r>
              <a:rPr lang="en-GB" sz="2800" b="1" cap="none" dirty="0">
                <a:solidFill>
                  <a:srgbClr val="121212"/>
                </a:solidFill>
              </a:rPr>
              <a:t> o </a:t>
            </a:r>
            <a:r>
              <a:rPr lang="en-GB" sz="2800" b="1" cap="none" dirty="0" err="1">
                <a:solidFill>
                  <a:srgbClr val="121212"/>
                </a:solidFill>
              </a:rPr>
              <a:t>cérebro</a:t>
            </a:r>
            <a:r>
              <a:rPr lang="en-GB" sz="2800" b="1" cap="none" dirty="0">
                <a:solidFill>
                  <a:srgbClr val="121212"/>
                </a:solidFill>
              </a:rPr>
              <a:t> a </a:t>
            </a:r>
            <a:r>
              <a:rPr lang="en-GB" sz="2800" b="1" cap="none" dirty="0" err="1">
                <a:solidFill>
                  <a:srgbClr val="121212"/>
                </a:solidFill>
              </a:rPr>
              <a:t>perseguir</a:t>
            </a:r>
            <a:r>
              <a:rPr lang="en-GB" sz="2800" b="1" cap="none" dirty="0">
                <a:solidFill>
                  <a:srgbClr val="121212"/>
                </a:solidFill>
              </a:rPr>
              <a:t> a </a:t>
            </a:r>
            <a:r>
              <a:rPr lang="en-GB" sz="2800" b="1" cap="none" dirty="0" err="1">
                <a:solidFill>
                  <a:srgbClr val="121212"/>
                </a:solidFill>
              </a:rPr>
              <a:t>próxima</a:t>
            </a:r>
            <a:r>
              <a:rPr lang="en-GB" sz="2800" b="1" cap="none" dirty="0">
                <a:solidFill>
                  <a:srgbClr val="121212"/>
                </a:solidFill>
              </a:rPr>
              <a:t> </a:t>
            </a:r>
            <a:r>
              <a:rPr lang="en-GB" sz="2800" b="1" cap="none" dirty="0" err="1">
                <a:solidFill>
                  <a:srgbClr val="121212"/>
                </a:solidFill>
              </a:rPr>
              <a:t>recompensa</a:t>
            </a:r>
            <a:endParaRPr lang="en-GB" sz="2800" b="1" cap="none" dirty="0">
              <a:solidFill>
                <a:srgbClr val="12121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462360-CDD8-485C-94B0-6935F278CC25}"/>
              </a:ext>
            </a:extLst>
          </p:cNvPr>
          <p:cNvSpPr txBox="1"/>
          <p:nvPr/>
        </p:nvSpPr>
        <p:spPr>
          <a:xfrm>
            <a:off x="563879" y="1157444"/>
            <a:ext cx="5577840" cy="57246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dirty="0">
                <a:solidFill>
                  <a:srgbClr val="505050"/>
                </a:solidFill>
              </a:rPr>
              <a:t>Não </a:t>
            </a:r>
            <a:r>
              <a:rPr b="0" i="0" dirty="0" err="1">
                <a:solidFill>
                  <a:srgbClr val="505050"/>
                </a:solidFill>
              </a:rPr>
              <a:t>é</a:t>
            </a:r>
            <a:r>
              <a:rPr b="0" i="0" dirty="0">
                <a:solidFill>
                  <a:srgbClr val="505050"/>
                </a:solidFill>
              </a:rPr>
              <a:t> </a:t>
            </a:r>
            <a:r>
              <a:rPr b="0" i="0" dirty="0" err="1">
                <a:solidFill>
                  <a:srgbClr val="505050"/>
                </a:solidFill>
              </a:rPr>
              <a:t>apenas</a:t>
            </a:r>
            <a:r>
              <a:rPr b="0" i="0" dirty="0">
                <a:solidFill>
                  <a:srgbClr val="505050"/>
                </a:solidFill>
              </a:rPr>
              <a:t> “</a:t>
            </a:r>
            <a:r>
              <a:rPr b="0" i="0" dirty="0" err="1">
                <a:solidFill>
                  <a:srgbClr val="505050"/>
                </a:solidFill>
              </a:rPr>
              <a:t>prazer</a:t>
            </a:r>
            <a:r>
              <a:rPr b="0" i="0" dirty="0">
                <a:solidFill>
                  <a:srgbClr val="505050"/>
                </a:solidFill>
              </a:rPr>
              <a:t>”: </a:t>
            </a:r>
            <a:r>
              <a:rPr b="0" i="0" dirty="0" err="1">
                <a:solidFill>
                  <a:srgbClr val="505050"/>
                </a:solidFill>
              </a:rPr>
              <a:t>é</a:t>
            </a:r>
            <a:r>
              <a:rPr b="0" i="0" dirty="0">
                <a:solidFill>
                  <a:srgbClr val="505050"/>
                </a:solidFill>
              </a:rPr>
              <a:t> </a:t>
            </a:r>
            <a:r>
              <a:rPr b="0" i="0" dirty="0" err="1">
                <a:solidFill>
                  <a:srgbClr val="505050"/>
                </a:solidFill>
              </a:rPr>
              <a:t>aprendizagem</a:t>
            </a:r>
            <a:r>
              <a:rPr b="0" i="0" dirty="0">
                <a:solidFill>
                  <a:srgbClr val="505050"/>
                </a:solidFill>
              </a:rPr>
              <a:t> </a:t>
            </a:r>
            <a:r>
              <a:rPr b="0" i="0" dirty="0" err="1">
                <a:solidFill>
                  <a:srgbClr val="505050"/>
                </a:solidFill>
              </a:rPr>
              <a:t>por</a:t>
            </a:r>
            <a:r>
              <a:rPr b="0" i="0" dirty="0">
                <a:solidFill>
                  <a:srgbClr val="505050"/>
                </a:solidFill>
              </a:rPr>
              <a:t> </a:t>
            </a:r>
            <a:r>
              <a:rPr b="0" i="0" dirty="0" err="1">
                <a:solidFill>
                  <a:srgbClr val="505050"/>
                </a:solidFill>
              </a:rPr>
              <a:t>antecipação</a:t>
            </a:r>
            <a:r>
              <a:rPr b="0" i="0" dirty="0">
                <a:solidFill>
                  <a:srgbClr val="505050"/>
                </a:solidFill>
              </a:rPr>
              <a:t> e </a:t>
            </a:r>
            <a:r>
              <a:rPr b="0" i="0" dirty="0" err="1">
                <a:solidFill>
                  <a:srgbClr val="505050"/>
                </a:solidFill>
              </a:rPr>
              <a:t>erro</a:t>
            </a:r>
            <a:r>
              <a:rPr b="0" i="0" dirty="0">
                <a:solidFill>
                  <a:srgbClr val="505050"/>
                </a:solidFill>
              </a:rPr>
              <a:t> de </a:t>
            </a:r>
            <a:r>
              <a:rPr b="0" i="0" dirty="0" err="1">
                <a:solidFill>
                  <a:srgbClr val="505050"/>
                </a:solidFill>
              </a:rPr>
              <a:t>previsão</a:t>
            </a:r>
            <a:r>
              <a:rPr b="0" i="0" dirty="0">
                <a:solidFill>
                  <a:srgbClr val="505050"/>
                </a:solidFill>
              </a:rPr>
              <a:t>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0F497E-74CA-0DC4-52F9-603B142B9F8F}"/>
              </a:ext>
            </a:extLst>
          </p:cNvPr>
          <p:cNvSpPr/>
          <p:nvPr/>
        </p:nvSpPr>
        <p:spPr>
          <a:xfrm>
            <a:off x="518159" y="2066199"/>
            <a:ext cx="45720" cy="786384"/>
          </a:xfrm>
          <a:prstGeom prst="rect">
            <a:avLst/>
          </a:prstGeom>
          <a:solidFill>
            <a:srgbClr val="D39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725619-5E44-4179-B66F-65F99A7FFC5C}"/>
              </a:ext>
            </a:extLst>
          </p:cNvPr>
          <p:cNvSpPr txBox="1"/>
          <p:nvPr/>
        </p:nvSpPr>
        <p:spPr>
          <a:xfrm>
            <a:off x="673227" y="2049242"/>
            <a:ext cx="41148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>
                <a:solidFill>
                  <a:srgbClr val="D3912F"/>
                </a:solidFill>
              </a:rP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769C7F-EFF3-678C-2489-89846FB9B1A1}"/>
              </a:ext>
            </a:extLst>
          </p:cNvPr>
          <p:cNvSpPr txBox="1"/>
          <p:nvPr/>
        </p:nvSpPr>
        <p:spPr>
          <a:xfrm>
            <a:off x="1043939" y="1986785"/>
            <a:ext cx="452628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 err="1">
                <a:solidFill>
                  <a:srgbClr val="121212"/>
                </a:solidFill>
              </a:rPr>
              <a:t>Antecipação</a:t>
            </a:r>
            <a:r>
              <a:rPr sz="1900" b="1" i="0" dirty="0">
                <a:solidFill>
                  <a:srgbClr val="121212"/>
                </a:solidFill>
              </a:rPr>
              <a:t> + </a:t>
            </a:r>
            <a:r>
              <a:rPr sz="1900" b="1" i="0" dirty="0" err="1">
                <a:solidFill>
                  <a:srgbClr val="121212"/>
                </a:solidFill>
              </a:rPr>
              <a:t>incerteza</a:t>
            </a:r>
            <a:endParaRPr sz="1900" b="1" i="0" dirty="0">
              <a:solidFill>
                <a:srgbClr val="12121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27E6E5-7079-9669-D140-6888C6352EFF}"/>
              </a:ext>
            </a:extLst>
          </p:cNvPr>
          <p:cNvSpPr txBox="1"/>
          <p:nvPr/>
        </p:nvSpPr>
        <p:spPr>
          <a:xfrm>
            <a:off x="780786" y="2360138"/>
            <a:ext cx="5998832" cy="84946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dirty="0" err="1">
                <a:solidFill>
                  <a:srgbClr val="505050"/>
                </a:solidFill>
              </a:rPr>
              <a:t>Pistas</a:t>
            </a:r>
            <a:r>
              <a:rPr b="0" i="0" dirty="0">
                <a:solidFill>
                  <a:srgbClr val="505050"/>
                </a:solidFill>
              </a:rPr>
              <a:t> do </a:t>
            </a:r>
            <a:r>
              <a:rPr b="0" i="0" dirty="0" err="1">
                <a:solidFill>
                  <a:srgbClr val="505050"/>
                </a:solidFill>
              </a:rPr>
              <a:t>jogo</a:t>
            </a:r>
            <a:r>
              <a:rPr b="0" i="0" dirty="0">
                <a:solidFill>
                  <a:srgbClr val="505050"/>
                </a:solidFill>
              </a:rPr>
              <a:t> e </a:t>
            </a:r>
            <a:r>
              <a:rPr b="0" i="0" dirty="0" err="1">
                <a:solidFill>
                  <a:srgbClr val="505050"/>
                </a:solidFill>
              </a:rPr>
              <a:t>recompensas</a:t>
            </a:r>
            <a:r>
              <a:rPr b="0" i="0" dirty="0">
                <a:solidFill>
                  <a:srgbClr val="505050"/>
                </a:solidFill>
              </a:rPr>
              <a:t> </a:t>
            </a:r>
            <a:r>
              <a:rPr b="0" i="0" dirty="0" err="1">
                <a:solidFill>
                  <a:srgbClr val="505050"/>
                </a:solidFill>
              </a:rPr>
              <a:t>imprevisíveis</a:t>
            </a:r>
            <a:r>
              <a:rPr b="0" i="0" dirty="0">
                <a:solidFill>
                  <a:srgbClr val="505050"/>
                </a:solidFill>
              </a:rPr>
              <a:t> </a:t>
            </a:r>
            <a:r>
              <a:rPr b="0" i="0" dirty="0" err="1">
                <a:solidFill>
                  <a:srgbClr val="505050"/>
                </a:solidFill>
              </a:rPr>
              <a:t>recrutam</a:t>
            </a:r>
            <a:r>
              <a:rPr b="0" i="0" dirty="0">
                <a:solidFill>
                  <a:srgbClr val="505050"/>
                </a:solidFill>
              </a:rPr>
              <a:t> o </a:t>
            </a:r>
            <a:r>
              <a:rPr b="0" i="0" dirty="0" err="1">
                <a:solidFill>
                  <a:srgbClr val="505050"/>
                </a:solidFill>
              </a:rPr>
              <a:t>circuito</a:t>
            </a:r>
            <a:r>
              <a:rPr b="0" i="0" dirty="0">
                <a:solidFill>
                  <a:srgbClr val="505050"/>
                </a:solidFill>
              </a:rPr>
              <a:t> de </a:t>
            </a:r>
            <a:r>
              <a:rPr b="0" i="0" dirty="0" err="1">
                <a:solidFill>
                  <a:srgbClr val="505050"/>
                </a:solidFill>
              </a:rPr>
              <a:t>recompensa</a:t>
            </a:r>
            <a:r>
              <a:rPr b="0" i="0" dirty="0">
                <a:solidFill>
                  <a:srgbClr val="505050"/>
                </a:solidFill>
              </a:rPr>
              <a:t> antes de o </a:t>
            </a:r>
            <a:r>
              <a:rPr b="0" i="0" dirty="0" err="1">
                <a:solidFill>
                  <a:srgbClr val="505050"/>
                </a:solidFill>
              </a:rPr>
              <a:t>resultado</a:t>
            </a:r>
            <a:r>
              <a:rPr b="0" i="0" dirty="0">
                <a:solidFill>
                  <a:srgbClr val="505050"/>
                </a:solidFill>
              </a:rPr>
              <a:t> ser </a:t>
            </a:r>
            <a:r>
              <a:rPr b="0" i="0" dirty="0" err="1">
                <a:solidFill>
                  <a:srgbClr val="505050"/>
                </a:solidFill>
              </a:rPr>
              <a:t>conhecido</a:t>
            </a:r>
            <a:r>
              <a:rPr b="0" i="0" dirty="0">
                <a:solidFill>
                  <a:srgbClr val="505050"/>
                </a:solidFill>
              </a:rPr>
              <a:t>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541761-F620-69D5-EDE5-DFA20FF8C2E1}"/>
              </a:ext>
            </a:extLst>
          </p:cNvPr>
          <p:cNvSpPr/>
          <p:nvPr/>
        </p:nvSpPr>
        <p:spPr>
          <a:xfrm>
            <a:off x="501014" y="3433494"/>
            <a:ext cx="45720" cy="786384"/>
          </a:xfrm>
          <a:prstGeom prst="rect">
            <a:avLst/>
          </a:prstGeom>
          <a:solidFill>
            <a:srgbClr val="D39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C00ABF-EC54-380A-4B9A-370191D2F927}"/>
              </a:ext>
            </a:extLst>
          </p:cNvPr>
          <p:cNvSpPr txBox="1"/>
          <p:nvPr/>
        </p:nvSpPr>
        <p:spPr>
          <a:xfrm>
            <a:off x="632459" y="3385487"/>
            <a:ext cx="41148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3912F"/>
                </a:solidFill>
              </a:rPr>
              <a:t>02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A35BA1-2D9D-EF63-5991-C3E456E10BA6}"/>
              </a:ext>
            </a:extLst>
          </p:cNvPr>
          <p:cNvSpPr txBox="1"/>
          <p:nvPr/>
        </p:nvSpPr>
        <p:spPr>
          <a:xfrm>
            <a:off x="1129664" y="3377042"/>
            <a:ext cx="452628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 err="1">
                <a:solidFill>
                  <a:srgbClr val="121212"/>
                </a:solidFill>
              </a:rPr>
              <a:t>Sinal</a:t>
            </a:r>
            <a:r>
              <a:rPr sz="1900" b="1" i="0" dirty="0">
                <a:solidFill>
                  <a:srgbClr val="121212"/>
                </a:solidFill>
              </a:rPr>
              <a:t> </a:t>
            </a:r>
            <a:r>
              <a:rPr sz="1900" b="1" i="0" dirty="0" err="1">
                <a:solidFill>
                  <a:srgbClr val="121212"/>
                </a:solidFill>
              </a:rPr>
              <a:t>dopaminérgico</a:t>
            </a:r>
            <a:endParaRPr sz="1900" b="1" i="0" dirty="0">
              <a:solidFill>
                <a:srgbClr val="121212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73B255-687C-37E6-FCCC-E8661E94896A}"/>
              </a:ext>
            </a:extLst>
          </p:cNvPr>
          <p:cNvSpPr txBox="1"/>
          <p:nvPr/>
        </p:nvSpPr>
        <p:spPr>
          <a:xfrm>
            <a:off x="780786" y="3748227"/>
            <a:ext cx="5844526" cy="84946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dirty="0">
                <a:solidFill>
                  <a:srgbClr val="505050"/>
                </a:solidFill>
              </a:rPr>
              <a:t>A </a:t>
            </a:r>
            <a:r>
              <a:rPr b="0" i="0" dirty="0" err="1">
                <a:solidFill>
                  <a:srgbClr val="505050"/>
                </a:solidFill>
              </a:rPr>
              <a:t>dopamina</a:t>
            </a:r>
            <a:r>
              <a:rPr b="0" i="0" dirty="0">
                <a:solidFill>
                  <a:srgbClr val="505050"/>
                </a:solidFill>
              </a:rPr>
              <a:t> </a:t>
            </a:r>
            <a:r>
              <a:rPr b="0" i="0" dirty="0" err="1">
                <a:solidFill>
                  <a:srgbClr val="505050"/>
                </a:solidFill>
              </a:rPr>
              <a:t>ajuda</a:t>
            </a:r>
            <a:r>
              <a:rPr b="0" i="0" dirty="0">
                <a:solidFill>
                  <a:srgbClr val="505050"/>
                </a:solidFill>
              </a:rPr>
              <a:t> a </a:t>
            </a:r>
            <a:r>
              <a:rPr b="0" i="0" dirty="0" err="1">
                <a:solidFill>
                  <a:srgbClr val="505050"/>
                </a:solidFill>
              </a:rPr>
              <a:t>marcar</a:t>
            </a:r>
            <a:r>
              <a:rPr b="0" i="0" dirty="0">
                <a:solidFill>
                  <a:srgbClr val="505050"/>
                </a:solidFill>
              </a:rPr>
              <a:t> </a:t>
            </a:r>
            <a:r>
              <a:rPr b="0" i="0" dirty="0" err="1">
                <a:solidFill>
                  <a:srgbClr val="505050"/>
                </a:solidFill>
              </a:rPr>
              <a:t>saliência</a:t>
            </a:r>
            <a:r>
              <a:rPr b="0" i="0" dirty="0">
                <a:solidFill>
                  <a:srgbClr val="505050"/>
                </a:solidFill>
              </a:rPr>
              <a:t> e </a:t>
            </a:r>
            <a:r>
              <a:rPr b="0" i="0" dirty="0" err="1">
                <a:solidFill>
                  <a:srgbClr val="505050"/>
                </a:solidFill>
              </a:rPr>
              <a:t>erro</a:t>
            </a:r>
            <a:r>
              <a:rPr b="0" i="0" dirty="0">
                <a:solidFill>
                  <a:srgbClr val="505050"/>
                </a:solidFill>
              </a:rPr>
              <a:t> de </a:t>
            </a:r>
            <a:r>
              <a:rPr b="0" i="0" dirty="0" err="1">
                <a:solidFill>
                  <a:srgbClr val="505050"/>
                </a:solidFill>
              </a:rPr>
              <a:t>previsão</a:t>
            </a:r>
            <a:r>
              <a:rPr b="0" i="0" dirty="0">
                <a:solidFill>
                  <a:srgbClr val="505050"/>
                </a:solidFill>
              </a:rPr>
              <a:t>: </a:t>
            </a:r>
            <a:r>
              <a:rPr b="0" i="0" dirty="0" err="1">
                <a:solidFill>
                  <a:srgbClr val="505050"/>
                </a:solidFill>
              </a:rPr>
              <a:t>resultados</a:t>
            </a:r>
            <a:r>
              <a:rPr b="0" i="0" dirty="0">
                <a:solidFill>
                  <a:srgbClr val="505050"/>
                </a:solidFill>
              </a:rPr>
              <a:t> </a:t>
            </a:r>
            <a:r>
              <a:rPr b="0" i="0" dirty="0" err="1">
                <a:solidFill>
                  <a:srgbClr val="505050"/>
                </a:solidFill>
              </a:rPr>
              <a:t>inesperados</a:t>
            </a:r>
            <a:r>
              <a:rPr b="0" i="0" dirty="0">
                <a:solidFill>
                  <a:srgbClr val="505050"/>
                </a:solidFill>
              </a:rPr>
              <a:t> </a:t>
            </a:r>
            <a:r>
              <a:rPr b="0" i="0" dirty="0" err="1">
                <a:solidFill>
                  <a:srgbClr val="505050"/>
                </a:solidFill>
              </a:rPr>
              <a:t>reforçam</a:t>
            </a:r>
            <a:r>
              <a:rPr b="0" i="0" dirty="0">
                <a:solidFill>
                  <a:srgbClr val="505050"/>
                </a:solidFill>
              </a:rPr>
              <a:t> a </a:t>
            </a:r>
            <a:r>
              <a:rPr b="0" i="0" dirty="0" err="1">
                <a:solidFill>
                  <a:srgbClr val="505050"/>
                </a:solidFill>
              </a:rPr>
              <a:t>repetição</a:t>
            </a:r>
            <a:r>
              <a:rPr b="0" i="0" dirty="0">
                <a:solidFill>
                  <a:srgbClr val="505050"/>
                </a:solidFill>
              </a:rPr>
              <a:t> da </a:t>
            </a:r>
            <a:r>
              <a:rPr b="0" i="0" dirty="0" err="1">
                <a:solidFill>
                  <a:srgbClr val="505050"/>
                </a:solidFill>
              </a:rPr>
              <a:t>aposta</a:t>
            </a:r>
            <a:r>
              <a:rPr b="0" i="0" dirty="0">
                <a:solidFill>
                  <a:srgbClr val="505050"/>
                </a:solidFill>
              </a:rPr>
              <a:t>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4887C8-3780-B7DF-611E-6E0A5A91802E}"/>
              </a:ext>
            </a:extLst>
          </p:cNvPr>
          <p:cNvSpPr/>
          <p:nvPr/>
        </p:nvSpPr>
        <p:spPr>
          <a:xfrm>
            <a:off x="518159" y="4826785"/>
            <a:ext cx="45720" cy="786384"/>
          </a:xfrm>
          <a:prstGeom prst="rect">
            <a:avLst/>
          </a:prstGeom>
          <a:solidFill>
            <a:srgbClr val="D39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86DAE5-2FD2-EDE5-6685-CCDB5FA666F0}"/>
              </a:ext>
            </a:extLst>
          </p:cNvPr>
          <p:cNvSpPr txBox="1"/>
          <p:nvPr/>
        </p:nvSpPr>
        <p:spPr>
          <a:xfrm>
            <a:off x="673227" y="4791300"/>
            <a:ext cx="41148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3912F"/>
                </a:solidFill>
              </a:rPr>
              <a:t>03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C9A7DA-6596-997E-8373-009E27E6C381}"/>
              </a:ext>
            </a:extLst>
          </p:cNvPr>
          <p:cNvSpPr txBox="1"/>
          <p:nvPr/>
        </p:nvSpPr>
        <p:spPr>
          <a:xfrm>
            <a:off x="1129664" y="4751817"/>
            <a:ext cx="452628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 err="1">
                <a:solidFill>
                  <a:srgbClr val="121212"/>
                </a:solidFill>
              </a:rPr>
              <a:t>Controlo</a:t>
            </a:r>
            <a:r>
              <a:rPr sz="1900" b="1" i="0" dirty="0">
                <a:solidFill>
                  <a:srgbClr val="121212"/>
                </a:solidFill>
              </a:rPr>
              <a:t> </a:t>
            </a:r>
            <a:r>
              <a:rPr sz="1900" b="1" i="0" dirty="0" err="1">
                <a:solidFill>
                  <a:srgbClr val="121212"/>
                </a:solidFill>
              </a:rPr>
              <a:t>menos</a:t>
            </a:r>
            <a:r>
              <a:rPr sz="1900" b="1" i="0" dirty="0">
                <a:solidFill>
                  <a:srgbClr val="121212"/>
                </a:solidFill>
              </a:rPr>
              <a:t> </a:t>
            </a:r>
            <a:r>
              <a:rPr sz="1900" b="1" i="0" dirty="0" err="1">
                <a:solidFill>
                  <a:srgbClr val="121212"/>
                </a:solidFill>
              </a:rPr>
              <a:t>eficaz</a:t>
            </a:r>
            <a:endParaRPr sz="1900" b="1" i="0" dirty="0">
              <a:solidFill>
                <a:srgbClr val="121212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3DF907-514F-F373-40AA-FEEA0F9750F0}"/>
              </a:ext>
            </a:extLst>
          </p:cNvPr>
          <p:cNvSpPr txBox="1"/>
          <p:nvPr/>
        </p:nvSpPr>
        <p:spPr>
          <a:xfrm>
            <a:off x="838198" y="5128917"/>
            <a:ext cx="5844526" cy="84946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dirty="0">
                <a:solidFill>
                  <a:srgbClr val="505050"/>
                </a:solidFill>
              </a:rPr>
              <a:t>Com a </a:t>
            </a:r>
            <a:r>
              <a:rPr b="0" i="0" dirty="0" err="1">
                <a:solidFill>
                  <a:srgbClr val="505050"/>
                </a:solidFill>
              </a:rPr>
              <a:t>repetição</a:t>
            </a:r>
            <a:r>
              <a:rPr b="0" i="0" dirty="0">
                <a:solidFill>
                  <a:srgbClr val="505050"/>
                </a:solidFill>
              </a:rPr>
              <a:t>, as </a:t>
            </a:r>
            <a:r>
              <a:rPr b="0" i="0" dirty="0" err="1">
                <a:solidFill>
                  <a:srgbClr val="505050"/>
                </a:solidFill>
              </a:rPr>
              <a:t>pistas</a:t>
            </a:r>
            <a:r>
              <a:rPr b="0" i="0" dirty="0">
                <a:solidFill>
                  <a:srgbClr val="505050"/>
                </a:solidFill>
              </a:rPr>
              <a:t> </a:t>
            </a:r>
            <a:r>
              <a:rPr b="0" i="0" dirty="0" err="1">
                <a:solidFill>
                  <a:srgbClr val="505050"/>
                </a:solidFill>
              </a:rPr>
              <a:t>ganham</a:t>
            </a:r>
            <a:r>
              <a:rPr b="0" i="0" dirty="0">
                <a:solidFill>
                  <a:srgbClr val="505050"/>
                </a:solidFill>
              </a:rPr>
              <a:t> </a:t>
            </a:r>
            <a:r>
              <a:rPr b="0" i="0" dirty="0" err="1">
                <a:solidFill>
                  <a:srgbClr val="505050"/>
                </a:solidFill>
              </a:rPr>
              <a:t>força</a:t>
            </a:r>
            <a:r>
              <a:rPr b="0" i="0" dirty="0">
                <a:solidFill>
                  <a:srgbClr val="505050"/>
                </a:solidFill>
              </a:rPr>
              <a:t> </a:t>
            </a:r>
            <a:r>
              <a:rPr b="0" i="0" dirty="0" err="1">
                <a:solidFill>
                  <a:srgbClr val="505050"/>
                </a:solidFill>
              </a:rPr>
              <a:t>motivacional</a:t>
            </a:r>
            <a:r>
              <a:rPr b="0" i="0" dirty="0">
                <a:solidFill>
                  <a:srgbClr val="505050"/>
                </a:solidFill>
              </a:rPr>
              <a:t> e o </a:t>
            </a:r>
            <a:r>
              <a:rPr b="0" i="0" dirty="0" err="1">
                <a:solidFill>
                  <a:srgbClr val="505050"/>
                </a:solidFill>
              </a:rPr>
              <a:t>controlo</a:t>
            </a:r>
            <a:r>
              <a:rPr b="0" i="0" dirty="0">
                <a:solidFill>
                  <a:srgbClr val="505050"/>
                </a:solidFill>
              </a:rPr>
              <a:t> </a:t>
            </a:r>
            <a:r>
              <a:rPr b="0" i="0" dirty="0" err="1">
                <a:solidFill>
                  <a:srgbClr val="505050"/>
                </a:solidFill>
              </a:rPr>
              <a:t>pré</a:t>
            </a:r>
            <a:r>
              <a:rPr b="0" i="0" dirty="0">
                <a:solidFill>
                  <a:srgbClr val="505050"/>
                </a:solidFill>
              </a:rPr>
              <a:t>-frontal </a:t>
            </a:r>
            <a:r>
              <a:rPr b="0" i="0" dirty="0" err="1">
                <a:solidFill>
                  <a:srgbClr val="505050"/>
                </a:solidFill>
              </a:rPr>
              <a:t>sobre</a:t>
            </a:r>
            <a:r>
              <a:rPr b="0" i="0" dirty="0">
                <a:solidFill>
                  <a:srgbClr val="505050"/>
                </a:solidFill>
              </a:rPr>
              <a:t> </a:t>
            </a:r>
            <a:r>
              <a:rPr b="0" i="0" dirty="0" err="1">
                <a:solidFill>
                  <a:srgbClr val="505050"/>
                </a:solidFill>
              </a:rPr>
              <a:t>impulsos</a:t>
            </a:r>
            <a:r>
              <a:rPr b="0" i="0" dirty="0">
                <a:solidFill>
                  <a:srgbClr val="505050"/>
                </a:solidFill>
              </a:rPr>
              <a:t> e </a:t>
            </a:r>
            <a:r>
              <a:rPr b="0" i="0" dirty="0" err="1">
                <a:solidFill>
                  <a:srgbClr val="505050"/>
                </a:solidFill>
              </a:rPr>
              <a:t>decisões</a:t>
            </a:r>
            <a:r>
              <a:rPr b="0" i="0" dirty="0">
                <a:solidFill>
                  <a:srgbClr val="505050"/>
                </a:solidFill>
              </a:rPr>
              <a:t> </a:t>
            </a:r>
            <a:r>
              <a:rPr b="0" i="0" dirty="0" err="1">
                <a:solidFill>
                  <a:srgbClr val="505050"/>
                </a:solidFill>
              </a:rPr>
              <a:t>torna</a:t>
            </a:r>
            <a:r>
              <a:rPr b="0" i="0" dirty="0">
                <a:solidFill>
                  <a:srgbClr val="505050"/>
                </a:solidFill>
              </a:rPr>
              <a:t>-se </a:t>
            </a:r>
            <a:r>
              <a:rPr b="0" i="0" dirty="0" err="1">
                <a:solidFill>
                  <a:srgbClr val="505050"/>
                </a:solidFill>
              </a:rPr>
              <a:t>menos</a:t>
            </a:r>
            <a:r>
              <a:rPr b="0" i="0" dirty="0">
                <a:solidFill>
                  <a:srgbClr val="505050"/>
                </a:solidFill>
              </a:rPr>
              <a:t> </a:t>
            </a:r>
            <a:r>
              <a:rPr b="0" i="0" dirty="0" err="1">
                <a:solidFill>
                  <a:srgbClr val="505050"/>
                </a:solidFill>
              </a:rPr>
              <a:t>eficaz</a:t>
            </a:r>
            <a:r>
              <a:rPr b="0" i="0" dirty="0">
                <a:solidFill>
                  <a:srgbClr val="505050"/>
                </a:solidFill>
              </a:rPr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A95D0A-39C6-424A-4C8C-F8C26B4626CA}"/>
              </a:ext>
            </a:extLst>
          </p:cNvPr>
          <p:cNvSpPr txBox="1"/>
          <p:nvPr/>
        </p:nvSpPr>
        <p:spPr>
          <a:xfrm>
            <a:off x="7160895" y="5212076"/>
            <a:ext cx="466344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dirty="0">
                <a:solidFill>
                  <a:srgbClr val="505050"/>
                </a:solidFill>
              </a:rPr>
              <a:t>1 </a:t>
            </a:r>
            <a:r>
              <a:rPr sz="1050" b="1" i="0" dirty="0" err="1">
                <a:solidFill>
                  <a:srgbClr val="505050"/>
                </a:solidFill>
              </a:rPr>
              <a:t>controlo</a:t>
            </a:r>
            <a:r>
              <a:rPr sz="1050" b="1" i="0" dirty="0">
                <a:solidFill>
                  <a:srgbClr val="505050"/>
                </a:solidFill>
              </a:rPr>
              <a:t> </a:t>
            </a:r>
            <a:r>
              <a:rPr sz="1050" b="1" i="0" dirty="0" err="1">
                <a:solidFill>
                  <a:srgbClr val="505050"/>
                </a:solidFill>
              </a:rPr>
              <a:t>pré</a:t>
            </a:r>
            <a:r>
              <a:rPr sz="1050" b="1" i="0" dirty="0">
                <a:solidFill>
                  <a:srgbClr val="505050"/>
                </a:solidFill>
              </a:rPr>
              <a:t>-frontal   •   2 </a:t>
            </a:r>
            <a:r>
              <a:rPr sz="1050" b="1" i="0" dirty="0" err="1">
                <a:solidFill>
                  <a:srgbClr val="505050"/>
                </a:solidFill>
              </a:rPr>
              <a:t>recompensa</a:t>
            </a:r>
            <a:r>
              <a:rPr sz="1050" b="1" i="0" dirty="0">
                <a:solidFill>
                  <a:srgbClr val="505050"/>
                </a:solidFill>
              </a:rPr>
              <a:t>/</a:t>
            </a:r>
            <a:r>
              <a:rPr sz="1050" b="1" i="0" dirty="0" err="1">
                <a:solidFill>
                  <a:srgbClr val="505050"/>
                </a:solidFill>
              </a:rPr>
              <a:t>estriado</a:t>
            </a:r>
            <a:r>
              <a:rPr sz="1050" b="1" i="0" dirty="0">
                <a:solidFill>
                  <a:srgbClr val="505050"/>
                </a:solidFill>
              </a:rPr>
              <a:t>   •   3 </a:t>
            </a:r>
            <a:r>
              <a:rPr sz="1050" b="1" i="0" dirty="0" err="1">
                <a:solidFill>
                  <a:srgbClr val="505050"/>
                </a:solidFill>
              </a:rPr>
              <a:t>sinal</a:t>
            </a:r>
            <a:r>
              <a:rPr sz="1050" b="1" i="0" dirty="0">
                <a:solidFill>
                  <a:srgbClr val="505050"/>
                </a:solidFill>
              </a:rPr>
              <a:t> </a:t>
            </a:r>
            <a:r>
              <a:rPr sz="1050" b="1" i="0" dirty="0" err="1">
                <a:solidFill>
                  <a:srgbClr val="505050"/>
                </a:solidFill>
              </a:rPr>
              <a:t>mesolímbico</a:t>
            </a:r>
            <a:endParaRPr sz="1050" b="1" i="0" dirty="0">
              <a:solidFill>
                <a:srgbClr val="505050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282DE28-E517-D8E7-A1A8-BF26F416C39E}"/>
              </a:ext>
            </a:extLst>
          </p:cNvPr>
          <p:cNvSpPr/>
          <p:nvPr/>
        </p:nvSpPr>
        <p:spPr>
          <a:xfrm>
            <a:off x="7682971" y="2288961"/>
            <a:ext cx="310896" cy="310896"/>
          </a:xfrm>
          <a:prstGeom prst="ellipse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r>
              <a:rPr lang="en-PT"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D67CFD9-F685-657D-A8FA-6EB32271AF11}"/>
              </a:ext>
            </a:extLst>
          </p:cNvPr>
          <p:cNvSpPr/>
          <p:nvPr/>
        </p:nvSpPr>
        <p:spPr>
          <a:xfrm>
            <a:off x="8829675" y="2913770"/>
            <a:ext cx="310896" cy="310896"/>
          </a:xfrm>
          <a:prstGeom prst="ellipse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1F18059-ECC6-8473-E24C-7C4838A59EFC}"/>
              </a:ext>
            </a:extLst>
          </p:cNvPr>
          <p:cNvSpPr/>
          <p:nvPr/>
        </p:nvSpPr>
        <p:spPr>
          <a:xfrm>
            <a:off x="9780080" y="3310506"/>
            <a:ext cx="310896" cy="310896"/>
          </a:xfrm>
          <a:prstGeom prst="ellipse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r>
              <a:rPr lang="en-PT" sz="1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EEFEB2-E759-B29A-BEE2-E2ED9B27422B}"/>
              </a:ext>
            </a:extLst>
          </p:cNvPr>
          <p:cNvSpPr txBox="1"/>
          <p:nvPr/>
        </p:nvSpPr>
        <p:spPr>
          <a:xfrm>
            <a:off x="673227" y="6130366"/>
            <a:ext cx="10588752" cy="2369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 dirty="0" err="1">
                <a:solidFill>
                  <a:srgbClr val="121212"/>
                </a:solidFill>
              </a:rPr>
              <a:t>Resultado</a:t>
            </a:r>
            <a:r>
              <a:rPr sz="1420" b="1" i="0" dirty="0">
                <a:solidFill>
                  <a:srgbClr val="121212"/>
                </a:solidFill>
              </a:rPr>
              <a:t>: </a:t>
            </a:r>
            <a:r>
              <a:rPr sz="1420" b="1" i="0" dirty="0" err="1">
                <a:solidFill>
                  <a:srgbClr val="121212"/>
                </a:solidFill>
              </a:rPr>
              <a:t>cresce</a:t>
            </a:r>
            <a:r>
              <a:rPr sz="1420" b="1" i="0" dirty="0">
                <a:solidFill>
                  <a:srgbClr val="121212"/>
                </a:solidFill>
              </a:rPr>
              <a:t> o “</a:t>
            </a:r>
            <a:r>
              <a:rPr sz="1420" b="1" i="0" dirty="0" err="1">
                <a:solidFill>
                  <a:srgbClr val="121212"/>
                </a:solidFill>
              </a:rPr>
              <a:t>querer</a:t>
            </a:r>
            <a:r>
              <a:rPr sz="1420" b="1" i="0" dirty="0">
                <a:solidFill>
                  <a:srgbClr val="121212"/>
                </a:solidFill>
              </a:rPr>
              <a:t>” e a </a:t>
            </a:r>
            <a:r>
              <a:rPr sz="1420" b="1" i="0" dirty="0" err="1">
                <a:solidFill>
                  <a:srgbClr val="121212"/>
                </a:solidFill>
              </a:rPr>
              <a:t>perseguição</a:t>
            </a:r>
            <a:r>
              <a:rPr sz="1420" b="1" i="0" dirty="0">
                <a:solidFill>
                  <a:srgbClr val="121212"/>
                </a:solidFill>
              </a:rPr>
              <a:t> do </a:t>
            </a:r>
            <a:r>
              <a:rPr sz="1420" b="1" i="0" dirty="0" err="1">
                <a:solidFill>
                  <a:srgbClr val="121212"/>
                </a:solidFill>
              </a:rPr>
              <a:t>ganho</a:t>
            </a:r>
            <a:r>
              <a:rPr sz="1420" b="1" i="0" dirty="0">
                <a:solidFill>
                  <a:srgbClr val="121212"/>
                </a:solidFill>
              </a:rPr>
              <a:t>, </a:t>
            </a:r>
            <a:r>
              <a:rPr sz="1420" b="1" i="0" dirty="0" err="1">
                <a:solidFill>
                  <a:srgbClr val="121212"/>
                </a:solidFill>
              </a:rPr>
              <a:t>mesmo</a:t>
            </a:r>
            <a:r>
              <a:rPr sz="1420" b="1" i="0" dirty="0">
                <a:solidFill>
                  <a:srgbClr val="121212"/>
                </a:solidFill>
              </a:rPr>
              <a:t> quando as </a:t>
            </a:r>
            <a:r>
              <a:rPr sz="1420" b="1" i="0" dirty="0" err="1">
                <a:solidFill>
                  <a:srgbClr val="121212"/>
                </a:solidFill>
              </a:rPr>
              <a:t>consequências</a:t>
            </a:r>
            <a:r>
              <a:rPr sz="1420" b="1" i="0" dirty="0">
                <a:solidFill>
                  <a:srgbClr val="121212"/>
                </a:solidFill>
              </a:rPr>
              <a:t> </a:t>
            </a:r>
            <a:r>
              <a:rPr sz="1420" b="1" i="0" dirty="0" err="1">
                <a:solidFill>
                  <a:srgbClr val="121212"/>
                </a:solidFill>
              </a:rPr>
              <a:t>pioram</a:t>
            </a:r>
            <a:r>
              <a:rPr sz="1420" b="1" i="0" dirty="0">
                <a:solidFill>
                  <a:srgbClr val="121212"/>
                </a:solidFill>
              </a:rPr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0555044-52B7-A472-84A1-77A6BA82AAC5}"/>
              </a:ext>
            </a:extLst>
          </p:cNvPr>
          <p:cNvSpPr txBox="1"/>
          <p:nvPr/>
        </p:nvSpPr>
        <p:spPr>
          <a:xfrm>
            <a:off x="7528560" y="6431646"/>
            <a:ext cx="4762500" cy="17235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505050"/>
                </a:solidFill>
              </a:rPr>
              <a:t>Fontes: </a:t>
            </a:r>
            <a:r>
              <a:rPr sz="1000" b="0" i="0" dirty="0" err="1">
                <a:solidFill>
                  <a:srgbClr val="505050"/>
                </a:solidFill>
              </a:rPr>
              <a:t>Behav</a:t>
            </a:r>
            <a:r>
              <a:rPr sz="1000" b="0" i="0" dirty="0">
                <a:solidFill>
                  <a:srgbClr val="505050"/>
                </a:solidFill>
              </a:rPr>
              <a:t> </a:t>
            </a:r>
            <a:r>
              <a:rPr sz="1000" b="0" i="0" dirty="0" err="1">
                <a:solidFill>
                  <a:srgbClr val="505050"/>
                </a:solidFill>
              </a:rPr>
              <a:t>Neurosci</a:t>
            </a:r>
            <a:r>
              <a:rPr sz="1000" b="0" i="0" dirty="0">
                <a:solidFill>
                  <a:srgbClr val="505050"/>
                </a:solidFill>
              </a:rPr>
              <a:t>; Yin et al. (2025), J </a:t>
            </a:r>
            <a:r>
              <a:rPr sz="1000" b="0" i="0" dirty="0" err="1">
                <a:solidFill>
                  <a:srgbClr val="505050"/>
                </a:solidFill>
              </a:rPr>
              <a:t>Behav</a:t>
            </a:r>
            <a:r>
              <a:rPr sz="1000" b="0" i="0" dirty="0">
                <a:solidFill>
                  <a:srgbClr val="505050"/>
                </a:solidFill>
              </a:rPr>
              <a:t> Addict.</a:t>
            </a:r>
          </a:p>
        </p:txBody>
      </p:sp>
    </p:spTree>
    <p:extLst>
      <p:ext uri="{BB962C8B-B14F-4D97-AF65-F5344CB8AC3E}">
        <p14:creationId xmlns:p14="http://schemas.microsoft.com/office/powerpoint/2010/main" val="3582967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3D7FD-2C80-3C1B-425F-BA20B530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455A9D-0727-9EEE-8E54-B1849F0F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D5F0A11-EE9A-2A47-EFF5-91294F45E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11" y="0"/>
            <a:ext cx="11906508" cy="1129553"/>
          </a:xfrm>
        </p:spPr>
        <p:txBody>
          <a:bodyPr>
            <a:normAutofit/>
          </a:bodyPr>
          <a:lstStyle/>
          <a:p>
            <a:r>
              <a:rPr lang="pt-PT" sz="2400" b="1" cap="none" dirty="0">
                <a:solidFill>
                  <a:schemeClr val="bg1"/>
                </a:solidFill>
              </a:rPr>
              <a:t>O jogo não é entretenimento. É um sistema que explora o cérebro</a:t>
            </a:r>
          </a:p>
        </p:txBody>
      </p:sp>
      <p:pic>
        <p:nvPicPr>
          <p:cNvPr id="4" name="Imagem 6">
            <a:extLst>
              <a:ext uri="{FF2B5EF4-FFF2-40B4-BE49-F238E27FC236}">
                <a16:creationId xmlns:a16="http://schemas.microsoft.com/office/drawing/2014/main" id="{8590E743-92BF-A2BE-F920-723791C79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65" y="995084"/>
            <a:ext cx="9839955" cy="4112794"/>
          </a:xfrm>
          <a:prstGeom prst="rect">
            <a:avLst/>
          </a:prstGeom>
        </p:spPr>
      </p:pic>
      <p:pic>
        <p:nvPicPr>
          <p:cNvPr id="5" name="Imagem 8">
            <a:extLst>
              <a:ext uri="{FF2B5EF4-FFF2-40B4-BE49-F238E27FC236}">
                <a16:creationId xmlns:a16="http://schemas.microsoft.com/office/drawing/2014/main" id="{C11FA595-1DC7-812F-1AA8-7EEB15CAC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011" y="5107878"/>
            <a:ext cx="6987661" cy="914401"/>
          </a:xfrm>
          <a:prstGeom prst="rect">
            <a:avLst/>
          </a:prstGeom>
        </p:spPr>
      </p:pic>
      <p:sp>
        <p:nvSpPr>
          <p:cNvPr id="7" name="CaixaDeTexto 10">
            <a:extLst>
              <a:ext uri="{FF2B5EF4-FFF2-40B4-BE49-F238E27FC236}">
                <a16:creationId xmlns:a16="http://schemas.microsoft.com/office/drawing/2014/main" id="{5621195B-0752-2695-910A-439909B2AE41}"/>
              </a:ext>
            </a:extLst>
          </p:cNvPr>
          <p:cNvSpPr txBox="1"/>
          <p:nvPr/>
        </p:nvSpPr>
        <p:spPr>
          <a:xfrm>
            <a:off x="3917949" y="6033784"/>
            <a:ext cx="55218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i="1" dirty="0">
                <a:solidFill>
                  <a:schemeClr val="bg1"/>
                </a:solidFill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Adaptado de </a:t>
            </a:r>
            <a:r>
              <a:rPr lang="pt-PT" sz="1800" i="1" dirty="0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Caroline N. </a:t>
            </a:r>
            <a:r>
              <a:rPr lang="pt-PT" sz="1800" i="1" dirty="0" err="1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Nguyen</a:t>
            </a:r>
            <a:r>
              <a:rPr lang="pt-PT" sz="1800" i="1" dirty="0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, 2022</a:t>
            </a:r>
            <a:endParaRPr lang="pt-PT" i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350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DCB32-7B67-C829-2FFC-548D4B30A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E5259F-4583-3753-18AE-3ED376E2130C}"/>
              </a:ext>
            </a:extLst>
          </p:cNvPr>
          <p:cNvSpPr txBox="1"/>
          <p:nvPr/>
        </p:nvSpPr>
        <p:spPr>
          <a:xfrm>
            <a:off x="873780" y="221163"/>
            <a:ext cx="115595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GB" sz="2800" b="1" dirty="0">
                <a:solidFill>
                  <a:schemeClr val="bg1"/>
                </a:solidFill>
              </a:rPr>
              <a:t>O Impacto </a:t>
            </a:r>
            <a:r>
              <a:rPr lang="en-GB" sz="2800" b="1" dirty="0" err="1">
                <a:solidFill>
                  <a:schemeClr val="bg1"/>
                </a:solidFill>
              </a:rPr>
              <a:t>Oculto</a:t>
            </a:r>
            <a:r>
              <a:rPr lang="en-GB" sz="2800" b="1" dirty="0">
                <a:solidFill>
                  <a:schemeClr val="bg1"/>
                </a:solidFill>
              </a:rPr>
              <a:t> - As </a:t>
            </a:r>
            <a:r>
              <a:rPr lang="en-GB" sz="2800" b="1" dirty="0" err="1">
                <a:solidFill>
                  <a:schemeClr val="bg1"/>
                </a:solidFill>
              </a:rPr>
              <a:t>Consequências</a:t>
            </a:r>
            <a:r>
              <a:rPr lang="en-GB" sz="2800" b="1" dirty="0">
                <a:solidFill>
                  <a:schemeClr val="bg1"/>
                </a:solidFill>
              </a:rPr>
              <a:t> </a:t>
            </a:r>
            <a:r>
              <a:rPr lang="en-GB" sz="2800" b="1" dirty="0" err="1">
                <a:solidFill>
                  <a:schemeClr val="bg1"/>
                </a:solidFill>
              </a:rPr>
              <a:t>Visíveis</a:t>
            </a:r>
            <a:r>
              <a:rPr lang="en-GB" sz="2800" b="1" dirty="0">
                <a:solidFill>
                  <a:schemeClr val="bg1"/>
                </a:solidFill>
              </a:rPr>
              <a:t> do </a:t>
            </a:r>
            <a:r>
              <a:rPr lang="en-GB" sz="2800" b="1" dirty="0" err="1">
                <a:solidFill>
                  <a:schemeClr val="bg1"/>
                </a:solidFill>
              </a:rPr>
              <a:t>Transtorno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409460-626D-3C44-B40F-F7CB5805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89B78A5-1D4A-F7F3-6C5A-C6EE69D91C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955611"/>
              </p:ext>
            </p:extLst>
          </p:nvPr>
        </p:nvGraphicFramePr>
        <p:xfrm>
          <a:off x="515470" y="1452282"/>
          <a:ext cx="11314579" cy="4685609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341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2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dirty="0" err="1">
                          <a:solidFill>
                            <a:schemeClr val="bg2"/>
                          </a:solidFill>
                        </a:rPr>
                        <a:t>Dimensão</a:t>
                      </a:r>
                      <a:endParaRPr sz="2400" b="1" dirty="0">
                        <a:solidFill>
                          <a:schemeClr val="bg2"/>
                        </a:solidFill>
                      </a:endParaRP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dirty="0" err="1">
                          <a:solidFill>
                            <a:schemeClr val="bg2"/>
                          </a:solidFill>
                        </a:rPr>
                        <a:t>Consequências</a:t>
                      </a:r>
                      <a:r>
                        <a:rPr sz="2400" b="1" dirty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sz="2400" b="1" dirty="0" err="1">
                          <a:solidFill>
                            <a:schemeClr val="bg2"/>
                          </a:solidFill>
                        </a:rPr>
                        <a:t>observadas</a:t>
                      </a:r>
                      <a:endParaRPr sz="2400" b="1" dirty="0">
                        <a:solidFill>
                          <a:schemeClr val="bg2"/>
                        </a:solidFill>
                      </a:endParaRP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637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dirty="0">
                          <a:solidFill>
                            <a:srgbClr val="000000"/>
                          </a:solidFill>
                        </a:rPr>
                        <a:t>Financiera</a:t>
                      </a:r>
                    </a:p>
                  </a:txBody>
                  <a:tcPr marL="429768" marR="10972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dirty="0" err="1">
                          <a:solidFill>
                            <a:srgbClr val="000000"/>
                          </a:solidFill>
                        </a:rPr>
                        <a:t>Dívidas</a:t>
                      </a:r>
                      <a:r>
                        <a:rPr sz="24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2400" b="0" dirty="0" err="1">
                          <a:solidFill>
                            <a:srgbClr val="000000"/>
                          </a:solidFill>
                        </a:rPr>
                        <a:t>acumuladas</a:t>
                      </a:r>
                      <a:r>
                        <a:rPr sz="2400" b="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sz="2400" b="0" dirty="0" err="1">
                          <a:solidFill>
                            <a:srgbClr val="000000"/>
                          </a:solidFill>
                        </a:rPr>
                        <a:t>empréstimos</a:t>
                      </a:r>
                      <a:r>
                        <a:rPr sz="2400" b="0" dirty="0">
                          <a:solidFill>
                            <a:srgbClr val="000000"/>
                          </a:solidFill>
                        </a:rPr>
                        <a:t> de </a:t>
                      </a:r>
                      <a:r>
                        <a:rPr sz="2400" b="0" dirty="0" err="1">
                          <a:solidFill>
                            <a:srgbClr val="000000"/>
                          </a:solidFill>
                        </a:rPr>
                        <a:t>risco</a:t>
                      </a:r>
                      <a:r>
                        <a:rPr lang="pt-PT" sz="2400" b="0" dirty="0">
                          <a:solidFill>
                            <a:srgbClr val="000000"/>
                          </a:solidFill>
                        </a:rPr>
                        <a:t>, venda de bens pessoais, contas atrasadas, furtos, fraudes</a:t>
                      </a:r>
                      <a:r>
                        <a:rPr sz="2400" b="0" dirty="0">
                          <a:solidFill>
                            <a:srgbClr val="000000"/>
                          </a:solidFill>
                        </a:rPr>
                        <a:t> e </a:t>
                      </a:r>
                      <a:r>
                        <a:rPr sz="2400" b="0" dirty="0" err="1">
                          <a:solidFill>
                            <a:srgbClr val="000000"/>
                          </a:solidFill>
                        </a:rPr>
                        <a:t>falência</a:t>
                      </a:r>
                      <a:r>
                        <a:rPr sz="2400" b="0" dirty="0">
                          <a:solidFill>
                            <a:srgbClr val="000000"/>
                          </a:solidFill>
                        </a:rPr>
                        <a:t>.</a:t>
                      </a: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637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>
                          <a:solidFill>
                            <a:srgbClr val="000000"/>
                          </a:solidFill>
                        </a:rPr>
                        <a:t>Profissionais</a:t>
                      </a:r>
                    </a:p>
                  </a:txBody>
                  <a:tcPr marL="429768" marR="10972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>
                          <a:solidFill>
                            <a:srgbClr val="000000"/>
                          </a:solidFill>
                        </a:rPr>
                        <a:t>Queda de produtividade, absentismo ou perda do emprego.</a:t>
                      </a: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10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dirty="0">
                          <a:solidFill>
                            <a:srgbClr val="000000"/>
                          </a:solidFill>
                        </a:rPr>
                        <a:t>Familiares</a:t>
                      </a:r>
                    </a:p>
                  </a:txBody>
                  <a:tcPr marL="429768" marR="10972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000000"/>
                          </a:solidFill>
                          <a:latin typeface="+mn-lt"/>
                        </a:rPr>
                        <a:t>Quebra de </a:t>
                      </a:r>
                      <a:r>
                        <a:rPr sz="2400" b="0" dirty="0" err="1">
                          <a:solidFill>
                            <a:srgbClr val="000000"/>
                          </a:solidFill>
                          <a:latin typeface="+mn-lt"/>
                        </a:rPr>
                        <a:t>confiança</a:t>
                      </a:r>
                      <a:r>
                        <a:rPr sz="2400" b="0" dirty="0">
                          <a:solidFill>
                            <a:srgbClr val="000000"/>
                          </a:solidFill>
                          <a:latin typeface="+mn-lt"/>
                        </a:rPr>
                        <a:t>, </a:t>
                      </a:r>
                      <a:r>
                        <a:rPr sz="2400" b="0" dirty="0" err="1">
                          <a:solidFill>
                            <a:srgbClr val="000000"/>
                          </a:solidFill>
                          <a:latin typeface="+mn-lt"/>
                        </a:rPr>
                        <a:t>conflitos</a:t>
                      </a:r>
                      <a:r>
                        <a:rPr sz="2400" b="0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sz="2400" b="0" dirty="0" err="1">
                          <a:solidFill>
                            <a:srgbClr val="000000"/>
                          </a:solidFill>
                          <a:latin typeface="+mn-lt"/>
                        </a:rPr>
                        <a:t>constantes</a:t>
                      </a:r>
                      <a:r>
                        <a:rPr lang="pt-PT" sz="2400" b="0" dirty="0">
                          <a:solidFill>
                            <a:srgbClr val="000000"/>
                          </a:solidFill>
                          <a:latin typeface="+mn-lt"/>
                        </a:rPr>
                        <a:t>, </a:t>
                      </a:r>
                      <a:r>
                        <a:rPr lang="pt-PT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isolamento social</a:t>
                      </a:r>
                      <a:r>
                        <a:rPr sz="2400" b="0" dirty="0">
                          <a:solidFill>
                            <a:srgbClr val="000000"/>
                          </a:solidFill>
                          <a:latin typeface="+mn-lt"/>
                        </a:rPr>
                        <a:t> e </a:t>
                      </a:r>
                      <a:r>
                        <a:rPr sz="2400" b="0" dirty="0" err="1">
                          <a:solidFill>
                            <a:srgbClr val="000000"/>
                          </a:solidFill>
                          <a:latin typeface="+mn-lt"/>
                        </a:rPr>
                        <a:t>divórcio</a:t>
                      </a:r>
                      <a:r>
                        <a:rPr sz="2400" b="0" dirty="0">
                          <a:solidFill>
                            <a:srgbClr val="000000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637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>
                          <a:solidFill>
                            <a:srgbClr val="000000"/>
                          </a:solidFill>
                        </a:rPr>
                        <a:t>Emocionais</a:t>
                      </a:r>
                    </a:p>
                  </a:txBody>
                  <a:tcPr marL="429768" marR="10972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000000"/>
                          </a:solidFill>
                        </a:rPr>
                        <a:t>Altos </a:t>
                      </a:r>
                      <a:r>
                        <a:rPr sz="2400" b="0" dirty="0" err="1">
                          <a:solidFill>
                            <a:srgbClr val="000000"/>
                          </a:solidFill>
                        </a:rPr>
                        <a:t>níveis</a:t>
                      </a:r>
                      <a:r>
                        <a:rPr sz="2400" b="0" dirty="0">
                          <a:solidFill>
                            <a:srgbClr val="000000"/>
                          </a:solidFill>
                        </a:rPr>
                        <a:t> de </a:t>
                      </a:r>
                      <a:r>
                        <a:rPr sz="2400" b="0" dirty="0" err="1">
                          <a:solidFill>
                            <a:srgbClr val="000000"/>
                          </a:solidFill>
                        </a:rPr>
                        <a:t>ansiedade</a:t>
                      </a:r>
                      <a:r>
                        <a:rPr sz="2400" b="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sz="2400" b="0" dirty="0" err="1">
                          <a:solidFill>
                            <a:srgbClr val="000000"/>
                          </a:solidFill>
                        </a:rPr>
                        <a:t>depressão</a:t>
                      </a:r>
                      <a:r>
                        <a:rPr sz="24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pt-PT" sz="2400" b="0" dirty="0">
                          <a:solidFill>
                            <a:srgbClr val="000000"/>
                          </a:solidFill>
                        </a:rPr>
                        <a:t>(sentimento de culpa ou vergonha) </a:t>
                      </a:r>
                      <a:r>
                        <a:rPr sz="2400" b="0" dirty="0">
                          <a:solidFill>
                            <a:srgbClr val="000000"/>
                          </a:solidFill>
                        </a:rPr>
                        <a:t>e </a:t>
                      </a:r>
                      <a:r>
                        <a:rPr sz="2400" b="0" dirty="0" err="1">
                          <a:solidFill>
                            <a:srgbClr val="000000"/>
                          </a:solidFill>
                        </a:rPr>
                        <a:t>risco</a:t>
                      </a:r>
                      <a:r>
                        <a:rPr sz="2400" b="0" dirty="0">
                          <a:solidFill>
                            <a:srgbClr val="000000"/>
                          </a:solidFill>
                        </a:rPr>
                        <a:t> de </a:t>
                      </a:r>
                      <a:r>
                        <a:rPr sz="2400" b="1" dirty="0" err="1">
                          <a:solidFill>
                            <a:srgbClr val="FF0000"/>
                          </a:solidFill>
                        </a:rPr>
                        <a:t>ideação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sz="2400" b="1" dirty="0" err="1">
                          <a:solidFill>
                            <a:srgbClr val="FF0000"/>
                          </a:solidFill>
                        </a:rPr>
                        <a:t>suicida</a:t>
                      </a:r>
                      <a:r>
                        <a:rPr sz="2400" b="0" dirty="0">
                          <a:solidFill>
                            <a:srgbClr val="000000"/>
                          </a:solidFill>
                        </a:rPr>
                        <a:t>.</a:t>
                      </a: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ograma — Financeiras" descr="image-b8bdde331aafb9aa7966d8652812c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55" y="2513943"/>
            <a:ext cx="246888" cy="201593"/>
          </a:xfrm>
          <a:prstGeom prst="rect">
            <a:avLst/>
          </a:prstGeom>
        </p:spPr>
      </p:pic>
      <p:pic>
        <p:nvPicPr>
          <p:cNvPr id="10" name="Pictograma — Profissionais" descr="image-5b2cddd757fb5c444f0e1b4d9d2935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55" y="3609422"/>
            <a:ext cx="246888" cy="210117"/>
          </a:xfrm>
          <a:prstGeom prst="rect">
            <a:avLst/>
          </a:prstGeom>
        </p:spPr>
      </p:pic>
      <p:pic>
        <p:nvPicPr>
          <p:cNvPr id="11" name="Pictograma — Familiares" descr="image-9832908f48bed144667494154df864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055" y="4506135"/>
            <a:ext cx="246888" cy="212987"/>
          </a:xfrm>
          <a:prstGeom prst="rect">
            <a:avLst/>
          </a:prstGeom>
        </p:spPr>
      </p:pic>
      <p:pic>
        <p:nvPicPr>
          <p:cNvPr id="12" name="Pictograma — Emocionais" descr="image-fa04741e93541a49c62a06f5bb6653c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891" y="5488576"/>
            <a:ext cx="246888" cy="21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052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02F7C-DDBD-8142-D0E3-EF3726F60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AC0EA7-09F8-32D9-95C4-554524DC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14</a:t>
            </a:fld>
            <a:endParaRPr lang="en-GB" dirty="0"/>
          </a:p>
        </p:txBody>
      </p:sp>
      <p:pic>
        <p:nvPicPr>
          <p:cNvPr id="2" name="Imagem 19">
            <a:extLst>
              <a:ext uri="{FF2B5EF4-FFF2-40B4-BE49-F238E27FC236}">
                <a16:creationId xmlns:a16="http://schemas.microsoft.com/office/drawing/2014/main" id="{B9ACD468-C9AD-9409-5999-2805D7FDA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920" y="1093906"/>
            <a:ext cx="4958080" cy="726281"/>
          </a:xfrm>
          <a:prstGeom prst="rect">
            <a:avLst/>
          </a:prstGeom>
        </p:spPr>
      </p:pic>
      <p:sp>
        <p:nvSpPr>
          <p:cNvPr id="5" name="Título 11">
            <a:extLst>
              <a:ext uri="{FF2B5EF4-FFF2-40B4-BE49-F238E27FC236}">
                <a16:creationId xmlns:a16="http://schemas.microsoft.com/office/drawing/2014/main" id="{B1EC02FA-0066-61B6-7F1B-AFABECE09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768" y="23416"/>
            <a:ext cx="11419840" cy="1039330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pt-PT" b="1" cap="none" dirty="0">
                <a:solidFill>
                  <a:schemeClr val="bg1"/>
                </a:solidFill>
                <a:cs typeface="Times New Roman" panose="02020603050405020304" pitchFamily="18" charset="0"/>
              </a:rPr>
              <a:t>Dano do jogo a outros </a:t>
            </a:r>
            <a:r>
              <a:rPr lang="pt-PT" b="1" cap="none" dirty="0" err="1">
                <a:solidFill>
                  <a:schemeClr val="bg1"/>
                </a:solidFill>
                <a:cs typeface="Times New Roman" panose="02020603050405020304" pitchFamily="18" charset="0"/>
              </a:rPr>
              <a:t>afectados</a:t>
            </a:r>
            <a:endParaRPr lang="pt-PT" b="1" cap="none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659089-95A7-2357-C66C-FFC004FC5800}"/>
              </a:ext>
            </a:extLst>
          </p:cNvPr>
          <p:cNvSpPr txBox="1"/>
          <p:nvPr/>
        </p:nvSpPr>
        <p:spPr>
          <a:xfrm>
            <a:off x="314325" y="2159024"/>
            <a:ext cx="4743450" cy="4454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PT" sz="2400" dirty="0">
                <a:solidFill>
                  <a:schemeClr val="bg1"/>
                </a:solidFill>
              </a:rPr>
              <a:t>Danos Emocionais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PT" sz="2400" dirty="0">
                <a:solidFill>
                  <a:schemeClr val="bg1"/>
                </a:solidFill>
              </a:rPr>
              <a:t>Danos Relacionais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PT" sz="2400" dirty="0">
                <a:solidFill>
                  <a:schemeClr val="bg1"/>
                </a:solidFill>
              </a:rPr>
              <a:t>Danos Financeiros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PT" sz="2400" dirty="0">
                <a:solidFill>
                  <a:schemeClr val="bg1"/>
                </a:solidFill>
              </a:rPr>
              <a:t>Danos à Saúde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PT" sz="2400" dirty="0">
                <a:solidFill>
                  <a:schemeClr val="bg1"/>
                </a:solidFill>
              </a:rPr>
              <a:t>Danos Educacionais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PT" sz="2400" dirty="0">
                <a:solidFill>
                  <a:schemeClr val="bg1"/>
                </a:solidFill>
              </a:rPr>
              <a:t>Danos Culturais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PT" sz="2400" dirty="0">
                <a:solidFill>
                  <a:schemeClr val="bg1"/>
                </a:solidFill>
              </a:rPr>
              <a:t>Danos por Actividade Criminosa  </a:t>
            </a:r>
          </a:p>
        </p:txBody>
      </p:sp>
      <p:pic>
        <p:nvPicPr>
          <p:cNvPr id="9" name="Imagem 4">
            <a:extLst>
              <a:ext uri="{FF2B5EF4-FFF2-40B4-BE49-F238E27FC236}">
                <a16:creationId xmlns:a16="http://schemas.microsoft.com/office/drawing/2014/main" id="{1D5FEA4E-A510-3237-8477-FF1D1BAD9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740" y="2005785"/>
            <a:ext cx="6354935" cy="4385887"/>
          </a:xfrm>
          <a:prstGeom prst="rect">
            <a:avLst/>
          </a:prstGeom>
          <a:noFill/>
        </p:spPr>
      </p:pic>
      <p:sp>
        <p:nvSpPr>
          <p:cNvPr id="10" name="Seta: Curvada Para Cima 14">
            <a:extLst>
              <a:ext uri="{FF2B5EF4-FFF2-40B4-BE49-F238E27FC236}">
                <a16:creationId xmlns:a16="http://schemas.microsoft.com/office/drawing/2014/main" id="{AEA282AB-AF35-3FFE-0BAC-89491A296A60}"/>
              </a:ext>
            </a:extLst>
          </p:cNvPr>
          <p:cNvSpPr/>
          <p:nvPr/>
        </p:nvSpPr>
        <p:spPr>
          <a:xfrm rot="12104027">
            <a:off x="3737395" y="2756813"/>
            <a:ext cx="3130961" cy="646194"/>
          </a:xfrm>
          <a:prstGeom prst="curvedUpArrow">
            <a:avLst>
              <a:gd name="adj1" fmla="val 79623"/>
              <a:gd name="adj2" fmla="val 113541"/>
              <a:gd name="adj3" fmla="val 51368"/>
            </a:avLst>
          </a:prstGeom>
          <a:solidFill>
            <a:srgbClr val="B751FF">
              <a:alpha val="4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solidFill>
                <a:schemeClr val="tx1"/>
              </a:solidFill>
            </a:endParaRPr>
          </a:p>
        </p:txBody>
      </p:sp>
      <p:sp>
        <p:nvSpPr>
          <p:cNvPr id="11" name="CaixaDeTexto 16">
            <a:extLst>
              <a:ext uri="{FF2B5EF4-FFF2-40B4-BE49-F238E27FC236}">
                <a16:creationId xmlns:a16="http://schemas.microsoft.com/office/drawing/2014/main" id="{380B50BE-B6AA-6BB8-D66E-C0A581A8058E}"/>
              </a:ext>
            </a:extLst>
          </p:cNvPr>
          <p:cNvSpPr txBox="1"/>
          <p:nvPr/>
        </p:nvSpPr>
        <p:spPr>
          <a:xfrm>
            <a:off x="8505264" y="6391672"/>
            <a:ext cx="27169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050" i="1" dirty="0" err="1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Dowling</a:t>
            </a:r>
            <a:r>
              <a:rPr lang="pt-PT" sz="1050" i="1" dirty="0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pt-PT" sz="1050" i="1" dirty="0" err="1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et</a:t>
            </a:r>
            <a:r>
              <a:rPr lang="pt-PT" sz="1050" i="1" dirty="0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 al., 2025</a:t>
            </a:r>
            <a:endParaRPr lang="pt-PT" sz="1050" i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524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A7A21-613B-8D72-820D-6AAFF58D4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49C5E6-BBA5-2160-534F-681DDD6D1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15</a:t>
            </a:fld>
            <a:endParaRPr lang="en-GB" dirty="0"/>
          </a:p>
        </p:txBody>
      </p:sp>
      <p:sp>
        <p:nvSpPr>
          <p:cNvPr id="2" name="Google Shape;189;p18">
            <a:extLst>
              <a:ext uri="{FF2B5EF4-FFF2-40B4-BE49-F238E27FC236}">
                <a16:creationId xmlns:a16="http://schemas.microsoft.com/office/drawing/2014/main" id="{DCC55E32-ED87-72C1-88DD-BD06CCC7E18A}"/>
              </a:ext>
            </a:extLst>
          </p:cNvPr>
          <p:cNvSpPr txBox="1"/>
          <p:nvPr/>
        </p:nvSpPr>
        <p:spPr>
          <a:xfrm>
            <a:off x="1624012" y="300037"/>
            <a:ext cx="11351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 b="1" i="0" u="none" strike="noStrike" cap="none" noProof="0" dirty="0">
                <a:solidFill>
                  <a:srgbClr val="1E293B"/>
                </a:solidFill>
                <a:latin typeface="+mn-lt"/>
                <a:ea typeface="Poppins Medium"/>
                <a:cs typeface="Times New Roman" panose="02020603050405020304" pitchFamily="18" charset="0"/>
                <a:sym typeface="Poppins Medium"/>
              </a:rPr>
              <a:t>Dispersão Geográfica do Fenómeno</a:t>
            </a:r>
            <a:endParaRPr lang="pt-PT" sz="2000" b="1" noProof="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2626F7-E01C-DA5C-709C-70E1548B96EE}"/>
              </a:ext>
            </a:extLst>
          </p:cNvPr>
          <p:cNvSpPr txBox="1"/>
          <p:nvPr/>
        </p:nvSpPr>
        <p:spPr>
          <a:xfrm>
            <a:off x="540426" y="1460112"/>
            <a:ext cx="7815263" cy="1358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lang="pt-PT" sz="2500" b="1" dirty="0">
                <a:solidFill>
                  <a:srgbClr val="FF0000"/>
                </a:solidFill>
                <a:latin typeface="+mn-lt"/>
                <a:ea typeface="Inter"/>
                <a:cs typeface="Times New Roman" panose="02020603050405020304" pitchFamily="18" charset="0"/>
                <a:sym typeface="Inter"/>
              </a:rPr>
              <a:t>43 Suicídios</a:t>
            </a:r>
            <a:br>
              <a:rPr lang="pt-PT" sz="2500" dirty="0">
                <a:solidFill>
                  <a:schemeClr val="bg1"/>
                </a:solidFill>
                <a:latin typeface="+mn-lt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pt-PT" sz="2500" dirty="0">
                <a:solidFill>
                  <a:schemeClr val="bg1"/>
                </a:solidFill>
                <a:latin typeface="+mn-lt"/>
                <a:ea typeface="Inter"/>
                <a:cs typeface="Times New Roman" panose="02020603050405020304" pitchFamily="18" charset="0"/>
                <a:sym typeface="Inter"/>
              </a:rPr>
              <a:t> Reportados apenas em Maputo no primeiro semestre de 2025, com nexo </a:t>
            </a:r>
            <a:r>
              <a:rPr lang="pt-PT" sz="2500" dirty="0" err="1">
                <a:solidFill>
                  <a:schemeClr val="bg1"/>
                </a:solidFill>
                <a:latin typeface="+mn-lt"/>
                <a:ea typeface="Inter"/>
                <a:cs typeface="Times New Roman" panose="02020603050405020304" pitchFamily="18" charset="0"/>
                <a:sym typeface="Inter"/>
              </a:rPr>
              <a:t>directo</a:t>
            </a:r>
            <a:r>
              <a:rPr lang="pt-PT" sz="2500" dirty="0">
                <a:solidFill>
                  <a:schemeClr val="bg1"/>
                </a:solidFill>
                <a:latin typeface="+mn-lt"/>
                <a:ea typeface="Inter"/>
                <a:cs typeface="Times New Roman" panose="02020603050405020304" pitchFamily="18" charset="0"/>
                <a:sym typeface="Inter"/>
              </a:rPr>
              <a:t> a dívidas.</a:t>
            </a:r>
            <a:endParaRPr lang="pt-PT" sz="25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8CC566-6C86-66E6-4DDE-ED21AD14FFC8}"/>
              </a:ext>
            </a:extLst>
          </p:cNvPr>
          <p:cNvSpPr txBox="1"/>
          <p:nvPr/>
        </p:nvSpPr>
        <p:spPr>
          <a:xfrm>
            <a:off x="540426" y="3074101"/>
            <a:ext cx="7272337" cy="1358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lang="pt-PT" sz="2500" b="1" dirty="0">
                <a:solidFill>
                  <a:srgbClr val="FF0000"/>
                </a:solidFill>
                <a:latin typeface="+mn-lt"/>
                <a:ea typeface="Inter"/>
                <a:cs typeface="Times New Roman" panose="02020603050405020304" pitchFamily="18" charset="0"/>
                <a:sym typeface="Inter"/>
              </a:rPr>
              <a:t>Fragilidade Institucional</a:t>
            </a:r>
            <a:br>
              <a:rPr lang="pt-PT" sz="2500" dirty="0">
                <a:solidFill>
                  <a:srgbClr val="FF0000"/>
                </a:solidFill>
                <a:latin typeface="+mn-lt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pt-PT" sz="2500" dirty="0">
                <a:solidFill>
                  <a:srgbClr val="FF0000"/>
                </a:solidFill>
                <a:latin typeface="+mn-lt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pt-PT" sz="2500" dirty="0">
                <a:solidFill>
                  <a:schemeClr val="bg1"/>
                </a:solidFill>
                <a:latin typeface="+mn-lt"/>
                <a:ea typeface="Inter"/>
                <a:cs typeface="Times New Roman" panose="02020603050405020304" pitchFamily="18" charset="0"/>
                <a:sym typeface="Inter"/>
              </a:rPr>
              <a:t>Incidência alarmante em agentes da PRM, professores e guardas penitenciários.</a:t>
            </a:r>
            <a:endParaRPr lang="pt-PT" sz="25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EFA8DB-F648-2248-F800-863CCCC9A2BA}"/>
              </a:ext>
            </a:extLst>
          </p:cNvPr>
          <p:cNvSpPr txBox="1"/>
          <p:nvPr/>
        </p:nvSpPr>
        <p:spPr>
          <a:xfrm>
            <a:off x="523639" y="4688091"/>
            <a:ext cx="7143750" cy="1358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</a:pPr>
            <a:r>
              <a:rPr lang="pt-PT" sz="2500" b="1" dirty="0">
                <a:solidFill>
                  <a:srgbClr val="FF0000"/>
                </a:solidFill>
                <a:latin typeface="+mn-lt"/>
                <a:ea typeface="Inter"/>
                <a:cs typeface="Times New Roman" panose="02020603050405020304" pitchFamily="18" charset="0"/>
                <a:sym typeface="Inter"/>
              </a:rPr>
              <a:t>Factor "</a:t>
            </a:r>
            <a:r>
              <a:rPr lang="pt-PT" sz="2500" b="1" dirty="0" err="1">
                <a:solidFill>
                  <a:srgbClr val="FF0000"/>
                </a:solidFill>
                <a:latin typeface="+mn-lt"/>
                <a:ea typeface="Inter"/>
                <a:cs typeface="Times New Roman" panose="02020603050405020304" pitchFamily="18" charset="0"/>
                <a:sym typeface="Inter"/>
              </a:rPr>
              <a:t>Aviator</a:t>
            </a:r>
            <a:r>
              <a:rPr lang="pt-PT" sz="2500" b="1" dirty="0">
                <a:solidFill>
                  <a:srgbClr val="FF0000"/>
                </a:solidFill>
                <a:latin typeface="+mn-lt"/>
                <a:ea typeface="Inter"/>
                <a:cs typeface="Times New Roman" panose="02020603050405020304" pitchFamily="18" charset="0"/>
                <a:sym typeface="Inter"/>
              </a:rPr>
              <a:t>"</a:t>
            </a:r>
            <a:br>
              <a:rPr lang="pt-PT" sz="2500" dirty="0">
                <a:solidFill>
                  <a:schemeClr val="bg1"/>
                </a:solidFill>
                <a:latin typeface="+mn-lt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pt-PT" sz="2500" dirty="0">
                <a:solidFill>
                  <a:schemeClr val="bg1"/>
                </a:solidFill>
                <a:latin typeface="+mn-lt"/>
                <a:ea typeface="Inter"/>
                <a:cs typeface="Times New Roman" panose="02020603050405020304" pitchFamily="18" charset="0"/>
                <a:sym typeface="Inter"/>
              </a:rPr>
              <a:t> Identificado como o principal gatilho para perdas rápidas e colapso emocional.</a:t>
            </a:r>
            <a:endParaRPr lang="pt-PT" sz="25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9" name="Picture 8" descr="Ficheiro:Mozambique districts.png – Wikipédia, a enciclopédia livre">
            <a:extLst>
              <a:ext uri="{FF2B5EF4-FFF2-40B4-BE49-F238E27FC236}">
                <a16:creationId xmlns:a16="http://schemas.microsoft.com/office/drawing/2014/main" id="{68512FE9-77AA-6B5E-5491-C1EBC6856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5605" y="894556"/>
            <a:ext cx="3389441" cy="5497116"/>
          </a:xfrm>
          <a:prstGeom prst="rect">
            <a:avLst/>
          </a:prstGeom>
        </p:spPr>
      </p:pic>
      <p:sp>
        <p:nvSpPr>
          <p:cNvPr id="10" name="CaixaDeTexto 6">
            <a:extLst>
              <a:ext uri="{FF2B5EF4-FFF2-40B4-BE49-F238E27FC236}">
                <a16:creationId xmlns:a16="http://schemas.microsoft.com/office/drawing/2014/main" id="{41C682C9-4E92-2286-E6C8-28610A5F4AD1}"/>
              </a:ext>
            </a:extLst>
          </p:cNvPr>
          <p:cNvSpPr txBox="1"/>
          <p:nvPr/>
        </p:nvSpPr>
        <p:spPr>
          <a:xfrm>
            <a:off x="523639" y="6102554"/>
            <a:ext cx="111635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PT" sz="1600" b="0" i="1" dirty="0">
                <a:solidFill>
                  <a:srgbClr val="888888"/>
                </a:solidFill>
                <a:effectLst/>
                <a:latin typeface="+mn-lt"/>
                <a:cs typeface="Times New Roman" panose="02020603050405020304" pitchFamily="18" charset="0"/>
              </a:rPr>
              <a:t>Fontes: </a:t>
            </a:r>
            <a:r>
              <a:rPr lang="pt-PT" sz="1600" i="1" dirty="0">
                <a:solidFill>
                  <a:srgbClr val="888888"/>
                </a:solidFill>
                <a:latin typeface="+mn-lt"/>
                <a:cs typeface="Times New Roman" panose="02020603050405020304" pitchFamily="18" charset="0"/>
              </a:rPr>
              <a:t>O País</a:t>
            </a:r>
            <a:r>
              <a:rPr lang="pt-PT" sz="1600" b="0" i="1" dirty="0">
                <a:solidFill>
                  <a:srgbClr val="888888"/>
                </a:solidFill>
                <a:effectLst/>
                <a:latin typeface="+mn-lt"/>
                <a:cs typeface="Times New Roman" panose="02020603050405020304" pitchFamily="18" charset="0"/>
              </a:rPr>
              <a:t> (2025)</a:t>
            </a:r>
          </a:p>
        </p:txBody>
      </p:sp>
    </p:spTree>
    <p:extLst>
      <p:ext uri="{BB962C8B-B14F-4D97-AF65-F5344CB8AC3E}">
        <p14:creationId xmlns:p14="http://schemas.microsoft.com/office/powerpoint/2010/main" val="547752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5D9AF-A281-CFDB-38F2-005F82EAC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FB73E5-0A5C-56B1-CCF7-7C26A40E1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8492123C-308F-1FDF-0CE7-51DE499398C3}"/>
              </a:ext>
            </a:extLst>
          </p:cNvPr>
          <p:cNvSpPr/>
          <p:nvPr/>
        </p:nvSpPr>
        <p:spPr>
          <a:xfrm>
            <a:off x="1317081" y="406527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 evidência à acção — o papel do Estado e da lei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9895AA-0E93-5223-8074-0E1A2DC033DE}"/>
              </a:ext>
            </a:extLst>
          </p:cNvPr>
          <p:cNvSpPr txBox="1"/>
          <p:nvPr/>
        </p:nvSpPr>
        <p:spPr>
          <a:xfrm>
            <a:off x="2774181" y="3078480"/>
            <a:ext cx="73270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3600" b="1" dirty="0">
                <a:solidFill>
                  <a:schemeClr val="bg1"/>
                </a:solidFill>
                <a:cs typeface="Arial" panose="020B0604020202020204" pitchFamily="34" charset="0"/>
              </a:rPr>
              <a:t>Responsabilidade Regulatória</a:t>
            </a:r>
            <a:endParaRPr lang="pt-BR" sz="3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960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994EC-5820-08F7-57BB-CDE4CE230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BAAF1CE-03EA-A783-4F4F-E18F13A3A642}"/>
              </a:ext>
            </a:extLst>
          </p:cNvPr>
          <p:cNvSpPr txBox="1"/>
          <p:nvPr/>
        </p:nvSpPr>
        <p:spPr>
          <a:xfrm>
            <a:off x="2416995" y="221163"/>
            <a:ext cx="68270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36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📐 A Estrutura do Jogo</a:t>
            </a:r>
            <a:endParaRPr lang="pt-BR" sz="36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230FD7-46BC-586A-D4D2-0E76F4082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17</a:t>
            </a:fld>
            <a:endParaRPr lang="en-GB" dirty="0"/>
          </a:p>
        </p:txBody>
      </p:sp>
      <p:pic>
        <p:nvPicPr>
          <p:cNvPr id="2" name="Imagem 4">
            <a:extLst>
              <a:ext uri="{FF2B5EF4-FFF2-40B4-BE49-F238E27FC236}">
                <a16:creationId xmlns:a16="http://schemas.microsoft.com/office/drawing/2014/main" id="{C164CFCB-B194-ED0E-B277-6616A54BB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0787"/>
            <a:ext cx="12192000" cy="488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250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C6CF4-A4CA-9C37-9399-AC2A4AB94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8F4B222-4AC4-01D0-FF2F-A9E4B8D92072}"/>
              </a:ext>
            </a:extLst>
          </p:cNvPr>
          <p:cNvSpPr txBox="1"/>
          <p:nvPr/>
        </p:nvSpPr>
        <p:spPr>
          <a:xfrm>
            <a:off x="2416995" y="221163"/>
            <a:ext cx="6169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36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⚠️ A Falha no Sistema</a:t>
            </a:r>
            <a:endParaRPr lang="pt-BR" sz="36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5A72C8-D25C-3633-A308-70DE610AD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18</a:t>
            </a:fld>
            <a:endParaRPr lang="en-GB" dirty="0"/>
          </a:p>
        </p:txBody>
      </p:sp>
      <p:pic>
        <p:nvPicPr>
          <p:cNvPr id="2" name="Imagem 4">
            <a:extLst>
              <a:ext uri="{FF2B5EF4-FFF2-40B4-BE49-F238E27FC236}">
                <a16:creationId xmlns:a16="http://schemas.microsoft.com/office/drawing/2014/main" id="{68DFEB11-0083-B481-C721-00CA2A82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" y="1334492"/>
            <a:ext cx="12110720" cy="473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754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8266E-2034-8891-D4EF-8A2BD31CB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4CD34FC-242A-9435-663B-16AB5ACC44BE}"/>
              </a:ext>
            </a:extLst>
          </p:cNvPr>
          <p:cNvSpPr txBox="1"/>
          <p:nvPr/>
        </p:nvSpPr>
        <p:spPr>
          <a:xfrm>
            <a:off x="2416994" y="221163"/>
            <a:ext cx="66127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36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👥 O Impacto Humano</a:t>
            </a:r>
            <a:endParaRPr lang="pt-BR" sz="36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A05847-961C-134C-F17B-892520400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19</a:t>
            </a:fld>
            <a:endParaRPr lang="en-GB" dirty="0"/>
          </a:p>
        </p:txBody>
      </p:sp>
      <p:pic>
        <p:nvPicPr>
          <p:cNvPr id="2" name="Imagem 4">
            <a:extLst>
              <a:ext uri="{FF2B5EF4-FFF2-40B4-BE49-F238E27FC236}">
                <a16:creationId xmlns:a16="http://schemas.microsoft.com/office/drawing/2014/main" id="{627E02E6-1384-76AE-59F6-80FCD6B59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1945"/>
            <a:ext cx="12192000" cy="492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663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D03B3-33A7-A339-51FF-7A88C2513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5E22C1-BE77-744B-94BC-82F835001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20</a:t>
            </a:fld>
            <a:endParaRPr lang="en-GB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DB90AA-A6CE-D80E-D6B3-5792FAED0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987" y="488597"/>
            <a:ext cx="10515600" cy="1397353"/>
          </a:xfrm>
        </p:spPr>
        <p:txBody>
          <a:bodyPr>
            <a:noAutofit/>
          </a:bodyPr>
          <a:lstStyle/>
          <a:p>
            <a:pPr algn="ctr"/>
            <a:r>
              <a:rPr lang="pt-PT" b="1" dirty="0">
                <a:solidFill>
                  <a:schemeClr val="bg1"/>
                </a:solidFill>
                <a:cs typeface="Times New Roman" panose="02020603050405020304" pitchFamily="18" charset="0"/>
              </a:rPr>
              <a:t>Moçambique protege o jogo.</a:t>
            </a:r>
            <a:br>
              <a:rPr lang="pt-PT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r>
              <a:rPr lang="pt-PT" b="1" dirty="0">
                <a:solidFill>
                  <a:srgbClr val="FF0000"/>
                </a:solidFill>
                <a:cs typeface="Times New Roman" panose="02020603050405020304" pitchFamily="18" charset="0"/>
              </a:rPr>
              <a:t>Não protege o jogador.</a:t>
            </a:r>
            <a:br>
              <a:rPr lang="pt-PT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endParaRPr lang="pt-PT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881C3F-DBC7-5171-10A2-0EC50FBC7B18}"/>
              </a:ext>
            </a:extLst>
          </p:cNvPr>
          <p:cNvSpPr txBox="1"/>
          <p:nvPr/>
        </p:nvSpPr>
        <p:spPr>
          <a:xfrm>
            <a:off x="290512" y="1510010"/>
            <a:ext cx="11901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pt-PT" sz="2400" cap="all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Comparação regulatória: Reino Unido / Suécia </a:t>
            </a:r>
            <a:r>
              <a:rPr lang="pt-PT" sz="2400" cap="all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vs</a:t>
            </a:r>
            <a:r>
              <a:rPr lang="pt-PT" sz="2400" cap="all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pt-PT" sz="2400" cap="all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MoçambiquE</a:t>
            </a:r>
            <a:endParaRPr lang="pt-PT" sz="24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9A2EECA-20BE-EC6A-F887-CC5E41026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6174"/>
            <a:ext cx="12192000" cy="4191000"/>
          </a:xfrm>
          <a:prstGeom prst="rect">
            <a:avLst/>
          </a:prstGeom>
        </p:spPr>
      </p:pic>
      <p:sp>
        <p:nvSpPr>
          <p:cNvPr id="7" name="CaixaDeTexto 11">
            <a:extLst>
              <a:ext uri="{FF2B5EF4-FFF2-40B4-BE49-F238E27FC236}">
                <a16:creationId xmlns:a16="http://schemas.microsoft.com/office/drawing/2014/main" id="{570A6D0C-F8C7-890F-EB6A-09C3E3ABE5BB}"/>
              </a:ext>
            </a:extLst>
          </p:cNvPr>
          <p:cNvSpPr txBox="1"/>
          <p:nvPr/>
        </p:nvSpPr>
        <p:spPr>
          <a:xfrm>
            <a:off x="4494931" y="6023707"/>
            <a:ext cx="6096000" cy="25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PT" sz="1000" i="1" kern="100" dirty="0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(GOV.UK, 2023, </a:t>
            </a:r>
            <a:r>
              <a:rPr lang="en-US" sz="1000" i="1" kern="100" dirty="0">
                <a:solidFill>
                  <a:schemeClr val="bg1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Streeter, 2025, Wiggin LLP, 2025 )</a:t>
            </a:r>
            <a:endParaRPr lang="pt-PT" sz="1000" kern="100" dirty="0">
              <a:solidFill>
                <a:schemeClr val="bg1"/>
              </a:solidFill>
              <a:effectLst/>
              <a:latin typeface="+mn-lt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886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8A9DD-44A8-D2FA-3974-8A97611F1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8F8F0D1-978A-80E7-F6EC-EF146B101FDE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Recomendações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91F2CC-CD31-973E-DC38-EFD0C2D40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21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06972B-F89A-0607-C359-9835F81667F0}"/>
              </a:ext>
            </a:extLst>
          </p:cNvPr>
          <p:cNvSpPr txBox="1"/>
          <p:nvPr/>
        </p:nvSpPr>
        <p:spPr>
          <a:xfrm>
            <a:off x="2639615" y="1005550"/>
            <a:ext cx="6193630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PT" sz="2400" b="1" i="0" dirty="0">
                <a:solidFill>
                  <a:srgbClr val="1A1A1A"/>
                </a:solidFill>
                <a:effectLst/>
                <a:latin typeface="+mn-lt"/>
              </a:rPr>
              <a:t>O dano é previsível.</a:t>
            </a:r>
          </a:p>
          <a:p>
            <a:pPr algn="ctr">
              <a:spcBef>
                <a:spcPts val="900"/>
              </a:spcBef>
              <a:buNone/>
            </a:pPr>
            <a:r>
              <a:rPr lang="pt-PT" sz="2400" b="1" i="0" dirty="0">
                <a:solidFill>
                  <a:srgbClr val="B71C1C"/>
                </a:solidFill>
                <a:effectLst/>
                <a:latin typeface="+mn-lt"/>
              </a:rPr>
              <a:t>A resposta também pode ser.</a:t>
            </a:r>
          </a:p>
        </p:txBody>
      </p:sp>
      <p:sp>
        <p:nvSpPr>
          <p:cNvPr id="5" name="Retângulo 59">
            <a:extLst>
              <a:ext uri="{FF2B5EF4-FFF2-40B4-BE49-F238E27FC236}">
                <a16:creationId xmlns:a16="http://schemas.microsoft.com/office/drawing/2014/main" id="{876B5A90-1DDC-3F8A-E1E9-F15787F367AB}"/>
              </a:ext>
            </a:extLst>
          </p:cNvPr>
          <p:cNvSpPr/>
          <p:nvPr/>
        </p:nvSpPr>
        <p:spPr>
          <a:xfrm>
            <a:off x="342741" y="2748121"/>
            <a:ext cx="3510597" cy="3643551"/>
          </a:xfrm>
          <a:prstGeom prst="rect">
            <a:avLst/>
          </a:prstGeom>
          <a:ln/>
          <a:effectLst>
            <a:glow rad="63500">
              <a:schemeClr val="accent1">
                <a:satMod val="175000"/>
                <a:alpha val="40000"/>
              </a:schemeClr>
            </a:glow>
          </a:effectLst>
          <a:scene3d>
            <a:camera prst="obliqueTopLeft"/>
            <a:lightRig rig="threePt" dir="t"/>
          </a:scene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2200" b="1" cap="all" dirty="0">
                <a:cs typeface="Times New Roman" panose="02020603050405020304" pitchFamily="18" charset="0"/>
              </a:rPr>
              <a:t>Saúde Pública</a:t>
            </a:r>
          </a:p>
          <a:p>
            <a:endParaRPr lang="pt-PT" sz="2200" b="1" cap="all" dirty="0">
              <a:cs typeface="Times New Roman" panose="02020603050405020304" pitchFamily="18" charset="0"/>
            </a:endParaRPr>
          </a:p>
          <a:p>
            <a:pPr algn="just"/>
            <a:r>
              <a:rPr lang="pt-PT" sz="2200" dirty="0">
                <a:cs typeface="Times New Roman" panose="02020603050405020304" pitchFamily="18" charset="0"/>
              </a:rPr>
              <a:t>Implementar programas de rastreio para o </a:t>
            </a:r>
            <a:r>
              <a:rPr lang="pt-PT" sz="2200" b="1" dirty="0">
                <a:cs typeface="Times New Roman" panose="02020603050405020304" pitchFamily="18" charset="0"/>
              </a:rPr>
              <a:t>Transtorno do Jogo </a:t>
            </a:r>
            <a:r>
              <a:rPr lang="pt-PT" sz="2200" dirty="0">
                <a:cs typeface="Times New Roman" panose="02020603050405020304" pitchFamily="18" charset="0"/>
              </a:rPr>
              <a:t>em unidades de sanitárias.</a:t>
            </a:r>
          </a:p>
          <a:p>
            <a:endParaRPr lang="pt-PT" sz="2200" dirty="0">
              <a:cs typeface="Times New Roman" panose="02020603050405020304" pitchFamily="18" charset="0"/>
            </a:endParaRPr>
          </a:p>
          <a:p>
            <a:endParaRPr lang="pt-PT" sz="2200" dirty="0">
              <a:cs typeface="Times New Roman" panose="02020603050405020304" pitchFamily="18" charset="0"/>
            </a:endParaRPr>
          </a:p>
          <a:p>
            <a:r>
              <a:rPr lang="pt-PT" sz="2200" b="1" dirty="0">
                <a:cs typeface="Times New Roman" panose="02020603050405020304" pitchFamily="18" charset="0"/>
              </a:rPr>
              <a:t>▶ Diagnóstico precoce</a:t>
            </a:r>
          </a:p>
        </p:txBody>
      </p:sp>
      <p:sp>
        <p:nvSpPr>
          <p:cNvPr id="7" name="Retângulo 62">
            <a:extLst>
              <a:ext uri="{FF2B5EF4-FFF2-40B4-BE49-F238E27FC236}">
                <a16:creationId xmlns:a16="http://schemas.microsoft.com/office/drawing/2014/main" id="{E82A2EF4-DD2F-D089-86FD-EC1D82AECD9F}"/>
              </a:ext>
            </a:extLst>
          </p:cNvPr>
          <p:cNvSpPr/>
          <p:nvPr/>
        </p:nvSpPr>
        <p:spPr>
          <a:xfrm>
            <a:off x="4063365" y="2748121"/>
            <a:ext cx="3510597" cy="3643551"/>
          </a:xfrm>
          <a:prstGeom prst="rect">
            <a:avLst/>
          </a:prstGeom>
          <a:ln/>
          <a:effectLst>
            <a:glow rad="63500">
              <a:schemeClr val="accent1">
                <a:satMod val="175000"/>
                <a:alpha val="40000"/>
              </a:schemeClr>
            </a:glow>
          </a:effectLst>
          <a:scene3d>
            <a:camera prst="obliqueTopLeft"/>
            <a:lightRig rig="threePt" dir="t"/>
          </a:scene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2200" b="1" cap="all" dirty="0">
                <a:cs typeface="Times New Roman" panose="02020603050405020304" pitchFamily="18" charset="0"/>
              </a:rPr>
              <a:t>Intervenção</a:t>
            </a:r>
          </a:p>
          <a:p>
            <a:endParaRPr lang="pt-PT" sz="2200" dirty="0">
              <a:cs typeface="Times New Roman" panose="02020603050405020304" pitchFamily="18" charset="0"/>
            </a:endParaRPr>
          </a:p>
          <a:p>
            <a:pPr algn="ctr"/>
            <a:r>
              <a:rPr lang="pt-PT" sz="2200" dirty="0">
                <a:cs typeface="Times New Roman" panose="02020603050405020304" pitchFamily="18" charset="0"/>
              </a:rPr>
              <a:t>Apoio psicológico obrigatório subsidiado pelas </a:t>
            </a:r>
            <a:r>
              <a:rPr lang="pt-PT" sz="2200" b="1" dirty="0">
                <a:cs typeface="Times New Roman" panose="02020603050405020304" pitchFamily="18" charset="0"/>
              </a:rPr>
              <a:t>receitas fiscais</a:t>
            </a:r>
            <a:r>
              <a:rPr lang="pt-PT" sz="2200" dirty="0">
                <a:cs typeface="Times New Roman" panose="02020603050405020304" pitchFamily="18" charset="0"/>
              </a:rPr>
              <a:t> da indústria do jogo.</a:t>
            </a:r>
          </a:p>
          <a:p>
            <a:endParaRPr lang="pt-PT" sz="2200" dirty="0">
              <a:cs typeface="Times New Roman" panose="02020603050405020304" pitchFamily="18" charset="0"/>
            </a:endParaRPr>
          </a:p>
          <a:p>
            <a:endParaRPr lang="pt-PT" sz="2200" dirty="0">
              <a:cs typeface="Times New Roman" panose="02020603050405020304" pitchFamily="18" charset="0"/>
            </a:endParaRPr>
          </a:p>
          <a:p>
            <a:r>
              <a:rPr lang="pt-PT" sz="2200" b="1" dirty="0">
                <a:cs typeface="Times New Roman" panose="02020603050405020304" pitchFamily="18" charset="0"/>
              </a:rPr>
              <a:t>▶ Quem lucra, financia a solução</a:t>
            </a:r>
          </a:p>
        </p:txBody>
      </p:sp>
      <p:sp>
        <p:nvSpPr>
          <p:cNvPr id="8" name="Retângulo 61">
            <a:extLst>
              <a:ext uri="{FF2B5EF4-FFF2-40B4-BE49-F238E27FC236}">
                <a16:creationId xmlns:a16="http://schemas.microsoft.com/office/drawing/2014/main" id="{9CAAA630-F015-7103-149F-F2E1FBC89FE8}"/>
              </a:ext>
            </a:extLst>
          </p:cNvPr>
          <p:cNvSpPr/>
          <p:nvPr/>
        </p:nvSpPr>
        <p:spPr>
          <a:xfrm>
            <a:off x="7783989" y="2748120"/>
            <a:ext cx="3510597" cy="3643551"/>
          </a:xfrm>
          <a:prstGeom prst="rect">
            <a:avLst/>
          </a:prstGeom>
          <a:ln/>
          <a:effectLst>
            <a:glow rad="63500">
              <a:schemeClr val="accent1">
                <a:satMod val="175000"/>
                <a:alpha val="40000"/>
              </a:schemeClr>
            </a:glow>
          </a:effectLst>
          <a:scene3d>
            <a:camera prst="obliqueTopLeft"/>
            <a:lightRig rig="threePt" dir="t"/>
          </a:scene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2200" b="1" cap="all" dirty="0">
                <a:cs typeface="Times New Roman" panose="02020603050405020304" pitchFamily="18" charset="0"/>
              </a:rPr>
              <a:t>Regulação</a:t>
            </a:r>
          </a:p>
          <a:p>
            <a:endParaRPr lang="pt-PT" sz="2200" b="1" cap="all" dirty="0">
              <a:cs typeface="Times New Roman" panose="02020603050405020304" pitchFamily="18" charset="0"/>
            </a:endParaRPr>
          </a:p>
          <a:p>
            <a:endParaRPr lang="pt-PT" sz="2200" dirty="0">
              <a:cs typeface="Times New Roman" panose="02020603050405020304" pitchFamily="18" charset="0"/>
            </a:endParaRPr>
          </a:p>
          <a:p>
            <a:pPr algn="ctr"/>
            <a:r>
              <a:rPr lang="pt-PT" sz="2200" dirty="0">
                <a:cs typeface="Times New Roman" panose="02020603050405020304" pitchFamily="18" charset="0"/>
              </a:rPr>
              <a:t>Incluir: </a:t>
            </a:r>
            <a:r>
              <a:rPr lang="pt-PT" sz="2200" b="1" dirty="0">
                <a:cs typeface="Times New Roman" panose="02020603050405020304" pitchFamily="18" charset="0"/>
              </a:rPr>
              <a:t>autoexclusão</a:t>
            </a:r>
            <a:r>
              <a:rPr lang="pt-PT" sz="2200" dirty="0">
                <a:cs typeface="Times New Roman" panose="02020603050405020304" pitchFamily="18" charset="0"/>
              </a:rPr>
              <a:t> e </a:t>
            </a:r>
            <a:r>
              <a:rPr lang="pt-PT" sz="2200" b="1" dirty="0">
                <a:cs typeface="Times New Roman" panose="02020603050405020304" pitchFamily="18" charset="0"/>
              </a:rPr>
              <a:t>limites de perdas obrigatórios</a:t>
            </a:r>
            <a:r>
              <a:rPr lang="pt-PT" sz="2200" dirty="0">
                <a:cs typeface="Times New Roman" panose="02020603050405020304" pitchFamily="18" charset="0"/>
              </a:rPr>
              <a:t>.</a:t>
            </a:r>
          </a:p>
          <a:p>
            <a:endParaRPr lang="pt-PT" sz="2200" dirty="0">
              <a:cs typeface="Times New Roman" panose="02020603050405020304" pitchFamily="18" charset="0"/>
            </a:endParaRPr>
          </a:p>
          <a:p>
            <a:endParaRPr lang="pt-PT" sz="2200" dirty="0">
              <a:cs typeface="Times New Roman" panose="02020603050405020304" pitchFamily="18" charset="0"/>
            </a:endParaRPr>
          </a:p>
          <a:p>
            <a:endParaRPr lang="pt-PT" sz="2200" dirty="0">
              <a:cs typeface="Times New Roman" panose="02020603050405020304" pitchFamily="18" charset="0"/>
            </a:endParaRPr>
          </a:p>
          <a:p>
            <a:r>
              <a:rPr lang="pt-PT" sz="2200" b="1" dirty="0">
                <a:cs typeface="Times New Roman" panose="02020603050405020304" pitchFamily="18" charset="0"/>
              </a:rPr>
              <a:t>▶ Alinhamento com padrões internacionais</a:t>
            </a:r>
          </a:p>
        </p:txBody>
      </p:sp>
      <p:sp>
        <p:nvSpPr>
          <p:cNvPr id="9" name="CaixaDeTexto 64">
            <a:extLst>
              <a:ext uri="{FF2B5EF4-FFF2-40B4-BE49-F238E27FC236}">
                <a16:creationId xmlns:a16="http://schemas.microsoft.com/office/drawing/2014/main" id="{11C6F4C5-B3E3-3D7E-705C-C41FC228D00C}"/>
              </a:ext>
            </a:extLst>
          </p:cNvPr>
          <p:cNvSpPr txBox="1"/>
          <p:nvPr/>
        </p:nvSpPr>
        <p:spPr>
          <a:xfrm>
            <a:off x="1765855" y="2055623"/>
            <a:ext cx="6511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🏥</a:t>
            </a:r>
            <a:endParaRPr lang="pt-PT" sz="4000" dirty="0"/>
          </a:p>
        </p:txBody>
      </p:sp>
      <p:sp>
        <p:nvSpPr>
          <p:cNvPr id="10" name="CaixaDeTexto 68">
            <a:extLst>
              <a:ext uri="{FF2B5EF4-FFF2-40B4-BE49-F238E27FC236}">
                <a16:creationId xmlns:a16="http://schemas.microsoft.com/office/drawing/2014/main" id="{BE8F5A8C-BA24-033F-7997-DF7A0DDBC24E}"/>
              </a:ext>
            </a:extLst>
          </p:cNvPr>
          <p:cNvSpPr txBox="1"/>
          <p:nvPr/>
        </p:nvSpPr>
        <p:spPr>
          <a:xfrm>
            <a:off x="5501810" y="2050026"/>
            <a:ext cx="731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🧠</a:t>
            </a:r>
            <a:endParaRPr lang="pt-PT" sz="3600" dirty="0"/>
          </a:p>
        </p:txBody>
      </p:sp>
      <p:sp>
        <p:nvSpPr>
          <p:cNvPr id="11" name="CaixaDeTexto 66">
            <a:extLst>
              <a:ext uri="{FF2B5EF4-FFF2-40B4-BE49-F238E27FC236}">
                <a16:creationId xmlns:a16="http://schemas.microsoft.com/office/drawing/2014/main" id="{477BD915-08A7-2E13-62DD-B49BD128E769}"/>
              </a:ext>
            </a:extLst>
          </p:cNvPr>
          <p:cNvSpPr txBox="1"/>
          <p:nvPr/>
        </p:nvSpPr>
        <p:spPr>
          <a:xfrm>
            <a:off x="9318145" y="2026876"/>
            <a:ext cx="741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⚖️</a:t>
            </a:r>
            <a:endParaRPr lang="pt-PT" sz="3600" dirty="0"/>
          </a:p>
        </p:txBody>
      </p:sp>
    </p:spTree>
    <p:extLst>
      <p:ext uri="{BB962C8B-B14F-4D97-AF65-F5344CB8AC3E}">
        <p14:creationId xmlns:p14="http://schemas.microsoft.com/office/powerpoint/2010/main" val="2614747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C6350-EB89-C72D-AB1C-F38AE2F8B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2F8982-E48A-812C-186B-B68EA55A9DFC}"/>
              </a:ext>
            </a:extLst>
          </p:cNvPr>
          <p:cNvSpPr txBox="1"/>
          <p:nvPr/>
        </p:nvSpPr>
        <p:spPr>
          <a:xfrm>
            <a:off x="2416995" y="221163"/>
            <a:ext cx="6169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pt-PT" altLang="en-US" sz="3600" b="1" dirty="0">
                <a:solidFill>
                  <a:schemeClr val="bg1"/>
                </a:solidFill>
                <a:cs typeface="Arial" panose="020B0604020202020204" pitchFamily="34" charset="0"/>
              </a:rPr>
              <a:t>Referências </a:t>
            </a:r>
            <a:endParaRPr lang="pt-BR" sz="3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512BEF-A72F-1630-6753-0D3FAB9D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22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B5C25A-33D5-A762-3602-19966429F014}"/>
              </a:ext>
            </a:extLst>
          </p:cNvPr>
          <p:cNvSpPr txBox="1"/>
          <p:nvPr/>
        </p:nvSpPr>
        <p:spPr>
          <a:xfrm>
            <a:off x="172121" y="1155493"/>
            <a:ext cx="1151505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1. Caroline N. Nguyen. (2022). </a:t>
            </a:r>
            <a:r>
              <a:rPr lang="en-US" sz="1400" i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Neurobiology of Pathological Gambling: A Literature Review</a:t>
            </a: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. Scholarly Review Journal Fal. </a:t>
            </a: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https://doi.org/10.70121/001c.121678</a:t>
            </a:r>
            <a:endParaRPr lang="en-US" sz="14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pt-PT" sz="14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2. Dowling, N. A., Hawker, C. O., Merkouris, S. S., Rodda, S. N., &amp; Hodgins, D. C. (2025). Addressing gambling harm to affected others: A scoping review (Part I: Prevalence, socio-demographic profiles, gambling profiles, and harm). </a:t>
            </a:r>
            <a:r>
              <a:rPr lang="en-US" sz="1400" i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Clinical Psychology Review</a:t>
            </a: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116</a:t>
            </a: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, 102542. </a:t>
            </a: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https://doi.org/10.1016/j.cpr.2025.102542</a:t>
            </a:r>
            <a:endParaRPr lang="en-US" sz="14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pt-PT" sz="14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3. GOV.UK. (2023, </a:t>
            </a:r>
            <a:r>
              <a:rPr lang="en-US" sz="1400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abril</a:t>
            </a: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 27). </a:t>
            </a:r>
            <a:r>
              <a:rPr lang="en-US" sz="1400" i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Major reform of gambling laws to protect vulnerable users in smartphone era</a:t>
            </a: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. </a:t>
            </a: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https://www.gov.uk/government/news/major-reform-of-gambling-laws-to-protect-vulnerable-users-in-smartphone-era</a:t>
            </a:r>
            <a:endParaRPr lang="en-US" sz="14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pt-PT" sz="14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pt-PT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4. </a:t>
            </a:r>
            <a:r>
              <a:rPr lang="pt-PT" sz="1400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Stahl</a:t>
            </a:r>
            <a:r>
              <a:rPr lang="pt-PT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, S. M. (2014). </a:t>
            </a:r>
            <a:r>
              <a:rPr lang="pt-PT" sz="1400" i="1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Psicofarcamacologia</a:t>
            </a:r>
            <a:r>
              <a:rPr lang="pt-PT" sz="1400" i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: Bases neurocientíficas e aplicações</a:t>
            </a:r>
            <a:r>
              <a:rPr lang="pt-PT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 (4.</a:t>
            </a:r>
            <a:r>
              <a:rPr lang="pt-PT" sz="1400" baseline="300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</a:t>
            </a:r>
            <a:r>
              <a:rPr lang="pt-PT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 ed.). Editora Guanabara </a:t>
            </a:r>
            <a:r>
              <a:rPr lang="pt-PT" sz="1400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Koogan</a:t>
            </a:r>
            <a:r>
              <a:rPr lang="pt-PT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 Ltda.</a:t>
            </a:r>
          </a:p>
          <a:p>
            <a:pPr>
              <a:lnSpc>
                <a:spcPct val="100000"/>
              </a:lnSpc>
            </a:pPr>
            <a:endParaRPr lang="pt-PT" sz="14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pt-PT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5. </a:t>
            </a:r>
            <a:r>
              <a:rPr lang="pt-PT" sz="1400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Streeter</a:t>
            </a:r>
            <a:r>
              <a:rPr lang="pt-PT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, J. (2025, dezembro 2). </a:t>
            </a:r>
            <a:r>
              <a:rPr lang="pt-PT" sz="1400" i="1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Sweden</a:t>
            </a:r>
            <a:r>
              <a:rPr lang="pt-PT" sz="1400" i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 takes gambling </a:t>
            </a:r>
            <a:r>
              <a:rPr lang="pt-PT" sz="1400" i="1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shift</a:t>
            </a:r>
            <a:r>
              <a:rPr lang="pt-PT" sz="1400" i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 for 2026 </a:t>
            </a:r>
            <a:r>
              <a:rPr lang="pt-PT" sz="1400" i="1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reform</a:t>
            </a:r>
            <a:r>
              <a:rPr lang="pt-PT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. </a:t>
            </a:r>
            <a:r>
              <a:rPr lang="pt-PT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https://igamingexpert.com/regions/europe/sweden-reform/</a:t>
            </a:r>
            <a:endParaRPr lang="pt-PT" sz="14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pt-PT" sz="14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6. The Lancet Public Health,  null. (2021). Gambling: A neglected public health issue. </a:t>
            </a:r>
            <a:r>
              <a:rPr lang="en-US" sz="1400" i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The Lancet. Public Health</a:t>
            </a: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6</a:t>
            </a: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(1), e1. </a:t>
            </a: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https://doi.org/10.1016/S2468-2667(20)30290-5</a:t>
            </a:r>
            <a:endParaRPr lang="en-US" sz="14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pt-PT" sz="14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7. Wardle, H., Degenhardt, L., </a:t>
            </a:r>
            <a:r>
              <a:rPr lang="en-US" sz="1400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Marionneau</a:t>
            </a: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, V., Reith, G., Livingstone, C., Sparrow, M., Tran, L. T., </a:t>
            </a:r>
            <a:r>
              <a:rPr lang="en-US" sz="1400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Biggar</a:t>
            </a: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, B., Bunn, C., Farrell, M., </a:t>
            </a:r>
            <a:r>
              <a:rPr lang="en-US" sz="1400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Kesaite</a:t>
            </a: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, V., Poznyak, V., Quan, J., Rehm, J., Rintoul, A., Sharma, M., Shiffman, J., </a:t>
            </a:r>
            <a:r>
              <a:rPr lang="en-US" sz="1400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Siste</a:t>
            </a: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, K., </a:t>
            </a:r>
            <a:r>
              <a:rPr lang="en-US" sz="1400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Ukhova</a:t>
            </a: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, D., … Saxena, S. (2024). The Lancet Public Health Commission on gambling. </a:t>
            </a:r>
            <a:r>
              <a:rPr lang="en-US" sz="1400" i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The Lancet Public Health</a:t>
            </a: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9</a:t>
            </a: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(11), e950–e994. </a:t>
            </a: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https://doi.org/10.1016/S2468-2667(24)00167-1</a:t>
            </a:r>
            <a:endParaRPr lang="en-US" sz="14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pt-PT" sz="14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8. Wiggin LLP. (2025). </a:t>
            </a:r>
            <a:r>
              <a:rPr lang="en-US" sz="1400" i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Remote game design changes: Taking effect 17 January 2025</a:t>
            </a: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. https://</a:t>
            </a:r>
            <a:r>
              <a:rPr lang="en-US" sz="1400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www.wiggin.co.uk</a:t>
            </a:r>
            <a:r>
              <a:rPr lang="en-US" sz="14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/insight/remote-game-design-changes-taking-effect-17-january-2025</a:t>
            </a:r>
            <a:endParaRPr lang="en-PT" sz="24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73951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3">
            <a:extLst>
              <a:ext uri="{FF2B5EF4-FFF2-40B4-BE49-F238E27FC236}">
                <a16:creationId xmlns:a16="http://schemas.microsoft.com/office/drawing/2014/main" id="{ED9512A6-4B03-4E2D-B89A-2C313E59E00C}"/>
              </a:ext>
            </a:extLst>
          </p:cNvPr>
          <p:cNvSpPr txBox="1"/>
          <p:nvPr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CaixaDeTexto 3">
            <a:extLst>
              <a:ext uri="{FF2B5EF4-FFF2-40B4-BE49-F238E27FC236}">
                <a16:creationId xmlns:a16="http://schemas.microsoft.com/office/drawing/2014/main" id="{9A4DD2E7-4F49-8D49-8B50-82758105787C}"/>
              </a:ext>
            </a:extLst>
          </p:cNvPr>
          <p:cNvSpPr txBox="1"/>
          <p:nvPr/>
        </p:nvSpPr>
        <p:spPr>
          <a:xfrm>
            <a:off x="1345915" y="2274283"/>
            <a:ext cx="9185095" cy="1154717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n-US" sz="4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Obrigado</a:t>
            </a: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!”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6074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0337,3320345,3321926,3321402,3322870,3321610]}"/>
</p:tagLst>
</file>

<file path=ppt/theme/theme1.xml><?xml version="1.0" encoding="utf-8"?>
<a:theme xmlns:a="http://schemas.openxmlformats.org/drawingml/2006/main" name="Slic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9300</TotalTime>
  <Words>1302</Words>
  <Application>Microsoft Office PowerPoint</Application>
  <PresentationFormat>Widescreen</PresentationFormat>
  <Paragraphs>191</Paragraphs>
  <Slides>23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Slice</vt:lpstr>
      <vt:lpstr>Tema do Office</vt:lpstr>
      <vt:lpstr>PowerPoint Presentation</vt:lpstr>
      <vt:lpstr>PowerPoint Presentation</vt:lpstr>
      <vt:lpstr>PowerPoint Presentation</vt:lpstr>
      <vt:lpstr>PowerPoint Presentation</vt:lpstr>
      <vt:lpstr>    Pergunta Central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 jogo treina o cérebro a perseguir a próxima recompensa</vt:lpstr>
      <vt:lpstr>O jogo não é entretenimento. É um sistema que explora o cérebro</vt:lpstr>
      <vt:lpstr>PowerPoint Presentation</vt:lpstr>
      <vt:lpstr>Dano do jogo a outros afectados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Moçambique protege o jogo. Não protege o jogador.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Hassan Dassat</cp:lastModifiedBy>
  <cp:revision>133</cp:revision>
  <dcterms:created xsi:type="dcterms:W3CDTF">2025-07-14T08:03:00Z</dcterms:created>
  <dcterms:modified xsi:type="dcterms:W3CDTF">2026-10-06T09:46:35Z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2CAEBBA65D8B41AC85F32BF362082C4A_13</vt:lpwstr>
  </property>
  <property fmtid="{D5CDD505-2E9C-101B-9397-08002B2CF9AE}" pid="3" name="KSOProductBuildVer">
    <vt:lpwstr>1033-12.2.0.22549</vt:lpwstr>
  </property>
</Properties>
</file>