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333" r:id="rId4"/>
    <p:sldId id="345" r:id="rId5"/>
    <p:sldId id="346" r:id="rId6"/>
    <p:sldId id="382" r:id="rId7"/>
    <p:sldId id="347" r:id="rId8"/>
    <p:sldId id="349" r:id="rId9"/>
    <p:sldId id="350" r:id="rId10"/>
    <p:sldId id="351" r:id="rId11"/>
    <p:sldId id="343" r:id="rId12"/>
  </p:sldIdLst>
  <p:sldSz cx="12192000" cy="6858000"/>
  <p:notesSz cx="6858000" cy="9144000"/>
  <p:custDataLst>
    <p:tags r:id="rId15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600"/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797C8-0E34-4105-B43A-9473771095AA}" v="45" dt="2026-09-17T12:31:44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69041"/>
  </p:normalViewPr>
  <p:slideViewPr>
    <p:cSldViewPr snapToGrid="0">
      <p:cViewPr varScale="1">
        <p:scale>
          <a:sx n="82" d="100"/>
          <a:sy n="82" d="100"/>
        </p:scale>
        <p:origin x="19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image" Target="../media/image11.jpg"/><Relationship Id="rId4" Type="http://schemas.openxmlformats.org/officeDocument/2006/relationships/image" Target="../media/image14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image" Target="../media/image11.jpg"/><Relationship Id="rId4" Type="http://schemas.openxmlformats.org/officeDocument/2006/relationships/image" Target="../media/image1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C8A50B-585B-C543-B79D-628F7E0C078D}" type="doc">
      <dgm:prSet loTypeId="urn:microsoft.com/office/officeart/2005/8/layout/vList4" loCatId="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GB"/>
        </a:p>
      </dgm:t>
    </dgm:pt>
    <dgm:pt modelId="{1EB3CAF7-330A-B441-A4E6-3D1FBD1EF61F}">
      <dgm:prSet phldrT="[Text]"/>
      <dgm:spPr/>
      <dgm:t>
        <a:bodyPr/>
        <a:lstStyle/>
        <a:p>
          <a:r>
            <a:rPr lang="en-GB" dirty="0">
              <a:solidFill>
                <a:schemeClr val="bg1"/>
              </a:solidFill>
            </a:rPr>
            <a:t>Burnout,</a:t>
          </a:r>
          <a:r>
            <a:rPr lang="en-PT" dirty="0">
              <a:solidFill>
                <a:schemeClr val="bg1"/>
              </a:solidFill>
            </a:rPr>
            <a:t> ansiedade, trauma secundário e exposição contínua ao sofrimento podem favorecer o jogo como distração, alívio emocional imediato ou tentativa de “desligar”.</a:t>
          </a:r>
          <a:endParaRPr lang="en-GB" dirty="0">
            <a:solidFill>
              <a:schemeClr val="bg1"/>
            </a:solidFill>
          </a:endParaRPr>
        </a:p>
      </dgm:t>
    </dgm:pt>
    <dgm:pt modelId="{C6EADF2F-0548-444E-9561-CF1D077CC0F4}" type="parTrans" cxnId="{414BA5B2-246A-9741-847B-516299E5A7A6}">
      <dgm:prSet/>
      <dgm:spPr/>
      <dgm:t>
        <a:bodyPr/>
        <a:lstStyle/>
        <a:p>
          <a:endParaRPr lang="en-GB"/>
        </a:p>
      </dgm:t>
    </dgm:pt>
    <dgm:pt modelId="{BDFAD6EE-E568-FC4B-8E6B-D4508AC8A61C}" type="sibTrans" cxnId="{414BA5B2-246A-9741-847B-516299E5A7A6}">
      <dgm:prSet/>
      <dgm:spPr/>
      <dgm:t>
        <a:bodyPr/>
        <a:lstStyle/>
        <a:p>
          <a:endParaRPr lang="en-GB"/>
        </a:p>
      </dgm:t>
    </dgm:pt>
    <dgm:pt modelId="{13223A55-38EA-0D40-B354-B6ACEC839DE7}">
      <dgm:prSet phldrT="[Text]"/>
      <dgm:spPr/>
      <dgm:t>
        <a:bodyPr/>
        <a:lstStyle/>
        <a:p>
          <a:r>
            <a:rPr lang="en-PT" dirty="0">
              <a:solidFill>
                <a:schemeClr val="bg1"/>
              </a:solidFill>
            </a:rPr>
            <a:t>Remuneração insuficiente ou irregular pode alimentar a ilusão de rendimento rápido. O acesso a apostas online, microcrédito e carteiras móveis facilita perdas, endividamento e a tentativa de recuperar o dinheiro perdid</a:t>
          </a:r>
          <a:endParaRPr lang="en-GB" dirty="0">
            <a:solidFill>
              <a:schemeClr val="bg1"/>
            </a:solidFill>
          </a:endParaRPr>
        </a:p>
      </dgm:t>
    </dgm:pt>
    <dgm:pt modelId="{0EECA8EB-BFC3-5C4D-B3AA-7CE5A6E9409A}" type="parTrans" cxnId="{65592763-53B9-C643-92E9-940EBE3EE548}">
      <dgm:prSet/>
      <dgm:spPr/>
      <dgm:t>
        <a:bodyPr/>
        <a:lstStyle/>
        <a:p>
          <a:endParaRPr lang="en-GB"/>
        </a:p>
      </dgm:t>
    </dgm:pt>
    <dgm:pt modelId="{AFE21EEB-B0E9-E54A-9EB3-EFE49DEF6CDB}" type="sibTrans" cxnId="{65592763-53B9-C643-92E9-940EBE3EE548}">
      <dgm:prSet/>
      <dgm:spPr/>
      <dgm:t>
        <a:bodyPr/>
        <a:lstStyle/>
        <a:p>
          <a:endParaRPr lang="en-GB"/>
        </a:p>
      </dgm:t>
    </dgm:pt>
    <dgm:pt modelId="{B45DE86A-45D8-1C45-B9EE-F5F0DB8F95A5}">
      <dgm:prSet phldrT="[Text]"/>
      <dgm:spPr/>
      <dgm:t>
        <a:bodyPr/>
        <a:lstStyle/>
        <a:p>
          <a:r>
            <a:rPr lang="en-PT" b="0" i="0" u="none" strike="noStrike" dirty="0">
              <a:solidFill>
                <a:schemeClr val="bg1"/>
              </a:solidFill>
              <a:effectLst/>
              <a:latin typeface="Century Gothic" panose="020B0502020202020204" pitchFamily="34" charset="0"/>
            </a:rPr>
            <a:t>Turnos nocturnos, isolamento e acesso pelo telemóvel facilitam o jogo.</a:t>
          </a:r>
        </a:p>
        <a:p>
          <a:r>
            <a:rPr lang="en-PT" b="0" i="0" u="none" strike="noStrike" dirty="0">
              <a:solidFill>
                <a:schemeClr val="bg1"/>
              </a:solidFill>
              <a:effectLst/>
              <a:latin typeface="Century Gothic" panose="020B0502020202020204" pitchFamily="34" charset="0"/>
            </a:rPr>
            <a:t>A privação de sono reduz o julgamento crítico e aumenta a impulsividade. </a:t>
          </a:r>
          <a:endParaRPr lang="en-GB" dirty="0"/>
        </a:p>
      </dgm:t>
    </dgm:pt>
    <dgm:pt modelId="{C86257F2-AC95-4C4D-A8C4-5027B8DA8689}" type="parTrans" cxnId="{ACD69D28-F452-BF4E-85CA-E20707AC8BE3}">
      <dgm:prSet/>
      <dgm:spPr/>
      <dgm:t>
        <a:bodyPr/>
        <a:lstStyle/>
        <a:p>
          <a:endParaRPr lang="en-GB"/>
        </a:p>
      </dgm:t>
    </dgm:pt>
    <dgm:pt modelId="{94A63379-2E65-8B4D-A689-453162827A7F}" type="sibTrans" cxnId="{ACD69D28-F452-BF4E-85CA-E20707AC8BE3}">
      <dgm:prSet/>
      <dgm:spPr/>
      <dgm:t>
        <a:bodyPr/>
        <a:lstStyle/>
        <a:p>
          <a:endParaRPr lang="en-GB"/>
        </a:p>
      </dgm:t>
    </dgm:pt>
    <dgm:pt modelId="{A698AEDF-1462-2248-B709-EEC287DFCD11}">
      <dgm:prSet/>
      <dgm:spPr/>
      <dgm:t>
        <a:bodyPr/>
        <a:lstStyle/>
        <a:p>
          <a:pPr>
            <a:buNone/>
          </a:pPr>
          <a:r>
            <a:rPr lang="en-PT">
              <a:solidFill>
                <a:schemeClr val="bg1"/>
              </a:solidFill>
            </a:rPr>
            <a:t>competitividade, autoconfiança excessiva e ilusão de controlo podem levar à crença de que é possível prever resultados. O estigma, a vergonha e o receio de consequências profissionais favorecem ocultação, subnotificação e procura tardia de cuidados.</a:t>
          </a:r>
        </a:p>
      </dgm:t>
    </dgm:pt>
    <dgm:pt modelId="{2300FD26-0EF9-F24A-9D19-AFF3564F6329}" type="parTrans" cxnId="{0022BC42-F67A-FB47-91D1-7985D7AC524B}">
      <dgm:prSet/>
      <dgm:spPr/>
      <dgm:t>
        <a:bodyPr/>
        <a:lstStyle/>
        <a:p>
          <a:endParaRPr lang="en-GB"/>
        </a:p>
      </dgm:t>
    </dgm:pt>
    <dgm:pt modelId="{92CEEACC-0D16-AD4F-974B-E5B410DAF2FF}" type="sibTrans" cxnId="{0022BC42-F67A-FB47-91D1-7985D7AC524B}">
      <dgm:prSet/>
      <dgm:spPr/>
      <dgm:t>
        <a:bodyPr/>
        <a:lstStyle/>
        <a:p>
          <a:endParaRPr lang="en-GB"/>
        </a:p>
      </dgm:t>
    </dgm:pt>
    <dgm:pt modelId="{1770F67D-515F-904A-8834-C10FF8C1BA04}" type="pres">
      <dgm:prSet presAssocID="{55C8A50B-585B-C543-B79D-628F7E0C078D}" presName="linear" presStyleCnt="0">
        <dgm:presLayoutVars>
          <dgm:dir/>
          <dgm:resizeHandles val="exact"/>
        </dgm:presLayoutVars>
      </dgm:prSet>
      <dgm:spPr/>
    </dgm:pt>
    <dgm:pt modelId="{F7B1008B-2119-1743-B105-D09A83345479}" type="pres">
      <dgm:prSet presAssocID="{1EB3CAF7-330A-B441-A4E6-3D1FBD1EF61F}" presName="comp" presStyleCnt="0"/>
      <dgm:spPr/>
    </dgm:pt>
    <dgm:pt modelId="{12287538-1CD2-864F-9A88-ABA4EDE91F82}" type="pres">
      <dgm:prSet presAssocID="{1EB3CAF7-330A-B441-A4E6-3D1FBD1EF61F}" presName="box" presStyleLbl="node1" presStyleIdx="0" presStyleCnt="4" custLinFactNeighborY="3936"/>
      <dgm:spPr/>
    </dgm:pt>
    <dgm:pt modelId="{23C8D383-60C7-6542-BD2F-B258B53468EB}" type="pres">
      <dgm:prSet presAssocID="{1EB3CAF7-330A-B441-A4E6-3D1FBD1EF61F}" presName="img" presStyleLbl="fgImgPlace1" presStyleIdx="0" presStyleCnt="4" custLinFactNeighborX="373" custLinFactNeighborY="8622"/>
      <dgm:spPr>
        <a:blipFill>
          <a:blip xmlns:r="http://schemas.openxmlformats.org/officeDocument/2006/relationships" r:embed="rId1"/>
          <a:srcRect/>
          <a:stretch>
            <a:fillRect t="-23000" b="-23000"/>
          </a:stretch>
        </a:blipFill>
      </dgm:spPr>
    </dgm:pt>
    <dgm:pt modelId="{43F40E2B-C499-1F49-A24B-D2629C8658A8}" type="pres">
      <dgm:prSet presAssocID="{1EB3CAF7-330A-B441-A4E6-3D1FBD1EF61F}" presName="text" presStyleLbl="node1" presStyleIdx="0" presStyleCnt="4">
        <dgm:presLayoutVars>
          <dgm:bulletEnabled val="1"/>
        </dgm:presLayoutVars>
      </dgm:prSet>
      <dgm:spPr/>
    </dgm:pt>
    <dgm:pt modelId="{8D94A677-AD91-134C-9A97-AA5B1429458F}" type="pres">
      <dgm:prSet presAssocID="{BDFAD6EE-E568-FC4B-8E6B-D4508AC8A61C}" presName="spacer" presStyleCnt="0"/>
      <dgm:spPr/>
    </dgm:pt>
    <dgm:pt modelId="{71EAC675-F107-0248-9F84-0EED966404D1}" type="pres">
      <dgm:prSet presAssocID="{13223A55-38EA-0D40-B354-B6ACEC839DE7}" presName="comp" presStyleCnt="0"/>
      <dgm:spPr/>
    </dgm:pt>
    <dgm:pt modelId="{7799F3B7-BEAB-1D4F-B804-DB97992B41C8}" type="pres">
      <dgm:prSet presAssocID="{13223A55-38EA-0D40-B354-B6ACEC839DE7}" presName="box" presStyleLbl="node1" presStyleIdx="1" presStyleCnt="4"/>
      <dgm:spPr/>
    </dgm:pt>
    <dgm:pt modelId="{2ADF49E9-B3BA-8C4C-8CCC-27EBB6B39ACE}" type="pres">
      <dgm:prSet presAssocID="{13223A55-38EA-0D40-B354-B6ACEC839DE7}" presName="img" presStyleLbl="fgImgPlace1" presStyleIdx="1" presStyleCnt="4"/>
      <dgm:spPr>
        <a:blipFill>
          <a:blip xmlns:r="http://schemas.openxmlformats.org/officeDocument/2006/relationships" r:embed="rId2"/>
          <a:srcRect/>
          <a:stretch>
            <a:fillRect t="-4000" b="-4000"/>
          </a:stretch>
        </a:blipFill>
      </dgm:spPr>
    </dgm:pt>
    <dgm:pt modelId="{3BEA5FA1-194A-F34D-9863-E98AB3FEB77F}" type="pres">
      <dgm:prSet presAssocID="{13223A55-38EA-0D40-B354-B6ACEC839DE7}" presName="text" presStyleLbl="node1" presStyleIdx="1" presStyleCnt="4">
        <dgm:presLayoutVars>
          <dgm:bulletEnabled val="1"/>
        </dgm:presLayoutVars>
      </dgm:prSet>
      <dgm:spPr/>
    </dgm:pt>
    <dgm:pt modelId="{241AFFAA-2388-2D47-96F0-9E9E2803021C}" type="pres">
      <dgm:prSet presAssocID="{AFE21EEB-B0E9-E54A-9EB3-EFE49DEF6CDB}" presName="spacer" presStyleCnt="0"/>
      <dgm:spPr/>
    </dgm:pt>
    <dgm:pt modelId="{1EFE07D8-9BD9-814D-BA02-FF776BEFC711}" type="pres">
      <dgm:prSet presAssocID="{B45DE86A-45D8-1C45-B9EE-F5F0DB8F95A5}" presName="comp" presStyleCnt="0"/>
      <dgm:spPr/>
    </dgm:pt>
    <dgm:pt modelId="{CD33AD27-775C-494B-A569-3F8A8686CC1F}" type="pres">
      <dgm:prSet presAssocID="{B45DE86A-45D8-1C45-B9EE-F5F0DB8F95A5}" presName="box" presStyleLbl="node1" presStyleIdx="2" presStyleCnt="4"/>
      <dgm:spPr/>
    </dgm:pt>
    <dgm:pt modelId="{B74F1492-EB60-2C45-9854-D478C011A3CE}" type="pres">
      <dgm:prSet presAssocID="{B45DE86A-45D8-1C45-B9EE-F5F0DB8F95A5}" presName="img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 t="-18000" b="-18000"/>
          </a:stretch>
        </a:blipFill>
      </dgm:spPr>
    </dgm:pt>
    <dgm:pt modelId="{12464694-61FA-574A-AD05-3DB41D0C6027}" type="pres">
      <dgm:prSet presAssocID="{B45DE86A-45D8-1C45-B9EE-F5F0DB8F95A5}" presName="text" presStyleLbl="node1" presStyleIdx="2" presStyleCnt="4">
        <dgm:presLayoutVars>
          <dgm:bulletEnabled val="1"/>
        </dgm:presLayoutVars>
      </dgm:prSet>
      <dgm:spPr/>
    </dgm:pt>
    <dgm:pt modelId="{83F30AC1-30B5-0041-86CC-3CD0E4C01984}" type="pres">
      <dgm:prSet presAssocID="{94A63379-2E65-8B4D-A689-453162827A7F}" presName="spacer" presStyleCnt="0"/>
      <dgm:spPr/>
    </dgm:pt>
    <dgm:pt modelId="{45544FAD-7DAF-8B46-BEAD-CAA72C648443}" type="pres">
      <dgm:prSet presAssocID="{A698AEDF-1462-2248-B709-EEC287DFCD11}" presName="comp" presStyleCnt="0"/>
      <dgm:spPr/>
    </dgm:pt>
    <dgm:pt modelId="{C461C26C-9504-BB4C-BA43-E05EE7BDB9DF}" type="pres">
      <dgm:prSet presAssocID="{A698AEDF-1462-2248-B709-EEC287DFCD11}" presName="box" presStyleLbl="node1" presStyleIdx="3" presStyleCnt="4"/>
      <dgm:spPr/>
    </dgm:pt>
    <dgm:pt modelId="{76078237-BD17-F04B-A113-2586F025D9AE}" type="pres">
      <dgm:prSet presAssocID="{A698AEDF-1462-2248-B709-EEC287DFCD11}" presName="img" presStyleLbl="fgImgPlace1" presStyleIdx="3" presStyleCnt="4"/>
      <dgm:spPr>
        <a:blipFill>
          <a:blip xmlns:r="http://schemas.openxmlformats.org/officeDocument/2006/relationships" r:embed="rId4"/>
          <a:srcRect/>
          <a:stretch>
            <a:fillRect t="-4000" b="-4000"/>
          </a:stretch>
        </a:blipFill>
      </dgm:spPr>
    </dgm:pt>
    <dgm:pt modelId="{A201CFC9-AA26-F340-BE50-9286C414B1BC}" type="pres">
      <dgm:prSet presAssocID="{A698AEDF-1462-2248-B709-EEC287DFCD11}" presName="text" presStyleLbl="node1" presStyleIdx="3" presStyleCnt="4">
        <dgm:presLayoutVars>
          <dgm:bulletEnabled val="1"/>
        </dgm:presLayoutVars>
      </dgm:prSet>
      <dgm:spPr/>
    </dgm:pt>
  </dgm:ptLst>
  <dgm:cxnLst>
    <dgm:cxn modelId="{43998D17-6481-954A-893F-B5CCAA1DEFFB}" type="presOf" srcId="{B45DE86A-45D8-1C45-B9EE-F5F0DB8F95A5}" destId="{CD33AD27-775C-494B-A569-3F8A8686CC1F}" srcOrd="0" destOrd="0" presId="urn:microsoft.com/office/officeart/2005/8/layout/vList4"/>
    <dgm:cxn modelId="{ACD69D28-F452-BF4E-85CA-E20707AC8BE3}" srcId="{55C8A50B-585B-C543-B79D-628F7E0C078D}" destId="{B45DE86A-45D8-1C45-B9EE-F5F0DB8F95A5}" srcOrd="2" destOrd="0" parTransId="{C86257F2-AC95-4C4D-A8C4-5027B8DA8689}" sibTransId="{94A63379-2E65-8B4D-A689-453162827A7F}"/>
    <dgm:cxn modelId="{A4BBE62E-B57B-9945-B831-797F247FF28B}" type="presOf" srcId="{A698AEDF-1462-2248-B709-EEC287DFCD11}" destId="{A201CFC9-AA26-F340-BE50-9286C414B1BC}" srcOrd="1" destOrd="0" presId="urn:microsoft.com/office/officeart/2005/8/layout/vList4"/>
    <dgm:cxn modelId="{463B2631-3EB1-9E45-A3FF-81FCB48D5B36}" type="presOf" srcId="{13223A55-38EA-0D40-B354-B6ACEC839DE7}" destId="{3BEA5FA1-194A-F34D-9863-E98AB3FEB77F}" srcOrd="1" destOrd="0" presId="urn:microsoft.com/office/officeart/2005/8/layout/vList4"/>
    <dgm:cxn modelId="{CC209A38-BF96-D947-8413-5E95F12FD364}" type="presOf" srcId="{B45DE86A-45D8-1C45-B9EE-F5F0DB8F95A5}" destId="{12464694-61FA-574A-AD05-3DB41D0C6027}" srcOrd="1" destOrd="0" presId="urn:microsoft.com/office/officeart/2005/8/layout/vList4"/>
    <dgm:cxn modelId="{0022BC42-F67A-FB47-91D1-7985D7AC524B}" srcId="{55C8A50B-585B-C543-B79D-628F7E0C078D}" destId="{A698AEDF-1462-2248-B709-EEC287DFCD11}" srcOrd="3" destOrd="0" parTransId="{2300FD26-0EF9-F24A-9D19-AFF3564F6329}" sibTransId="{92CEEACC-0D16-AD4F-974B-E5B410DAF2FF}"/>
    <dgm:cxn modelId="{6B68A662-1DE3-8442-B706-ABFD2CD31BFB}" type="presOf" srcId="{1EB3CAF7-330A-B441-A4E6-3D1FBD1EF61F}" destId="{12287538-1CD2-864F-9A88-ABA4EDE91F82}" srcOrd="0" destOrd="0" presId="urn:microsoft.com/office/officeart/2005/8/layout/vList4"/>
    <dgm:cxn modelId="{65592763-53B9-C643-92E9-940EBE3EE548}" srcId="{55C8A50B-585B-C543-B79D-628F7E0C078D}" destId="{13223A55-38EA-0D40-B354-B6ACEC839DE7}" srcOrd="1" destOrd="0" parTransId="{0EECA8EB-BFC3-5C4D-B3AA-7CE5A6E9409A}" sibTransId="{AFE21EEB-B0E9-E54A-9EB3-EFE49DEF6CDB}"/>
    <dgm:cxn modelId="{6A390D68-2872-A045-A193-D95179AF52E2}" type="presOf" srcId="{1EB3CAF7-330A-B441-A4E6-3D1FBD1EF61F}" destId="{43F40E2B-C499-1F49-A24B-D2629C8658A8}" srcOrd="1" destOrd="0" presId="urn:microsoft.com/office/officeart/2005/8/layout/vList4"/>
    <dgm:cxn modelId="{952E8B72-2BC5-B144-A4C3-FC1EDE5AFBF8}" type="presOf" srcId="{13223A55-38EA-0D40-B354-B6ACEC839DE7}" destId="{7799F3B7-BEAB-1D4F-B804-DB97992B41C8}" srcOrd="0" destOrd="0" presId="urn:microsoft.com/office/officeart/2005/8/layout/vList4"/>
    <dgm:cxn modelId="{414BA5B2-246A-9741-847B-516299E5A7A6}" srcId="{55C8A50B-585B-C543-B79D-628F7E0C078D}" destId="{1EB3CAF7-330A-B441-A4E6-3D1FBD1EF61F}" srcOrd="0" destOrd="0" parTransId="{C6EADF2F-0548-444E-9561-CF1D077CC0F4}" sibTransId="{BDFAD6EE-E568-FC4B-8E6B-D4508AC8A61C}"/>
    <dgm:cxn modelId="{82125CCB-FB7D-2145-A814-307BA30A7394}" type="presOf" srcId="{A698AEDF-1462-2248-B709-EEC287DFCD11}" destId="{C461C26C-9504-BB4C-BA43-E05EE7BDB9DF}" srcOrd="0" destOrd="0" presId="urn:microsoft.com/office/officeart/2005/8/layout/vList4"/>
    <dgm:cxn modelId="{ADFEACDA-EE1A-194A-A6BB-5F53579049C3}" type="presOf" srcId="{55C8A50B-585B-C543-B79D-628F7E0C078D}" destId="{1770F67D-515F-904A-8834-C10FF8C1BA04}" srcOrd="0" destOrd="0" presId="urn:microsoft.com/office/officeart/2005/8/layout/vList4"/>
    <dgm:cxn modelId="{37195C86-B2CE-BF44-B438-E80B6CC211A6}" type="presParOf" srcId="{1770F67D-515F-904A-8834-C10FF8C1BA04}" destId="{F7B1008B-2119-1743-B105-D09A83345479}" srcOrd="0" destOrd="0" presId="urn:microsoft.com/office/officeart/2005/8/layout/vList4"/>
    <dgm:cxn modelId="{F98B4B45-456D-FD4D-BE6B-32082D52D263}" type="presParOf" srcId="{F7B1008B-2119-1743-B105-D09A83345479}" destId="{12287538-1CD2-864F-9A88-ABA4EDE91F82}" srcOrd="0" destOrd="0" presId="urn:microsoft.com/office/officeart/2005/8/layout/vList4"/>
    <dgm:cxn modelId="{C5FBA5BE-6950-BE42-824D-60C69D7D40D2}" type="presParOf" srcId="{F7B1008B-2119-1743-B105-D09A83345479}" destId="{23C8D383-60C7-6542-BD2F-B258B53468EB}" srcOrd="1" destOrd="0" presId="urn:microsoft.com/office/officeart/2005/8/layout/vList4"/>
    <dgm:cxn modelId="{2462B996-25BD-954D-A893-34C4926E00E7}" type="presParOf" srcId="{F7B1008B-2119-1743-B105-D09A83345479}" destId="{43F40E2B-C499-1F49-A24B-D2629C8658A8}" srcOrd="2" destOrd="0" presId="urn:microsoft.com/office/officeart/2005/8/layout/vList4"/>
    <dgm:cxn modelId="{9671A0D4-7FAF-C342-9ABC-CAE4238AB68D}" type="presParOf" srcId="{1770F67D-515F-904A-8834-C10FF8C1BA04}" destId="{8D94A677-AD91-134C-9A97-AA5B1429458F}" srcOrd="1" destOrd="0" presId="urn:microsoft.com/office/officeart/2005/8/layout/vList4"/>
    <dgm:cxn modelId="{49AF9F66-A484-F44C-978A-7E0D0EFB4A9B}" type="presParOf" srcId="{1770F67D-515F-904A-8834-C10FF8C1BA04}" destId="{71EAC675-F107-0248-9F84-0EED966404D1}" srcOrd="2" destOrd="0" presId="urn:microsoft.com/office/officeart/2005/8/layout/vList4"/>
    <dgm:cxn modelId="{18382D52-E14C-964D-94EF-02947EAFA53C}" type="presParOf" srcId="{71EAC675-F107-0248-9F84-0EED966404D1}" destId="{7799F3B7-BEAB-1D4F-B804-DB97992B41C8}" srcOrd="0" destOrd="0" presId="urn:microsoft.com/office/officeart/2005/8/layout/vList4"/>
    <dgm:cxn modelId="{A8C20461-1445-AC46-A768-7F6308F00B7B}" type="presParOf" srcId="{71EAC675-F107-0248-9F84-0EED966404D1}" destId="{2ADF49E9-B3BA-8C4C-8CCC-27EBB6B39ACE}" srcOrd="1" destOrd="0" presId="urn:microsoft.com/office/officeart/2005/8/layout/vList4"/>
    <dgm:cxn modelId="{5ADED1B0-9D55-1046-8E6B-109DF87201F3}" type="presParOf" srcId="{71EAC675-F107-0248-9F84-0EED966404D1}" destId="{3BEA5FA1-194A-F34D-9863-E98AB3FEB77F}" srcOrd="2" destOrd="0" presId="urn:microsoft.com/office/officeart/2005/8/layout/vList4"/>
    <dgm:cxn modelId="{BE28C64B-6CDE-DD4D-8642-6493A8185728}" type="presParOf" srcId="{1770F67D-515F-904A-8834-C10FF8C1BA04}" destId="{241AFFAA-2388-2D47-96F0-9E9E2803021C}" srcOrd="3" destOrd="0" presId="urn:microsoft.com/office/officeart/2005/8/layout/vList4"/>
    <dgm:cxn modelId="{3DD199CB-EE78-704E-8F3B-99690A2EB85B}" type="presParOf" srcId="{1770F67D-515F-904A-8834-C10FF8C1BA04}" destId="{1EFE07D8-9BD9-814D-BA02-FF776BEFC711}" srcOrd="4" destOrd="0" presId="urn:microsoft.com/office/officeart/2005/8/layout/vList4"/>
    <dgm:cxn modelId="{0F060740-6239-B641-8C7E-6239CF1D3899}" type="presParOf" srcId="{1EFE07D8-9BD9-814D-BA02-FF776BEFC711}" destId="{CD33AD27-775C-494B-A569-3F8A8686CC1F}" srcOrd="0" destOrd="0" presId="urn:microsoft.com/office/officeart/2005/8/layout/vList4"/>
    <dgm:cxn modelId="{FA16AF96-FFD0-AA45-A87F-2A949D0ABFC8}" type="presParOf" srcId="{1EFE07D8-9BD9-814D-BA02-FF776BEFC711}" destId="{B74F1492-EB60-2C45-9854-D478C011A3CE}" srcOrd="1" destOrd="0" presId="urn:microsoft.com/office/officeart/2005/8/layout/vList4"/>
    <dgm:cxn modelId="{D92F55D8-0AEF-4B42-ABB2-9EFE3D0EE056}" type="presParOf" srcId="{1EFE07D8-9BD9-814D-BA02-FF776BEFC711}" destId="{12464694-61FA-574A-AD05-3DB41D0C6027}" srcOrd="2" destOrd="0" presId="urn:microsoft.com/office/officeart/2005/8/layout/vList4"/>
    <dgm:cxn modelId="{81620CB4-46C6-AE4E-8FE9-1AFD9E143719}" type="presParOf" srcId="{1770F67D-515F-904A-8834-C10FF8C1BA04}" destId="{83F30AC1-30B5-0041-86CC-3CD0E4C01984}" srcOrd="5" destOrd="0" presId="urn:microsoft.com/office/officeart/2005/8/layout/vList4"/>
    <dgm:cxn modelId="{00B839E6-C18F-7F49-AED8-FCFC6358505F}" type="presParOf" srcId="{1770F67D-515F-904A-8834-C10FF8C1BA04}" destId="{45544FAD-7DAF-8B46-BEAD-CAA72C648443}" srcOrd="6" destOrd="0" presId="urn:microsoft.com/office/officeart/2005/8/layout/vList4"/>
    <dgm:cxn modelId="{DA989DBD-57FF-6E41-B1E8-51A427A40BDC}" type="presParOf" srcId="{45544FAD-7DAF-8B46-BEAD-CAA72C648443}" destId="{C461C26C-9504-BB4C-BA43-E05EE7BDB9DF}" srcOrd="0" destOrd="0" presId="urn:microsoft.com/office/officeart/2005/8/layout/vList4"/>
    <dgm:cxn modelId="{A9563EE9-B105-3840-A342-C4756B33F056}" type="presParOf" srcId="{45544FAD-7DAF-8B46-BEAD-CAA72C648443}" destId="{76078237-BD17-F04B-A113-2586F025D9AE}" srcOrd="1" destOrd="0" presId="urn:microsoft.com/office/officeart/2005/8/layout/vList4"/>
    <dgm:cxn modelId="{741B87D0-2C9F-5641-A629-165827C8118F}" type="presParOf" srcId="{45544FAD-7DAF-8B46-BEAD-CAA72C648443}" destId="{A201CFC9-AA26-F340-BE50-9286C414B1BC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287538-1CD2-864F-9A88-ABA4EDE91F82}">
      <dsp:nvSpPr>
        <dsp:cNvPr id="0" name=""/>
        <dsp:cNvSpPr/>
      </dsp:nvSpPr>
      <dsp:spPr>
        <a:xfrm>
          <a:off x="0" y="49570"/>
          <a:ext cx="12027108" cy="1259416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>
              <a:solidFill>
                <a:schemeClr val="bg1"/>
              </a:solidFill>
            </a:rPr>
            <a:t>Burnout,</a:t>
          </a:r>
          <a:r>
            <a:rPr lang="en-PT" sz="1900" kern="1200" dirty="0">
              <a:solidFill>
                <a:schemeClr val="bg1"/>
              </a:solidFill>
            </a:rPr>
            <a:t> ansiedade, trauma secundário e exposição contínua ao sofrimento podem favorecer o jogo como distração, alívio emocional imediato ou tentativa de “desligar”.</a:t>
          </a:r>
          <a:endParaRPr lang="en-GB" sz="1900" kern="1200" dirty="0">
            <a:solidFill>
              <a:schemeClr val="bg1"/>
            </a:solidFill>
          </a:endParaRPr>
        </a:p>
      </dsp:txBody>
      <dsp:txXfrm>
        <a:off x="2531363" y="49570"/>
        <a:ext cx="9495744" cy="1259416"/>
      </dsp:txXfrm>
    </dsp:sp>
    <dsp:sp modelId="{23C8D383-60C7-6542-BD2F-B258B53468EB}">
      <dsp:nvSpPr>
        <dsp:cNvPr id="0" name=""/>
        <dsp:cNvSpPr/>
      </dsp:nvSpPr>
      <dsp:spPr>
        <a:xfrm>
          <a:off x="134913" y="212811"/>
          <a:ext cx="2405421" cy="100753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23000" b="-23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99F3B7-BEAB-1D4F-B804-DB97992B41C8}">
      <dsp:nvSpPr>
        <dsp:cNvPr id="0" name=""/>
        <dsp:cNvSpPr/>
      </dsp:nvSpPr>
      <dsp:spPr>
        <a:xfrm>
          <a:off x="0" y="1385358"/>
          <a:ext cx="12027108" cy="1259416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hueOff val="0"/>
            <a:satOff val="0"/>
            <a:lumOff val="0"/>
            <a:alphaOff val="-13333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T" sz="1900" kern="1200" dirty="0">
              <a:solidFill>
                <a:schemeClr val="bg1"/>
              </a:solidFill>
            </a:rPr>
            <a:t>Remuneração insuficiente ou irregular pode alimentar a ilusão de rendimento rápido. O acesso a apostas online, microcrédito e carteiras móveis facilita perdas, endividamento e a tentativa de recuperar o dinheiro perdid</a:t>
          </a:r>
          <a:endParaRPr lang="en-GB" sz="1900" kern="1200" dirty="0">
            <a:solidFill>
              <a:schemeClr val="bg1"/>
            </a:solidFill>
          </a:endParaRPr>
        </a:p>
      </dsp:txBody>
      <dsp:txXfrm>
        <a:off x="2531363" y="1385358"/>
        <a:ext cx="9495744" cy="1259416"/>
      </dsp:txXfrm>
    </dsp:sp>
    <dsp:sp modelId="{2ADF49E9-B3BA-8C4C-8CCC-27EBB6B39ACE}">
      <dsp:nvSpPr>
        <dsp:cNvPr id="0" name=""/>
        <dsp:cNvSpPr/>
      </dsp:nvSpPr>
      <dsp:spPr>
        <a:xfrm>
          <a:off x="125941" y="1511300"/>
          <a:ext cx="2405421" cy="100753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4000" b="-4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3AD27-775C-494B-A569-3F8A8686CC1F}">
      <dsp:nvSpPr>
        <dsp:cNvPr id="0" name=""/>
        <dsp:cNvSpPr/>
      </dsp:nvSpPr>
      <dsp:spPr>
        <a:xfrm>
          <a:off x="0" y="2770716"/>
          <a:ext cx="12027108" cy="1259416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hueOff val="0"/>
            <a:satOff val="0"/>
            <a:lumOff val="0"/>
            <a:alphaOff val="-26667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T" sz="1900" b="0" i="0" u="none" strike="noStrike" kern="1200" dirty="0">
              <a:solidFill>
                <a:schemeClr val="bg1"/>
              </a:solidFill>
              <a:effectLst/>
              <a:latin typeface="Century Gothic" panose="020B0502020202020204" pitchFamily="34" charset="0"/>
            </a:rPr>
            <a:t>Turnos nocturnos, isolamento e acesso pelo telemóvel facilitam o jogo.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T" sz="1900" b="0" i="0" u="none" strike="noStrike" kern="1200" dirty="0">
              <a:solidFill>
                <a:schemeClr val="bg1"/>
              </a:solidFill>
              <a:effectLst/>
              <a:latin typeface="Century Gothic" panose="020B0502020202020204" pitchFamily="34" charset="0"/>
            </a:rPr>
            <a:t>A privação de sono reduz o julgamento crítico e aumenta a impulsividade. </a:t>
          </a:r>
          <a:endParaRPr lang="en-GB" sz="1900" kern="1200" dirty="0"/>
        </a:p>
      </dsp:txBody>
      <dsp:txXfrm>
        <a:off x="2531363" y="2770716"/>
        <a:ext cx="9495744" cy="1259416"/>
      </dsp:txXfrm>
    </dsp:sp>
    <dsp:sp modelId="{B74F1492-EB60-2C45-9854-D478C011A3CE}">
      <dsp:nvSpPr>
        <dsp:cNvPr id="0" name=""/>
        <dsp:cNvSpPr/>
      </dsp:nvSpPr>
      <dsp:spPr>
        <a:xfrm>
          <a:off x="125941" y="2896658"/>
          <a:ext cx="2405421" cy="100753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18000" b="-18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61C26C-9504-BB4C-BA43-E05EE7BDB9DF}">
      <dsp:nvSpPr>
        <dsp:cNvPr id="0" name=""/>
        <dsp:cNvSpPr/>
      </dsp:nvSpPr>
      <dsp:spPr>
        <a:xfrm>
          <a:off x="0" y="4156075"/>
          <a:ext cx="12027108" cy="1259416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T" sz="1900" kern="1200">
              <a:solidFill>
                <a:schemeClr val="bg1"/>
              </a:solidFill>
            </a:rPr>
            <a:t>competitividade, autoconfiança excessiva e ilusão de controlo podem levar à crença de que é possível prever resultados. O estigma, a vergonha e o receio de consequências profissionais favorecem ocultação, subnotificação e procura tardia de cuidados.</a:t>
          </a:r>
        </a:p>
      </dsp:txBody>
      <dsp:txXfrm>
        <a:off x="2531363" y="4156075"/>
        <a:ext cx="9495744" cy="1259416"/>
      </dsp:txXfrm>
    </dsp:sp>
    <dsp:sp modelId="{76078237-BD17-F04B-A113-2586F025D9AE}">
      <dsp:nvSpPr>
        <dsp:cNvPr id="0" name=""/>
        <dsp:cNvSpPr/>
      </dsp:nvSpPr>
      <dsp:spPr>
        <a:xfrm>
          <a:off x="125941" y="4282016"/>
          <a:ext cx="2405421" cy="100753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t="-4000" b="-4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505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PT" sz="1200" dirty="0">
                <a:solidFill>
                  <a:schemeClr val="bg1"/>
                </a:solidFill>
              </a:rPr>
              <a:t>O avanço dos smartphones e das plataformas digitais de apostas online multiplicou o acesso e a gravidade dos diagnósticos nos últimos anos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PT" sz="12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PT" sz="1200" dirty="0">
                <a:solidFill>
                  <a:schemeClr val="bg1"/>
                </a:solidFill>
              </a:rPr>
              <a:t>Africa subsaariana </a:t>
            </a:r>
            <a:r>
              <a:rPr lang="en-PT" dirty="0"/>
              <a:t>A região enfrenta uma verdadeira crise latente de jogo problemático entre os jovens. Estudos indicam que a taxa média de envolvimento de jovens em actividades de jogo ronda os </a:t>
            </a:r>
            <a:r>
              <a:rPr lang="en-PT" b="1" dirty="0"/>
              <a:t>54%</a:t>
            </a:r>
            <a:r>
              <a:rPr lang="en-PT" dirty="0"/>
              <a:t> na África Subsariana.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PT" dirty="0"/>
              <a:t>Países como o Quénia apresentam taxas de participação juvenil de até 76%, seguidos pelo Uganda(57%). </a:t>
            </a:r>
          </a:p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37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E657C-0B08-E2CD-D39D-3694E9E10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D1322-0916-CCAE-54B0-98514E5D7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EEF24-D8B8-9B3D-CB4D-14A6440F1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Crescimento das Plataformas Online:</a:t>
            </a:r>
            <a:r>
              <a:rPr lang="en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proliferação de casas de apostas digitais e jogos rápidos — com destaque para o fenómeno </a:t>
            </a:r>
            <a:r>
              <a:rPr lang="en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"Aviator"</a:t>
            </a:r>
            <a:r>
              <a:rPr lang="en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além de marcas como Betway, Premier Bet, 888bets, 1xBet e betPawa — tornou os jogos de azar altamente acessíveis através de telemóveis.</a:t>
            </a:r>
          </a:p>
          <a:p>
            <a:pPr lvl="0"/>
            <a:endParaRPr lang="en-P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Perfil dos Afetados:</a:t>
            </a:r>
            <a:r>
              <a:rPr lang="en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 vício atinge maoritariamente </a:t>
            </a:r>
            <a:r>
              <a:rPr lang="en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jovens e adolescentes</a:t>
            </a:r>
            <a:r>
              <a:rPr lang="en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recorrem às apostas online como uma falsa promessa de rendimento rápido para combater o desemprego e a pobreza.</a:t>
            </a:r>
          </a:p>
          <a:p>
            <a:pPr lvl="0"/>
            <a:endParaRPr lang="en-P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Subnotificação:</a:t>
            </a:r>
            <a:r>
              <a:rPr lang="en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Grande parte dos casos permanece invisível devido ao estigma associado aos problemas de saúde mental e à falta de registos sistemáticos nos centros de atendimento psiquiátrico</a:t>
            </a:r>
          </a:p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282B0-13A8-49FE-8AA8-B775E0434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47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mecanismos</a:t>
            </a:r>
            <a:r>
              <a:rPr dirty="0"/>
              <a:t> </a:t>
            </a:r>
            <a:r>
              <a:rPr dirty="0" err="1"/>
              <a:t>subjacentes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jogo</a:t>
            </a:r>
            <a:r>
              <a:rPr dirty="0"/>
              <a:t> </a:t>
            </a:r>
            <a:r>
              <a:rPr dirty="0" err="1"/>
              <a:t>patológico</a:t>
            </a:r>
            <a:r>
              <a:rPr dirty="0"/>
              <a:t> </a:t>
            </a:r>
            <a:r>
              <a:rPr dirty="0" err="1"/>
              <a:t>assemelham</a:t>
            </a:r>
            <a:r>
              <a:rPr dirty="0"/>
              <a:t>-se </a:t>
            </a:r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aos</a:t>
            </a:r>
            <a:r>
              <a:rPr dirty="0"/>
              <a:t> das </a:t>
            </a:r>
            <a:r>
              <a:rPr dirty="0" err="1"/>
              <a:t>dependências</a:t>
            </a:r>
            <a:r>
              <a:rPr dirty="0"/>
              <a:t> </a:t>
            </a:r>
            <a:r>
              <a:rPr dirty="0" err="1"/>
              <a:t>químicas</a:t>
            </a:r>
            <a:r>
              <a:rPr dirty="0"/>
              <a:t> (como o </a:t>
            </a:r>
            <a:r>
              <a:rPr dirty="0" err="1"/>
              <a:t>álcool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drogas</a:t>
            </a:r>
            <a:r>
              <a:rPr dirty="0"/>
              <a:t>):</a:t>
            </a:r>
          </a:p>
          <a:p>
            <a:r>
              <a:rPr dirty="0"/>
              <a:t>Sistema de </a:t>
            </a:r>
            <a:r>
              <a:rPr dirty="0" err="1"/>
              <a:t>Recompensa</a:t>
            </a:r>
            <a:r>
              <a:rPr dirty="0"/>
              <a:t> Cerebral: O acto de </a:t>
            </a:r>
            <a:r>
              <a:rPr dirty="0" err="1"/>
              <a:t>jogar</a:t>
            </a:r>
            <a:r>
              <a:rPr dirty="0"/>
              <a:t> activa </a:t>
            </a:r>
            <a:r>
              <a:rPr dirty="0" err="1"/>
              <a:t>intensamente</a:t>
            </a:r>
            <a:r>
              <a:rPr dirty="0"/>
              <a:t> o 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dopaminérgico</a:t>
            </a:r>
            <a:r>
              <a:rPr dirty="0"/>
              <a:t> </a:t>
            </a:r>
            <a:r>
              <a:rPr dirty="0" err="1"/>
              <a:t>mesolímbico</a:t>
            </a:r>
            <a:r>
              <a:rPr dirty="0"/>
              <a:t>, o </a:t>
            </a:r>
            <a:r>
              <a:rPr dirty="0" err="1"/>
              <a:t>circuito</a:t>
            </a:r>
            <a:r>
              <a:rPr dirty="0"/>
              <a:t> do </a:t>
            </a:r>
            <a:r>
              <a:rPr dirty="0" err="1"/>
              <a:t>cérebro</a:t>
            </a:r>
            <a:r>
              <a:rPr dirty="0"/>
              <a:t> </a:t>
            </a:r>
            <a:r>
              <a:rPr dirty="0" err="1"/>
              <a:t>responsável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prazer</a:t>
            </a:r>
            <a:r>
              <a:rPr dirty="0"/>
              <a:t> e </a:t>
            </a:r>
            <a:r>
              <a:rPr dirty="0" err="1"/>
              <a:t>recompensa</a:t>
            </a:r>
            <a:r>
              <a:rPr dirty="0"/>
              <a:t>. A </a:t>
            </a:r>
            <a:r>
              <a:rPr dirty="0" err="1"/>
              <a:t>libertação</a:t>
            </a:r>
            <a:r>
              <a:rPr dirty="0"/>
              <a:t> de </a:t>
            </a:r>
            <a:r>
              <a:rPr dirty="0" err="1"/>
              <a:t>dopamina</a:t>
            </a:r>
            <a:r>
              <a:rPr dirty="0"/>
              <a:t> </a:t>
            </a:r>
            <a:r>
              <a:rPr dirty="0" err="1"/>
              <a:t>ocorre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com o </a:t>
            </a:r>
            <a:r>
              <a:rPr dirty="0" err="1"/>
              <a:t>ganho</a:t>
            </a:r>
            <a:r>
              <a:rPr dirty="0"/>
              <a:t>, mas </a:t>
            </a:r>
            <a:r>
              <a:rPr dirty="0" err="1"/>
              <a:t>especialmente</a:t>
            </a:r>
            <a:r>
              <a:rPr dirty="0"/>
              <a:t> com a </a:t>
            </a:r>
            <a:r>
              <a:rPr dirty="0" err="1"/>
              <a:t>antecipação</a:t>
            </a:r>
            <a:r>
              <a:rPr dirty="0"/>
              <a:t> do </a:t>
            </a:r>
            <a:r>
              <a:rPr dirty="0" err="1"/>
              <a:t>ganho</a:t>
            </a:r>
            <a:r>
              <a:rPr dirty="0"/>
              <a:t> (a </a:t>
            </a:r>
            <a:r>
              <a:rPr dirty="0" err="1"/>
              <a:t>incerteza</a:t>
            </a:r>
            <a:r>
              <a:rPr dirty="0"/>
              <a:t>).</a:t>
            </a:r>
          </a:p>
          <a:p>
            <a:r>
              <a:rPr dirty="0" err="1"/>
              <a:t>Mecanismo</a:t>
            </a:r>
            <a:r>
              <a:rPr dirty="0"/>
              <a:t> de "Quase-</a:t>
            </a:r>
            <a:r>
              <a:rPr dirty="0" err="1"/>
              <a:t>Ganho</a:t>
            </a:r>
            <a:r>
              <a:rPr dirty="0"/>
              <a:t>" (Near-Miss): O </a:t>
            </a:r>
            <a:r>
              <a:rPr dirty="0" err="1"/>
              <a:t>cérebro</a:t>
            </a:r>
            <a:r>
              <a:rPr dirty="0"/>
              <a:t> do </a:t>
            </a:r>
            <a:r>
              <a:rPr dirty="0" err="1"/>
              <a:t>jogador</a:t>
            </a:r>
            <a:r>
              <a:rPr dirty="0"/>
              <a:t> </a:t>
            </a:r>
            <a:r>
              <a:rPr dirty="0" err="1"/>
              <a:t>patológico</a:t>
            </a:r>
            <a:r>
              <a:rPr dirty="0"/>
              <a:t> </a:t>
            </a:r>
            <a:r>
              <a:rPr dirty="0" err="1"/>
              <a:t>interpreta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derrota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margem</a:t>
            </a:r>
            <a:r>
              <a:rPr dirty="0"/>
              <a:t> </a:t>
            </a:r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pequena</a:t>
            </a:r>
            <a:r>
              <a:rPr dirty="0"/>
              <a:t> (ex: </a:t>
            </a:r>
            <a:r>
              <a:rPr dirty="0" err="1"/>
              <a:t>faltar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um </a:t>
            </a:r>
            <a:r>
              <a:rPr dirty="0" err="1"/>
              <a:t>número</a:t>
            </a:r>
            <a:r>
              <a:rPr dirty="0"/>
              <a:t> no bingo </a:t>
            </a:r>
            <a:r>
              <a:rPr dirty="0" err="1"/>
              <a:t>ou</a:t>
            </a:r>
            <a:r>
              <a:rPr dirty="0"/>
              <a:t> um </a:t>
            </a:r>
            <a:r>
              <a:rPr dirty="0" err="1"/>
              <a:t>símbolo</a:t>
            </a:r>
            <a:r>
              <a:rPr dirty="0"/>
              <a:t> na slot machine) como </a:t>
            </a:r>
            <a:r>
              <a:rPr dirty="0" err="1"/>
              <a:t>uma</a:t>
            </a:r>
            <a:r>
              <a:rPr dirty="0"/>
              <a:t> "</a:t>
            </a:r>
            <a:r>
              <a:rPr dirty="0" err="1"/>
              <a:t>quase-vitória</a:t>
            </a:r>
            <a:r>
              <a:rPr dirty="0"/>
              <a:t>", </a:t>
            </a:r>
            <a:r>
              <a:rPr dirty="0" err="1"/>
              <a:t>estimulando</a:t>
            </a:r>
            <a:r>
              <a:rPr dirty="0"/>
              <a:t>-o a </a:t>
            </a:r>
            <a:r>
              <a:rPr dirty="0" err="1"/>
              <a:t>continuar</a:t>
            </a:r>
            <a:r>
              <a:rPr dirty="0"/>
              <a:t> a </a:t>
            </a:r>
            <a:r>
              <a:rPr dirty="0" err="1"/>
              <a:t>jogar</a:t>
            </a:r>
            <a:r>
              <a:rPr dirty="0"/>
              <a:t>.</a:t>
            </a:r>
          </a:p>
          <a:p>
            <a:r>
              <a:rPr dirty="0" err="1"/>
              <a:t>Disfunção</a:t>
            </a:r>
            <a:r>
              <a:rPr dirty="0"/>
              <a:t> do </a:t>
            </a:r>
            <a:r>
              <a:rPr dirty="0" err="1"/>
              <a:t>Córtex</a:t>
            </a:r>
            <a:r>
              <a:rPr dirty="0"/>
              <a:t> Pré-Frontal: </a:t>
            </a:r>
            <a:r>
              <a:rPr dirty="0" err="1"/>
              <a:t>Observa</a:t>
            </a:r>
            <a:r>
              <a:rPr dirty="0"/>
              <a:t>-se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menor</a:t>
            </a:r>
            <a:r>
              <a:rPr dirty="0"/>
              <a:t> actividade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áreas</a:t>
            </a:r>
            <a:r>
              <a:rPr dirty="0"/>
              <a:t> </a:t>
            </a:r>
            <a:r>
              <a:rPr dirty="0" err="1"/>
              <a:t>cerebrais</a:t>
            </a:r>
            <a:r>
              <a:rPr dirty="0"/>
              <a:t> </a:t>
            </a:r>
            <a:r>
              <a:rPr dirty="0" err="1"/>
              <a:t>responsáveis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controlo</a:t>
            </a:r>
            <a:r>
              <a:rPr dirty="0"/>
              <a:t> de </a:t>
            </a:r>
            <a:r>
              <a:rPr dirty="0" err="1"/>
              <a:t>impulsos</a:t>
            </a:r>
            <a:r>
              <a:rPr dirty="0"/>
              <a:t>, </a:t>
            </a:r>
            <a:r>
              <a:rPr dirty="0" err="1"/>
              <a:t>avaliação</a:t>
            </a:r>
            <a:r>
              <a:rPr dirty="0"/>
              <a:t> de </a:t>
            </a:r>
            <a:r>
              <a:rPr dirty="0" err="1"/>
              <a:t>riscos</a:t>
            </a:r>
            <a:r>
              <a:rPr dirty="0"/>
              <a:t> e </a:t>
            </a:r>
            <a:r>
              <a:rPr dirty="0" err="1"/>
              <a:t>tomada</a:t>
            </a:r>
            <a:r>
              <a:rPr dirty="0"/>
              <a:t> de </a:t>
            </a:r>
            <a:r>
              <a:rPr dirty="0" err="1"/>
              <a:t>decisões</a:t>
            </a:r>
            <a:r>
              <a:rPr dirty="0"/>
              <a:t>, </a:t>
            </a:r>
            <a:r>
              <a:rPr dirty="0" err="1"/>
              <a:t>dificultando</a:t>
            </a:r>
            <a:r>
              <a:rPr dirty="0"/>
              <a:t> a </a:t>
            </a:r>
            <a:r>
              <a:rPr dirty="0" err="1"/>
              <a:t>interrupção</a:t>
            </a:r>
            <a:r>
              <a:rPr dirty="0"/>
              <a:t> do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perante</a:t>
            </a:r>
            <a:r>
              <a:rPr dirty="0"/>
              <a:t> </a:t>
            </a:r>
            <a:r>
              <a:rPr dirty="0" err="1"/>
              <a:t>consequências</a:t>
            </a:r>
            <a:r>
              <a:rPr dirty="0"/>
              <a:t> </a:t>
            </a:r>
            <a:r>
              <a:rPr dirty="0" err="1"/>
              <a:t>severas</a:t>
            </a:r>
            <a:r>
              <a:rPr dirty="0"/>
              <a:t>.</a:t>
            </a:r>
            <a:endParaRPr lang="pt-PT" dirty="0"/>
          </a:p>
          <a:p>
            <a:endParaRPr lang="en-PT" dirty="0"/>
          </a:p>
          <a:p>
            <a:pPr marL="0" marR="0" indent="0" algn="l">
              <a:spcBef>
                <a:spcPts val="900"/>
              </a:spcBef>
              <a:spcAft>
                <a:spcPts val="1200"/>
              </a:spcAft>
              <a:buNone/>
            </a:pPr>
            <a:r>
              <a:rPr lang="en-PT" sz="1200" b="0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Os mecanismos subjacentes ao jogo patológico assemelham-se muito aos das dependências químicas (como o álcool ou drogas):</a:t>
            </a:r>
          </a:p>
          <a:p>
            <a:pPr marL="342900" marR="0" lvl="0" indent="-34290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PT" sz="1200" b="1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Sistema de Recompensa Cerebral:</a:t>
            </a:r>
            <a:r>
              <a:rPr lang="en-PT" sz="1200" b="0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 O acto de jogar activa intensamente o </a:t>
            </a:r>
            <a:r>
              <a:rPr lang="en-PT" sz="1200" b="1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sistema dopaminérgico mesolímbico</a:t>
            </a:r>
            <a:r>
              <a:rPr lang="en-PT" sz="1200" b="0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, o circuito do cérebro responsável pelo prazer e recompensa. A libertação de dopamina ocorre não apenas com o ganho, mas especialmente com a </a:t>
            </a:r>
            <a:r>
              <a:rPr lang="en-PT" sz="1200" b="0" i="1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antecipação</a:t>
            </a:r>
            <a:r>
              <a:rPr lang="en-PT" sz="1200" b="0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 do ganho (a incerteza).</a:t>
            </a:r>
          </a:p>
          <a:p>
            <a:pPr marL="342900" marR="0" lvl="0" indent="-34290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PT" sz="1200" b="1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Mecanismo de "Quase-Ganho" (</a:t>
            </a:r>
            <a:r>
              <a:rPr lang="en-PT" sz="1200" b="1" i="1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Near-Miss</a:t>
            </a:r>
            <a:r>
              <a:rPr lang="en-PT" sz="1200" b="1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):</a:t>
            </a:r>
            <a:r>
              <a:rPr lang="en-PT" sz="1200" b="0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 O cérebro do jogador patológico interpreta uma derrota por uma margem muito pequena (ex: faltar apenas um número no bingo ou um símbolo na slot machine) como uma "quase-vitória", estimulando-o a continuar a jogar.</a:t>
            </a:r>
          </a:p>
          <a:p>
            <a:pPr marL="342900" marR="0" lvl="0" indent="-34290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PT" sz="1200" b="1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Disfunção do Córtex Pré-Frontal:</a:t>
            </a:r>
            <a:r>
              <a:rPr lang="en-PT" sz="1200" b="0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 Observa-se uma menor actividade nas áreas cerebrais responsáveis pelo controlo de impulsos, avaliação de riscos e tomada de decisões, dificultando a interrupção do comportamento mesmo perante consequências severas.</a:t>
            </a:r>
            <a:endParaRPr lang="en-PT" sz="1200" b="0" i="0" u="none" strike="noStrike" dirty="0">
              <a:solidFill>
                <a:schemeClr val="bg1"/>
              </a:solidFill>
              <a:effectLst/>
              <a:latin typeface="Google Sans Flex"/>
            </a:endParaRP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 dirty="0" err="1"/>
              <a:t>Texto</a:t>
            </a:r>
            <a:r>
              <a:rPr lang="en-GB" dirty="0"/>
              <a:t> de </a:t>
            </a:r>
            <a:r>
              <a:rPr lang="en-GB" dirty="0" err="1"/>
              <a:t>apoio</a:t>
            </a:r>
            <a:r>
              <a:rPr lang="en-GB" dirty="0"/>
              <a:t> original:</a:t>
            </a:r>
          </a:p>
          <a:p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principais</a:t>
            </a:r>
            <a:r>
              <a:rPr lang="en-GB" dirty="0"/>
              <a:t> </a:t>
            </a:r>
            <a:r>
              <a:rPr lang="en-GB" dirty="0" err="1"/>
              <a:t>fatores</a:t>
            </a:r>
            <a:r>
              <a:rPr lang="en-GB" dirty="0"/>
              <a:t> de </a:t>
            </a:r>
            <a:r>
              <a:rPr lang="en-GB" dirty="0" err="1"/>
              <a:t>risco</a:t>
            </a:r>
            <a:r>
              <a:rPr lang="en-GB" dirty="0"/>
              <a:t> </a:t>
            </a:r>
            <a:r>
              <a:rPr lang="en-GB" dirty="0" err="1"/>
              <a:t>dividem</a:t>
            </a:r>
            <a:r>
              <a:rPr lang="en-GB" dirty="0"/>
              <a:t>-se em </a:t>
            </a:r>
            <a:r>
              <a:rPr lang="en-GB" dirty="0" err="1"/>
              <a:t>quatro</a:t>
            </a:r>
            <a:r>
              <a:rPr lang="en-GB" dirty="0"/>
              <a:t> </a:t>
            </a:r>
            <a:r>
              <a:rPr lang="en-GB" dirty="0" err="1"/>
              <a:t>dimensões</a:t>
            </a:r>
            <a:r>
              <a:rPr lang="en-GB" dirty="0"/>
              <a:t> </a:t>
            </a:r>
            <a:r>
              <a:rPr lang="en-GB" dirty="0" err="1"/>
              <a:t>essenciais</a:t>
            </a:r>
            <a:r>
              <a:rPr lang="en-GB" dirty="0"/>
              <a:t>:</a:t>
            </a:r>
          </a:p>
          <a:p>
            <a:r>
              <a:rPr lang="en-GB" dirty="0"/>
              <a:t>1. </a:t>
            </a:r>
            <a:r>
              <a:rPr lang="en-GB" dirty="0" err="1"/>
              <a:t>Mecanismo</a:t>
            </a:r>
            <a:r>
              <a:rPr lang="en-GB" dirty="0"/>
              <a:t> de Escape </a:t>
            </a:r>
            <a:r>
              <a:rPr lang="en-GB" dirty="0" err="1"/>
              <a:t>Psicológico</a:t>
            </a:r>
            <a:r>
              <a:rPr lang="en-GB" dirty="0"/>
              <a:t> e Alívio do Stress</a:t>
            </a:r>
          </a:p>
          <a:p>
            <a:r>
              <a:rPr lang="en-GB" dirty="0" err="1"/>
              <a:t>Gestão</a:t>
            </a:r>
            <a:r>
              <a:rPr lang="en-GB" dirty="0"/>
              <a:t> de Burnout e </a:t>
            </a:r>
            <a:r>
              <a:rPr lang="en-GB" dirty="0" err="1"/>
              <a:t>Ansiedade</a:t>
            </a:r>
            <a:r>
              <a:rPr lang="en-GB" dirty="0"/>
              <a:t>: </a:t>
            </a:r>
            <a:r>
              <a:rPr lang="en-GB" dirty="0" err="1"/>
              <a:t>Confrontados</a:t>
            </a:r>
            <a:r>
              <a:rPr lang="en-GB" dirty="0"/>
              <a:t> com </a:t>
            </a:r>
            <a:r>
              <a:rPr lang="en-GB" dirty="0" err="1"/>
              <a:t>longos</a:t>
            </a:r>
            <a:r>
              <a:rPr lang="en-GB" dirty="0"/>
              <a:t> </a:t>
            </a:r>
            <a:r>
              <a:rPr lang="en-GB" dirty="0" err="1"/>
              <a:t>turnos</a:t>
            </a:r>
            <a:r>
              <a:rPr lang="en-GB" dirty="0"/>
              <a:t> de banco, </a:t>
            </a:r>
            <a:r>
              <a:rPr lang="en-GB" dirty="0" err="1"/>
              <a:t>falta</a:t>
            </a:r>
            <a:r>
              <a:rPr lang="en-GB" dirty="0"/>
              <a:t> de </a:t>
            </a:r>
            <a:r>
              <a:rPr lang="en-GB" dirty="0" err="1"/>
              <a:t>recursos</a:t>
            </a:r>
            <a:r>
              <a:rPr lang="en-GB" dirty="0"/>
              <a:t> e </a:t>
            </a:r>
            <a:r>
              <a:rPr lang="en-GB" dirty="0" err="1"/>
              <a:t>elevados</a:t>
            </a:r>
            <a:r>
              <a:rPr lang="en-GB" dirty="0"/>
              <a:t> </a:t>
            </a:r>
            <a:r>
              <a:rPr lang="en-GB" dirty="0" err="1"/>
              <a:t>níveis</a:t>
            </a:r>
            <a:r>
              <a:rPr lang="en-GB" dirty="0"/>
              <a:t> de </a:t>
            </a:r>
            <a:r>
              <a:rPr lang="en-GB" dirty="0" err="1"/>
              <a:t>exaustão</a:t>
            </a:r>
            <a:r>
              <a:rPr lang="en-GB" dirty="0"/>
              <a:t> </a:t>
            </a:r>
            <a:r>
              <a:rPr lang="en-GB" dirty="0" err="1"/>
              <a:t>emocional</a:t>
            </a:r>
            <a:r>
              <a:rPr lang="en-GB" dirty="0"/>
              <a:t>, </a:t>
            </a:r>
            <a:r>
              <a:rPr lang="en-GB" dirty="0" err="1"/>
              <a:t>muitos</a:t>
            </a:r>
            <a:r>
              <a:rPr lang="en-GB" dirty="0"/>
              <a:t> </a:t>
            </a:r>
            <a:r>
              <a:rPr lang="en-GB" dirty="0" err="1"/>
              <a:t>profissionais</a:t>
            </a:r>
            <a:r>
              <a:rPr lang="en-GB" dirty="0"/>
              <a:t> </a:t>
            </a:r>
            <a:r>
              <a:rPr lang="en-GB" dirty="0" err="1"/>
              <a:t>recorrem</a:t>
            </a:r>
            <a:r>
              <a:rPr lang="en-GB" dirty="0"/>
              <a:t> </a:t>
            </a:r>
            <a:r>
              <a:rPr lang="en-GB" dirty="0" err="1"/>
              <a:t>às</a:t>
            </a:r>
            <a:r>
              <a:rPr lang="en-GB" dirty="0"/>
              <a:t> </a:t>
            </a:r>
            <a:r>
              <a:rPr lang="en-GB" dirty="0" err="1"/>
              <a:t>apostas</a:t>
            </a:r>
            <a:r>
              <a:rPr lang="en-GB" dirty="0"/>
              <a:t> online como </a:t>
            </a:r>
            <a:r>
              <a:rPr lang="en-GB" dirty="0" err="1"/>
              <a:t>uma</a:t>
            </a:r>
            <a:r>
              <a:rPr lang="en-GB" dirty="0"/>
              <a:t> forma </a:t>
            </a:r>
            <a:r>
              <a:rPr lang="en-GB" dirty="0" err="1"/>
              <a:t>rápida</a:t>
            </a:r>
            <a:r>
              <a:rPr lang="en-GB" dirty="0"/>
              <a:t> de </a:t>
            </a:r>
            <a:r>
              <a:rPr lang="en-GB" dirty="0" err="1"/>
              <a:t>distração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anestesia</a:t>
            </a:r>
            <a:r>
              <a:rPr lang="en-GB" dirty="0"/>
              <a:t> mental. O </a:t>
            </a:r>
            <a:r>
              <a:rPr lang="en-GB" dirty="0" err="1"/>
              <a:t>jogo</a:t>
            </a:r>
            <a:r>
              <a:rPr lang="en-GB" dirty="0"/>
              <a:t> atua como um </a:t>
            </a:r>
            <a:r>
              <a:rPr lang="en-GB" dirty="0" err="1"/>
              <a:t>mecanismo</a:t>
            </a:r>
            <a:r>
              <a:rPr lang="en-GB" dirty="0"/>
              <a:t> </a:t>
            </a:r>
            <a:r>
              <a:rPr lang="en-GB" dirty="0" err="1"/>
              <a:t>compensatório</a:t>
            </a:r>
            <a:r>
              <a:rPr lang="en-GB" dirty="0"/>
              <a:t> de </a:t>
            </a:r>
            <a:r>
              <a:rPr lang="en-GB" dirty="0" err="1"/>
              <a:t>recompensa</a:t>
            </a:r>
            <a:r>
              <a:rPr lang="en-GB" dirty="0"/>
              <a:t> </a:t>
            </a:r>
            <a:r>
              <a:rPr lang="en-GB" dirty="0" err="1"/>
              <a:t>imediata</a:t>
            </a:r>
            <a:r>
              <a:rPr lang="en-GB" dirty="0"/>
              <a:t> (</a:t>
            </a:r>
            <a:r>
              <a:rPr lang="en-GB" dirty="0" err="1"/>
              <a:t>através</a:t>
            </a:r>
            <a:r>
              <a:rPr lang="en-GB" dirty="0"/>
              <a:t> da </a:t>
            </a:r>
            <a:r>
              <a:rPr lang="en-GB" dirty="0" err="1"/>
              <a:t>libertação</a:t>
            </a:r>
            <a:r>
              <a:rPr lang="en-GB" dirty="0"/>
              <a:t> de </a:t>
            </a:r>
            <a:r>
              <a:rPr lang="en-GB" dirty="0" err="1"/>
              <a:t>dopamina</a:t>
            </a:r>
            <a:r>
              <a:rPr lang="en-GB" dirty="0"/>
              <a:t>) </a:t>
            </a:r>
            <a:r>
              <a:rPr lang="en-GB" dirty="0" err="1"/>
              <a:t>perante</a:t>
            </a:r>
            <a:r>
              <a:rPr lang="en-GB" dirty="0"/>
              <a:t> o </a:t>
            </a:r>
            <a:r>
              <a:rPr lang="en-GB" dirty="0" err="1"/>
              <a:t>cansaço</a:t>
            </a:r>
            <a:r>
              <a:rPr lang="en-GB" dirty="0"/>
              <a:t> extremo. [1, 2]</a:t>
            </a:r>
          </a:p>
          <a:p>
            <a:r>
              <a:rPr lang="en-GB" dirty="0" err="1"/>
              <a:t>Supressão</a:t>
            </a:r>
            <a:r>
              <a:rPr lang="en-GB" dirty="0"/>
              <a:t> do Trauma </a:t>
            </a:r>
            <a:r>
              <a:rPr lang="en-GB" dirty="0" err="1"/>
              <a:t>Secundário</a:t>
            </a:r>
            <a:r>
              <a:rPr lang="en-GB" dirty="0"/>
              <a:t>: A </a:t>
            </a:r>
            <a:r>
              <a:rPr lang="en-GB" dirty="0" err="1"/>
              <a:t>exposição</a:t>
            </a:r>
            <a:r>
              <a:rPr lang="en-GB" dirty="0"/>
              <a:t> </a:t>
            </a:r>
            <a:r>
              <a:rPr lang="en-GB" dirty="0" err="1"/>
              <a:t>contínua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</a:t>
            </a:r>
            <a:r>
              <a:rPr lang="en-GB" dirty="0" err="1"/>
              <a:t>sofrimento</a:t>
            </a:r>
            <a:r>
              <a:rPr lang="en-GB" dirty="0"/>
              <a:t>, à </a:t>
            </a:r>
            <a:r>
              <a:rPr lang="en-GB" dirty="0" err="1"/>
              <a:t>morte</a:t>
            </a:r>
            <a:r>
              <a:rPr lang="en-GB" dirty="0"/>
              <a:t> e a </a:t>
            </a:r>
            <a:r>
              <a:rPr lang="en-GB" dirty="0" err="1"/>
              <a:t>sentimentos</a:t>
            </a:r>
            <a:r>
              <a:rPr lang="en-GB" dirty="0"/>
              <a:t> de </a:t>
            </a:r>
            <a:r>
              <a:rPr lang="en-GB" dirty="0" err="1"/>
              <a:t>impotência</a:t>
            </a:r>
            <a:r>
              <a:rPr lang="en-GB" dirty="0"/>
              <a:t> clínica </a:t>
            </a:r>
            <a:r>
              <a:rPr lang="en-GB" dirty="0" err="1"/>
              <a:t>gera</a:t>
            </a:r>
            <a:r>
              <a:rPr lang="en-GB" dirty="0"/>
              <a:t> um </a:t>
            </a:r>
            <a:r>
              <a:rPr lang="en-GB" dirty="0" err="1"/>
              <a:t>desgaste</a:t>
            </a:r>
            <a:r>
              <a:rPr lang="en-GB" dirty="0"/>
              <a:t> </a:t>
            </a:r>
            <a:r>
              <a:rPr lang="en-GB" dirty="0" err="1"/>
              <a:t>psicológico</a:t>
            </a:r>
            <a:r>
              <a:rPr lang="en-GB" dirty="0"/>
              <a:t> </a:t>
            </a:r>
            <a:r>
              <a:rPr lang="en-GB" dirty="0" err="1"/>
              <a:t>cumulativo</a:t>
            </a:r>
            <a:r>
              <a:rPr lang="en-GB" dirty="0"/>
              <a:t>. O </a:t>
            </a:r>
            <a:r>
              <a:rPr lang="en-GB" dirty="0" err="1"/>
              <a:t>jogo</a:t>
            </a:r>
            <a:r>
              <a:rPr lang="en-GB" dirty="0"/>
              <a:t> </a:t>
            </a:r>
            <a:r>
              <a:rPr lang="en-GB" dirty="0" err="1"/>
              <a:t>compulsivo</a:t>
            </a:r>
            <a:r>
              <a:rPr lang="en-GB" dirty="0"/>
              <a:t> surge </a:t>
            </a:r>
            <a:r>
              <a:rPr lang="en-GB" dirty="0" err="1"/>
              <a:t>frequentemente</a:t>
            </a:r>
            <a:r>
              <a:rPr lang="en-GB" dirty="0"/>
              <a:t> como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tentativa</a:t>
            </a:r>
            <a:r>
              <a:rPr lang="en-GB" dirty="0"/>
              <a:t> </a:t>
            </a:r>
            <a:r>
              <a:rPr lang="en-GB" dirty="0" err="1"/>
              <a:t>desadaptativa</a:t>
            </a:r>
            <a:r>
              <a:rPr lang="en-GB" dirty="0"/>
              <a:t> de "</a:t>
            </a:r>
            <a:r>
              <a:rPr lang="en-GB" dirty="0" err="1"/>
              <a:t>desligar</a:t>
            </a:r>
            <a:r>
              <a:rPr lang="en-GB" dirty="0"/>
              <a:t>" dos </a:t>
            </a:r>
            <a:r>
              <a:rPr lang="en-GB" dirty="0" err="1"/>
              <a:t>pensamentos</a:t>
            </a:r>
            <a:r>
              <a:rPr lang="en-GB" dirty="0"/>
              <a:t> </a:t>
            </a:r>
            <a:r>
              <a:rPr lang="en-GB" dirty="0" err="1"/>
              <a:t>intrusivos</a:t>
            </a:r>
            <a:r>
              <a:rPr lang="en-GB" dirty="0"/>
              <a:t> e do stress </a:t>
            </a:r>
            <a:r>
              <a:rPr lang="en-GB" dirty="0" err="1"/>
              <a:t>pós-traumático</a:t>
            </a:r>
            <a:r>
              <a:rPr lang="en-GB" dirty="0"/>
              <a:t> </a:t>
            </a:r>
            <a:r>
              <a:rPr lang="en-GB" dirty="0" err="1"/>
              <a:t>laboral</a:t>
            </a:r>
            <a:r>
              <a:rPr lang="en-GB" dirty="0"/>
              <a:t>.</a:t>
            </a:r>
          </a:p>
          <a:p>
            <a:r>
              <a:rPr lang="en-GB" dirty="0"/>
              <a:t>2. Factores </a:t>
            </a:r>
            <a:r>
              <a:rPr lang="en-GB" dirty="0" err="1"/>
              <a:t>Socioeconómicos</a:t>
            </a:r>
            <a:r>
              <a:rPr lang="en-GB" dirty="0"/>
              <a:t> e </a:t>
            </a:r>
            <a:r>
              <a:rPr lang="en-GB" dirty="0" err="1"/>
              <a:t>Pressão</a:t>
            </a:r>
            <a:r>
              <a:rPr lang="en-GB" dirty="0"/>
              <a:t> </a:t>
            </a:r>
            <a:r>
              <a:rPr lang="en-GB" dirty="0" err="1"/>
              <a:t>Financeira</a:t>
            </a:r>
            <a:endParaRPr lang="en-GB" dirty="0"/>
          </a:p>
          <a:p>
            <a:r>
              <a:rPr lang="en-GB" dirty="0" err="1"/>
              <a:t>Ilusão</a:t>
            </a:r>
            <a:r>
              <a:rPr lang="en-GB" dirty="0"/>
              <a:t> de </a:t>
            </a:r>
            <a:r>
              <a:rPr lang="en-GB" dirty="0" err="1"/>
              <a:t>Rendimento</a:t>
            </a:r>
            <a:r>
              <a:rPr lang="en-GB" dirty="0"/>
              <a:t> </a:t>
            </a:r>
            <a:r>
              <a:rPr lang="en-GB" dirty="0" err="1"/>
              <a:t>Complementar</a:t>
            </a:r>
            <a:r>
              <a:rPr lang="en-GB" dirty="0"/>
              <a:t>: Sob </a:t>
            </a:r>
            <a:r>
              <a:rPr lang="en-GB" dirty="0" err="1"/>
              <a:t>condições</a:t>
            </a:r>
            <a:r>
              <a:rPr lang="en-GB" dirty="0"/>
              <a:t> de </a:t>
            </a:r>
            <a:r>
              <a:rPr lang="en-GB" dirty="0" err="1"/>
              <a:t>remunerações</a:t>
            </a:r>
            <a:r>
              <a:rPr lang="en-GB" dirty="0"/>
              <a:t> </a:t>
            </a:r>
            <a:r>
              <a:rPr lang="en-GB" dirty="0" err="1"/>
              <a:t>baixas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atrasos</a:t>
            </a:r>
            <a:r>
              <a:rPr lang="en-GB" dirty="0"/>
              <a:t> no </a:t>
            </a:r>
            <a:r>
              <a:rPr lang="en-GB" dirty="0" err="1"/>
              <a:t>pagamento</a:t>
            </a:r>
            <a:r>
              <a:rPr lang="en-GB" dirty="0"/>
              <a:t> de horas </a:t>
            </a:r>
            <a:r>
              <a:rPr lang="en-GB" dirty="0" err="1"/>
              <a:t>extraordinárias</a:t>
            </a:r>
            <a:r>
              <a:rPr lang="en-GB" dirty="0"/>
              <a:t> (</a:t>
            </a:r>
            <a:r>
              <a:rPr lang="en-GB" dirty="0" err="1"/>
              <a:t>realidade</a:t>
            </a:r>
            <a:r>
              <a:rPr lang="en-GB" dirty="0"/>
              <a:t> </a:t>
            </a:r>
            <a:r>
              <a:rPr lang="en-GB" dirty="0" err="1"/>
              <a:t>comum</a:t>
            </a:r>
            <a:r>
              <a:rPr lang="en-GB" dirty="0"/>
              <a:t> no SNS </a:t>
            </a:r>
            <a:r>
              <a:rPr lang="en-GB" dirty="0" err="1"/>
              <a:t>moçambicano</a:t>
            </a:r>
            <a:r>
              <a:rPr lang="en-GB" dirty="0"/>
              <a:t>), as </a:t>
            </a:r>
            <a:r>
              <a:rPr lang="en-GB" dirty="0" err="1"/>
              <a:t>apostas</a:t>
            </a:r>
            <a:r>
              <a:rPr lang="en-GB" dirty="0"/>
              <a:t> em </a:t>
            </a:r>
            <a:r>
              <a:rPr lang="en-GB" dirty="0" err="1"/>
              <a:t>plataformas</a:t>
            </a:r>
            <a:r>
              <a:rPr lang="en-GB" dirty="0"/>
              <a:t> online (como o "Aviator", </a:t>
            </a:r>
            <a:r>
              <a:rPr lang="en-GB" dirty="0" err="1"/>
              <a:t>futebol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cassinos </a:t>
            </a:r>
            <a:r>
              <a:rPr lang="en-GB" dirty="0" err="1"/>
              <a:t>digitais</a:t>
            </a:r>
            <a:r>
              <a:rPr lang="en-GB" dirty="0"/>
              <a:t>) </a:t>
            </a:r>
            <a:r>
              <a:rPr lang="en-GB" dirty="0" err="1"/>
              <a:t>são</a:t>
            </a:r>
            <a:r>
              <a:rPr lang="en-GB" dirty="0"/>
              <a:t> </a:t>
            </a:r>
            <a:r>
              <a:rPr lang="en-GB" dirty="0" err="1"/>
              <a:t>encaradas</a:t>
            </a:r>
            <a:r>
              <a:rPr lang="en-GB" dirty="0"/>
              <a:t> como </a:t>
            </a:r>
            <a:r>
              <a:rPr lang="en-GB" dirty="0" err="1"/>
              <a:t>uma</a:t>
            </a:r>
            <a:r>
              <a:rPr lang="en-GB" dirty="0"/>
              <a:t> falsa </a:t>
            </a:r>
            <a:r>
              <a:rPr lang="en-GB" dirty="0" err="1"/>
              <a:t>promessa</a:t>
            </a:r>
            <a:r>
              <a:rPr lang="en-GB" dirty="0"/>
              <a:t> de </a:t>
            </a:r>
            <a:r>
              <a:rPr lang="en-GB" dirty="0" err="1"/>
              <a:t>ganho</a:t>
            </a:r>
            <a:r>
              <a:rPr lang="en-GB" dirty="0"/>
              <a:t> </a:t>
            </a:r>
            <a:r>
              <a:rPr lang="en-GB" dirty="0" err="1"/>
              <a:t>financeiro</a:t>
            </a:r>
            <a:r>
              <a:rPr lang="en-GB" dirty="0"/>
              <a:t> </a:t>
            </a:r>
            <a:r>
              <a:rPr lang="en-GB" dirty="0" err="1"/>
              <a:t>rápido</a:t>
            </a:r>
            <a:r>
              <a:rPr lang="en-GB" dirty="0"/>
              <a:t> para </a:t>
            </a:r>
            <a:r>
              <a:rPr lang="en-GB" dirty="0" err="1"/>
              <a:t>complementar</a:t>
            </a:r>
            <a:r>
              <a:rPr lang="en-GB" dirty="0"/>
              <a:t> o </a:t>
            </a:r>
            <a:r>
              <a:rPr lang="en-GB" dirty="0" err="1"/>
              <a:t>orçamento</a:t>
            </a:r>
            <a:r>
              <a:rPr lang="en-GB" dirty="0"/>
              <a:t> familiar.</a:t>
            </a:r>
          </a:p>
          <a:p>
            <a:r>
              <a:rPr lang="en-GB" dirty="0" err="1"/>
              <a:t>Perda</a:t>
            </a:r>
            <a:r>
              <a:rPr lang="en-GB" dirty="0"/>
              <a:t> de </a:t>
            </a:r>
            <a:r>
              <a:rPr lang="en-GB" dirty="0" err="1"/>
              <a:t>Controlo</a:t>
            </a:r>
            <a:r>
              <a:rPr lang="en-GB" dirty="0"/>
              <a:t> </a:t>
            </a:r>
            <a:r>
              <a:rPr lang="en-GB" dirty="0" err="1"/>
              <a:t>Financeiro</a:t>
            </a:r>
            <a:r>
              <a:rPr lang="en-GB" dirty="0"/>
              <a:t>: O </a:t>
            </a:r>
            <a:r>
              <a:rPr lang="en-GB" dirty="0" err="1"/>
              <a:t>acesso</a:t>
            </a:r>
            <a:r>
              <a:rPr lang="en-GB" dirty="0"/>
              <a:t> </a:t>
            </a:r>
            <a:r>
              <a:rPr lang="en-GB" dirty="0" err="1"/>
              <a:t>facilitado</a:t>
            </a:r>
            <a:r>
              <a:rPr lang="en-GB" dirty="0"/>
              <a:t> a </a:t>
            </a:r>
            <a:r>
              <a:rPr lang="en-GB" dirty="0" err="1"/>
              <a:t>microcréditos</a:t>
            </a:r>
            <a:r>
              <a:rPr lang="en-GB" dirty="0"/>
              <a:t> </a:t>
            </a:r>
            <a:r>
              <a:rPr lang="en-GB" dirty="0" err="1"/>
              <a:t>digitais</a:t>
            </a:r>
            <a:r>
              <a:rPr lang="en-GB" dirty="0"/>
              <a:t> e </a:t>
            </a:r>
            <a:r>
              <a:rPr lang="en-GB" dirty="0" err="1"/>
              <a:t>carteiras</a:t>
            </a:r>
            <a:r>
              <a:rPr lang="en-GB" dirty="0"/>
              <a:t> </a:t>
            </a:r>
            <a:r>
              <a:rPr lang="en-GB" dirty="0" err="1"/>
              <a:t>móveis</a:t>
            </a:r>
            <a:r>
              <a:rPr lang="en-GB" dirty="0"/>
              <a:t> (M-Pesa, e-Mola) </a:t>
            </a:r>
            <a:r>
              <a:rPr lang="en-GB" dirty="0" err="1"/>
              <a:t>diretamente</a:t>
            </a:r>
            <a:r>
              <a:rPr lang="en-GB" dirty="0"/>
              <a:t> no </a:t>
            </a:r>
            <a:r>
              <a:rPr lang="en-GB" dirty="0" err="1"/>
              <a:t>telemóvel</a:t>
            </a:r>
            <a:r>
              <a:rPr lang="en-GB" dirty="0"/>
              <a:t> </a:t>
            </a:r>
            <a:r>
              <a:rPr lang="en-GB" dirty="0" err="1"/>
              <a:t>acelera</a:t>
            </a:r>
            <a:r>
              <a:rPr lang="en-GB" dirty="0"/>
              <a:t> o </a:t>
            </a:r>
            <a:r>
              <a:rPr lang="en-GB" dirty="0" err="1"/>
              <a:t>ciclo</a:t>
            </a:r>
            <a:r>
              <a:rPr lang="en-GB" dirty="0"/>
              <a:t> de </a:t>
            </a:r>
            <a:r>
              <a:rPr lang="en-GB" dirty="0" err="1"/>
              <a:t>endividamento</a:t>
            </a:r>
            <a:r>
              <a:rPr lang="en-GB" dirty="0"/>
              <a:t>, </a:t>
            </a:r>
            <a:r>
              <a:rPr lang="en-GB" dirty="0" err="1"/>
              <a:t>empurrando</a:t>
            </a:r>
            <a:r>
              <a:rPr lang="en-GB" dirty="0"/>
              <a:t> o profissional para a </a:t>
            </a:r>
            <a:r>
              <a:rPr lang="en-GB" dirty="0" err="1"/>
              <a:t>necessidade</a:t>
            </a:r>
            <a:r>
              <a:rPr lang="en-GB" dirty="0"/>
              <a:t> de </a:t>
            </a:r>
            <a:r>
              <a:rPr lang="en-GB" dirty="0" err="1"/>
              <a:t>continuar</a:t>
            </a:r>
            <a:r>
              <a:rPr lang="en-GB" dirty="0"/>
              <a:t> a </a:t>
            </a:r>
            <a:r>
              <a:rPr lang="en-GB" dirty="0" err="1"/>
              <a:t>jogar</a:t>
            </a:r>
            <a:r>
              <a:rPr lang="en-GB" dirty="0"/>
              <a:t> para </a:t>
            </a:r>
            <a:r>
              <a:rPr lang="en-GB" dirty="0" err="1"/>
              <a:t>tentar</a:t>
            </a:r>
            <a:r>
              <a:rPr lang="en-GB" dirty="0"/>
              <a:t> </a:t>
            </a:r>
            <a:r>
              <a:rPr lang="en-GB" dirty="0" err="1"/>
              <a:t>recuperar</a:t>
            </a:r>
            <a:r>
              <a:rPr lang="en-GB" dirty="0"/>
              <a:t> o </a:t>
            </a:r>
            <a:r>
              <a:rPr lang="en-GB" dirty="0" err="1"/>
              <a:t>dinheiro</a:t>
            </a:r>
            <a:r>
              <a:rPr lang="en-GB" dirty="0"/>
              <a:t> </a:t>
            </a:r>
            <a:r>
              <a:rPr lang="en-GB" dirty="0" err="1"/>
              <a:t>perdido</a:t>
            </a:r>
            <a:r>
              <a:rPr lang="en-GB" dirty="0"/>
              <a:t>.</a:t>
            </a:r>
          </a:p>
          <a:p>
            <a:r>
              <a:rPr lang="en-GB" dirty="0"/>
              <a:t>3. </a:t>
            </a:r>
            <a:r>
              <a:rPr lang="en-GB" dirty="0" err="1"/>
              <a:t>Dinâmicas</a:t>
            </a:r>
            <a:r>
              <a:rPr lang="en-GB" dirty="0"/>
              <a:t> </a:t>
            </a:r>
            <a:r>
              <a:rPr lang="en-GB" dirty="0" err="1"/>
              <a:t>Laborais</a:t>
            </a:r>
            <a:r>
              <a:rPr lang="en-GB" dirty="0"/>
              <a:t> e </a:t>
            </a:r>
            <a:r>
              <a:rPr lang="en-GB" dirty="0" err="1"/>
              <a:t>Acessibilidade</a:t>
            </a:r>
            <a:r>
              <a:rPr lang="en-GB" dirty="0"/>
              <a:t> Digital</a:t>
            </a:r>
          </a:p>
          <a:p>
            <a:r>
              <a:rPr lang="en-GB" dirty="0" err="1"/>
              <a:t>Trabalho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Turnos</a:t>
            </a:r>
            <a:r>
              <a:rPr lang="en-GB" dirty="0"/>
              <a:t> e </a:t>
            </a:r>
            <a:r>
              <a:rPr lang="en-GB" dirty="0" err="1"/>
              <a:t>Isolamento</a:t>
            </a:r>
            <a:r>
              <a:rPr lang="en-GB" dirty="0"/>
              <a:t> </a:t>
            </a:r>
            <a:r>
              <a:rPr lang="en-GB" dirty="0" err="1"/>
              <a:t>Noturno</a:t>
            </a:r>
            <a:r>
              <a:rPr lang="en-GB" dirty="0"/>
              <a:t>: </a:t>
            </a:r>
            <a:r>
              <a:rPr lang="en-GB" dirty="0" err="1"/>
              <a:t>Profissionais</a:t>
            </a:r>
            <a:r>
              <a:rPr lang="en-GB" dirty="0"/>
              <a:t> de </a:t>
            </a:r>
            <a:r>
              <a:rPr lang="en-GB" dirty="0" err="1"/>
              <a:t>saúde</a:t>
            </a:r>
            <a:r>
              <a:rPr lang="en-GB" dirty="0"/>
              <a:t> em </a:t>
            </a:r>
            <a:r>
              <a:rPr lang="en-GB" dirty="0" err="1"/>
              <a:t>turnos</a:t>
            </a:r>
            <a:r>
              <a:rPr lang="en-GB" dirty="0"/>
              <a:t> </a:t>
            </a:r>
            <a:r>
              <a:rPr lang="en-GB" dirty="0" err="1"/>
              <a:t>noturnos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períodos</a:t>
            </a:r>
            <a:r>
              <a:rPr lang="en-GB" dirty="0"/>
              <a:t> de </a:t>
            </a:r>
            <a:r>
              <a:rPr lang="en-GB" dirty="0" err="1"/>
              <a:t>descanso</a:t>
            </a:r>
            <a:r>
              <a:rPr lang="en-GB" dirty="0"/>
              <a:t> </a:t>
            </a:r>
            <a:r>
              <a:rPr lang="en-GB" dirty="0" err="1"/>
              <a:t>isolados</a:t>
            </a:r>
            <a:r>
              <a:rPr lang="en-GB" dirty="0"/>
              <a:t> (como </a:t>
            </a:r>
            <a:r>
              <a:rPr lang="en-GB" dirty="0" err="1"/>
              <a:t>escalas</a:t>
            </a:r>
            <a:r>
              <a:rPr lang="en-GB" dirty="0"/>
              <a:t> de </a:t>
            </a:r>
            <a:r>
              <a:rPr lang="en-GB" dirty="0" err="1"/>
              <a:t>piquete</a:t>
            </a:r>
            <a:r>
              <a:rPr lang="en-GB" dirty="0"/>
              <a:t>) </a:t>
            </a:r>
            <a:r>
              <a:rPr lang="en-GB" dirty="0" err="1"/>
              <a:t>encontram</a:t>
            </a:r>
            <a:r>
              <a:rPr lang="en-GB" dirty="0"/>
              <a:t> no </a:t>
            </a:r>
            <a:r>
              <a:rPr lang="en-GB" dirty="0" err="1"/>
              <a:t>telemóvel</a:t>
            </a:r>
            <a:r>
              <a:rPr lang="en-GB" dirty="0"/>
              <a:t> um </a:t>
            </a:r>
            <a:r>
              <a:rPr lang="en-GB" dirty="0" err="1"/>
              <a:t>companheiro</a:t>
            </a:r>
            <a:r>
              <a:rPr lang="en-GB" dirty="0"/>
              <a:t> </a:t>
            </a:r>
            <a:r>
              <a:rPr lang="en-GB" dirty="0" err="1"/>
              <a:t>constante</a:t>
            </a:r>
            <a:r>
              <a:rPr lang="en-GB" dirty="0"/>
              <a:t>. A </a:t>
            </a:r>
            <a:r>
              <a:rPr lang="en-GB" dirty="0" err="1"/>
              <a:t>solidão</a:t>
            </a:r>
            <a:r>
              <a:rPr lang="en-GB" dirty="0"/>
              <a:t> </a:t>
            </a:r>
            <a:r>
              <a:rPr lang="en-GB" dirty="0" err="1"/>
              <a:t>laboral</a:t>
            </a:r>
            <a:r>
              <a:rPr lang="en-GB" dirty="0"/>
              <a:t> </a:t>
            </a:r>
            <a:r>
              <a:rPr lang="en-GB" dirty="0" err="1"/>
              <a:t>temporária</a:t>
            </a:r>
            <a:r>
              <a:rPr lang="en-GB" dirty="0"/>
              <a:t> </a:t>
            </a:r>
            <a:r>
              <a:rPr lang="en-GB" dirty="0" err="1"/>
              <a:t>aliada</a:t>
            </a:r>
            <a:r>
              <a:rPr lang="en-GB" dirty="0"/>
              <a:t> à </a:t>
            </a:r>
            <a:r>
              <a:rPr lang="en-GB" dirty="0" err="1"/>
              <a:t>necessidade</a:t>
            </a:r>
            <a:r>
              <a:rPr lang="en-GB" dirty="0"/>
              <a:t> de se </a:t>
            </a:r>
            <a:r>
              <a:rPr lang="en-GB" dirty="0" err="1"/>
              <a:t>manterem</a:t>
            </a:r>
            <a:r>
              <a:rPr lang="en-GB" dirty="0"/>
              <a:t> </a:t>
            </a:r>
            <a:r>
              <a:rPr lang="en-GB" dirty="0" err="1"/>
              <a:t>acordados</a:t>
            </a:r>
            <a:r>
              <a:rPr lang="en-GB" dirty="0"/>
              <a:t> e </a:t>
            </a:r>
            <a:r>
              <a:rPr lang="en-GB" dirty="0" err="1"/>
              <a:t>alertas</a:t>
            </a:r>
            <a:r>
              <a:rPr lang="en-GB" dirty="0"/>
              <a:t> </a:t>
            </a:r>
            <a:r>
              <a:rPr lang="en-GB" dirty="0" err="1"/>
              <a:t>facilita</a:t>
            </a:r>
            <a:r>
              <a:rPr lang="en-GB" dirty="0"/>
              <a:t> o </a:t>
            </a:r>
            <a:r>
              <a:rPr lang="en-GB" dirty="0" err="1"/>
              <a:t>envolvimento</a:t>
            </a:r>
            <a:r>
              <a:rPr lang="en-GB" dirty="0"/>
              <a:t> com </a:t>
            </a:r>
            <a:r>
              <a:rPr lang="en-GB" dirty="0" err="1"/>
              <a:t>jogos</a:t>
            </a:r>
            <a:r>
              <a:rPr lang="en-GB" dirty="0"/>
              <a:t> de azar </a:t>
            </a:r>
            <a:r>
              <a:rPr lang="en-GB" dirty="0" err="1"/>
              <a:t>digitais</a:t>
            </a:r>
            <a:r>
              <a:rPr lang="en-GB" dirty="0"/>
              <a:t> </a:t>
            </a:r>
            <a:r>
              <a:rPr lang="en-GB" dirty="0" err="1"/>
              <a:t>rápidos</a:t>
            </a:r>
            <a:r>
              <a:rPr lang="en-GB" dirty="0"/>
              <a:t>.</a:t>
            </a:r>
          </a:p>
          <a:p>
            <a:r>
              <a:rPr lang="en-GB" dirty="0" err="1"/>
              <a:t>Privação</a:t>
            </a:r>
            <a:r>
              <a:rPr lang="en-GB" dirty="0"/>
              <a:t> de Sono: O </a:t>
            </a:r>
            <a:r>
              <a:rPr lang="en-GB" dirty="0" err="1"/>
              <a:t>défice</a:t>
            </a:r>
            <a:r>
              <a:rPr lang="en-GB" dirty="0"/>
              <a:t> </a:t>
            </a:r>
            <a:r>
              <a:rPr lang="en-GB" dirty="0" err="1"/>
              <a:t>crónico</a:t>
            </a:r>
            <a:r>
              <a:rPr lang="en-GB" dirty="0"/>
              <a:t> de </a:t>
            </a:r>
            <a:r>
              <a:rPr lang="en-GB" dirty="0" err="1"/>
              <a:t>sono</a:t>
            </a:r>
            <a:r>
              <a:rPr lang="en-GB" dirty="0"/>
              <a:t> </a:t>
            </a:r>
            <a:r>
              <a:rPr lang="en-GB" dirty="0" err="1"/>
              <a:t>afeta</a:t>
            </a:r>
            <a:r>
              <a:rPr lang="en-GB" dirty="0"/>
              <a:t> </a:t>
            </a:r>
            <a:r>
              <a:rPr lang="en-GB" dirty="0" err="1"/>
              <a:t>diretamente</a:t>
            </a:r>
            <a:r>
              <a:rPr lang="en-GB" dirty="0"/>
              <a:t> as </a:t>
            </a:r>
            <a:r>
              <a:rPr lang="en-GB" dirty="0" err="1"/>
              <a:t>funções</a:t>
            </a:r>
            <a:r>
              <a:rPr lang="en-GB" dirty="0"/>
              <a:t> do </a:t>
            </a:r>
            <a:r>
              <a:rPr lang="en-GB" dirty="0" err="1"/>
              <a:t>córtex</a:t>
            </a:r>
            <a:r>
              <a:rPr lang="en-GB" dirty="0"/>
              <a:t> </a:t>
            </a:r>
            <a:r>
              <a:rPr lang="en-GB" dirty="0" err="1"/>
              <a:t>pré</a:t>
            </a:r>
            <a:r>
              <a:rPr lang="en-GB" dirty="0"/>
              <a:t>-frontal, </a:t>
            </a:r>
            <a:r>
              <a:rPr lang="en-GB" dirty="0" err="1"/>
              <a:t>diminuindo</a:t>
            </a:r>
            <a:r>
              <a:rPr lang="en-GB" dirty="0"/>
              <a:t> a </a:t>
            </a:r>
            <a:r>
              <a:rPr lang="en-GB" dirty="0" err="1"/>
              <a:t>capacidade</a:t>
            </a:r>
            <a:r>
              <a:rPr lang="en-GB" dirty="0"/>
              <a:t> de </a:t>
            </a:r>
            <a:r>
              <a:rPr lang="en-GB" dirty="0" err="1"/>
              <a:t>julgamento</a:t>
            </a:r>
            <a:r>
              <a:rPr lang="en-GB" dirty="0"/>
              <a:t> </a:t>
            </a:r>
            <a:r>
              <a:rPr lang="en-GB" dirty="0" err="1"/>
              <a:t>crítico</a:t>
            </a:r>
            <a:r>
              <a:rPr lang="en-GB" dirty="0"/>
              <a:t>, </a:t>
            </a:r>
            <a:r>
              <a:rPr lang="en-GB" dirty="0" err="1"/>
              <a:t>alterando</a:t>
            </a:r>
            <a:r>
              <a:rPr lang="en-GB" dirty="0"/>
              <a:t> a </a:t>
            </a:r>
            <a:r>
              <a:rPr lang="en-GB" dirty="0" err="1"/>
              <a:t>perceção</a:t>
            </a:r>
            <a:r>
              <a:rPr lang="en-GB" dirty="0"/>
              <a:t> do </a:t>
            </a:r>
            <a:r>
              <a:rPr lang="en-GB" dirty="0" err="1"/>
              <a:t>risco</a:t>
            </a:r>
            <a:r>
              <a:rPr lang="en-GB" dirty="0"/>
              <a:t> e </a:t>
            </a:r>
            <a:r>
              <a:rPr lang="en-GB" dirty="0" err="1"/>
              <a:t>aumentando</a:t>
            </a:r>
            <a:r>
              <a:rPr lang="en-GB" dirty="0"/>
              <a:t> a </a:t>
            </a:r>
            <a:r>
              <a:rPr lang="en-GB" dirty="0" err="1"/>
              <a:t>impulsividade</a:t>
            </a:r>
            <a:r>
              <a:rPr lang="en-GB" dirty="0"/>
              <a:t> </a:t>
            </a:r>
            <a:r>
              <a:rPr lang="en-GB" dirty="0" err="1"/>
              <a:t>perante</a:t>
            </a:r>
            <a:r>
              <a:rPr lang="en-GB" dirty="0"/>
              <a:t> </a:t>
            </a:r>
            <a:r>
              <a:rPr lang="en-GB" dirty="0" err="1"/>
              <a:t>tomadas</a:t>
            </a:r>
            <a:r>
              <a:rPr lang="en-GB" dirty="0"/>
              <a:t> de </a:t>
            </a:r>
            <a:r>
              <a:rPr lang="en-GB" dirty="0" err="1"/>
              <a:t>decisão</a:t>
            </a:r>
            <a:r>
              <a:rPr lang="en-GB" dirty="0"/>
              <a:t> — o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predispõe</a:t>
            </a:r>
            <a:r>
              <a:rPr lang="en-GB" dirty="0"/>
              <a:t> a </a:t>
            </a:r>
            <a:r>
              <a:rPr lang="en-GB" dirty="0" err="1"/>
              <a:t>comportamentos</a:t>
            </a:r>
            <a:r>
              <a:rPr lang="en-GB" dirty="0"/>
              <a:t> de </a:t>
            </a:r>
            <a:r>
              <a:rPr lang="en-GB" dirty="0" err="1"/>
              <a:t>aposta</a:t>
            </a:r>
            <a:r>
              <a:rPr lang="en-GB" dirty="0"/>
              <a:t> </a:t>
            </a:r>
            <a:r>
              <a:rPr lang="en-GB" dirty="0" err="1"/>
              <a:t>compulsiva</a:t>
            </a:r>
            <a:r>
              <a:rPr lang="en-GB" dirty="0"/>
              <a:t>. [1]</a:t>
            </a:r>
          </a:p>
          <a:p>
            <a:r>
              <a:rPr lang="en-GB" dirty="0"/>
              <a:t>4. </a:t>
            </a:r>
            <a:r>
              <a:rPr lang="en-GB" dirty="0" err="1"/>
              <a:t>Características</a:t>
            </a:r>
            <a:r>
              <a:rPr lang="en-GB" dirty="0"/>
              <a:t> de </a:t>
            </a:r>
            <a:r>
              <a:rPr lang="en-GB" dirty="0" err="1"/>
              <a:t>Personalidade</a:t>
            </a:r>
            <a:r>
              <a:rPr lang="en-GB" dirty="0"/>
              <a:t> e </a:t>
            </a:r>
            <a:r>
              <a:rPr lang="en-GB" dirty="0" err="1"/>
              <a:t>Barreiras</a:t>
            </a:r>
            <a:r>
              <a:rPr lang="en-GB" dirty="0"/>
              <a:t> Clínicas</a:t>
            </a:r>
          </a:p>
          <a:p>
            <a:r>
              <a:rPr lang="en-GB" dirty="0" err="1"/>
              <a:t>Perfil</a:t>
            </a:r>
            <a:r>
              <a:rPr lang="en-GB" dirty="0"/>
              <a:t> </a:t>
            </a:r>
            <a:r>
              <a:rPr lang="en-GB" dirty="0" err="1"/>
              <a:t>Competitivo</a:t>
            </a:r>
            <a:r>
              <a:rPr lang="en-GB" dirty="0"/>
              <a:t> e Crença de </a:t>
            </a:r>
            <a:r>
              <a:rPr lang="en-GB" dirty="0" err="1"/>
              <a:t>Controlo</a:t>
            </a:r>
            <a:r>
              <a:rPr lang="en-GB" dirty="0"/>
              <a:t>: </a:t>
            </a:r>
            <a:r>
              <a:rPr lang="en-GB" dirty="0" err="1"/>
              <a:t>Profissionais</a:t>
            </a:r>
            <a:r>
              <a:rPr lang="en-GB" dirty="0"/>
              <a:t> de </a:t>
            </a:r>
            <a:r>
              <a:rPr lang="en-GB" dirty="0" err="1"/>
              <a:t>saúde</a:t>
            </a:r>
            <a:r>
              <a:rPr lang="en-GB" dirty="0"/>
              <a:t>, </a:t>
            </a:r>
            <a:r>
              <a:rPr lang="en-GB" dirty="0" err="1"/>
              <a:t>especialmente</a:t>
            </a:r>
            <a:r>
              <a:rPr lang="en-GB" dirty="0"/>
              <a:t> </a:t>
            </a:r>
            <a:r>
              <a:rPr lang="en-GB" dirty="0" err="1"/>
              <a:t>médicos</a:t>
            </a:r>
            <a:r>
              <a:rPr lang="en-GB" dirty="0"/>
              <a:t>, </a:t>
            </a:r>
            <a:r>
              <a:rPr lang="en-GB" dirty="0" err="1"/>
              <a:t>são</a:t>
            </a:r>
            <a:r>
              <a:rPr lang="en-GB" dirty="0"/>
              <a:t> </a:t>
            </a:r>
            <a:r>
              <a:rPr lang="en-GB" dirty="0" err="1"/>
              <a:t>frequentemente</a:t>
            </a:r>
            <a:r>
              <a:rPr lang="en-GB" dirty="0"/>
              <a:t> </a:t>
            </a:r>
            <a:r>
              <a:rPr lang="en-GB" dirty="0" err="1"/>
              <a:t>treinados</a:t>
            </a:r>
            <a:r>
              <a:rPr lang="en-GB" dirty="0"/>
              <a:t> para </a:t>
            </a:r>
            <a:r>
              <a:rPr lang="en-GB" dirty="0" err="1"/>
              <a:t>tomar</a:t>
            </a:r>
            <a:r>
              <a:rPr lang="en-GB" dirty="0"/>
              <a:t> </a:t>
            </a:r>
            <a:r>
              <a:rPr lang="en-GB" dirty="0" err="1"/>
              <a:t>decisões</a:t>
            </a:r>
            <a:r>
              <a:rPr lang="en-GB" dirty="0"/>
              <a:t> sob </a:t>
            </a:r>
            <a:r>
              <a:rPr lang="en-GB" dirty="0" err="1"/>
              <a:t>pressão</a:t>
            </a:r>
            <a:r>
              <a:rPr lang="en-GB" dirty="0"/>
              <a:t> e lidar com </a:t>
            </a:r>
            <a:r>
              <a:rPr lang="en-GB" dirty="0" err="1"/>
              <a:t>probabilidades</a:t>
            </a:r>
            <a:r>
              <a:rPr lang="en-GB" dirty="0"/>
              <a:t> e </a:t>
            </a:r>
            <a:r>
              <a:rPr lang="en-GB" dirty="0" err="1"/>
              <a:t>estatísticas</a:t>
            </a:r>
            <a:r>
              <a:rPr lang="en-GB" dirty="0"/>
              <a:t>. Isto </a:t>
            </a:r>
            <a:r>
              <a:rPr lang="en-GB" dirty="0" err="1"/>
              <a:t>pode</a:t>
            </a:r>
            <a:r>
              <a:rPr lang="en-GB" dirty="0"/>
              <a:t> </a:t>
            </a:r>
            <a:r>
              <a:rPr lang="en-GB" dirty="0" err="1"/>
              <a:t>gerar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 </a:t>
            </a:r>
            <a:r>
              <a:rPr lang="en-GB" dirty="0" err="1"/>
              <a:t>distorção</a:t>
            </a:r>
            <a:r>
              <a:rPr lang="en-GB" dirty="0"/>
              <a:t> </a:t>
            </a:r>
            <a:r>
              <a:rPr lang="en-GB" dirty="0" err="1"/>
              <a:t>cognitiva</a:t>
            </a:r>
            <a:r>
              <a:rPr lang="en-GB" dirty="0"/>
              <a:t> de </a:t>
            </a:r>
            <a:r>
              <a:rPr lang="en-GB" dirty="0" err="1"/>
              <a:t>autoconfiança</a:t>
            </a:r>
            <a:r>
              <a:rPr lang="en-GB" dirty="0"/>
              <a:t>, </a:t>
            </a:r>
            <a:r>
              <a:rPr lang="en-GB" dirty="0" err="1"/>
              <a:t>levando-os</a:t>
            </a:r>
            <a:r>
              <a:rPr lang="en-GB" dirty="0"/>
              <a:t> a </a:t>
            </a:r>
            <a:r>
              <a:rPr lang="en-GB" dirty="0" err="1"/>
              <a:t>crer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conseguem</a:t>
            </a:r>
            <a:r>
              <a:rPr lang="en-GB" dirty="0"/>
              <a:t> "</a:t>
            </a:r>
            <a:r>
              <a:rPr lang="en-GB" dirty="0" err="1"/>
              <a:t>calcular</a:t>
            </a:r>
            <a:r>
              <a:rPr lang="en-GB" dirty="0"/>
              <a:t> as </a:t>
            </a:r>
            <a:r>
              <a:rPr lang="en-GB" dirty="0" err="1"/>
              <a:t>probabilidades</a:t>
            </a:r>
            <a:r>
              <a:rPr lang="en-GB" dirty="0"/>
              <a:t>", </a:t>
            </a:r>
            <a:r>
              <a:rPr lang="en-GB" dirty="0" err="1"/>
              <a:t>decifrar</a:t>
            </a:r>
            <a:r>
              <a:rPr lang="en-GB" dirty="0"/>
              <a:t> </a:t>
            </a:r>
            <a:r>
              <a:rPr lang="en-GB" dirty="0" err="1"/>
              <a:t>padrões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controlar</a:t>
            </a:r>
            <a:r>
              <a:rPr lang="en-GB" dirty="0"/>
              <a:t> o </a:t>
            </a:r>
            <a:r>
              <a:rPr lang="en-GB" dirty="0" err="1"/>
              <a:t>algoritmo</a:t>
            </a:r>
            <a:r>
              <a:rPr lang="en-GB" dirty="0"/>
              <a:t> do </a:t>
            </a:r>
            <a:r>
              <a:rPr lang="en-GB" dirty="0" err="1"/>
              <a:t>jogo</a:t>
            </a:r>
            <a:r>
              <a:rPr lang="en-GB" dirty="0"/>
              <a:t>.</a:t>
            </a:r>
          </a:p>
          <a:p>
            <a:r>
              <a:rPr lang="en-GB" dirty="0" err="1"/>
              <a:t>Estigma</a:t>
            </a:r>
            <a:r>
              <a:rPr lang="en-GB" dirty="0"/>
              <a:t> e Barreira na Procura de Ajuda: O </a:t>
            </a:r>
            <a:r>
              <a:rPr lang="en-GB" dirty="0" err="1"/>
              <a:t>medo</a:t>
            </a:r>
            <a:r>
              <a:rPr lang="en-GB" dirty="0"/>
              <a:t> do </a:t>
            </a:r>
            <a:r>
              <a:rPr lang="en-GB" dirty="0" err="1"/>
              <a:t>julgamento</a:t>
            </a:r>
            <a:r>
              <a:rPr lang="en-GB" dirty="0"/>
              <a:t> de </a:t>
            </a:r>
            <a:r>
              <a:rPr lang="en-GB" dirty="0" err="1"/>
              <a:t>colegas</a:t>
            </a:r>
            <a:r>
              <a:rPr lang="en-GB" dirty="0"/>
              <a:t>, a </a:t>
            </a:r>
            <a:r>
              <a:rPr lang="en-GB" dirty="0" err="1"/>
              <a:t>vergonha</a:t>
            </a:r>
            <a:r>
              <a:rPr lang="en-GB" dirty="0"/>
              <a:t> </a:t>
            </a:r>
            <a:r>
              <a:rPr lang="en-GB" dirty="0" err="1"/>
              <a:t>institucional</a:t>
            </a:r>
            <a:r>
              <a:rPr lang="en-GB" dirty="0"/>
              <a:t> e o </a:t>
            </a:r>
            <a:r>
              <a:rPr lang="en-GB" dirty="0" err="1"/>
              <a:t>receio</a:t>
            </a:r>
            <a:r>
              <a:rPr lang="en-GB" dirty="0"/>
              <a:t> de </a:t>
            </a:r>
            <a:r>
              <a:rPr lang="en-GB" dirty="0" err="1"/>
              <a:t>represálias</a:t>
            </a:r>
            <a:r>
              <a:rPr lang="en-GB" dirty="0"/>
              <a:t> na </a:t>
            </a:r>
            <a:r>
              <a:rPr lang="en-GB" dirty="0" err="1"/>
              <a:t>carreira</a:t>
            </a:r>
            <a:r>
              <a:rPr lang="en-GB" dirty="0"/>
              <a:t> </a:t>
            </a:r>
            <a:r>
              <a:rPr lang="en-GB" dirty="0" err="1"/>
              <a:t>fazem</a:t>
            </a:r>
            <a:r>
              <a:rPr lang="en-GB" dirty="0"/>
              <a:t> com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profissionais</a:t>
            </a:r>
            <a:r>
              <a:rPr lang="en-GB" dirty="0"/>
              <a:t> de </a:t>
            </a:r>
            <a:r>
              <a:rPr lang="en-GB" dirty="0" err="1"/>
              <a:t>saúde</a:t>
            </a:r>
            <a:r>
              <a:rPr lang="en-GB" dirty="0"/>
              <a:t> </a:t>
            </a:r>
            <a:r>
              <a:rPr lang="en-GB" dirty="0" err="1"/>
              <a:t>escondam</a:t>
            </a:r>
            <a:r>
              <a:rPr lang="en-GB" dirty="0"/>
              <a:t> o </a:t>
            </a:r>
            <a:r>
              <a:rPr lang="en-GB" dirty="0" err="1"/>
              <a:t>vício</a:t>
            </a:r>
            <a:r>
              <a:rPr lang="en-GB" dirty="0"/>
              <a:t> </a:t>
            </a:r>
            <a:r>
              <a:rPr lang="en-GB" dirty="0" err="1"/>
              <a:t>durante</a:t>
            </a:r>
            <a:r>
              <a:rPr lang="en-GB" dirty="0"/>
              <a:t> </a:t>
            </a:r>
            <a:r>
              <a:rPr lang="en-GB" dirty="0" err="1"/>
              <a:t>muito</a:t>
            </a:r>
            <a:r>
              <a:rPr lang="en-GB" dirty="0"/>
              <a:t> </a:t>
            </a:r>
            <a:r>
              <a:rPr lang="en-GB" dirty="0" err="1"/>
              <a:t>mais</a:t>
            </a:r>
            <a:r>
              <a:rPr lang="en-GB" dirty="0"/>
              <a:t> tempo. Como </a:t>
            </a:r>
            <a:r>
              <a:rPr lang="en-GB" dirty="0" err="1"/>
              <a:t>consequência</a:t>
            </a:r>
            <a:r>
              <a:rPr lang="en-GB" dirty="0"/>
              <a:t>, as </a:t>
            </a:r>
            <a:r>
              <a:rPr lang="en-GB" dirty="0" err="1"/>
              <a:t>taxas</a:t>
            </a:r>
            <a:r>
              <a:rPr lang="en-GB" dirty="0"/>
              <a:t> de </a:t>
            </a:r>
            <a:r>
              <a:rPr lang="en-GB" dirty="0" err="1"/>
              <a:t>subnotificação</a:t>
            </a:r>
            <a:r>
              <a:rPr lang="en-GB" dirty="0"/>
              <a:t> </a:t>
            </a:r>
            <a:r>
              <a:rPr lang="en-GB" dirty="0" err="1"/>
              <a:t>são</a:t>
            </a:r>
            <a:r>
              <a:rPr lang="en-GB" dirty="0"/>
              <a:t> </a:t>
            </a:r>
            <a:r>
              <a:rPr lang="en-GB" dirty="0" err="1"/>
              <a:t>elevadas</a:t>
            </a:r>
            <a:r>
              <a:rPr lang="en-GB" dirty="0"/>
              <a:t> e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casos</a:t>
            </a:r>
            <a:r>
              <a:rPr lang="en-GB" dirty="0"/>
              <a:t> </a:t>
            </a:r>
            <a:r>
              <a:rPr lang="en-GB" dirty="0" err="1"/>
              <a:t>só</a:t>
            </a:r>
            <a:r>
              <a:rPr lang="en-GB" dirty="0"/>
              <a:t> </a:t>
            </a:r>
            <a:r>
              <a:rPr lang="en-GB" dirty="0" err="1"/>
              <a:t>explodem</a:t>
            </a:r>
            <a:r>
              <a:rPr lang="en-GB" dirty="0"/>
              <a:t> </a:t>
            </a:r>
            <a:r>
              <a:rPr lang="en-GB" dirty="0" err="1"/>
              <a:t>publicamente</a:t>
            </a:r>
            <a:r>
              <a:rPr lang="en-GB" dirty="0"/>
              <a:t> quando </a:t>
            </a:r>
            <a:r>
              <a:rPr lang="en-GB" dirty="0" err="1"/>
              <a:t>atingem</a:t>
            </a:r>
            <a:r>
              <a:rPr lang="en-GB" dirty="0"/>
              <a:t> a </a:t>
            </a:r>
            <a:r>
              <a:rPr lang="en-GB" dirty="0" err="1"/>
              <a:t>ruína</a:t>
            </a:r>
            <a:r>
              <a:rPr lang="en-GB" dirty="0"/>
              <a:t> </a:t>
            </a:r>
            <a:r>
              <a:rPr lang="en-GB" dirty="0" err="1"/>
              <a:t>financeira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quadros</a:t>
            </a:r>
            <a:r>
              <a:rPr lang="en-GB" dirty="0"/>
              <a:t> </a:t>
            </a:r>
            <a:r>
              <a:rPr lang="en-GB" dirty="0" err="1"/>
              <a:t>depressivos</a:t>
            </a:r>
            <a:r>
              <a:rPr lang="en-GB" dirty="0"/>
              <a:t> </a:t>
            </a:r>
            <a:r>
              <a:rPr lang="en-GB" dirty="0" err="1"/>
              <a:t>severos</a:t>
            </a:r>
            <a:endParaRPr lang="en-GB" dirty="0"/>
          </a:p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145970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T" sz="1200" kern="10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Nos serviços de saúde, a prevenção deve integrar apoio, redução do stress e proteção institucional, evitando uma resposta exclusivamente punitiva.</a:t>
            </a:r>
            <a:endParaRPr lang="en-PT" sz="1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en-PT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Prevenção primária — informar:</a:t>
            </a:r>
            <a:r>
              <a:rPr lang="en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formar sobre dependências comportamentais e riscos das apostas online; combater o estigma; capacitar chefias e equipas para reconhecer uso persistente do telemóvel, pedidos frequentes de dinheiro, alterações de humor ou sono, atrasos e queda do desempenho.</a:t>
            </a:r>
          </a:p>
          <a:p>
            <a:pPr lvl="0"/>
            <a:endParaRPr lang="en-PT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Prevenção secundária — detetar e apoiar:</a:t>
            </a:r>
            <a:r>
              <a:rPr lang="en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disponibilizar autorrastreio breve e voluntário, canais confidenciais de ajuda e apoio psicológico ao pessoal, sobretudo perante burnout, crise emocional ou financeira.</a:t>
            </a:r>
          </a:p>
          <a:p>
            <a:pPr lvl="0"/>
            <a:endParaRPr lang="en-P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Medidas organizacionais — reduzir oportunidades e gatilhos:</a:t>
            </a:r>
            <a:r>
              <a:rPr lang="en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regular o acesso a plataformas de jogo na rede institucional; melhorar pausas e espaços de descanso; promover literacia financeira e gestão do endividamento.</a:t>
            </a:r>
          </a:p>
          <a:p>
            <a:pPr lvl="0"/>
            <a:endParaRPr lang="en-PT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Prevenção terciária — tratar e reintegrar:</a:t>
            </a:r>
            <a:r>
              <a:rPr lang="en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encaminhar para cuidados especializados, apoiar o regresso gradual ao trabalho, ajustar temporariamente turnos de maior risco quando indicado e facilitar grupos de apoio entre pares.</a:t>
            </a:r>
          </a:p>
          <a:p>
            <a:endParaRPr lang="en-PT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Princípios transversais:</a:t>
            </a:r>
            <a:r>
              <a:rPr lang="en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confidencialidade, não estigmatização, intervenção precoce, segurança clínica e separação clara entre apoio terapêutico e procedimentos disciplinares.</a:t>
            </a:r>
          </a:p>
          <a:p>
            <a:endParaRPr lang="en-P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PT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Acrónimo PROTEGER</a:t>
            </a:r>
          </a:p>
          <a:p>
            <a:r>
              <a:rPr lang="en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revenir e informar → </a:t>
            </a:r>
            <a:r>
              <a:rPr lang="en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econhecer sinais → </a:t>
            </a:r>
            <a:r>
              <a:rPr lang="en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</a:t>
            </a:r>
            <a:r>
              <a:rPr lang="en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uvir sem julgar → </a:t>
            </a:r>
            <a:r>
              <a:rPr lang="en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riar e avaliar → </a:t>
            </a:r>
            <a:r>
              <a:rPr lang="en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en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ncaminhar para apoio → </a:t>
            </a:r>
            <a:r>
              <a:rPr lang="en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</a:t>
            </a:r>
            <a:r>
              <a:rPr lang="en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erir riscos laborais → </a:t>
            </a:r>
            <a:r>
              <a:rPr lang="en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en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stimular a recuperação → </a:t>
            </a:r>
            <a:r>
              <a:rPr lang="en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eintegrar com segurança.</a:t>
            </a:r>
          </a:p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375705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r>
              <a:rPr dirty="0" err="1"/>
              <a:t>Âmbito</a:t>
            </a:r>
            <a:r>
              <a:rPr dirty="0"/>
              <a:t> da </a:t>
            </a:r>
            <a:r>
              <a:rPr dirty="0" err="1"/>
              <a:t>evidência</a:t>
            </a:r>
            <a:r>
              <a:rPr dirty="0"/>
              <a:t>:</a:t>
            </a:r>
          </a:p>
          <a:p>
            <a:r>
              <a:rPr dirty="0"/>
              <a:t>1–2: </a:t>
            </a:r>
            <a:r>
              <a:rPr dirty="0" err="1"/>
              <a:t>epidemiologia</a:t>
            </a:r>
            <a:r>
              <a:rPr dirty="0"/>
              <a:t> e </a:t>
            </a:r>
            <a:r>
              <a:rPr dirty="0" err="1"/>
              <a:t>saúde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. A OMS (2024) </a:t>
            </a:r>
            <a:r>
              <a:rPr dirty="0" err="1"/>
              <a:t>refere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estimativa</a:t>
            </a:r>
            <a:r>
              <a:rPr dirty="0"/>
              <a:t> de 1,2% dos adultos com </a:t>
            </a:r>
            <a:r>
              <a:rPr dirty="0" err="1"/>
              <a:t>perturbação</a:t>
            </a:r>
            <a:r>
              <a:rPr dirty="0"/>
              <a:t> do </a:t>
            </a:r>
            <a:r>
              <a:rPr dirty="0" err="1"/>
              <a:t>jogo</a:t>
            </a:r>
            <a:r>
              <a:rPr dirty="0"/>
              <a:t>. Não </a:t>
            </a:r>
            <a:r>
              <a:rPr dirty="0" err="1"/>
              <a:t>confirmar</a:t>
            </a:r>
            <a:r>
              <a:rPr dirty="0"/>
              <a:t> 54% dos </a:t>
            </a:r>
            <a:r>
              <a:rPr dirty="0" err="1"/>
              <a:t>jovens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população</a:t>
            </a:r>
            <a:r>
              <a:rPr dirty="0"/>
              <a:t>, </a:t>
            </a:r>
            <a:r>
              <a:rPr dirty="0" err="1"/>
              <a:t>período</a:t>
            </a:r>
            <a:r>
              <a:rPr dirty="0"/>
              <a:t> e </a:t>
            </a:r>
            <a:r>
              <a:rPr dirty="0" err="1"/>
              <a:t>fonte</a:t>
            </a:r>
            <a:r>
              <a:rPr dirty="0"/>
              <a:t> original. </a:t>
            </a:r>
            <a:r>
              <a:rPr dirty="0" err="1"/>
              <a:t>Participação</a:t>
            </a:r>
            <a:r>
              <a:rPr dirty="0"/>
              <a:t> no </a:t>
            </a:r>
            <a:r>
              <a:rPr dirty="0" err="1"/>
              <a:t>jogo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equivale a </a:t>
            </a:r>
            <a:r>
              <a:rPr dirty="0" err="1"/>
              <a:t>perturbação</a:t>
            </a:r>
            <a:r>
              <a:rPr dirty="0"/>
              <a:t> do </a:t>
            </a:r>
            <a:r>
              <a:rPr dirty="0" err="1"/>
              <a:t>jogo</a:t>
            </a:r>
            <a:r>
              <a:rPr dirty="0"/>
              <a:t>. A </a:t>
            </a:r>
            <a:r>
              <a:rPr dirty="0" err="1"/>
              <a:t>razão</a:t>
            </a:r>
            <a:r>
              <a:rPr dirty="0"/>
              <a:t> de </a:t>
            </a:r>
            <a:r>
              <a:rPr dirty="0" err="1"/>
              <a:t>risco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sexo </a:t>
            </a:r>
            <a:r>
              <a:rPr dirty="0" err="1"/>
              <a:t>depende</a:t>
            </a:r>
            <a:r>
              <a:rPr dirty="0"/>
              <a:t> do </a:t>
            </a:r>
            <a:r>
              <a:rPr dirty="0" err="1"/>
              <a:t>indicador</a:t>
            </a:r>
            <a:r>
              <a:rPr dirty="0"/>
              <a:t> e da </a:t>
            </a:r>
            <a:r>
              <a:rPr dirty="0" err="1"/>
              <a:t>população</a:t>
            </a:r>
            <a:r>
              <a:rPr dirty="0"/>
              <a:t>.</a:t>
            </a:r>
          </a:p>
          <a:p>
            <a:r>
              <a:rPr dirty="0"/>
              <a:t>3–4: </a:t>
            </a:r>
            <a:r>
              <a:rPr dirty="0" err="1"/>
              <a:t>mecanismos</a:t>
            </a:r>
            <a:r>
              <a:rPr dirty="0"/>
              <a:t> </a:t>
            </a:r>
            <a:r>
              <a:rPr dirty="0" err="1"/>
              <a:t>neurobiológicos</a:t>
            </a:r>
            <a:r>
              <a:rPr dirty="0"/>
              <a:t> e </a:t>
            </a:r>
            <a:r>
              <a:rPr dirty="0" err="1"/>
              <a:t>quase-ganho</a:t>
            </a:r>
            <a:r>
              <a:rPr dirty="0"/>
              <a:t>. A </a:t>
            </a:r>
            <a:r>
              <a:rPr dirty="0" err="1"/>
              <a:t>relação</a:t>
            </a:r>
            <a:r>
              <a:rPr dirty="0"/>
              <a:t> entre </a:t>
            </a:r>
            <a:r>
              <a:rPr dirty="0" err="1"/>
              <a:t>dopamina</a:t>
            </a:r>
            <a:r>
              <a:rPr dirty="0"/>
              <a:t>, </a:t>
            </a:r>
            <a:r>
              <a:rPr dirty="0" err="1"/>
              <a:t>antecipação</a:t>
            </a:r>
            <a:r>
              <a:rPr dirty="0"/>
              <a:t> e </a:t>
            </a:r>
            <a:r>
              <a:rPr dirty="0" err="1"/>
              <a:t>controlo</a:t>
            </a:r>
            <a:r>
              <a:rPr dirty="0"/>
              <a:t> </a:t>
            </a:r>
            <a:r>
              <a:rPr dirty="0" err="1"/>
              <a:t>executivo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complexa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redução</a:t>
            </a:r>
            <a:r>
              <a:rPr dirty="0"/>
              <a:t> </a:t>
            </a:r>
            <a:r>
              <a:rPr dirty="0" err="1"/>
              <a:t>uniforme</a:t>
            </a:r>
            <a:r>
              <a:rPr dirty="0"/>
              <a:t> da actividade cerebral.</a:t>
            </a:r>
          </a:p>
          <a:p>
            <a:r>
              <a:rPr dirty="0"/>
              <a:t>5: estudo experimental de </a:t>
            </a:r>
            <a:r>
              <a:rPr dirty="0" err="1"/>
              <a:t>privação</a:t>
            </a:r>
            <a:r>
              <a:rPr dirty="0"/>
              <a:t> </a:t>
            </a:r>
            <a:r>
              <a:rPr dirty="0" err="1"/>
              <a:t>aguda</a:t>
            </a:r>
            <a:r>
              <a:rPr dirty="0"/>
              <a:t> de </a:t>
            </a:r>
            <a:r>
              <a:rPr dirty="0" err="1"/>
              <a:t>sono</a:t>
            </a:r>
            <a:r>
              <a:rPr dirty="0"/>
              <a:t> em </a:t>
            </a:r>
            <a:r>
              <a:rPr dirty="0" err="1"/>
              <a:t>voluntários</a:t>
            </a:r>
            <a:r>
              <a:rPr dirty="0"/>
              <a:t> </a:t>
            </a:r>
            <a:r>
              <a:rPr dirty="0" err="1"/>
              <a:t>saudáveis</a:t>
            </a:r>
            <a:r>
              <a:rPr dirty="0"/>
              <a:t>. </a:t>
            </a:r>
            <a:r>
              <a:rPr dirty="0" err="1"/>
              <a:t>Apoia</a:t>
            </a:r>
            <a:r>
              <a:rPr dirty="0"/>
              <a:t> </a:t>
            </a:r>
            <a:r>
              <a:rPr dirty="0" err="1"/>
              <a:t>alterações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decisões</a:t>
            </a:r>
            <a:r>
              <a:rPr dirty="0"/>
              <a:t> de </a:t>
            </a:r>
            <a:r>
              <a:rPr dirty="0" err="1"/>
              <a:t>risco</a:t>
            </a:r>
            <a:r>
              <a:rPr dirty="0"/>
              <a:t>, mas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demonstra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turnos</a:t>
            </a:r>
            <a:r>
              <a:rPr dirty="0"/>
              <a:t> </a:t>
            </a:r>
            <a:r>
              <a:rPr dirty="0" err="1"/>
              <a:t>nocturnos</a:t>
            </a:r>
            <a:r>
              <a:rPr dirty="0"/>
              <a:t> </a:t>
            </a:r>
            <a:r>
              <a:rPr dirty="0" err="1"/>
              <a:t>causem</a:t>
            </a:r>
            <a:r>
              <a:rPr dirty="0"/>
              <a:t> </a:t>
            </a:r>
            <a:r>
              <a:rPr dirty="0" err="1"/>
              <a:t>perturbação</a:t>
            </a:r>
            <a:r>
              <a:rPr dirty="0"/>
              <a:t> do </a:t>
            </a:r>
            <a:r>
              <a:rPr dirty="0" err="1"/>
              <a:t>jogo</a:t>
            </a:r>
            <a:r>
              <a:rPr dirty="0"/>
              <a:t> em </a:t>
            </a:r>
            <a:r>
              <a:rPr dirty="0" err="1"/>
              <a:t>profissionais</a:t>
            </a:r>
            <a:r>
              <a:rPr dirty="0"/>
              <a:t> de </a:t>
            </a:r>
            <a:r>
              <a:rPr dirty="0" err="1"/>
              <a:t>saúde</a:t>
            </a:r>
            <a:r>
              <a:rPr dirty="0"/>
              <a:t>.</a:t>
            </a:r>
          </a:p>
          <a:p>
            <a:r>
              <a:rPr dirty="0"/>
              <a:t>6: </a:t>
            </a:r>
            <a:r>
              <a:rPr dirty="0" err="1"/>
              <a:t>identificação</a:t>
            </a:r>
            <a:r>
              <a:rPr dirty="0"/>
              <a:t>, </a:t>
            </a:r>
            <a:r>
              <a:rPr dirty="0" err="1"/>
              <a:t>apoio</a:t>
            </a:r>
            <a:r>
              <a:rPr dirty="0"/>
              <a:t>, </a:t>
            </a:r>
            <a:r>
              <a:rPr dirty="0" err="1"/>
              <a:t>referenciação</a:t>
            </a:r>
            <a:r>
              <a:rPr dirty="0"/>
              <a:t>, </a:t>
            </a:r>
            <a:r>
              <a:rPr dirty="0" err="1"/>
              <a:t>tratamento</a:t>
            </a:r>
            <a:r>
              <a:rPr dirty="0"/>
              <a:t> e </a:t>
            </a:r>
            <a:r>
              <a:rPr dirty="0" err="1"/>
              <a:t>barreiras</a:t>
            </a:r>
            <a:r>
              <a:rPr dirty="0"/>
              <a:t> </a:t>
            </a:r>
            <a:r>
              <a:rPr dirty="0" err="1"/>
              <a:t>associadas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estigma</a:t>
            </a:r>
            <a:r>
              <a:rPr dirty="0"/>
              <a:t>.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orientação</a:t>
            </a:r>
            <a:r>
              <a:rPr dirty="0"/>
              <a:t> </a:t>
            </a:r>
            <a:r>
              <a:rPr dirty="0" err="1"/>
              <a:t>britânica</a:t>
            </a:r>
            <a:r>
              <a:rPr dirty="0"/>
              <a:t>, a </a:t>
            </a:r>
            <a:r>
              <a:rPr dirty="0" err="1"/>
              <a:t>adaptar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 local.</a:t>
            </a:r>
          </a:p>
          <a:p>
            <a:r>
              <a:rPr dirty="0"/>
              <a:t>As </a:t>
            </a:r>
            <a:r>
              <a:rPr dirty="0" err="1"/>
              <a:t>fontes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comprovam</a:t>
            </a:r>
            <a:r>
              <a:rPr dirty="0"/>
              <a:t> </a:t>
            </a:r>
            <a:r>
              <a:rPr dirty="0" err="1"/>
              <a:t>especificamente</a:t>
            </a:r>
            <a:r>
              <a:rPr dirty="0"/>
              <a:t> </a:t>
            </a:r>
            <a:r>
              <a:rPr dirty="0" err="1"/>
              <a:t>prevalências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relações</a:t>
            </a:r>
            <a:r>
              <a:rPr dirty="0"/>
              <a:t> </a:t>
            </a:r>
            <a:r>
              <a:rPr dirty="0" err="1"/>
              <a:t>causais</a:t>
            </a:r>
            <a:r>
              <a:rPr dirty="0"/>
              <a:t> entre burnout, </a:t>
            </a:r>
            <a:r>
              <a:rPr dirty="0" err="1"/>
              <a:t>salários</a:t>
            </a:r>
            <a:r>
              <a:rPr dirty="0"/>
              <a:t>, </a:t>
            </a:r>
            <a:r>
              <a:rPr dirty="0" err="1"/>
              <a:t>microcrédito</a:t>
            </a:r>
            <a:r>
              <a:rPr dirty="0"/>
              <a:t> e </a:t>
            </a:r>
            <a:r>
              <a:rPr dirty="0" err="1"/>
              <a:t>jogo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profissionais</a:t>
            </a:r>
            <a:r>
              <a:rPr dirty="0"/>
              <a:t> de </a:t>
            </a:r>
            <a:r>
              <a:rPr dirty="0" err="1"/>
              <a:t>saúde</a:t>
            </a:r>
            <a:r>
              <a:rPr dirty="0"/>
              <a:t> </a:t>
            </a:r>
            <a:r>
              <a:rPr dirty="0" err="1"/>
              <a:t>moçambicanos</a:t>
            </a:r>
            <a:r>
              <a:rPr dirty="0"/>
              <a:t>. </a:t>
            </a:r>
            <a:r>
              <a:rPr dirty="0" err="1"/>
              <a:t>Apresentar</a:t>
            </a:r>
            <a:r>
              <a:rPr dirty="0"/>
              <a:t> </a:t>
            </a:r>
            <a:r>
              <a:rPr dirty="0" err="1"/>
              <a:t>essas</a:t>
            </a:r>
            <a:r>
              <a:rPr dirty="0"/>
              <a:t> </a:t>
            </a:r>
            <a:r>
              <a:rPr dirty="0" err="1"/>
              <a:t>aplicações</a:t>
            </a:r>
            <a:r>
              <a:rPr dirty="0"/>
              <a:t> como factores </a:t>
            </a:r>
            <a:r>
              <a:rPr dirty="0" err="1"/>
              <a:t>potenciais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como </a:t>
            </a:r>
            <a:r>
              <a:rPr dirty="0" err="1"/>
              <a:t>conclusões</a:t>
            </a:r>
            <a:r>
              <a:rPr dirty="0"/>
              <a:t> </a:t>
            </a:r>
            <a:r>
              <a:rPr dirty="0" err="1"/>
              <a:t>locais</a:t>
            </a:r>
            <a:r>
              <a:rPr dirty="0"/>
              <a:t> </a:t>
            </a:r>
            <a:r>
              <a:rPr dirty="0" err="1"/>
              <a:t>estabelecidas</a:t>
            </a:r>
            <a:r>
              <a:rPr dirty="0"/>
              <a:t>.</a:t>
            </a:r>
          </a:p>
          <a:p>
            <a:r>
              <a:rPr dirty="0"/>
              <a:t>A </a:t>
            </a:r>
            <a:r>
              <a:rPr dirty="0" err="1"/>
              <a:t>mnemónica</a:t>
            </a:r>
            <a:r>
              <a:rPr dirty="0"/>
              <a:t> PROTEGER do slide de </a:t>
            </a:r>
            <a:r>
              <a:rPr dirty="0" err="1"/>
              <a:t>prevenção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ser </a:t>
            </a:r>
            <a:r>
              <a:rPr dirty="0" err="1"/>
              <a:t>identificada</a:t>
            </a:r>
            <a:r>
              <a:rPr dirty="0"/>
              <a:t> como </a:t>
            </a:r>
            <a:r>
              <a:rPr dirty="0" err="1"/>
              <a:t>síntese</a:t>
            </a:r>
            <a:r>
              <a:rPr dirty="0"/>
              <a:t> </a:t>
            </a:r>
            <a:r>
              <a:rPr dirty="0" err="1"/>
              <a:t>educativa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como </a:t>
            </a:r>
            <a:r>
              <a:rPr dirty="0" err="1"/>
              <a:t>protocolo</a:t>
            </a:r>
            <a:r>
              <a:rPr dirty="0"/>
              <a:t> </a:t>
            </a:r>
            <a:r>
              <a:rPr dirty="0" err="1"/>
              <a:t>validado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referências</a:t>
            </a:r>
            <a:r>
              <a:rPr dirty="0"/>
              <a:t>.</a:t>
            </a:r>
          </a:p>
          <a:p>
            <a:r>
              <a:rPr dirty="0" err="1"/>
              <a:t>Referência</a:t>
            </a:r>
            <a:r>
              <a:rPr dirty="0"/>
              <a:t> </a:t>
            </a:r>
            <a:r>
              <a:rPr dirty="0" err="1"/>
              <a:t>complementar</a:t>
            </a:r>
            <a:r>
              <a:rPr dirty="0"/>
              <a:t> para </a:t>
            </a:r>
            <a:r>
              <a:rPr dirty="0" err="1"/>
              <a:t>vulnerabilidade</a:t>
            </a:r>
            <a:r>
              <a:rPr dirty="0"/>
              <a:t> </a:t>
            </a:r>
            <a:r>
              <a:rPr dirty="0" err="1"/>
              <a:t>emocional</a:t>
            </a:r>
            <a:r>
              <a:rPr dirty="0"/>
              <a:t> e </a:t>
            </a:r>
            <a:r>
              <a:rPr dirty="0" err="1"/>
              <a:t>crenças</a:t>
            </a:r>
            <a:r>
              <a:rPr dirty="0"/>
              <a:t>: </a:t>
            </a:r>
            <a:r>
              <a:rPr dirty="0" err="1"/>
              <a:t>Blaszczynski</a:t>
            </a:r>
            <a:r>
              <a:rPr dirty="0"/>
              <a:t> A, Nower L. A pathways model of problem and pathological gambling. Addiction. 2002;97(5):487–499. doi:10.1046/j.1360-0443.2002.00015.x.</a:t>
            </a:r>
          </a:p>
          <a:p>
            <a:r>
              <a:rPr dirty="0"/>
              <a:t>[Sources]</a:t>
            </a:r>
          </a:p>
          <a:p>
            <a:r>
              <a:rPr dirty="0"/>
              <a:t>https://</a:t>
            </a:r>
            <a:r>
              <a:rPr dirty="0" err="1"/>
              <a:t>www.who.int</a:t>
            </a:r>
            <a:r>
              <a:rPr dirty="0"/>
              <a:t>/news-room/fact-sheets/detail/gambling</a:t>
            </a:r>
          </a:p>
          <a:p>
            <a:r>
              <a:rPr dirty="0"/>
              <a:t>https://</a:t>
            </a:r>
            <a:r>
              <a:rPr dirty="0" err="1"/>
              <a:t>eprints.gla.ac.uk</a:t>
            </a:r>
            <a:r>
              <a:rPr dirty="0"/>
              <a:t>/330496/</a:t>
            </a:r>
          </a:p>
          <a:p>
            <a:r>
              <a:rPr dirty="0"/>
              <a:t>https://</a:t>
            </a:r>
            <a:r>
              <a:rPr dirty="0" err="1"/>
              <a:t>europepmc.org</a:t>
            </a:r>
            <a:r>
              <a:rPr dirty="0"/>
              <a:t>/article/MED/31346179</a:t>
            </a:r>
          </a:p>
          <a:p>
            <a:r>
              <a:rPr dirty="0"/>
              <a:t>https://</a:t>
            </a:r>
            <a:r>
              <a:rPr dirty="0" err="1"/>
              <a:t>europepmc.org</a:t>
            </a:r>
            <a:r>
              <a:rPr dirty="0"/>
              <a:t>/article/PMC/PMC2658737</a:t>
            </a:r>
          </a:p>
          <a:p>
            <a:r>
              <a:rPr dirty="0"/>
              <a:t>https://</a:t>
            </a:r>
            <a:r>
              <a:rPr dirty="0" err="1"/>
              <a:t>www.jneurosci.org</a:t>
            </a:r>
            <a:r>
              <a:rPr dirty="0"/>
              <a:t>/content/31/10/3712</a:t>
            </a:r>
          </a:p>
          <a:p>
            <a:r>
              <a:rPr dirty="0"/>
              <a:t>https://</a:t>
            </a:r>
            <a:r>
              <a:rPr dirty="0" err="1"/>
              <a:t>www.nice.org.uk</a:t>
            </a:r>
            <a:r>
              <a:rPr dirty="0"/>
              <a:t>/guidance/ng248</a:t>
            </a:r>
          </a:p>
          <a:p>
            <a:r>
              <a:rPr dirty="0"/>
              <a:t>https://</a:t>
            </a:r>
            <a:r>
              <a:rPr dirty="0" err="1"/>
              <a:t>pubmed.ncbi.nlm.nih.gov</a:t>
            </a:r>
            <a:r>
              <a:rPr dirty="0"/>
              <a:t>/12033650/</a:t>
            </a:r>
          </a:p>
          <a:p>
            <a:r>
              <a:rPr dirty="0"/>
              <a:t>[/Sources]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news-room/fact-sheets/detail/gambl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nice.org.uk/guidance/ng248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831" y="5538443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939" y="11795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56858" y="174625"/>
            <a:ext cx="931694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F74C49A-5555-F6DF-2344-48955F797FD8}"/>
              </a:ext>
            </a:extLst>
          </p:cNvPr>
          <p:cNvSpPr txBox="1"/>
          <p:nvPr/>
        </p:nvSpPr>
        <p:spPr>
          <a:xfrm>
            <a:off x="698643" y="3575877"/>
            <a:ext cx="10705672" cy="1630823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altLang="en-US" sz="3200" b="1" dirty="0">
                <a:ea typeface="MS PGothic" panose="020B0600070205080204" pitchFamily="34" charset="-128"/>
              </a:rPr>
              <a:t>Tema: </a:t>
            </a:r>
            <a:r>
              <a:rPr lang="pt-PT" altLang="en-US" sz="3200" b="1" dirty="0">
                <a:ea typeface="MS PGothic" panose="020B0600070205080204" pitchFamily="34" charset="-128"/>
              </a:rPr>
              <a:t>Jogo Patológico</a:t>
            </a:r>
          </a:p>
          <a:p>
            <a:pPr algn="ctr" eaLnBrk="1" hangingPunct="1">
              <a:defRPr/>
            </a:pPr>
            <a:r>
              <a:rPr lang="pt-PT" altLang="en-US" sz="3200" b="1" dirty="0">
                <a:ea typeface="MS PGothic" panose="020B0600070205080204" pitchFamily="34" charset="-128"/>
              </a:rPr>
              <a:t>Mecanismos, factores de risco e estratégias de prevenção no local de trabalho</a:t>
            </a:r>
            <a:endParaRPr lang="pt-BR" sz="3200" b="1" dirty="0">
              <a:solidFill>
                <a:srgbClr val="DBEFF9">
                  <a:lumMod val="25000"/>
                </a:srgb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678C29-B991-E318-C6A6-550E6CF7E735}"/>
              </a:ext>
            </a:extLst>
          </p:cNvPr>
          <p:cNvSpPr txBox="1"/>
          <p:nvPr/>
        </p:nvSpPr>
        <p:spPr>
          <a:xfrm>
            <a:off x="2416995" y="221163"/>
            <a:ext cx="6169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3600" b="1" dirty="0">
                <a:solidFill>
                  <a:schemeClr val="bg1"/>
                </a:solidFill>
                <a:cs typeface="Arial" panose="020B0604020202020204" pitchFamily="34" charset="0"/>
              </a:rPr>
              <a:t>Sumário</a:t>
            </a:r>
            <a:endParaRPr lang="pt-BR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137067-727B-8D94-E01A-197C6AC86A3A}"/>
              </a:ext>
            </a:extLst>
          </p:cNvPr>
          <p:cNvSpPr txBox="1"/>
          <p:nvPr/>
        </p:nvSpPr>
        <p:spPr>
          <a:xfrm>
            <a:off x="2312949" y="1484814"/>
            <a:ext cx="7738224" cy="388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PT" sz="2800" dirty="0">
                <a:solidFill>
                  <a:schemeClr val="bg1"/>
                </a:solidFill>
              </a:rPr>
              <a:t>Definição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PT" sz="2800" dirty="0">
                <a:solidFill>
                  <a:schemeClr val="bg1"/>
                </a:solidFill>
              </a:rPr>
              <a:t>Epidemiologia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PT" sz="2800" dirty="0">
                <a:solidFill>
                  <a:schemeClr val="bg1"/>
                </a:solidFill>
              </a:rPr>
              <a:t>Mecanismos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PT" sz="2800" dirty="0">
                <a:solidFill>
                  <a:schemeClr val="bg1"/>
                </a:solidFill>
              </a:rPr>
              <a:t>Factores de risco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PT" sz="2800" dirty="0">
                <a:solidFill>
                  <a:schemeClr val="bg1"/>
                </a:solidFill>
              </a:rPr>
              <a:t>Estratégias de prevenção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PT" sz="2800" dirty="0">
                <a:solidFill>
                  <a:schemeClr val="bg1"/>
                </a:solidFill>
              </a:rPr>
              <a:t>Referências bibliográficas</a:t>
            </a:r>
          </a:p>
        </p:txBody>
      </p:sp>
    </p:spTree>
    <p:extLst>
      <p:ext uri="{BB962C8B-B14F-4D97-AF65-F5344CB8AC3E}">
        <p14:creationId xmlns:p14="http://schemas.microsoft.com/office/powerpoint/2010/main" val="2765791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E823-D380-E273-595E-61F6F2EB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6D8B86-B83D-4C8D-3792-B16F375CBE53}"/>
              </a:ext>
            </a:extLst>
          </p:cNvPr>
          <p:cNvSpPr txBox="1"/>
          <p:nvPr/>
        </p:nvSpPr>
        <p:spPr>
          <a:xfrm>
            <a:off x="2416995" y="221163"/>
            <a:ext cx="7985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3600" b="1" dirty="0">
                <a:solidFill>
                  <a:schemeClr val="bg1"/>
                </a:solidFill>
                <a:cs typeface="Arial" panose="020B0604020202020204" pitchFamily="34" charset="0"/>
              </a:rPr>
              <a:t>Jogo Patológico - Definição</a:t>
            </a:r>
            <a:endParaRPr lang="pt-BR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A3970E-9389-B344-A17C-EDC56265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083213-7614-E67A-0904-012DB9A00DB0}"/>
              </a:ext>
            </a:extLst>
          </p:cNvPr>
          <p:cNvSpPr txBox="1"/>
          <p:nvPr/>
        </p:nvSpPr>
        <p:spPr>
          <a:xfrm>
            <a:off x="4824710" y="1649255"/>
            <a:ext cx="6385303" cy="4534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PT" sz="2800" dirty="0">
                <a:solidFill>
                  <a:schemeClr val="bg1"/>
                </a:solidFill>
              </a:rPr>
              <a:t>Padrão de comportamento de jogo problemático, persistente e recorrente que acarreta sofrimento clinicamente significativo ou prejuízos severos nas esferas pessoal, familiar, social, financeira e profissional do indivíduo.</a:t>
            </a:r>
          </a:p>
        </p:txBody>
      </p:sp>
      <p:pic>
        <p:nvPicPr>
          <p:cNvPr id="4" name="Picture 3" descr="Imagem gerada pela IA">
            <a:extLst>
              <a:ext uri="{FF2B5EF4-FFF2-40B4-BE49-F238E27FC236}">
                <a16:creationId xmlns:a16="http://schemas.microsoft.com/office/drawing/2014/main" id="{38B125AB-4CD9-4C0C-E7B4-1461C9F73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47" y="1968283"/>
            <a:ext cx="4171034" cy="40295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0444DB-D2A9-8A30-0686-3725A5115CF4}"/>
              </a:ext>
            </a:extLst>
          </p:cNvPr>
          <p:cNvSpPr txBox="1"/>
          <p:nvPr/>
        </p:nvSpPr>
        <p:spPr>
          <a:xfrm>
            <a:off x="8561255" y="6351518"/>
            <a:ext cx="312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T" sz="1100" dirty="0">
                <a:solidFill>
                  <a:schemeClr val="bg1"/>
                </a:solidFill>
              </a:rPr>
              <a:t>(Associação Psiquiátrica Americana, 2014)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494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7151C-0345-7F15-F974-6C44ADA0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1C7059-FD03-7587-4203-038EDFDDC552}"/>
              </a:ext>
            </a:extLst>
          </p:cNvPr>
          <p:cNvSpPr txBox="1"/>
          <p:nvPr/>
        </p:nvSpPr>
        <p:spPr>
          <a:xfrm>
            <a:off x="2373965" y="221163"/>
            <a:ext cx="8254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3600" b="1" dirty="0">
                <a:solidFill>
                  <a:schemeClr val="bg1"/>
                </a:solidFill>
                <a:cs typeface="Arial" panose="020B0604020202020204" pitchFamily="34" charset="0"/>
              </a:rPr>
              <a:t>Jogo Patológico - Epidemiologia</a:t>
            </a:r>
            <a:endParaRPr lang="pt-BR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5F6B58-9E13-B434-88A5-50020F4F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F36BE61-ADF5-E139-EE58-0898AC298494}"/>
              </a:ext>
            </a:extLst>
          </p:cNvPr>
          <p:cNvSpPr/>
          <p:nvPr/>
        </p:nvSpPr>
        <p:spPr>
          <a:xfrm>
            <a:off x="1328057" y="1513489"/>
            <a:ext cx="10617200" cy="2096940"/>
          </a:xfrm>
          <a:prstGeom prst="round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/>
            <a:r>
              <a:rPr lang="en-PT" sz="2800" dirty="0">
                <a:solidFill>
                  <a:schemeClr val="bg1"/>
                </a:solidFill>
              </a:rPr>
              <a:t>A prevalência global do transtorno do jogo na população em geral é estimada entre </a:t>
            </a:r>
            <a:r>
              <a:rPr lang="en-PT" sz="2800" b="1" dirty="0">
                <a:solidFill>
                  <a:schemeClr val="bg1"/>
                </a:solidFill>
              </a:rPr>
              <a:t>0,5% e 2%</a:t>
            </a:r>
            <a:r>
              <a:rPr lang="en-PT" sz="2800" dirty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en-PT" sz="2800" dirty="0">
                <a:solidFill>
                  <a:schemeClr val="bg1"/>
                </a:solidFill>
              </a:rPr>
              <a:t>Perfil mais afectado é composto por homens jovens (risco 2 a 3 vezes maior do que as mulheres)</a:t>
            </a:r>
          </a:p>
        </p:txBody>
      </p:sp>
      <p:pic>
        <p:nvPicPr>
          <p:cNvPr id="15" name="Graphic 14" descr="Earth globe: Africa and Europe with solid fill">
            <a:extLst>
              <a:ext uri="{FF2B5EF4-FFF2-40B4-BE49-F238E27FC236}">
                <a16:creationId xmlns:a16="http://schemas.microsoft.com/office/drawing/2014/main" id="{15466C6A-B045-CEF1-000E-3E7C2BA3FF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473654"/>
            <a:ext cx="1328057" cy="1328057"/>
          </a:xfrm>
          <a:prstGeom prst="rect">
            <a:avLst/>
          </a:prstGeom>
        </p:spPr>
      </p:pic>
      <p:pic>
        <p:nvPicPr>
          <p:cNvPr id="17" name="Graphic 16" descr="Globe outline">
            <a:extLst>
              <a:ext uri="{FF2B5EF4-FFF2-40B4-BE49-F238E27FC236}">
                <a16:creationId xmlns:a16="http://schemas.microsoft.com/office/drawing/2014/main" id="{54B15300-60C3-D861-C314-50B6C418F5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628" y="1839874"/>
            <a:ext cx="1328057" cy="1328057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425F48B-77D1-A0E1-2641-976659CDAE40}"/>
              </a:ext>
            </a:extLst>
          </p:cNvPr>
          <p:cNvSpPr/>
          <p:nvPr/>
        </p:nvSpPr>
        <p:spPr>
          <a:xfrm>
            <a:off x="1319659" y="4147832"/>
            <a:ext cx="10625597" cy="2096940"/>
          </a:xfrm>
          <a:prstGeom prst="round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PT" sz="2800" dirty="0"/>
              <a:t>A taxa média de envolvimento de jovens em actividades de jogo ronda os </a:t>
            </a:r>
            <a:r>
              <a:rPr lang="en-PT" sz="2800" b="1" dirty="0"/>
              <a:t>54%</a:t>
            </a:r>
            <a:r>
              <a:rPr lang="en-PT" sz="2800" dirty="0"/>
              <a:t>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F03267-A9D9-88BA-5A87-A42009FF9ECF}"/>
              </a:ext>
            </a:extLst>
          </p:cNvPr>
          <p:cNvSpPr txBox="1"/>
          <p:nvPr/>
        </p:nvSpPr>
        <p:spPr>
          <a:xfrm>
            <a:off x="9301566" y="5925807"/>
            <a:ext cx="35103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T" sz="1100" b="0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(Ssewanyana &amp; Bitanihirwe, 2018)</a:t>
            </a:r>
            <a:endParaRPr lang="en-PT" sz="11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1C0C4-5F39-3EFC-8036-BDA7C918E974}"/>
              </a:ext>
            </a:extLst>
          </p:cNvPr>
          <p:cNvSpPr txBox="1"/>
          <p:nvPr/>
        </p:nvSpPr>
        <p:spPr>
          <a:xfrm>
            <a:off x="7799684" y="3331335"/>
            <a:ext cx="3887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100" dirty="0">
                <a:solidFill>
                  <a:schemeClr val="bg1"/>
                </a:solidFill>
              </a:rPr>
              <a:t>(Associação Psiquiátrica Americana, 2014)</a:t>
            </a:r>
            <a:endParaRPr lang="en-PT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63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9E3D8-BAAA-AE4E-AF07-6BC809FB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E2B5E7-52D2-A9BE-0901-7F836A8F1435}"/>
              </a:ext>
            </a:extLst>
          </p:cNvPr>
          <p:cNvSpPr txBox="1"/>
          <p:nvPr/>
        </p:nvSpPr>
        <p:spPr>
          <a:xfrm>
            <a:off x="2373965" y="221163"/>
            <a:ext cx="8254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3600" b="1" dirty="0">
                <a:solidFill>
                  <a:schemeClr val="bg1"/>
                </a:solidFill>
                <a:cs typeface="Arial" panose="020B0604020202020204" pitchFamily="34" charset="0"/>
              </a:rPr>
              <a:t>Jogo Patológico - Epidemiologia</a:t>
            </a:r>
            <a:endParaRPr lang="pt-BR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F48FCA-0C61-23BE-2479-9DD15171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9CD915D-86F1-8D85-9666-0D63E7046D67}"/>
              </a:ext>
            </a:extLst>
          </p:cNvPr>
          <p:cNvSpPr/>
          <p:nvPr/>
        </p:nvSpPr>
        <p:spPr>
          <a:xfrm>
            <a:off x="2373965" y="2223769"/>
            <a:ext cx="9699215" cy="2379228"/>
          </a:xfrm>
          <a:prstGeom prst="round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/>
            <a:r>
              <a:rPr lang="en-PT" sz="2800" dirty="0"/>
              <a:t>Epidemiologia formal e dados estatísticos ainda são escassos, mas o crescimento acelerado de plataformas digitais e jogos azar tem gerado um grave problema emergente de saúde pública.</a:t>
            </a:r>
            <a:r>
              <a:rPr lang="en-PT" sz="4000" dirty="0"/>
              <a:t> </a:t>
            </a:r>
            <a:endParaRPr lang="en-PT" sz="1100" dirty="0">
              <a:solidFill>
                <a:schemeClr val="bg1"/>
              </a:solidFill>
            </a:endParaRPr>
          </a:p>
        </p:txBody>
      </p:sp>
      <p:pic>
        <p:nvPicPr>
          <p:cNvPr id="5" name="Picture 4" descr="Moçambique mapa. mapa do Moçambique dentro azul cor 72515771 ...">
            <a:extLst>
              <a:ext uri="{FF2B5EF4-FFF2-40B4-BE49-F238E27FC236}">
                <a16:creationId xmlns:a16="http://schemas.microsoft.com/office/drawing/2014/main" id="{EE00E39C-9F66-168A-5DAC-8AE1022302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8820" y="2315171"/>
            <a:ext cx="2227658" cy="2227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FD68B7-9A26-AD8B-3E1E-D5287ECF98AB}"/>
              </a:ext>
            </a:extLst>
          </p:cNvPr>
          <p:cNvSpPr txBox="1"/>
          <p:nvPr/>
        </p:nvSpPr>
        <p:spPr>
          <a:xfrm>
            <a:off x="9444360" y="4341387"/>
            <a:ext cx="24952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100" dirty="0">
                <a:solidFill>
                  <a:schemeClr val="bg1"/>
                </a:solidFill>
              </a:rPr>
              <a:t>(Tembe e Macuácua, 2025)</a:t>
            </a:r>
          </a:p>
        </p:txBody>
      </p:sp>
    </p:spTree>
    <p:extLst>
      <p:ext uri="{BB962C8B-B14F-4D97-AF65-F5344CB8AC3E}">
        <p14:creationId xmlns:p14="http://schemas.microsoft.com/office/powerpoint/2010/main" val="3322885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09F61-7516-D6FF-0B58-876EAC067054}"/>
              </a:ext>
            </a:extLst>
          </p:cNvPr>
          <p:cNvSpPr txBox="1"/>
          <p:nvPr/>
        </p:nvSpPr>
        <p:spPr>
          <a:xfrm>
            <a:off x="1179865" y="135102"/>
            <a:ext cx="1058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3600" b="1" dirty="0">
                <a:solidFill>
                  <a:schemeClr val="bg1"/>
                </a:solidFill>
                <a:cs typeface="Arial" panose="020B0604020202020204" pitchFamily="34" charset="0"/>
              </a:rPr>
              <a:t>Jogo Patológico – Mecanismo neurobiológico</a:t>
            </a:r>
            <a:endParaRPr lang="pt-BR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172FDC-3150-5073-9C40-43B346B3A61B}"/>
              </a:ext>
            </a:extLst>
          </p:cNvPr>
          <p:cNvSpPr txBox="1"/>
          <p:nvPr/>
        </p:nvSpPr>
        <p:spPr>
          <a:xfrm>
            <a:off x="299923" y="1207008"/>
            <a:ext cx="11469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900"/>
              </a:spcBef>
              <a:spcAft>
                <a:spcPts val="1200"/>
              </a:spcAft>
              <a:buNone/>
            </a:pPr>
            <a:r>
              <a:rPr lang="en-PT" sz="1800" b="0" i="0" u="none" strike="noStrike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Mecanismos semelhantes </a:t>
            </a:r>
            <a:r>
              <a:rPr lang="en-PT" sz="1800" b="0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aos das dependências químicas</a:t>
            </a:r>
            <a:endParaRPr lang="en-PT" sz="1800" b="0" i="0" u="none" strike="noStrike"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7" name="Picture 6" descr="image-60dd337534a0089abf8a6131be84fa6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" y="1986341"/>
            <a:ext cx="2240280" cy="20166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4279392"/>
            <a:ext cx="3657600" cy="502920"/>
          </a:xfrm>
          <a:prstGeom prst="rect">
            <a:avLst/>
          </a:prstGeom>
          <a:noFill/>
        </p:spPr>
        <p:txBody>
          <a:bodyPr wrap="square" lIns="73152" tIns="0" rIns="73152" bIns="0">
            <a:noAutofit/>
          </a:bodyPr>
          <a:lstStyle/>
          <a:p>
            <a:pPr algn="ctr"/>
            <a:r>
              <a:rPr lang="en-PT" sz="2000" b="1" i="0" u="none" strike="noStrike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Recompensa cerebral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4782312"/>
            <a:ext cx="3094702" cy="1207008"/>
          </a:xfrm>
          <a:prstGeom prst="rect">
            <a:avLst/>
          </a:prstGeom>
          <a:noFill/>
        </p:spPr>
        <p:txBody>
          <a:bodyPr wrap="square" lIns="73152" tIns="0" rIns="73152" bIns="0">
            <a:noAutofit/>
          </a:bodyPr>
          <a:lstStyle/>
          <a:p>
            <a:pPr algn="ctr"/>
            <a:r>
              <a:rPr lang="en-PT" sz="2000" b="0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O jogo activa o circuito dopaminérgico. A dopamina associa-se ao ganho e, sobretudo, à sua antecipação.</a:t>
            </a:r>
          </a:p>
        </p:txBody>
      </p:sp>
      <p:pic>
        <p:nvPicPr>
          <p:cNvPr id="10" name="Picture 9" descr="image-d9239be330db60f18fee5d03977c2da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764" y="2299208"/>
            <a:ext cx="2240280" cy="13909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61104" y="4279392"/>
            <a:ext cx="3657600" cy="502920"/>
          </a:xfrm>
          <a:prstGeom prst="rect">
            <a:avLst/>
          </a:prstGeom>
          <a:noFill/>
        </p:spPr>
        <p:txBody>
          <a:bodyPr wrap="square" lIns="73152" tIns="0" rIns="73152" bIns="0">
            <a:noAutofit/>
          </a:bodyPr>
          <a:lstStyle/>
          <a:p>
            <a:pPr algn="ctr"/>
            <a:r>
              <a:rPr lang="en-PT" sz="2000" b="1" i="0" u="none" strike="noStrike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Quase-ganho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4828032"/>
            <a:ext cx="3657600" cy="1207008"/>
          </a:xfrm>
          <a:prstGeom prst="rect">
            <a:avLst/>
          </a:prstGeom>
          <a:noFill/>
        </p:spPr>
        <p:txBody>
          <a:bodyPr wrap="square" lIns="73152" tIns="0" rIns="73152" bIns="0">
            <a:noAutofit/>
          </a:bodyPr>
          <a:lstStyle/>
          <a:p>
            <a:pPr algn="ctr"/>
            <a:r>
              <a:rPr lang="en-PT" sz="2000" b="0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Uma derrota por pouco parece uma quase-vitória e incentiva a continuar a jogar.</a:t>
            </a:r>
          </a:p>
        </p:txBody>
      </p:sp>
      <p:pic>
        <p:nvPicPr>
          <p:cNvPr id="13" name="Picture 12" descr="image-6df6c2488b968016e17eda3a1d0bb9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1956" y="1874519"/>
            <a:ext cx="2240280" cy="2240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83296" y="4279392"/>
            <a:ext cx="3657600" cy="502920"/>
          </a:xfrm>
          <a:prstGeom prst="rect">
            <a:avLst/>
          </a:prstGeom>
          <a:noFill/>
        </p:spPr>
        <p:txBody>
          <a:bodyPr wrap="square" lIns="73152" tIns="0" rIns="73152" bIns="0">
            <a:noAutofit/>
          </a:bodyPr>
          <a:lstStyle/>
          <a:p>
            <a:pPr algn="ctr"/>
            <a:r>
              <a:rPr lang="en-PT" sz="2000" b="1" i="0" u="none" strike="noStrike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Córtex pré-frontal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4828032"/>
            <a:ext cx="3657600" cy="1207008"/>
          </a:xfrm>
          <a:prstGeom prst="rect">
            <a:avLst/>
          </a:prstGeom>
          <a:noFill/>
        </p:spPr>
        <p:txBody>
          <a:bodyPr wrap="square" lIns="73152" tIns="0" rIns="73152" bIns="0">
            <a:noAutofit/>
          </a:bodyPr>
          <a:lstStyle/>
          <a:p>
            <a:pPr algn="ctr"/>
            <a:r>
              <a:rPr lang="en-PT" sz="2000" b="0" i="0" u="none" strike="noStrike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A menor actividade reduz o controlo de impulsos e a avaliação de riscos, dificultando parar apesar das consequências.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E4239-7D1F-9B06-7354-AC40F34C2C42}"/>
              </a:ext>
            </a:extLst>
          </p:cNvPr>
          <p:cNvSpPr txBox="1"/>
          <p:nvPr/>
        </p:nvSpPr>
        <p:spPr>
          <a:xfrm>
            <a:off x="9347471" y="6556241"/>
            <a:ext cx="3789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100" dirty="0">
                <a:solidFill>
                  <a:schemeClr val="bg1"/>
                </a:solidFill>
              </a:rPr>
              <a:t>(Clark et al., 2009; Potenza et al., 2019)</a:t>
            </a:r>
          </a:p>
        </p:txBody>
      </p:sp>
    </p:spTree>
    <p:extLst>
      <p:ext uri="{BB962C8B-B14F-4D97-AF65-F5344CB8AC3E}">
        <p14:creationId xmlns:p14="http://schemas.microsoft.com/office/powerpoint/2010/main" val="2501639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10325-FEEA-839B-EF4C-CBC8CB8E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D205FA-01C5-2873-6358-DC0E1473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B429C34-BC9D-BC85-CA78-3F1EA25AE9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0285949"/>
              </p:ext>
            </p:extLst>
          </p:nvPr>
        </p:nvGraphicFramePr>
        <p:xfrm>
          <a:off x="164892" y="973005"/>
          <a:ext cx="1202710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0D16D9C-147E-98A8-DF30-4EE6A91E4BD2}"/>
              </a:ext>
            </a:extLst>
          </p:cNvPr>
          <p:cNvSpPr txBox="1"/>
          <p:nvPr/>
        </p:nvSpPr>
        <p:spPr>
          <a:xfrm>
            <a:off x="599606" y="2015719"/>
            <a:ext cx="2848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chemeClr val="bg1"/>
                </a:solidFill>
              </a:rPr>
              <a:t>Escape psicológico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FE377-1EBE-6530-F925-863776FF6401}"/>
              </a:ext>
            </a:extLst>
          </p:cNvPr>
          <p:cNvSpPr txBox="1"/>
          <p:nvPr/>
        </p:nvSpPr>
        <p:spPr>
          <a:xfrm>
            <a:off x="299803" y="3366209"/>
            <a:ext cx="3447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chemeClr val="bg1"/>
                </a:solidFill>
              </a:rPr>
              <a:t>Pressão socioeconomica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655E8A-0C95-630F-DF79-A4E15D2B6387}"/>
              </a:ext>
            </a:extLst>
          </p:cNvPr>
          <p:cNvSpPr txBox="1"/>
          <p:nvPr/>
        </p:nvSpPr>
        <p:spPr>
          <a:xfrm>
            <a:off x="299803" y="4725052"/>
            <a:ext cx="2968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chemeClr val="bg1"/>
                </a:solidFill>
              </a:rPr>
              <a:t>Trabalho e acesso digital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2CFAC7-67D6-D8BD-1128-48275A2F174A}"/>
              </a:ext>
            </a:extLst>
          </p:cNvPr>
          <p:cNvSpPr txBox="1"/>
          <p:nvPr/>
        </p:nvSpPr>
        <p:spPr>
          <a:xfrm>
            <a:off x="164892" y="6083895"/>
            <a:ext cx="3447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chemeClr val="bg1"/>
                </a:solidFill>
              </a:rPr>
              <a:t>Crenças e barreiras à ajuda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13C752-2DF1-81F2-2DD7-42F8686B81F6}"/>
              </a:ext>
            </a:extLst>
          </p:cNvPr>
          <p:cNvSpPr txBox="1"/>
          <p:nvPr/>
        </p:nvSpPr>
        <p:spPr>
          <a:xfrm>
            <a:off x="2231014" y="205665"/>
            <a:ext cx="86797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3600" b="1" dirty="0">
                <a:solidFill>
                  <a:schemeClr val="bg1"/>
                </a:solidFill>
                <a:cs typeface="Arial" panose="020B0604020202020204" pitchFamily="34" charset="0"/>
              </a:rPr>
              <a:t>Jogo Patológico – Factores de risco</a:t>
            </a:r>
            <a:endParaRPr lang="pt-BR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821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2416995" y="221163"/>
            <a:ext cx="78962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3600" b="1" dirty="0">
                <a:solidFill>
                  <a:schemeClr val="bg1"/>
                </a:solidFill>
                <a:cs typeface="Arial" panose="020B0604020202020204" pitchFamily="34" charset="0"/>
              </a:rPr>
              <a:t>Jogo Patológico - Prevenção</a:t>
            </a:r>
            <a:endParaRPr lang="pt-BR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405295-D7D8-6C21-5531-4589488B3B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98" b="3612"/>
          <a:stretch>
            <a:fillRect/>
          </a:stretch>
        </p:blipFill>
        <p:spPr>
          <a:xfrm>
            <a:off x="618331" y="1049312"/>
            <a:ext cx="10594311" cy="516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54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C364-33E8-0DBE-B881-CE18B2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1E5213-67D7-62F9-547B-DF0C7F4D6C54}"/>
              </a:ext>
            </a:extLst>
          </p:cNvPr>
          <p:cNvSpPr txBox="1"/>
          <p:nvPr/>
        </p:nvSpPr>
        <p:spPr>
          <a:xfrm>
            <a:off x="2282084" y="25114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Referências Bibliográficas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1CF0B2-5F72-A708-23DB-3EF090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409575" y="1043273"/>
            <a:ext cx="11277600" cy="51572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342900" indent="-342900" algn="l">
              <a:spcAft>
                <a:spcPts val="0"/>
              </a:spcAft>
              <a:buAutoNum type="arabicPeriod"/>
            </a:pPr>
            <a:r>
              <a:rPr lang="en-GB" sz="1600" b="0" i="0" dirty="0">
                <a:solidFill>
                  <a:schemeClr val="bg1"/>
                </a:solidFill>
                <a:latin typeface="Century Gothic"/>
              </a:rPr>
              <a:t>World Health Organization. Gambling. Published December 2, 2024. Accessed October 12, 2026. </a:t>
            </a:r>
            <a:r>
              <a:rPr lang="en-GB" sz="1600" b="0" i="0" dirty="0">
                <a:solidFill>
                  <a:schemeClr val="bg1"/>
                </a:solidFill>
                <a:latin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https://www.who.int/news-room/fact-sheets/detail/gambling</a:t>
            </a:r>
            <a:endParaRPr lang="en-GB" sz="1600" dirty="0">
              <a:solidFill>
                <a:schemeClr val="bg1"/>
              </a:solidFill>
              <a:latin typeface="Century Gothic"/>
            </a:endParaRPr>
          </a:p>
          <a:p>
            <a:pPr marL="342900" indent="-342900" algn="l">
              <a:spcAft>
                <a:spcPts val="0"/>
              </a:spcAft>
              <a:buAutoNum type="arabicPeriod"/>
            </a:pPr>
            <a:r>
              <a:rPr lang="en-GB" sz="1600" dirty="0">
                <a:solidFill>
                  <a:schemeClr val="bg1"/>
                </a:solidFill>
                <a:latin typeface="Century Gothic"/>
              </a:rPr>
              <a:t>Tran LT, Wardle H, </a:t>
            </a:r>
            <a:r>
              <a:rPr lang="en-GB" sz="1600" dirty="0" err="1">
                <a:solidFill>
                  <a:schemeClr val="bg1"/>
                </a:solidFill>
                <a:latin typeface="Century Gothic"/>
              </a:rPr>
              <a:t>Colledge</a:t>
            </a:r>
            <a:r>
              <a:rPr lang="en-GB" sz="1600" dirty="0">
                <a:solidFill>
                  <a:schemeClr val="bg1"/>
                </a:solidFill>
                <a:latin typeface="Century Gothic"/>
              </a:rPr>
              <a:t>-Frisby S, et al. The prevalence of gambling and problematic gambling: a systematic review and meta-analysis. </a:t>
            </a:r>
            <a:r>
              <a:rPr lang="en-GB" sz="1600" i="1" dirty="0">
                <a:solidFill>
                  <a:schemeClr val="bg1"/>
                </a:solidFill>
                <a:latin typeface="Century Gothic"/>
              </a:rPr>
              <a:t>Lancet Public Health</a:t>
            </a:r>
            <a:r>
              <a:rPr lang="en-GB" sz="1600" dirty="0">
                <a:solidFill>
                  <a:schemeClr val="bg1"/>
                </a:solidFill>
                <a:latin typeface="Century Gothic"/>
              </a:rPr>
              <a:t>. 2024;9(8):e594-e613. doi:10.1016/S2468-2667(24)00126-9</a:t>
            </a:r>
          </a:p>
          <a:p>
            <a:pPr marL="342900" indent="-342900" algn="l">
              <a:spcAft>
                <a:spcPts val="0"/>
              </a:spcAft>
              <a:buAutoNum type="arabicPeriod"/>
            </a:pPr>
            <a:r>
              <a:rPr lang="en-GB" sz="1600" dirty="0">
                <a:solidFill>
                  <a:schemeClr val="bg1"/>
                </a:solidFill>
                <a:latin typeface="Century Gothic"/>
              </a:rPr>
              <a:t>Potenza MN, Balodis IM, </a:t>
            </a:r>
            <a:r>
              <a:rPr lang="en-GB" sz="1600" dirty="0" err="1">
                <a:solidFill>
                  <a:schemeClr val="bg1"/>
                </a:solidFill>
                <a:latin typeface="Century Gothic"/>
              </a:rPr>
              <a:t>Derevensky</a:t>
            </a:r>
            <a:r>
              <a:rPr lang="en-GB" sz="1600" dirty="0">
                <a:solidFill>
                  <a:schemeClr val="bg1"/>
                </a:solidFill>
                <a:latin typeface="Century Gothic"/>
              </a:rPr>
              <a:t> J, et al. Gambling disorder. </a:t>
            </a:r>
            <a:r>
              <a:rPr lang="en-GB" sz="1600" i="1" dirty="0">
                <a:solidFill>
                  <a:schemeClr val="bg1"/>
                </a:solidFill>
                <a:latin typeface="Century Gothic"/>
              </a:rPr>
              <a:t>Nat Rev Dis Primers</a:t>
            </a:r>
            <a:r>
              <a:rPr lang="en-GB" sz="1600" dirty="0">
                <a:solidFill>
                  <a:schemeClr val="bg1"/>
                </a:solidFill>
                <a:latin typeface="Century Gothic"/>
              </a:rPr>
              <a:t>. 2019;5(1):51. doi:10.1038/s41572-019-0099-7</a:t>
            </a:r>
          </a:p>
          <a:p>
            <a:pPr marL="342900" indent="-342900">
              <a:spcAft>
                <a:spcPts val="0"/>
              </a:spcAft>
              <a:buFontTx/>
              <a:buAutoNum type="arabicPeriod"/>
            </a:pPr>
            <a:r>
              <a:rPr lang="en-GB" sz="1600" dirty="0">
                <a:solidFill>
                  <a:schemeClr val="bg1"/>
                </a:solidFill>
                <a:latin typeface="Century Gothic"/>
              </a:rPr>
              <a:t>Clark L, Lawrence AJ, Astley-Jones F, Gray N. Gambling near-misses enhance motivation to gamble and recruit win-related brain circuitry. </a:t>
            </a:r>
            <a:r>
              <a:rPr lang="en-GB" sz="1600" i="1" dirty="0">
                <a:solidFill>
                  <a:schemeClr val="bg1"/>
                </a:solidFill>
                <a:latin typeface="Century Gothic"/>
              </a:rPr>
              <a:t>Neuron</a:t>
            </a:r>
            <a:r>
              <a:rPr lang="en-GB" sz="1600" dirty="0">
                <a:solidFill>
                  <a:schemeClr val="bg1"/>
                </a:solidFill>
                <a:latin typeface="Century Gothic"/>
              </a:rPr>
              <a:t>. 2009;61(3):481-490. doi:10.1016/j.neuron.2008.12.031</a:t>
            </a:r>
          </a:p>
          <a:p>
            <a:pPr marL="342900" indent="-342900">
              <a:spcAft>
                <a:spcPts val="0"/>
              </a:spcAft>
              <a:buFontTx/>
              <a:buAutoNum type="arabicPeriod"/>
            </a:pPr>
            <a:r>
              <a:rPr lang="en-GB" sz="1600" dirty="0">
                <a:solidFill>
                  <a:schemeClr val="bg1"/>
                </a:solidFill>
                <a:latin typeface="Century Gothic"/>
              </a:rPr>
              <a:t>Venkatraman V, Huettel SA, Chuah LYM, Payne JW, Chee MWL. Sleep deprivation biases the neural mechanisms underlying economic preferences. </a:t>
            </a:r>
            <a:r>
              <a:rPr lang="en-GB" sz="1600" i="1" dirty="0">
                <a:solidFill>
                  <a:schemeClr val="bg1"/>
                </a:solidFill>
                <a:latin typeface="Century Gothic"/>
              </a:rPr>
              <a:t>J </a:t>
            </a:r>
            <a:r>
              <a:rPr lang="en-GB" sz="1600" i="1" dirty="0" err="1">
                <a:solidFill>
                  <a:schemeClr val="bg1"/>
                </a:solidFill>
                <a:latin typeface="Century Gothic"/>
              </a:rPr>
              <a:t>Neurosci</a:t>
            </a:r>
            <a:r>
              <a:rPr lang="en-GB" sz="1600" dirty="0">
                <a:solidFill>
                  <a:schemeClr val="bg1"/>
                </a:solidFill>
                <a:latin typeface="Century Gothic"/>
              </a:rPr>
              <a:t>. 2011;31(10):3712-3718. doi:10.1523/JNEUROSCI.4407-10.2011</a:t>
            </a:r>
          </a:p>
          <a:p>
            <a:pPr marL="342900" indent="-342900">
              <a:spcAft>
                <a:spcPts val="0"/>
              </a:spcAft>
              <a:buFontTx/>
              <a:buAutoNum type="arabicPeriod"/>
            </a:pPr>
            <a:r>
              <a:rPr lang="en-GB" sz="1600" dirty="0">
                <a:solidFill>
                  <a:schemeClr val="bg1"/>
                </a:solidFill>
                <a:latin typeface="Century Gothic"/>
              </a:rPr>
              <a:t>National Institute for Health and Care Excellence. Gambling-related harms: identification, assessment and management. NICE guideline NG248. Published January 28, 2025. Accessed October 12, 2026. </a:t>
            </a:r>
            <a:r>
              <a:rPr lang="en-GB" sz="1600" dirty="0">
                <a:solidFill>
                  <a:schemeClr val="bg1"/>
                </a:solidFill>
                <a:latin typeface="Century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https://www.nice.org.uk/guidance/ng248</a:t>
            </a:r>
            <a:endParaRPr lang="en-GB" sz="1600" dirty="0">
              <a:solidFill>
                <a:schemeClr val="bg1"/>
              </a:solidFill>
              <a:latin typeface="Century Gothic"/>
            </a:endParaRPr>
          </a:p>
          <a:p>
            <a:pPr marL="342900" indent="-342900">
              <a:spcAft>
                <a:spcPts val="0"/>
              </a:spcAft>
              <a:buFontTx/>
              <a:buAutoNum type="arabicPeriod"/>
            </a:pPr>
            <a:r>
              <a:rPr lang="en-PT" sz="1600" dirty="0">
                <a:solidFill>
                  <a:schemeClr val="bg1"/>
                </a:solidFill>
              </a:rPr>
              <a:t>Ssewanyana, D., &amp; Bitanihirwe, J. R. (2018). Problem gambling among young people in Sub-Saharan Africa. </a:t>
            </a:r>
            <a:r>
              <a:rPr lang="en-PT" sz="1600" i="1" dirty="0">
                <a:solidFill>
                  <a:schemeClr val="bg1"/>
                </a:solidFill>
              </a:rPr>
              <a:t>Frontiers in Public Health</a:t>
            </a:r>
            <a:r>
              <a:rPr lang="en-PT" sz="1600" dirty="0">
                <a:solidFill>
                  <a:schemeClr val="bg1"/>
                </a:solidFill>
              </a:rPr>
              <a:t>, </a:t>
            </a:r>
            <a:r>
              <a:rPr lang="en-PT" sz="1600" i="1" dirty="0">
                <a:solidFill>
                  <a:schemeClr val="bg1"/>
                </a:solidFill>
              </a:rPr>
              <a:t>6</a:t>
            </a:r>
            <a:r>
              <a:rPr lang="en-PT" sz="1600" dirty="0">
                <a:solidFill>
                  <a:schemeClr val="bg1"/>
                </a:solidFill>
              </a:rPr>
              <a:t>, Article 23. doi.org</a:t>
            </a:r>
          </a:p>
          <a:p>
            <a:pPr marL="342900" indent="-342900">
              <a:spcAft>
                <a:spcPts val="0"/>
              </a:spcAft>
              <a:buFontTx/>
              <a:buAutoNum type="arabicPeriod"/>
            </a:pPr>
            <a:r>
              <a:rPr lang="en-PT" sz="1600" dirty="0">
                <a:solidFill>
                  <a:schemeClr val="bg1"/>
                </a:solidFill>
              </a:rPr>
              <a:t>American Psychiatric Association. </a:t>
            </a:r>
            <a:r>
              <a:rPr lang="en-PT" sz="1600" i="1" dirty="0">
                <a:solidFill>
                  <a:schemeClr val="bg1"/>
                </a:solidFill>
              </a:rPr>
              <a:t>Manual Diagnóstico e Estatístico de Transtornos Mentais: DSM-5</a:t>
            </a:r>
            <a:r>
              <a:rPr lang="en-PT" sz="1600" dirty="0">
                <a:solidFill>
                  <a:schemeClr val="bg1"/>
                </a:solidFill>
              </a:rPr>
              <a:t>. 5ª ed. Artmed; 2014.</a:t>
            </a:r>
          </a:p>
          <a:p>
            <a:pPr marL="342900" indent="-342900">
              <a:spcAft>
                <a:spcPts val="0"/>
              </a:spcAft>
              <a:buFontTx/>
              <a:buAutoNum type="arabicPeriod"/>
            </a:pPr>
            <a:r>
              <a:rPr lang="en-PT" sz="1600" dirty="0">
                <a:solidFill>
                  <a:schemeClr val="bg1"/>
                </a:solidFill>
              </a:rPr>
              <a:t>Macuácua JE, Tembe MA. Do mergulho na vulnerabilidade económica à paixão pelos riscos sociais: a transição dos jogos de azar mecânicos para o ambiente virtual em Moçambique. </a:t>
            </a:r>
            <a:r>
              <a:rPr lang="en-PT" sz="1600" i="1" dirty="0">
                <a:solidFill>
                  <a:schemeClr val="bg1"/>
                </a:solidFill>
              </a:rPr>
              <a:t>Rev Diálogos e Ciência</a:t>
            </a:r>
            <a:r>
              <a:rPr lang="en-PT" sz="1600" dirty="0">
                <a:solidFill>
                  <a:schemeClr val="bg1"/>
                </a:solidFill>
              </a:rPr>
              <a:t>. 2025;19(52):112-130. Acedido a 12 de outubro de 2026. uneb.br</a:t>
            </a:r>
            <a:endParaRPr lang="en-GB" sz="1600" dirty="0">
              <a:solidFill>
                <a:schemeClr val="bg1"/>
              </a:solidFill>
              <a:latin typeface="Century Gothic"/>
            </a:endParaRPr>
          </a:p>
          <a:p>
            <a:pPr marL="342900" indent="-342900">
              <a:spcAft>
                <a:spcPts val="0"/>
              </a:spcAft>
              <a:buFontTx/>
              <a:buAutoNum type="arabicPeriod"/>
            </a:pPr>
            <a:endParaRPr lang="en-GB" sz="1600" dirty="0">
              <a:solidFill>
                <a:schemeClr val="bg1"/>
              </a:solidFill>
              <a:latin typeface="Century Gothic"/>
            </a:endParaRPr>
          </a:p>
          <a:p>
            <a:pPr marL="342900" indent="-342900" algn="l">
              <a:spcAft>
                <a:spcPts val="0"/>
              </a:spcAft>
              <a:buAutoNum type="arabicPeriod"/>
            </a:pPr>
            <a:endParaRPr lang="en-GB" sz="1600" b="0" i="0" dirty="0">
              <a:solidFill>
                <a:schemeClr val="bg1"/>
              </a:solidFill>
              <a:latin typeface="Century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581144"/>
            <a:ext cx="5440680" cy="1609344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219456" indent="-219456" algn="l">
              <a:lnSpc>
                <a:spcPct val="105000"/>
              </a:lnSpc>
              <a:spcAft>
                <a:spcPts val="0"/>
              </a:spcAft>
            </a:pPr>
            <a:endParaRPr lang="en-GB" sz="1600" b="0" i="0" dirty="0">
              <a:solidFill>
                <a:srgbClr val="111111"/>
              </a:solidFill>
              <a:latin typeface="Century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56866" y="4205383"/>
            <a:ext cx="5440680" cy="1609344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219456" indent="-219456" algn="l">
              <a:lnSpc>
                <a:spcPct val="105000"/>
              </a:lnSpc>
              <a:spcAft>
                <a:spcPts val="0"/>
              </a:spcAft>
            </a:pPr>
            <a:endParaRPr lang="en-GB" sz="1600" b="0" i="0" dirty="0">
              <a:solidFill>
                <a:srgbClr val="111111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82967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3">
            <a:extLst>
              <a:ext uri="{FF2B5EF4-FFF2-40B4-BE49-F238E27FC236}">
                <a16:creationId xmlns:a16="http://schemas.microsoft.com/office/drawing/2014/main" id="{ED9512A6-4B03-4E2D-B89A-2C313E59E00C}"/>
              </a:ext>
            </a:extLst>
          </p:cNvPr>
          <p:cNvSpPr txBox="1"/>
          <p:nvPr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CaixaDeTexto 3">
            <a:extLst>
              <a:ext uri="{FF2B5EF4-FFF2-40B4-BE49-F238E27FC236}">
                <a16:creationId xmlns:a16="http://schemas.microsoft.com/office/drawing/2014/main" id="{9A4DD2E7-4F49-8D49-8B50-82758105787C}"/>
              </a:ext>
            </a:extLst>
          </p:cNvPr>
          <p:cNvSpPr txBox="1"/>
          <p:nvPr/>
        </p:nvSpPr>
        <p:spPr>
          <a:xfrm>
            <a:off x="1345915" y="2274283"/>
            <a:ext cx="9185095" cy="115471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Obrigada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!”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07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9181</TotalTime>
  <Words>2351</Words>
  <Application>Microsoft Macintosh PowerPoint</Application>
  <PresentationFormat>Widescreen</PresentationFormat>
  <Paragraphs>135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MS PGothic</vt:lpstr>
      <vt:lpstr>Aptos</vt:lpstr>
      <vt:lpstr>Arial</vt:lpstr>
      <vt:lpstr>Arial Narrow</vt:lpstr>
      <vt:lpstr>Calibri</vt:lpstr>
      <vt:lpstr>Century Gothic</vt:lpstr>
      <vt:lpstr>Comic Sans MS</vt:lpstr>
      <vt:lpstr>Garet Bold</vt:lpstr>
      <vt:lpstr>Garet Bold Italics</vt:lpstr>
      <vt:lpstr>Google Sans Flex</vt:lpstr>
      <vt:lpstr>Times New Roman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Hassan Dassat</cp:lastModifiedBy>
  <cp:revision>129</cp:revision>
  <dcterms:created xsi:type="dcterms:W3CDTF">2025-07-14T08:03:00Z</dcterms:created>
  <dcterms:modified xsi:type="dcterms:W3CDTF">2026-10-12T20:39:29Z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