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345" r:id="rId4"/>
    <p:sldId id="388" r:id="rId5"/>
    <p:sldId id="333" r:id="rId6"/>
    <p:sldId id="383" r:id="rId7"/>
    <p:sldId id="346" r:id="rId8"/>
    <p:sldId id="384" r:id="rId9"/>
    <p:sldId id="347" r:id="rId10"/>
    <p:sldId id="348" r:id="rId11"/>
    <p:sldId id="385" r:id="rId12"/>
    <p:sldId id="349" r:id="rId13"/>
    <p:sldId id="382" r:id="rId14"/>
    <p:sldId id="350" r:id="rId15"/>
    <p:sldId id="386" r:id="rId16"/>
    <p:sldId id="351" r:id="rId17"/>
    <p:sldId id="352" r:id="rId18"/>
    <p:sldId id="353" r:id="rId19"/>
    <p:sldId id="387" r:id="rId20"/>
    <p:sldId id="354" r:id="rId21"/>
    <p:sldId id="344" r:id="rId22"/>
    <p:sldId id="343" r:id="rId23"/>
  </p:sldIdLst>
  <p:sldSz cx="12192000" cy="6858000"/>
  <p:notesSz cx="6858000" cy="9144000"/>
  <p:custDataLst>
    <p:tags r:id="rId26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18061-57EE-423A-BDB2-C579F79A9B92}" v="7" dt="2026-09-29T19:40:27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8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BF3894-D11B-4162-BBF8-0B5F5F3FDA99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AA97060-21F6-42F5-AC1C-0009B1723832}">
      <dgm:prSet phldrT="[Texto]" custT="1"/>
      <dgm:spPr/>
      <dgm:t>
        <a:bodyPr/>
        <a:lstStyle/>
        <a:p>
          <a:pPr algn="ctr">
            <a:buNone/>
          </a:pPr>
          <a:r>
            <a:rPr lang="pt-PT" sz="1600" b="1" dirty="0">
              <a:solidFill>
                <a:schemeClr val="tx1"/>
              </a:solidFill>
            </a:rPr>
            <a:t>Distritos com maior impacto</a:t>
          </a:r>
        </a:p>
      </dgm:t>
    </dgm:pt>
    <dgm:pt modelId="{6BF63CBC-E683-403D-8B7D-64A72B3F0C32}" type="parTrans" cxnId="{D3DB7E70-8E0A-4CC7-AE4F-E97460B84A0D}">
      <dgm:prSet/>
      <dgm:spPr/>
      <dgm:t>
        <a:bodyPr/>
        <a:lstStyle/>
        <a:p>
          <a:endParaRPr lang="pt-PT" sz="1200"/>
        </a:p>
      </dgm:t>
    </dgm:pt>
    <dgm:pt modelId="{DAE82A38-21FD-485B-BF11-0F905E6B4EF6}" type="sibTrans" cxnId="{D3DB7E70-8E0A-4CC7-AE4F-E97460B84A0D}">
      <dgm:prSet/>
      <dgm:spPr/>
      <dgm:t>
        <a:bodyPr/>
        <a:lstStyle/>
        <a:p>
          <a:endParaRPr lang="pt-PT" sz="1200"/>
        </a:p>
      </dgm:t>
    </dgm:pt>
    <dgm:pt modelId="{33E91539-F87E-44FD-ACF0-BE67AEC2BE2B}">
      <dgm:prSet phldrT="[Texto]" custT="1"/>
      <dgm:spPr/>
      <dgm:t>
        <a:bodyPr/>
        <a:lstStyle/>
        <a:p>
          <a:pPr>
            <a:buNone/>
          </a:pPr>
          <a:r>
            <a:rPr lang="en-US" sz="1600" b="1" dirty="0">
              <a:solidFill>
                <a:schemeClr val="tx1"/>
              </a:solidFill>
            </a:rPr>
            <a:t>Principais riscos de saúde pública</a:t>
          </a:r>
          <a:endParaRPr lang="pt-PT" sz="1600" dirty="0">
            <a:solidFill>
              <a:schemeClr val="tx1"/>
            </a:solidFill>
          </a:endParaRPr>
        </a:p>
      </dgm:t>
    </dgm:pt>
    <dgm:pt modelId="{EB1410FB-4A7C-4BC2-83F5-7D5AF11B0B3A}" type="parTrans" cxnId="{9DCF3309-8372-436B-ADE9-3AFC69374BD9}">
      <dgm:prSet/>
      <dgm:spPr/>
      <dgm:t>
        <a:bodyPr/>
        <a:lstStyle/>
        <a:p>
          <a:endParaRPr lang="pt-PT" sz="1200"/>
        </a:p>
      </dgm:t>
    </dgm:pt>
    <dgm:pt modelId="{1A927988-E017-46DE-BC6A-0AE7643A461A}" type="sibTrans" cxnId="{9DCF3309-8372-436B-ADE9-3AFC69374BD9}">
      <dgm:prSet/>
      <dgm:spPr/>
      <dgm:t>
        <a:bodyPr/>
        <a:lstStyle/>
        <a:p>
          <a:endParaRPr lang="pt-PT" sz="1200"/>
        </a:p>
      </dgm:t>
    </dgm:pt>
    <dgm:pt modelId="{54791648-1D6B-4843-AEFC-44EC365D03F6}">
      <dgm:prSet phldrT="[Texto]" custT="1"/>
      <dgm:spPr/>
      <dgm:t>
        <a:bodyPr/>
        <a:lstStyle/>
        <a:p>
          <a:pPr algn="ctr"/>
          <a:r>
            <a:rPr lang="pt-BR" sz="1600" b="1" dirty="0">
              <a:solidFill>
                <a:schemeClr val="tx1"/>
              </a:solidFill>
            </a:rPr>
            <a:t>População afectada</a:t>
          </a:r>
          <a:endParaRPr lang="pt-PT" sz="1600" dirty="0">
            <a:solidFill>
              <a:schemeClr val="tx1"/>
            </a:solidFill>
          </a:endParaRPr>
        </a:p>
      </dgm:t>
    </dgm:pt>
    <dgm:pt modelId="{3FB0B7A6-60A0-4D90-975D-0E82D6D0635B}" type="parTrans" cxnId="{6DED1188-1404-4243-AA66-7F5F30659085}">
      <dgm:prSet/>
      <dgm:spPr/>
      <dgm:t>
        <a:bodyPr/>
        <a:lstStyle/>
        <a:p>
          <a:endParaRPr lang="pt-PT" sz="1200"/>
        </a:p>
      </dgm:t>
    </dgm:pt>
    <dgm:pt modelId="{3D2F3681-305C-426E-BCEE-52513563ADF4}" type="sibTrans" cxnId="{6DED1188-1404-4243-AA66-7F5F30659085}">
      <dgm:prSet/>
      <dgm:spPr/>
      <dgm:t>
        <a:bodyPr/>
        <a:lstStyle/>
        <a:p>
          <a:endParaRPr lang="pt-PT" sz="1200"/>
        </a:p>
      </dgm:t>
    </dgm:pt>
    <dgm:pt modelId="{3EF5E70A-6189-4599-9A68-E1301C539EB1}">
      <dgm:prSet phldrT="[Texto]" custT="1"/>
      <dgm:spPr/>
      <dgm:t>
        <a:bodyPr/>
        <a:lstStyle/>
        <a:p>
          <a:r>
            <a:rPr lang="pt-BR" sz="1600" dirty="0">
              <a:solidFill>
                <a:schemeClr val="bg1"/>
              </a:solidFill>
            </a:rPr>
            <a:t>População total afectada: 12.181 famílias | 62.309 pessoas.</a:t>
          </a:r>
          <a:endParaRPr lang="en-US" sz="1600" dirty="0">
            <a:solidFill>
              <a:schemeClr val="bg1"/>
            </a:solidFill>
          </a:endParaRPr>
        </a:p>
      </dgm:t>
    </dgm:pt>
    <dgm:pt modelId="{C42E1FCE-C1D0-4F04-84CC-CABAFFA1B0AF}" type="parTrans" cxnId="{652C1AD5-ECCF-47B3-8CF8-883AF85DFE9B}">
      <dgm:prSet/>
      <dgm:spPr/>
      <dgm:t>
        <a:bodyPr/>
        <a:lstStyle/>
        <a:p>
          <a:endParaRPr lang="pt-PT" sz="1200"/>
        </a:p>
      </dgm:t>
    </dgm:pt>
    <dgm:pt modelId="{C56AB414-B62F-43EE-A703-0292FD295A78}" type="sibTrans" cxnId="{652C1AD5-ECCF-47B3-8CF8-883AF85DFE9B}">
      <dgm:prSet/>
      <dgm:spPr/>
      <dgm:t>
        <a:bodyPr/>
        <a:lstStyle/>
        <a:p>
          <a:endParaRPr lang="pt-PT" sz="1200"/>
        </a:p>
      </dgm:t>
    </dgm:pt>
    <dgm:pt modelId="{27560E71-4728-4BF4-BFCA-582D7E071117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1600" dirty="0">
              <a:solidFill>
                <a:schemeClr val="bg1"/>
              </a:solidFill>
            </a:rPr>
            <a:t>- Chuvas intensas e cheias localizadas </a:t>
          </a:r>
        </a:p>
      </dgm:t>
    </dgm:pt>
    <dgm:pt modelId="{DF43E615-7C17-4DD6-9DCF-F7CF98FC72A3}" type="parTrans" cxnId="{50F408D8-4FA1-4951-ABA7-F27078716935}">
      <dgm:prSet/>
      <dgm:spPr/>
      <dgm:t>
        <a:bodyPr/>
        <a:lstStyle/>
        <a:p>
          <a:endParaRPr lang="pt-PT" sz="1200"/>
        </a:p>
      </dgm:t>
    </dgm:pt>
    <dgm:pt modelId="{5A484910-9288-4786-8E8B-203149142317}" type="sibTrans" cxnId="{50F408D8-4FA1-4951-ABA7-F27078716935}">
      <dgm:prSet/>
      <dgm:spPr/>
      <dgm:t>
        <a:bodyPr/>
        <a:lstStyle/>
        <a:p>
          <a:endParaRPr lang="pt-PT" sz="1200"/>
        </a:p>
      </dgm:t>
    </dgm:pt>
    <dgm:pt modelId="{310E8A15-7CB7-46C8-9CEA-A27717D71A51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1600" dirty="0">
              <a:solidFill>
                <a:schemeClr val="bg1"/>
              </a:solidFill>
            </a:rPr>
            <a:t>- Inundações urbanas </a:t>
          </a:r>
        </a:p>
      </dgm:t>
    </dgm:pt>
    <dgm:pt modelId="{4CBF5E65-322D-47FC-8355-69C9FD5D64A3}" type="parTrans" cxnId="{DEB4523D-E0DC-4123-BCC0-12BABAC9282F}">
      <dgm:prSet/>
      <dgm:spPr/>
      <dgm:t>
        <a:bodyPr/>
        <a:lstStyle/>
        <a:p>
          <a:endParaRPr lang="pt-PT" sz="1200"/>
        </a:p>
      </dgm:t>
    </dgm:pt>
    <dgm:pt modelId="{1ED7A232-1D00-4D63-8661-759E61AB6BB8}" type="sibTrans" cxnId="{DEB4523D-E0DC-4123-BCC0-12BABAC9282F}">
      <dgm:prSet/>
      <dgm:spPr/>
      <dgm:t>
        <a:bodyPr/>
        <a:lstStyle/>
        <a:p>
          <a:endParaRPr lang="pt-PT" sz="1200"/>
        </a:p>
      </dgm:t>
    </dgm:pt>
    <dgm:pt modelId="{F9C301C1-B6AA-470D-90DA-721EE47CAB64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1600" dirty="0">
              <a:solidFill>
                <a:schemeClr val="bg1"/>
              </a:solidFill>
            </a:rPr>
            <a:t>- Deslocamento de famílias </a:t>
          </a:r>
        </a:p>
      </dgm:t>
    </dgm:pt>
    <dgm:pt modelId="{4765A651-E627-44A4-B565-31855071F471}" type="parTrans" cxnId="{55FB78DF-3B38-43AF-A2B6-D09A57D82026}">
      <dgm:prSet/>
      <dgm:spPr/>
      <dgm:t>
        <a:bodyPr/>
        <a:lstStyle/>
        <a:p>
          <a:endParaRPr lang="pt-PT" sz="1200"/>
        </a:p>
      </dgm:t>
    </dgm:pt>
    <dgm:pt modelId="{8F12855C-C00A-406E-BE74-9FFA8447B6E0}" type="sibTrans" cxnId="{55FB78DF-3B38-43AF-A2B6-D09A57D82026}">
      <dgm:prSet/>
      <dgm:spPr/>
      <dgm:t>
        <a:bodyPr/>
        <a:lstStyle/>
        <a:p>
          <a:endParaRPr lang="pt-PT" sz="1200"/>
        </a:p>
      </dgm:t>
    </dgm:pt>
    <dgm:pt modelId="{11CD9086-B1BA-4557-8CDD-2813898F1002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1600" dirty="0">
              <a:solidFill>
                <a:schemeClr val="bg1"/>
              </a:solidFill>
            </a:rPr>
            <a:t>- Aumento de doenças associadas à água e saneamento</a:t>
          </a:r>
        </a:p>
      </dgm:t>
    </dgm:pt>
    <dgm:pt modelId="{9F94351A-D975-4FC5-B35A-AA1BD053D3B8}" type="parTrans" cxnId="{75F01539-AE88-4CDD-9A1C-9B1E4BE1D059}">
      <dgm:prSet/>
      <dgm:spPr/>
      <dgm:t>
        <a:bodyPr/>
        <a:lstStyle/>
        <a:p>
          <a:endParaRPr lang="pt-PT" sz="1200"/>
        </a:p>
      </dgm:t>
    </dgm:pt>
    <dgm:pt modelId="{269484BE-BF2B-4394-9F22-C719A3D3BCAF}" type="sibTrans" cxnId="{75F01539-AE88-4CDD-9A1C-9B1E4BE1D059}">
      <dgm:prSet/>
      <dgm:spPr/>
      <dgm:t>
        <a:bodyPr/>
        <a:lstStyle/>
        <a:p>
          <a:endParaRPr lang="pt-PT" sz="1200"/>
        </a:p>
      </dgm:t>
    </dgm:pt>
    <dgm:pt modelId="{ADC05897-3D79-4038-BA6D-252D86169075}">
      <dgm:prSet custT="1"/>
      <dgm:spPr/>
      <dgm:t>
        <a:bodyPr/>
        <a:lstStyle/>
        <a:p>
          <a:pPr algn="l">
            <a:buNone/>
          </a:pPr>
          <a:r>
            <a:rPr lang="en-US" sz="1600" dirty="0">
              <a:solidFill>
                <a:schemeClr val="bg1"/>
              </a:solidFill>
            </a:rPr>
            <a:t>- Doenças diarreicas (</a:t>
          </a:r>
          <a:r>
            <a:rPr lang="pt-BR" sz="1600" dirty="0">
              <a:solidFill>
                <a:schemeClr val="bg1"/>
              </a:solidFill>
            </a:rPr>
            <a:t>17.868 casos )</a:t>
          </a:r>
        </a:p>
        <a:p>
          <a:pPr algn="l">
            <a:buNone/>
          </a:pPr>
          <a:r>
            <a:rPr lang="en-US" sz="1600" dirty="0">
              <a:solidFill>
                <a:schemeClr val="bg1"/>
              </a:solidFill>
            </a:rPr>
            <a:t>- </a:t>
          </a:r>
          <a:r>
            <a:rPr lang="en-US" sz="1600" dirty="0" err="1">
              <a:solidFill>
                <a:schemeClr val="bg1"/>
              </a:solidFill>
            </a:rPr>
            <a:t>Cólera</a:t>
          </a:r>
          <a:r>
            <a:rPr lang="en-US" sz="1600" dirty="0">
              <a:solidFill>
                <a:schemeClr val="bg1"/>
              </a:solidFill>
            </a:rPr>
            <a:t> (1 </a:t>
          </a:r>
          <a:r>
            <a:rPr lang="en-US" sz="1600" dirty="0" err="1">
              <a:solidFill>
                <a:schemeClr val="bg1"/>
              </a:solidFill>
            </a:rPr>
            <a:t>caso</a:t>
          </a:r>
          <a:r>
            <a:rPr lang="en-US" sz="1600" dirty="0">
              <a:solidFill>
                <a:schemeClr val="bg1"/>
              </a:solidFill>
            </a:rPr>
            <a:t>)</a:t>
          </a:r>
        </a:p>
      </dgm:t>
    </dgm:pt>
    <dgm:pt modelId="{F0A5CA23-518E-44B2-ACEA-31352DA8719D}" type="parTrans" cxnId="{60E1A480-826E-43A3-9C6B-C4DFB08B60AC}">
      <dgm:prSet/>
      <dgm:spPr/>
      <dgm:t>
        <a:bodyPr/>
        <a:lstStyle/>
        <a:p>
          <a:endParaRPr lang="pt-PT" sz="1200"/>
        </a:p>
      </dgm:t>
    </dgm:pt>
    <dgm:pt modelId="{C9FB7A7D-D1E6-4A16-A738-4108EB392809}" type="sibTrans" cxnId="{60E1A480-826E-43A3-9C6B-C4DFB08B60AC}">
      <dgm:prSet/>
      <dgm:spPr/>
      <dgm:t>
        <a:bodyPr/>
        <a:lstStyle/>
        <a:p>
          <a:endParaRPr lang="pt-PT" sz="1200"/>
        </a:p>
      </dgm:t>
    </dgm:pt>
    <dgm:pt modelId="{070FED1C-EE9B-40BE-B522-B04EA741ECD1}">
      <dgm:prSet custT="1"/>
      <dgm:spPr/>
      <dgm:t>
        <a:bodyPr/>
        <a:lstStyle/>
        <a:p>
          <a:pPr algn="l">
            <a:buNone/>
          </a:pPr>
          <a:r>
            <a:rPr lang="en-US" sz="1600" dirty="0">
              <a:solidFill>
                <a:schemeClr val="bg1"/>
              </a:solidFill>
            </a:rPr>
            <a:t>- Malária (</a:t>
          </a:r>
          <a:r>
            <a:rPr lang="pt-BR" sz="1600" dirty="0">
              <a:solidFill>
                <a:schemeClr val="bg1"/>
              </a:solidFill>
            </a:rPr>
            <a:t>10.854 casos </a:t>
          </a:r>
          <a:r>
            <a:rPr lang="en-US" sz="1600" dirty="0">
              <a:solidFill>
                <a:schemeClr val="bg1"/>
              </a:solidFill>
            </a:rPr>
            <a:t>)</a:t>
          </a:r>
        </a:p>
      </dgm:t>
    </dgm:pt>
    <dgm:pt modelId="{A9BD22FE-EE23-43E1-A679-99CEC95B3E44}" type="parTrans" cxnId="{2F79F721-45D4-4B4A-AFBB-4A45D71E98D1}">
      <dgm:prSet/>
      <dgm:spPr/>
      <dgm:t>
        <a:bodyPr/>
        <a:lstStyle/>
        <a:p>
          <a:endParaRPr lang="pt-PT" sz="1200"/>
        </a:p>
      </dgm:t>
    </dgm:pt>
    <dgm:pt modelId="{5A1CB713-7FA0-4CD8-918B-DBD46A645BFF}" type="sibTrans" cxnId="{2F79F721-45D4-4B4A-AFBB-4A45D71E98D1}">
      <dgm:prSet/>
      <dgm:spPr/>
      <dgm:t>
        <a:bodyPr/>
        <a:lstStyle/>
        <a:p>
          <a:endParaRPr lang="pt-PT" sz="1200"/>
        </a:p>
      </dgm:t>
    </dgm:pt>
    <dgm:pt modelId="{73DEB43B-C158-4965-9330-FB1914EF7ED5}">
      <dgm:prSet custT="1"/>
      <dgm:spPr/>
      <dgm:t>
        <a:bodyPr/>
        <a:lstStyle/>
        <a:p>
          <a:pPr algn="l">
            <a:buNone/>
          </a:pPr>
          <a:r>
            <a:rPr lang="en-US" sz="1600" dirty="0">
              <a:solidFill>
                <a:schemeClr val="bg1"/>
              </a:solidFill>
            </a:rPr>
            <a:t>- Síndromes respiratórias (22.407 casos)</a:t>
          </a:r>
        </a:p>
      </dgm:t>
    </dgm:pt>
    <dgm:pt modelId="{3C1CD75C-8842-4607-BB3D-6A909F175315}" type="parTrans" cxnId="{35D13E5B-A7CA-4411-A25D-317F5CB43932}">
      <dgm:prSet/>
      <dgm:spPr/>
      <dgm:t>
        <a:bodyPr/>
        <a:lstStyle/>
        <a:p>
          <a:endParaRPr lang="pt-PT" sz="1200"/>
        </a:p>
      </dgm:t>
    </dgm:pt>
    <dgm:pt modelId="{99435DA2-C569-4AF6-9659-A3139C243FBB}" type="sibTrans" cxnId="{35D13E5B-A7CA-4411-A25D-317F5CB43932}">
      <dgm:prSet/>
      <dgm:spPr/>
      <dgm:t>
        <a:bodyPr/>
        <a:lstStyle/>
        <a:p>
          <a:endParaRPr lang="pt-PT" sz="1200"/>
        </a:p>
      </dgm:t>
    </dgm:pt>
    <dgm:pt modelId="{05944A38-EAC6-40E4-BB85-E590B00FE815}">
      <dgm:prSet custT="1"/>
      <dgm:spPr/>
      <dgm:t>
        <a:bodyPr/>
        <a:lstStyle/>
        <a:p>
          <a:pPr algn="l">
            <a:buNone/>
          </a:pPr>
          <a:r>
            <a:rPr lang="en-US" sz="1600" dirty="0">
              <a:solidFill>
                <a:schemeClr val="bg1"/>
              </a:solidFill>
            </a:rPr>
            <a:t>- Traumas e acidentes associados às cheias (</a:t>
          </a:r>
          <a:r>
            <a:rPr lang="pt-BR" sz="1600" dirty="0">
              <a:solidFill>
                <a:schemeClr val="bg1"/>
              </a:solidFill>
            </a:rPr>
            <a:t>613 casos</a:t>
          </a:r>
          <a:r>
            <a:rPr lang="en-US" sz="1600" dirty="0">
              <a:solidFill>
                <a:schemeClr val="bg1"/>
              </a:solidFill>
            </a:rPr>
            <a:t>)</a:t>
          </a:r>
        </a:p>
        <a:p>
          <a:pPr algn="l">
            <a:buNone/>
          </a:pPr>
          <a:r>
            <a:rPr lang="pt-BR" sz="1600" b="0" dirty="0">
              <a:solidFill>
                <a:schemeClr val="bg1"/>
              </a:solidFill>
            </a:rPr>
            <a:t>[6 óbitos (</a:t>
          </a:r>
          <a:r>
            <a:rPr lang="pt-BR" sz="1600" b="0" i="1" dirty="0">
              <a:solidFill>
                <a:schemeClr val="bg1"/>
              </a:solidFill>
            </a:rPr>
            <a:t>4 afogamentos, 1 electrocução, 1 malária</a:t>
          </a:r>
          <a:r>
            <a:rPr lang="pt-BR" sz="1600" b="0" dirty="0">
              <a:solidFill>
                <a:schemeClr val="bg1"/>
              </a:solidFill>
            </a:rPr>
            <a:t>)]</a:t>
          </a:r>
          <a:endParaRPr lang="en-US" sz="1600" dirty="0">
            <a:solidFill>
              <a:schemeClr val="bg1"/>
            </a:solidFill>
          </a:endParaRPr>
        </a:p>
      </dgm:t>
    </dgm:pt>
    <dgm:pt modelId="{F77649F0-57D4-4774-B25F-577488A5D940}" type="parTrans" cxnId="{1432386E-8625-4BD9-9BAA-7BAE7B20B50A}">
      <dgm:prSet/>
      <dgm:spPr/>
      <dgm:t>
        <a:bodyPr/>
        <a:lstStyle/>
        <a:p>
          <a:endParaRPr lang="pt-PT" sz="1200"/>
        </a:p>
      </dgm:t>
    </dgm:pt>
    <dgm:pt modelId="{F0680E5F-6268-4578-B418-B74421143A60}" type="sibTrans" cxnId="{1432386E-8625-4BD9-9BAA-7BAE7B20B50A}">
      <dgm:prSet/>
      <dgm:spPr/>
      <dgm:t>
        <a:bodyPr/>
        <a:lstStyle/>
        <a:p>
          <a:endParaRPr lang="pt-PT" sz="1200"/>
        </a:p>
      </dgm:t>
    </dgm:pt>
    <dgm:pt modelId="{4D7C5425-1347-45CF-B0A4-7BC2969C2C7E}">
      <dgm:prSet phldrT="[Texto]" custT="1"/>
      <dgm:spPr/>
      <dgm:t>
        <a:bodyPr/>
        <a:lstStyle/>
        <a:p>
          <a:pPr algn="ctr">
            <a:buNone/>
          </a:pPr>
          <a:r>
            <a:rPr lang="en-US" sz="1600" b="1" dirty="0">
              <a:solidFill>
                <a:schemeClr val="tx1"/>
              </a:solidFill>
            </a:rPr>
            <a:t>Principais eventos registados</a:t>
          </a:r>
          <a:endParaRPr lang="pt-PT" sz="1600" dirty="0">
            <a:solidFill>
              <a:schemeClr val="tx1"/>
            </a:solidFill>
          </a:endParaRPr>
        </a:p>
      </dgm:t>
    </dgm:pt>
    <dgm:pt modelId="{3EC42FB2-58A0-4CD3-8696-1B7745834516}" type="parTrans" cxnId="{E0C81A4B-01AE-4B25-9789-3ABF5A3AAAFC}">
      <dgm:prSet/>
      <dgm:spPr/>
      <dgm:t>
        <a:bodyPr/>
        <a:lstStyle/>
        <a:p>
          <a:endParaRPr lang="pt-PT" sz="1200"/>
        </a:p>
      </dgm:t>
    </dgm:pt>
    <dgm:pt modelId="{2E2F6597-5733-43CB-BF07-2F61EE4DA348}" type="sibTrans" cxnId="{E0C81A4B-01AE-4B25-9789-3ABF5A3AAAFC}">
      <dgm:prSet/>
      <dgm:spPr/>
      <dgm:t>
        <a:bodyPr/>
        <a:lstStyle/>
        <a:p>
          <a:endParaRPr lang="pt-PT" sz="1200"/>
        </a:p>
      </dgm:t>
    </dgm:pt>
    <dgm:pt modelId="{339EB199-A875-452E-85E7-FD2239762AEF}">
      <dgm:prSet custT="1"/>
      <dgm:spPr/>
      <dgm:t>
        <a:bodyPr/>
        <a:lstStyle/>
        <a:p>
          <a:pPr>
            <a:buNone/>
          </a:pPr>
          <a:r>
            <a:rPr lang="pt-BR" sz="1600" dirty="0" err="1">
              <a:solidFill>
                <a:schemeClr val="bg1"/>
              </a:solidFill>
            </a:rPr>
            <a:t>Activados</a:t>
          </a:r>
          <a:r>
            <a:rPr lang="pt-BR" sz="1600" dirty="0">
              <a:solidFill>
                <a:schemeClr val="bg1"/>
              </a:solidFill>
            </a:rPr>
            <a:t> 31 Centros de Acomodação, que acolheram um total de 3.980 pessoas.</a:t>
          </a:r>
        </a:p>
        <a:p>
          <a:pPr>
            <a:buNone/>
          </a:pPr>
          <a:endParaRPr lang="pt-BR" sz="1600" dirty="0">
            <a:solidFill>
              <a:schemeClr val="bg1"/>
            </a:solidFill>
          </a:endParaRPr>
        </a:p>
        <a:p>
          <a:pPr>
            <a:buNone/>
          </a:pPr>
          <a:r>
            <a:rPr lang="pt-BR" sz="1200" i="1" dirty="0">
              <a:solidFill>
                <a:schemeClr val="bg1"/>
              </a:solidFill>
            </a:rPr>
            <a:t>Fonte</a:t>
          </a:r>
          <a:r>
            <a:rPr lang="pt-BR" sz="1200" b="0" i="1" dirty="0">
              <a:solidFill>
                <a:schemeClr val="bg1"/>
              </a:solidFill>
            </a:rPr>
            <a:t>: </a:t>
          </a:r>
          <a:r>
            <a:rPr lang="pt-BR" sz="1200" b="1" i="1" dirty="0">
              <a:solidFill>
                <a:schemeClr val="bg1"/>
              </a:solidFill>
            </a:rPr>
            <a:t>Base de Dados do COESP-VS-SSCM.</a:t>
          </a:r>
        </a:p>
      </dgm:t>
    </dgm:pt>
    <dgm:pt modelId="{9B4F5E42-82D2-4983-9AC9-E21862FEF903}" type="parTrans" cxnId="{905F30E3-557A-42FE-B74D-0E8863BBC295}">
      <dgm:prSet/>
      <dgm:spPr/>
      <dgm:t>
        <a:bodyPr/>
        <a:lstStyle/>
        <a:p>
          <a:endParaRPr lang="pt-BR" sz="1200"/>
        </a:p>
      </dgm:t>
    </dgm:pt>
    <dgm:pt modelId="{74937BF1-23BD-401A-8A4E-F95956DA15C5}" type="sibTrans" cxnId="{905F30E3-557A-42FE-B74D-0E8863BBC295}">
      <dgm:prSet/>
      <dgm:spPr/>
      <dgm:t>
        <a:bodyPr/>
        <a:lstStyle/>
        <a:p>
          <a:endParaRPr lang="pt-BR" sz="1200"/>
        </a:p>
      </dgm:t>
    </dgm:pt>
    <dgm:pt modelId="{A94BC8FD-F5D8-4C78-9880-11D0F345A681}" type="pres">
      <dgm:prSet presAssocID="{2DBF3894-D11B-4162-BBF8-0B5F5F3FDA99}" presName="Name0" presStyleCnt="0">
        <dgm:presLayoutVars>
          <dgm:dir/>
          <dgm:animLvl val="lvl"/>
          <dgm:resizeHandles val="exact"/>
        </dgm:presLayoutVars>
      </dgm:prSet>
      <dgm:spPr/>
    </dgm:pt>
    <dgm:pt modelId="{CA140C34-E5DE-4454-9EDC-59839BA43482}" type="pres">
      <dgm:prSet presAssocID="{5AA97060-21F6-42F5-AC1C-0009B1723832}" presName="composite" presStyleCnt="0"/>
      <dgm:spPr/>
    </dgm:pt>
    <dgm:pt modelId="{80F29C0D-CD2D-45C0-A220-9AEB642557D5}" type="pres">
      <dgm:prSet presAssocID="{5AA97060-21F6-42F5-AC1C-0009B1723832}" presName="parTx" presStyleLbl="alignNode1" presStyleIdx="0" presStyleCnt="4" custScaleX="110000" custScaleY="110000">
        <dgm:presLayoutVars>
          <dgm:chMax val="0"/>
          <dgm:chPref val="0"/>
        </dgm:presLayoutVars>
      </dgm:prSet>
      <dgm:spPr/>
    </dgm:pt>
    <dgm:pt modelId="{36A9211A-758C-454B-85E0-A1875CACCE07}" type="pres">
      <dgm:prSet presAssocID="{5AA97060-21F6-42F5-AC1C-0009B1723832}" presName="bgOutline" presStyleLbl="fgAcc1" presStyleIdx="0" presStyleCnt="4" custScaleX="108642" custScaleY="108424">
        <dgm:presLayoutVars>
          <dgm:bulletEnabled/>
        </dgm:presLayoutVars>
      </dgm:prSet>
      <dgm:spPr/>
    </dgm:pt>
    <dgm:pt modelId="{7C9DC6D9-DA8D-4427-A114-90651F2E7EE1}" type="pres">
      <dgm:prSet presAssocID="{DAE82A38-21FD-485B-BF11-0F905E6B4EF6}" presName="space" presStyleCnt="0"/>
      <dgm:spPr/>
    </dgm:pt>
    <dgm:pt modelId="{0E32D1B0-6FD0-4619-A36C-1CDEDF490E23}" type="pres">
      <dgm:prSet presAssocID="{54791648-1D6B-4843-AEFC-44EC365D03F6}" presName="composite" presStyleCnt="0"/>
      <dgm:spPr/>
    </dgm:pt>
    <dgm:pt modelId="{93E0EB86-33CD-4A3B-A0B3-04E636DE0598}" type="pres">
      <dgm:prSet presAssocID="{54791648-1D6B-4843-AEFC-44EC365D03F6}" presName="parTx" presStyleLbl="alignNode1" presStyleIdx="1" presStyleCnt="4" custScaleX="133624" custScaleY="116081" custLinFactNeighborX="3018">
        <dgm:presLayoutVars>
          <dgm:chMax val="0"/>
          <dgm:chPref val="0"/>
        </dgm:presLayoutVars>
      </dgm:prSet>
      <dgm:spPr/>
    </dgm:pt>
    <dgm:pt modelId="{47ADC9F1-0B94-46B4-ACEB-38D2DB08A2A6}" type="pres">
      <dgm:prSet presAssocID="{54791648-1D6B-4843-AEFC-44EC365D03F6}" presName="bgOutline" presStyleLbl="fgAcc1" presStyleIdx="1" presStyleCnt="4" custScaleX="133624" custScaleY="104984" custLinFactNeighborX="3109" custLinFactNeighborY="4175">
        <dgm:presLayoutVars>
          <dgm:bulletEnabled/>
        </dgm:presLayoutVars>
      </dgm:prSet>
      <dgm:spPr/>
    </dgm:pt>
    <dgm:pt modelId="{337301F9-E310-4D12-8645-AF28706934CA}" type="pres">
      <dgm:prSet presAssocID="{3D2F3681-305C-426E-BCEE-52513563ADF4}" presName="space" presStyleCnt="0"/>
      <dgm:spPr/>
    </dgm:pt>
    <dgm:pt modelId="{9689134B-A128-4FEB-BB69-53497EEE25E1}" type="pres">
      <dgm:prSet presAssocID="{4D7C5425-1347-45CF-B0A4-7BC2969C2C7E}" presName="composite" presStyleCnt="0"/>
      <dgm:spPr/>
    </dgm:pt>
    <dgm:pt modelId="{9036417C-8A97-4EEF-87D9-4472943CA734}" type="pres">
      <dgm:prSet presAssocID="{4D7C5425-1347-45CF-B0A4-7BC2969C2C7E}" presName="parTx" presStyleLbl="alignNode1" presStyleIdx="2" presStyleCnt="4" custScaleX="113640" custScaleY="108123">
        <dgm:presLayoutVars>
          <dgm:chMax val="0"/>
          <dgm:chPref val="0"/>
        </dgm:presLayoutVars>
      </dgm:prSet>
      <dgm:spPr/>
    </dgm:pt>
    <dgm:pt modelId="{DE47BD55-F59C-4E9A-BE8B-7926C772CEE8}" type="pres">
      <dgm:prSet presAssocID="{4D7C5425-1347-45CF-B0A4-7BC2969C2C7E}" presName="bgOutline" presStyleLbl="fgAcc1" presStyleIdx="2" presStyleCnt="4" custScaleX="115317" custScaleY="100959">
        <dgm:presLayoutVars>
          <dgm:bulletEnabled/>
        </dgm:presLayoutVars>
      </dgm:prSet>
      <dgm:spPr/>
    </dgm:pt>
    <dgm:pt modelId="{0409DC1C-6216-40B7-8339-C1254765608B}" type="pres">
      <dgm:prSet presAssocID="{2E2F6597-5733-43CB-BF07-2F61EE4DA348}" presName="space" presStyleCnt="0"/>
      <dgm:spPr/>
    </dgm:pt>
    <dgm:pt modelId="{84282539-1149-4D4C-A961-61200634B2CF}" type="pres">
      <dgm:prSet presAssocID="{33E91539-F87E-44FD-ACF0-BE67AEC2BE2B}" presName="composite" presStyleCnt="0"/>
      <dgm:spPr/>
    </dgm:pt>
    <dgm:pt modelId="{0B19AA17-723C-4E90-9BD1-C8D2334F60E3}" type="pres">
      <dgm:prSet presAssocID="{33E91539-F87E-44FD-ACF0-BE67AEC2BE2B}" presName="parTx" presStyleLbl="alignNode1" presStyleIdx="3" presStyleCnt="4" custScaleX="149347" custScaleY="114770">
        <dgm:presLayoutVars>
          <dgm:chMax val="0"/>
          <dgm:chPref val="0"/>
        </dgm:presLayoutVars>
      </dgm:prSet>
      <dgm:spPr/>
    </dgm:pt>
    <dgm:pt modelId="{6D135F2D-23CB-400F-8BBF-3A0C4188FC4A}" type="pres">
      <dgm:prSet presAssocID="{33E91539-F87E-44FD-ACF0-BE67AEC2BE2B}" presName="bgOutline" presStyleLbl="fgAcc1" presStyleIdx="3" presStyleCnt="4" custScaleX="150101" custScaleY="105349" custLinFactNeighborX="333" custLinFactNeighborY="3585">
        <dgm:presLayoutVars>
          <dgm:bulletEnabled/>
        </dgm:presLayoutVars>
      </dgm:prSet>
      <dgm:spPr/>
    </dgm:pt>
  </dgm:ptLst>
  <dgm:cxnLst>
    <dgm:cxn modelId="{62CE4608-68DF-43CC-AC96-19CB8E9D438E}" type="presOf" srcId="{F9C301C1-B6AA-470D-90DA-721EE47CAB64}" destId="{DE47BD55-F59C-4E9A-BE8B-7926C772CEE8}" srcOrd="0" destOrd="2" presId="urn:microsoft.com/office/officeart/2024/layout/HorizontalActionList"/>
    <dgm:cxn modelId="{9DCF3309-8372-436B-ADE9-3AFC69374BD9}" srcId="{2DBF3894-D11B-4162-BBF8-0B5F5F3FDA99}" destId="{33E91539-F87E-44FD-ACF0-BE67AEC2BE2B}" srcOrd="3" destOrd="0" parTransId="{EB1410FB-4A7C-4BC2-83F5-7D5AF11B0B3A}" sibTransId="{1A927988-E017-46DE-BC6A-0AE7643A461A}"/>
    <dgm:cxn modelId="{23E94F0A-4E3F-4049-9715-BB8FAAF449C3}" type="presOf" srcId="{2DBF3894-D11B-4162-BBF8-0B5F5F3FDA99}" destId="{A94BC8FD-F5D8-4C78-9880-11D0F345A681}" srcOrd="0" destOrd="0" presId="urn:microsoft.com/office/officeart/2024/layout/HorizontalActionList"/>
    <dgm:cxn modelId="{2F79F721-45D4-4B4A-AFBB-4A45D71E98D1}" srcId="{33E91539-F87E-44FD-ACF0-BE67AEC2BE2B}" destId="{070FED1C-EE9B-40BE-B522-B04EA741ECD1}" srcOrd="1" destOrd="0" parTransId="{A9BD22FE-EE23-43E1-A679-99CEC95B3E44}" sibTransId="{5A1CB713-7FA0-4CD8-918B-DBD46A645BFF}"/>
    <dgm:cxn modelId="{CC22F632-24A7-4094-8FC7-F8B9BECF07C4}" type="presOf" srcId="{33E91539-F87E-44FD-ACF0-BE67AEC2BE2B}" destId="{0B19AA17-723C-4E90-9BD1-C8D2334F60E3}" srcOrd="0" destOrd="0" presId="urn:microsoft.com/office/officeart/2024/layout/HorizontalActionList"/>
    <dgm:cxn modelId="{EC4A7937-4287-42F0-A482-6A9B44A34F96}" type="presOf" srcId="{310E8A15-7CB7-46C8-9CEA-A27717D71A51}" destId="{DE47BD55-F59C-4E9A-BE8B-7926C772CEE8}" srcOrd="0" destOrd="1" presId="urn:microsoft.com/office/officeart/2024/layout/HorizontalActionList"/>
    <dgm:cxn modelId="{75F01539-AE88-4CDD-9A1C-9B1E4BE1D059}" srcId="{4D7C5425-1347-45CF-B0A4-7BC2969C2C7E}" destId="{11CD9086-B1BA-4557-8CDD-2813898F1002}" srcOrd="3" destOrd="0" parTransId="{9F94351A-D975-4FC5-B35A-AA1BD053D3B8}" sibTransId="{269484BE-BF2B-4394-9F22-C719A3D3BCAF}"/>
    <dgm:cxn modelId="{DEB4523D-E0DC-4123-BCC0-12BABAC9282F}" srcId="{4D7C5425-1347-45CF-B0A4-7BC2969C2C7E}" destId="{310E8A15-7CB7-46C8-9CEA-A27717D71A51}" srcOrd="1" destOrd="0" parTransId="{4CBF5E65-322D-47FC-8355-69C9FD5D64A3}" sibTransId="{1ED7A232-1D00-4D63-8661-759E61AB6BB8}"/>
    <dgm:cxn modelId="{AB9C7E3F-57B0-4F0C-B102-1E337706C781}" type="presOf" srcId="{070FED1C-EE9B-40BE-B522-B04EA741ECD1}" destId="{6D135F2D-23CB-400F-8BBF-3A0C4188FC4A}" srcOrd="0" destOrd="1" presId="urn:microsoft.com/office/officeart/2024/layout/HorizontalActionList"/>
    <dgm:cxn modelId="{35D13E5B-A7CA-4411-A25D-317F5CB43932}" srcId="{33E91539-F87E-44FD-ACF0-BE67AEC2BE2B}" destId="{73DEB43B-C158-4965-9330-FB1914EF7ED5}" srcOrd="2" destOrd="0" parTransId="{3C1CD75C-8842-4607-BB3D-6A909F175315}" sibTransId="{99435DA2-C569-4AF6-9659-A3139C243FBB}"/>
    <dgm:cxn modelId="{4E36385E-3D59-4F40-AD21-E1C98FA7B5D0}" type="presOf" srcId="{339EB199-A875-452E-85E7-FD2239762AEF}" destId="{47ADC9F1-0B94-46B4-ACEB-38D2DB08A2A6}" srcOrd="0" destOrd="1" presId="urn:microsoft.com/office/officeart/2024/layout/HorizontalActionList"/>
    <dgm:cxn modelId="{BCA24160-20C2-4ED4-A7A7-17A8AB7B80AB}" type="presOf" srcId="{05944A38-EAC6-40E4-BB85-E590B00FE815}" destId="{6D135F2D-23CB-400F-8BBF-3A0C4188FC4A}" srcOrd="0" destOrd="3" presId="urn:microsoft.com/office/officeart/2024/layout/HorizontalActionList"/>
    <dgm:cxn modelId="{82E43367-5EE6-4B25-BD27-D09A9CF79C17}" type="presOf" srcId="{5AA97060-21F6-42F5-AC1C-0009B1723832}" destId="{80F29C0D-CD2D-45C0-A220-9AEB642557D5}" srcOrd="0" destOrd="0" presId="urn:microsoft.com/office/officeart/2024/layout/HorizontalActionList"/>
    <dgm:cxn modelId="{E0C81A4B-01AE-4B25-9789-3ABF5A3AAAFC}" srcId="{2DBF3894-D11B-4162-BBF8-0B5F5F3FDA99}" destId="{4D7C5425-1347-45CF-B0A4-7BC2969C2C7E}" srcOrd="2" destOrd="0" parTransId="{3EC42FB2-58A0-4CD3-8696-1B7745834516}" sibTransId="{2E2F6597-5733-43CB-BF07-2F61EE4DA348}"/>
    <dgm:cxn modelId="{1432386E-8625-4BD9-9BAA-7BAE7B20B50A}" srcId="{33E91539-F87E-44FD-ACF0-BE67AEC2BE2B}" destId="{05944A38-EAC6-40E4-BB85-E590B00FE815}" srcOrd="3" destOrd="0" parTransId="{F77649F0-57D4-4774-B25F-577488A5D940}" sibTransId="{F0680E5F-6268-4578-B418-B74421143A60}"/>
    <dgm:cxn modelId="{D3DB7E70-8E0A-4CC7-AE4F-E97460B84A0D}" srcId="{2DBF3894-D11B-4162-BBF8-0B5F5F3FDA99}" destId="{5AA97060-21F6-42F5-AC1C-0009B1723832}" srcOrd="0" destOrd="0" parTransId="{6BF63CBC-E683-403D-8B7D-64A72B3F0C32}" sibTransId="{DAE82A38-21FD-485B-BF11-0F905E6B4EF6}"/>
    <dgm:cxn modelId="{17A15D72-A25B-4BEA-B549-CE28A07190FF}" type="presOf" srcId="{54791648-1D6B-4843-AEFC-44EC365D03F6}" destId="{93E0EB86-33CD-4A3B-A0B3-04E636DE0598}" srcOrd="0" destOrd="0" presId="urn:microsoft.com/office/officeart/2024/layout/HorizontalActionList"/>
    <dgm:cxn modelId="{60E1A480-826E-43A3-9C6B-C4DFB08B60AC}" srcId="{33E91539-F87E-44FD-ACF0-BE67AEC2BE2B}" destId="{ADC05897-3D79-4038-BA6D-252D86169075}" srcOrd="0" destOrd="0" parTransId="{F0A5CA23-518E-44B2-ACEA-31352DA8719D}" sibTransId="{C9FB7A7D-D1E6-4A16-A738-4108EB392809}"/>
    <dgm:cxn modelId="{C6745B83-BEF9-4C2E-B97D-37DB2CDF2ABF}" type="presOf" srcId="{27560E71-4728-4BF4-BFCA-582D7E071117}" destId="{DE47BD55-F59C-4E9A-BE8B-7926C772CEE8}" srcOrd="0" destOrd="0" presId="urn:microsoft.com/office/officeart/2024/layout/HorizontalActionList"/>
    <dgm:cxn modelId="{6DED1188-1404-4243-AA66-7F5F30659085}" srcId="{2DBF3894-D11B-4162-BBF8-0B5F5F3FDA99}" destId="{54791648-1D6B-4843-AEFC-44EC365D03F6}" srcOrd="1" destOrd="0" parTransId="{3FB0B7A6-60A0-4D90-975D-0E82D6D0635B}" sibTransId="{3D2F3681-305C-426E-BCEE-52513563ADF4}"/>
    <dgm:cxn modelId="{9BE26F9F-0941-4B56-954D-5C1D8230DC25}" type="presOf" srcId="{73DEB43B-C158-4965-9330-FB1914EF7ED5}" destId="{6D135F2D-23CB-400F-8BBF-3A0C4188FC4A}" srcOrd="0" destOrd="2" presId="urn:microsoft.com/office/officeart/2024/layout/HorizontalActionList"/>
    <dgm:cxn modelId="{05B5F8A9-7E35-4A23-9B1E-B9FEF6B6ACA2}" type="presOf" srcId="{4D7C5425-1347-45CF-B0A4-7BC2969C2C7E}" destId="{9036417C-8A97-4EEF-87D9-4472943CA734}" srcOrd="0" destOrd="0" presId="urn:microsoft.com/office/officeart/2024/layout/HorizontalActionList"/>
    <dgm:cxn modelId="{9B4953AF-446C-4AE5-AD64-A65E7EF2E5E9}" type="presOf" srcId="{ADC05897-3D79-4038-BA6D-252D86169075}" destId="{6D135F2D-23CB-400F-8BBF-3A0C4188FC4A}" srcOrd="0" destOrd="0" presId="urn:microsoft.com/office/officeart/2024/layout/HorizontalActionList"/>
    <dgm:cxn modelId="{2F2529C3-879C-4F40-8C5E-BBBAA1340B26}" type="presOf" srcId="{3EF5E70A-6189-4599-9A68-E1301C539EB1}" destId="{47ADC9F1-0B94-46B4-ACEB-38D2DB08A2A6}" srcOrd="0" destOrd="0" presId="urn:microsoft.com/office/officeart/2024/layout/HorizontalActionList"/>
    <dgm:cxn modelId="{652C1AD5-ECCF-47B3-8CF8-883AF85DFE9B}" srcId="{54791648-1D6B-4843-AEFC-44EC365D03F6}" destId="{3EF5E70A-6189-4599-9A68-E1301C539EB1}" srcOrd="0" destOrd="0" parTransId="{C42E1FCE-C1D0-4F04-84CC-CABAFFA1B0AF}" sibTransId="{C56AB414-B62F-43EE-A703-0292FD295A78}"/>
    <dgm:cxn modelId="{50F408D8-4FA1-4951-ABA7-F27078716935}" srcId="{4D7C5425-1347-45CF-B0A4-7BC2969C2C7E}" destId="{27560E71-4728-4BF4-BFCA-582D7E071117}" srcOrd="0" destOrd="0" parTransId="{DF43E615-7C17-4DD6-9DCF-F7CF98FC72A3}" sibTransId="{5A484910-9288-4786-8E8B-203149142317}"/>
    <dgm:cxn modelId="{55FB78DF-3B38-43AF-A2B6-D09A57D82026}" srcId="{4D7C5425-1347-45CF-B0A4-7BC2969C2C7E}" destId="{F9C301C1-B6AA-470D-90DA-721EE47CAB64}" srcOrd="2" destOrd="0" parTransId="{4765A651-E627-44A4-B565-31855071F471}" sibTransId="{8F12855C-C00A-406E-BE74-9FFA8447B6E0}"/>
    <dgm:cxn modelId="{905F30E3-557A-42FE-B74D-0E8863BBC295}" srcId="{54791648-1D6B-4843-AEFC-44EC365D03F6}" destId="{339EB199-A875-452E-85E7-FD2239762AEF}" srcOrd="1" destOrd="0" parTransId="{9B4F5E42-82D2-4983-9AC9-E21862FEF903}" sibTransId="{74937BF1-23BD-401A-8A4E-F95956DA15C5}"/>
    <dgm:cxn modelId="{1E6A79FA-9400-4590-AE67-AD8E220B51EC}" type="presOf" srcId="{11CD9086-B1BA-4557-8CDD-2813898F1002}" destId="{DE47BD55-F59C-4E9A-BE8B-7926C772CEE8}" srcOrd="0" destOrd="3" presId="urn:microsoft.com/office/officeart/2024/layout/HorizontalActionList"/>
    <dgm:cxn modelId="{E8EF6C01-BF04-4617-9DDE-1A5FB8034D4D}" type="presParOf" srcId="{A94BC8FD-F5D8-4C78-9880-11D0F345A681}" destId="{CA140C34-E5DE-4454-9EDC-59839BA43482}" srcOrd="0" destOrd="0" presId="urn:microsoft.com/office/officeart/2024/layout/HorizontalActionList"/>
    <dgm:cxn modelId="{4108F60B-4AC3-4489-ADAD-CB320868FB32}" type="presParOf" srcId="{CA140C34-E5DE-4454-9EDC-59839BA43482}" destId="{80F29C0D-CD2D-45C0-A220-9AEB642557D5}" srcOrd="0" destOrd="0" presId="urn:microsoft.com/office/officeart/2024/layout/HorizontalActionList"/>
    <dgm:cxn modelId="{74AC783D-5A81-4719-B5AB-3BFEA1AA69AE}" type="presParOf" srcId="{CA140C34-E5DE-4454-9EDC-59839BA43482}" destId="{36A9211A-758C-454B-85E0-A1875CACCE07}" srcOrd="1" destOrd="0" presId="urn:microsoft.com/office/officeart/2024/layout/HorizontalActionList"/>
    <dgm:cxn modelId="{3CB1ABA7-C078-4F5E-8650-AFAB6BFA4B5C}" type="presParOf" srcId="{A94BC8FD-F5D8-4C78-9880-11D0F345A681}" destId="{7C9DC6D9-DA8D-4427-A114-90651F2E7EE1}" srcOrd="1" destOrd="0" presId="urn:microsoft.com/office/officeart/2024/layout/HorizontalActionList"/>
    <dgm:cxn modelId="{57A5087A-702E-4017-96D1-881B006BC22E}" type="presParOf" srcId="{A94BC8FD-F5D8-4C78-9880-11D0F345A681}" destId="{0E32D1B0-6FD0-4619-A36C-1CDEDF490E23}" srcOrd="2" destOrd="0" presId="urn:microsoft.com/office/officeart/2024/layout/HorizontalActionList"/>
    <dgm:cxn modelId="{C316CACF-5884-486D-990D-436766FA72F8}" type="presParOf" srcId="{0E32D1B0-6FD0-4619-A36C-1CDEDF490E23}" destId="{93E0EB86-33CD-4A3B-A0B3-04E636DE0598}" srcOrd="0" destOrd="0" presId="urn:microsoft.com/office/officeart/2024/layout/HorizontalActionList"/>
    <dgm:cxn modelId="{C9EA5E89-0A42-437C-ACC9-68BE2CB6ADB8}" type="presParOf" srcId="{0E32D1B0-6FD0-4619-A36C-1CDEDF490E23}" destId="{47ADC9F1-0B94-46B4-ACEB-38D2DB08A2A6}" srcOrd="1" destOrd="0" presId="urn:microsoft.com/office/officeart/2024/layout/HorizontalActionList"/>
    <dgm:cxn modelId="{C4DC5B6C-2023-483D-AEAA-06D59403510C}" type="presParOf" srcId="{A94BC8FD-F5D8-4C78-9880-11D0F345A681}" destId="{337301F9-E310-4D12-8645-AF28706934CA}" srcOrd="3" destOrd="0" presId="urn:microsoft.com/office/officeart/2024/layout/HorizontalActionList"/>
    <dgm:cxn modelId="{271A5FCC-B5CD-43CE-AB0F-43D3C428576B}" type="presParOf" srcId="{A94BC8FD-F5D8-4C78-9880-11D0F345A681}" destId="{9689134B-A128-4FEB-BB69-53497EEE25E1}" srcOrd="4" destOrd="0" presId="urn:microsoft.com/office/officeart/2024/layout/HorizontalActionList"/>
    <dgm:cxn modelId="{81CD4D59-BC3F-4FA3-A00A-829518BE8447}" type="presParOf" srcId="{9689134B-A128-4FEB-BB69-53497EEE25E1}" destId="{9036417C-8A97-4EEF-87D9-4472943CA734}" srcOrd="0" destOrd="0" presId="urn:microsoft.com/office/officeart/2024/layout/HorizontalActionList"/>
    <dgm:cxn modelId="{1BC8069D-DB2C-4F1B-9974-395362511542}" type="presParOf" srcId="{9689134B-A128-4FEB-BB69-53497EEE25E1}" destId="{DE47BD55-F59C-4E9A-BE8B-7926C772CEE8}" srcOrd="1" destOrd="0" presId="urn:microsoft.com/office/officeart/2024/layout/HorizontalActionList"/>
    <dgm:cxn modelId="{BC900061-BC7A-4031-8600-94EC3360FB3E}" type="presParOf" srcId="{A94BC8FD-F5D8-4C78-9880-11D0F345A681}" destId="{0409DC1C-6216-40B7-8339-C1254765608B}" srcOrd="5" destOrd="0" presId="urn:microsoft.com/office/officeart/2024/layout/HorizontalActionList"/>
    <dgm:cxn modelId="{51D8091E-B84C-4403-9DC9-D730548B9F28}" type="presParOf" srcId="{A94BC8FD-F5D8-4C78-9880-11D0F345A681}" destId="{84282539-1149-4D4C-A961-61200634B2CF}" srcOrd="6" destOrd="0" presId="urn:microsoft.com/office/officeart/2024/layout/HorizontalActionList"/>
    <dgm:cxn modelId="{0BE90807-FD68-4764-9C9E-6C3256862037}" type="presParOf" srcId="{84282539-1149-4D4C-A961-61200634B2CF}" destId="{0B19AA17-723C-4E90-9BD1-C8D2334F60E3}" srcOrd="0" destOrd="0" presId="urn:microsoft.com/office/officeart/2024/layout/HorizontalActionList"/>
    <dgm:cxn modelId="{1633E647-9E98-4A3B-8D51-ABA72D03571A}" type="presParOf" srcId="{84282539-1149-4D4C-A961-61200634B2CF}" destId="{6D135F2D-23CB-400F-8BBF-3A0C4188FC4A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79D62-1B08-4CEC-8B03-F0B2998A5C9A}" type="doc">
      <dgm:prSet loTypeId="urn:microsoft.com/office/officeart/2005/8/layout/hList7" loCatId="list" qsTypeId="urn:microsoft.com/office/officeart/2005/8/quickstyle/simple1" qsCatId="simple" csTypeId="urn:microsoft.com/office/officeart/2005/8/colors/accent1_1" csCatId="accent1" phldr="1"/>
      <dgm:spPr/>
    </dgm:pt>
    <dgm:pt modelId="{92ABF9C1-BE9C-4F60-BBF9-981E6FB6F0D9}">
      <dgm:prSet phldrT="[Texto]"/>
      <dgm:spPr/>
      <dgm:t>
        <a:bodyPr/>
        <a:lstStyle/>
        <a:p>
          <a:pPr>
            <a:buNone/>
          </a:pPr>
          <a:r>
            <a:rPr lang="en-US" b="0"/>
            <a:t>A preparação deve iniciar antes da ECC, incluindo pré-posicionamento de insumos nos distritos de maior risco.</a:t>
          </a:r>
          <a:endParaRPr lang="pt-PT" b="0" dirty="0"/>
        </a:p>
      </dgm:t>
    </dgm:pt>
    <dgm:pt modelId="{18484BF5-8636-49B8-B618-079D40B78375}" type="parTrans" cxnId="{12B913AE-F605-4B41-868B-FF9F649799EC}">
      <dgm:prSet/>
      <dgm:spPr/>
      <dgm:t>
        <a:bodyPr/>
        <a:lstStyle/>
        <a:p>
          <a:endParaRPr lang="pt-PT"/>
        </a:p>
      </dgm:t>
    </dgm:pt>
    <dgm:pt modelId="{5B5A9231-F6FA-44B2-8A2D-C938B21E6F4C}" type="sibTrans" cxnId="{12B913AE-F605-4B41-868B-FF9F649799EC}">
      <dgm:prSet phldrT="1" phldr="0"/>
      <dgm:spPr/>
      <dgm:t>
        <a:bodyPr/>
        <a:lstStyle/>
        <a:p>
          <a:endParaRPr lang="pt-PT"/>
        </a:p>
      </dgm:t>
    </dgm:pt>
    <dgm:pt modelId="{284C483F-384A-4755-B061-BC791EDE1675}">
      <dgm:prSet/>
      <dgm:spPr/>
      <dgm:t>
        <a:bodyPr/>
        <a:lstStyle/>
        <a:p>
          <a:pPr>
            <a:buNone/>
          </a:pPr>
          <a:r>
            <a:rPr lang="en-US" b="0"/>
            <a:t>A vigilância comunitária integrada acelera a detecção precoce de surtos.</a:t>
          </a:r>
          <a:endParaRPr lang="en-US" b="0" dirty="0"/>
        </a:p>
      </dgm:t>
    </dgm:pt>
    <dgm:pt modelId="{0B3394A5-9DD0-4EF8-BF18-63F8205C5CBE}" type="parTrans" cxnId="{6D23D9AC-2AB0-4FF2-BA1E-49A99419C606}">
      <dgm:prSet/>
      <dgm:spPr/>
      <dgm:t>
        <a:bodyPr/>
        <a:lstStyle/>
        <a:p>
          <a:endParaRPr lang="pt-PT"/>
        </a:p>
      </dgm:t>
    </dgm:pt>
    <dgm:pt modelId="{EC382042-3508-42ED-8059-517222C1AF24}" type="sibTrans" cxnId="{6D23D9AC-2AB0-4FF2-BA1E-49A99419C606}">
      <dgm:prSet phldrT="2" phldr="0"/>
      <dgm:spPr/>
      <dgm:t>
        <a:bodyPr/>
        <a:lstStyle/>
        <a:p>
          <a:endParaRPr lang="pt-PT"/>
        </a:p>
      </dgm:t>
    </dgm:pt>
    <dgm:pt modelId="{6CD5389B-29B9-44A3-8C61-1D57F37AB9F9}">
      <dgm:prSet/>
      <dgm:spPr/>
      <dgm:t>
        <a:bodyPr/>
        <a:lstStyle/>
        <a:p>
          <a:pPr>
            <a:buNone/>
          </a:pPr>
          <a:r>
            <a:rPr lang="en-US" b="0"/>
            <a:t>Centros de acomodação exigem pacotes mínimos pré-definidos de saúde, WASH e protecção.</a:t>
          </a:r>
          <a:endParaRPr lang="en-US" b="0" dirty="0"/>
        </a:p>
      </dgm:t>
    </dgm:pt>
    <dgm:pt modelId="{287C3F83-9948-443E-8A2B-4BB0EB170039}" type="parTrans" cxnId="{38982A30-EFF4-4A3A-9F0D-D774EEDE7138}">
      <dgm:prSet/>
      <dgm:spPr/>
      <dgm:t>
        <a:bodyPr/>
        <a:lstStyle/>
        <a:p>
          <a:endParaRPr lang="pt-PT"/>
        </a:p>
      </dgm:t>
    </dgm:pt>
    <dgm:pt modelId="{7A0B1117-2984-48A7-820D-F287D9BBD216}" type="sibTrans" cxnId="{38982A30-EFF4-4A3A-9F0D-D774EEDE7138}">
      <dgm:prSet phldrT="3" phldr="0"/>
      <dgm:spPr/>
      <dgm:t>
        <a:bodyPr/>
        <a:lstStyle/>
        <a:p>
          <a:endParaRPr lang="pt-PT"/>
        </a:p>
      </dgm:t>
    </dgm:pt>
    <dgm:pt modelId="{D8FD4D11-506C-496C-A552-FC8A5548279A}">
      <dgm:prSet/>
      <dgm:spPr/>
      <dgm:t>
        <a:bodyPr/>
        <a:lstStyle/>
        <a:p>
          <a:pPr>
            <a:buNone/>
          </a:pPr>
          <a:r>
            <a:rPr lang="en-US" b="0"/>
            <a:t>A resposta </a:t>
          </a:r>
          <a:r>
            <a:rPr lang="en-US"/>
            <a:t>integrada evita interrupção de serviços essenciais.</a:t>
          </a:r>
          <a:endParaRPr lang="en-US" b="1" dirty="0"/>
        </a:p>
      </dgm:t>
    </dgm:pt>
    <dgm:pt modelId="{6EFCE1C4-ABA9-4768-933C-AA597C308F08}" type="parTrans" cxnId="{5D2984C0-740D-4B17-A248-D95B9DBEAFC0}">
      <dgm:prSet/>
      <dgm:spPr/>
      <dgm:t>
        <a:bodyPr/>
        <a:lstStyle/>
        <a:p>
          <a:endParaRPr lang="pt-PT"/>
        </a:p>
      </dgm:t>
    </dgm:pt>
    <dgm:pt modelId="{309C1646-6E87-4C9F-9B96-3E02598D7F16}" type="sibTrans" cxnId="{5D2984C0-740D-4B17-A248-D95B9DBEAFC0}">
      <dgm:prSet phldrT="4" phldr="0"/>
      <dgm:spPr/>
      <dgm:t>
        <a:bodyPr/>
        <a:lstStyle/>
        <a:p>
          <a:endParaRPr lang="pt-PT"/>
        </a:p>
      </dgm:t>
    </dgm:pt>
    <dgm:pt modelId="{C8015257-31F3-481C-BFE5-B13EB38471F6}">
      <dgm:prSet/>
      <dgm:spPr/>
      <dgm:t>
        <a:bodyPr/>
        <a:lstStyle/>
        <a:p>
          <a:pPr>
            <a:buNone/>
          </a:pPr>
          <a:r>
            <a:rPr lang="en-US"/>
            <a:t>Parcerias previamente estabelecidas aumentam rapidez da resposta.</a:t>
          </a:r>
          <a:endParaRPr lang="en-US" b="1" dirty="0"/>
        </a:p>
      </dgm:t>
    </dgm:pt>
    <dgm:pt modelId="{8D37FB93-5DC7-45F1-8851-1442987F4D3E}" type="parTrans" cxnId="{30AD0D39-8674-45EC-B583-05A6F5B15C8B}">
      <dgm:prSet/>
      <dgm:spPr/>
      <dgm:t>
        <a:bodyPr/>
        <a:lstStyle/>
        <a:p>
          <a:endParaRPr lang="pt-PT"/>
        </a:p>
      </dgm:t>
    </dgm:pt>
    <dgm:pt modelId="{46AC0295-3BEB-4B3C-A3E0-DBA9CD3AF151}" type="sibTrans" cxnId="{30AD0D39-8674-45EC-B583-05A6F5B15C8B}">
      <dgm:prSet phldrT="5" phldr="0"/>
      <dgm:spPr/>
      <dgm:t>
        <a:bodyPr/>
        <a:lstStyle/>
        <a:p>
          <a:endParaRPr lang="pt-PT"/>
        </a:p>
      </dgm:t>
    </dgm:pt>
    <dgm:pt modelId="{05F171B5-F2EC-470F-9358-46DECEAA7A33}" type="pres">
      <dgm:prSet presAssocID="{BBF79D62-1B08-4CEC-8B03-F0B2998A5C9A}" presName="Name0" presStyleCnt="0">
        <dgm:presLayoutVars>
          <dgm:dir/>
          <dgm:resizeHandles val="exact"/>
        </dgm:presLayoutVars>
      </dgm:prSet>
      <dgm:spPr/>
    </dgm:pt>
    <dgm:pt modelId="{1FBA999E-446F-476D-8D54-CEA5D0ADE763}" type="pres">
      <dgm:prSet presAssocID="{BBF79D62-1B08-4CEC-8B03-F0B2998A5C9A}" presName="fgShape" presStyleLbl="fgShp" presStyleIdx="0" presStyleCnt="1"/>
      <dgm:spPr/>
    </dgm:pt>
    <dgm:pt modelId="{2D548751-23D8-443B-B01E-ACDCC352244C}" type="pres">
      <dgm:prSet presAssocID="{BBF79D62-1B08-4CEC-8B03-F0B2998A5C9A}" presName="linComp" presStyleCnt="0"/>
      <dgm:spPr/>
    </dgm:pt>
    <dgm:pt modelId="{355ECA72-6834-423E-9461-FFC2C728A969}" type="pres">
      <dgm:prSet presAssocID="{92ABF9C1-BE9C-4F60-BBF9-981E6FB6F0D9}" presName="compNode" presStyleCnt="0"/>
      <dgm:spPr/>
    </dgm:pt>
    <dgm:pt modelId="{090A7DBE-1FD4-432E-A229-2A176AE28979}" type="pres">
      <dgm:prSet presAssocID="{92ABF9C1-BE9C-4F60-BBF9-981E6FB6F0D9}" presName="bkgdShape" presStyleLbl="node1" presStyleIdx="0" presStyleCnt="5"/>
      <dgm:spPr/>
    </dgm:pt>
    <dgm:pt modelId="{53973B55-5786-423A-906D-F9D77B62BC01}" type="pres">
      <dgm:prSet presAssocID="{92ABF9C1-BE9C-4F60-BBF9-981E6FB6F0D9}" presName="nodeTx" presStyleLbl="node1" presStyleIdx="0" presStyleCnt="5">
        <dgm:presLayoutVars>
          <dgm:bulletEnabled val="1"/>
        </dgm:presLayoutVars>
      </dgm:prSet>
      <dgm:spPr/>
    </dgm:pt>
    <dgm:pt modelId="{BEF06877-2200-4DF4-910E-5E6E7E20CD4A}" type="pres">
      <dgm:prSet presAssocID="{92ABF9C1-BE9C-4F60-BBF9-981E6FB6F0D9}" presName="invisiNode" presStyleLbl="node1" presStyleIdx="0" presStyleCnt="5"/>
      <dgm:spPr/>
    </dgm:pt>
    <dgm:pt modelId="{97D128EA-E44C-4AB9-AB6E-31934219A685}" type="pres">
      <dgm:prSet presAssocID="{92ABF9C1-BE9C-4F60-BBF9-981E6FB6F0D9}" presName="imagNode" presStyleLbl="fgImgPlace1" presStyleIdx="0" presStyleCnt="5"/>
      <dgm:spPr/>
    </dgm:pt>
    <dgm:pt modelId="{0FFF590C-CF11-4793-9E9D-8360006C3C6E}" type="pres">
      <dgm:prSet presAssocID="{5B5A9231-F6FA-44B2-8A2D-C938B21E6F4C}" presName="sibTrans" presStyleLbl="sibTrans2D1" presStyleIdx="0" presStyleCnt="0"/>
      <dgm:spPr/>
    </dgm:pt>
    <dgm:pt modelId="{2630216E-85F4-4695-B166-8FB29FECE44F}" type="pres">
      <dgm:prSet presAssocID="{284C483F-384A-4755-B061-BC791EDE1675}" presName="compNode" presStyleCnt="0"/>
      <dgm:spPr/>
    </dgm:pt>
    <dgm:pt modelId="{636CD848-1610-4187-BAEC-4E44B41D3A9A}" type="pres">
      <dgm:prSet presAssocID="{284C483F-384A-4755-B061-BC791EDE1675}" presName="bkgdShape" presStyleLbl="node1" presStyleIdx="1" presStyleCnt="5"/>
      <dgm:spPr/>
    </dgm:pt>
    <dgm:pt modelId="{F94B04E7-3253-45B6-87E3-54F6913782CC}" type="pres">
      <dgm:prSet presAssocID="{284C483F-384A-4755-B061-BC791EDE1675}" presName="nodeTx" presStyleLbl="node1" presStyleIdx="1" presStyleCnt="5">
        <dgm:presLayoutVars>
          <dgm:bulletEnabled val="1"/>
        </dgm:presLayoutVars>
      </dgm:prSet>
      <dgm:spPr/>
    </dgm:pt>
    <dgm:pt modelId="{F34703CA-72EE-4A69-AC46-1396CBBADC58}" type="pres">
      <dgm:prSet presAssocID="{284C483F-384A-4755-B061-BC791EDE1675}" presName="invisiNode" presStyleLbl="node1" presStyleIdx="1" presStyleCnt="5"/>
      <dgm:spPr/>
    </dgm:pt>
    <dgm:pt modelId="{91D0FF95-5B8D-4CC3-B39F-7759D5FAF4B7}" type="pres">
      <dgm:prSet presAssocID="{284C483F-384A-4755-B061-BC791EDE1675}" presName="imagNode" presStyleLbl="fgImgPlace1" presStyleIdx="1" presStyleCnt="5"/>
      <dgm:spPr/>
    </dgm:pt>
    <dgm:pt modelId="{4AD72DF2-BF6A-4BFE-8A82-35E9CE57ECD4}" type="pres">
      <dgm:prSet presAssocID="{EC382042-3508-42ED-8059-517222C1AF24}" presName="sibTrans" presStyleLbl="sibTrans2D1" presStyleIdx="0" presStyleCnt="0"/>
      <dgm:spPr/>
    </dgm:pt>
    <dgm:pt modelId="{BBD48388-6562-45EA-9604-E2F7EC712FEB}" type="pres">
      <dgm:prSet presAssocID="{6CD5389B-29B9-44A3-8C61-1D57F37AB9F9}" presName="compNode" presStyleCnt="0"/>
      <dgm:spPr/>
    </dgm:pt>
    <dgm:pt modelId="{F44453CA-15A3-413F-9306-CBE790E39E16}" type="pres">
      <dgm:prSet presAssocID="{6CD5389B-29B9-44A3-8C61-1D57F37AB9F9}" presName="bkgdShape" presStyleLbl="node1" presStyleIdx="2" presStyleCnt="5"/>
      <dgm:spPr/>
    </dgm:pt>
    <dgm:pt modelId="{3C5F2550-EF8A-4CF7-9F93-4AD1AC34FD79}" type="pres">
      <dgm:prSet presAssocID="{6CD5389B-29B9-44A3-8C61-1D57F37AB9F9}" presName="nodeTx" presStyleLbl="node1" presStyleIdx="2" presStyleCnt="5">
        <dgm:presLayoutVars>
          <dgm:bulletEnabled val="1"/>
        </dgm:presLayoutVars>
      </dgm:prSet>
      <dgm:spPr/>
    </dgm:pt>
    <dgm:pt modelId="{DC22C9F1-B268-4D49-8D86-97E5C0FF4147}" type="pres">
      <dgm:prSet presAssocID="{6CD5389B-29B9-44A3-8C61-1D57F37AB9F9}" presName="invisiNode" presStyleLbl="node1" presStyleIdx="2" presStyleCnt="5"/>
      <dgm:spPr/>
    </dgm:pt>
    <dgm:pt modelId="{69F1DA22-3925-4704-9533-D1F2837F79A4}" type="pres">
      <dgm:prSet presAssocID="{6CD5389B-29B9-44A3-8C61-1D57F37AB9F9}" presName="imagNode" presStyleLbl="fgImgPlace1" presStyleIdx="2" presStyleCnt="5"/>
      <dgm:spPr/>
    </dgm:pt>
    <dgm:pt modelId="{C151B7FE-11EB-4305-B44E-1C707CD1AD28}" type="pres">
      <dgm:prSet presAssocID="{7A0B1117-2984-48A7-820D-F287D9BBD216}" presName="sibTrans" presStyleLbl="sibTrans2D1" presStyleIdx="0" presStyleCnt="0"/>
      <dgm:spPr/>
    </dgm:pt>
    <dgm:pt modelId="{1099F2F3-2A7A-49F6-89AE-F9214DA71642}" type="pres">
      <dgm:prSet presAssocID="{D8FD4D11-506C-496C-A552-FC8A5548279A}" presName="compNode" presStyleCnt="0"/>
      <dgm:spPr/>
    </dgm:pt>
    <dgm:pt modelId="{F99BDA30-52A8-423E-BEFF-470CA8188777}" type="pres">
      <dgm:prSet presAssocID="{D8FD4D11-506C-496C-A552-FC8A5548279A}" presName="bkgdShape" presStyleLbl="node1" presStyleIdx="3" presStyleCnt="5"/>
      <dgm:spPr/>
    </dgm:pt>
    <dgm:pt modelId="{AB87B664-7B61-4F4F-9B24-29FC24B5C1C6}" type="pres">
      <dgm:prSet presAssocID="{D8FD4D11-506C-496C-A552-FC8A5548279A}" presName="nodeTx" presStyleLbl="node1" presStyleIdx="3" presStyleCnt="5">
        <dgm:presLayoutVars>
          <dgm:bulletEnabled val="1"/>
        </dgm:presLayoutVars>
      </dgm:prSet>
      <dgm:spPr/>
    </dgm:pt>
    <dgm:pt modelId="{3DDBE233-B2BB-4335-BCE2-748BD4F3FCA9}" type="pres">
      <dgm:prSet presAssocID="{D8FD4D11-506C-496C-A552-FC8A5548279A}" presName="invisiNode" presStyleLbl="node1" presStyleIdx="3" presStyleCnt="5"/>
      <dgm:spPr/>
    </dgm:pt>
    <dgm:pt modelId="{33671742-F7E2-454C-9E54-ECC3DD42A64F}" type="pres">
      <dgm:prSet presAssocID="{D8FD4D11-506C-496C-A552-FC8A5548279A}" presName="imagNode" presStyleLbl="fgImgPlace1" presStyleIdx="3" presStyleCnt="5"/>
      <dgm:spPr/>
    </dgm:pt>
    <dgm:pt modelId="{BC8B8B40-1D91-445F-884F-47B1EEDE57F3}" type="pres">
      <dgm:prSet presAssocID="{309C1646-6E87-4C9F-9B96-3E02598D7F16}" presName="sibTrans" presStyleLbl="sibTrans2D1" presStyleIdx="0" presStyleCnt="0"/>
      <dgm:spPr/>
    </dgm:pt>
    <dgm:pt modelId="{5A0CB512-2345-4D9E-AD73-BBEA38800CB8}" type="pres">
      <dgm:prSet presAssocID="{C8015257-31F3-481C-BFE5-B13EB38471F6}" presName="compNode" presStyleCnt="0"/>
      <dgm:spPr/>
    </dgm:pt>
    <dgm:pt modelId="{475EA617-532E-4225-8B73-00D85FB58857}" type="pres">
      <dgm:prSet presAssocID="{C8015257-31F3-481C-BFE5-B13EB38471F6}" presName="bkgdShape" presStyleLbl="node1" presStyleIdx="4" presStyleCnt="5"/>
      <dgm:spPr/>
    </dgm:pt>
    <dgm:pt modelId="{9C0A6D83-E659-4C70-A6CA-F080C24E7E9F}" type="pres">
      <dgm:prSet presAssocID="{C8015257-31F3-481C-BFE5-B13EB38471F6}" presName="nodeTx" presStyleLbl="node1" presStyleIdx="4" presStyleCnt="5">
        <dgm:presLayoutVars>
          <dgm:bulletEnabled val="1"/>
        </dgm:presLayoutVars>
      </dgm:prSet>
      <dgm:spPr/>
    </dgm:pt>
    <dgm:pt modelId="{83C10B05-0272-4ECA-B179-B95B10709B59}" type="pres">
      <dgm:prSet presAssocID="{C8015257-31F3-481C-BFE5-B13EB38471F6}" presName="invisiNode" presStyleLbl="node1" presStyleIdx="4" presStyleCnt="5"/>
      <dgm:spPr/>
    </dgm:pt>
    <dgm:pt modelId="{65C920A3-784F-41B8-87EF-AE8D136E006D}" type="pres">
      <dgm:prSet presAssocID="{C8015257-31F3-481C-BFE5-B13EB38471F6}" presName="imagNode" presStyleLbl="fgImgPlace1" presStyleIdx="4" presStyleCnt="5"/>
      <dgm:spPr/>
    </dgm:pt>
  </dgm:ptLst>
  <dgm:cxnLst>
    <dgm:cxn modelId="{9B512804-581D-452A-BF7B-B54A32517FEE}" type="presOf" srcId="{284C483F-384A-4755-B061-BC791EDE1675}" destId="{F94B04E7-3253-45B6-87E3-54F6913782CC}" srcOrd="1" destOrd="0" presId="urn:microsoft.com/office/officeart/2005/8/layout/hList7"/>
    <dgm:cxn modelId="{984A5B0E-2553-4EA1-976A-22EDEA50BE1A}" type="presOf" srcId="{BBF79D62-1B08-4CEC-8B03-F0B2998A5C9A}" destId="{05F171B5-F2EC-470F-9358-46DECEAA7A33}" srcOrd="0" destOrd="0" presId="urn:microsoft.com/office/officeart/2005/8/layout/hList7"/>
    <dgm:cxn modelId="{78EC6516-27F6-495B-A38A-8A9A32AA2262}" type="presOf" srcId="{92ABF9C1-BE9C-4F60-BBF9-981E6FB6F0D9}" destId="{53973B55-5786-423A-906D-F9D77B62BC01}" srcOrd="1" destOrd="0" presId="urn:microsoft.com/office/officeart/2005/8/layout/hList7"/>
    <dgm:cxn modelId="{346FF220-8367-4388-84F8-3532E9848A62}" type="presOf" srcId="{6CD5389B-29B9-44A3-8C61-1D57F37AB9F9}" destId="{3C5F2550-EF8A-4CF7-9F93-4AD1AC34FD79}" srcOrd="1" destOrd="0" presId="urn:microsoft.com/office/officeart/2005/8/layout/hList7"/>
    <dgm:cxn modelId="{1D923623-4013-458E-9EE0-AC52AAD71DA5}" type="presOf" srcId="{C8015257-31F3-481C-BFE5-B13EB38471F6}" destId="{475EA617-532E-4225-8B73-00D85FB58857}" srcOrd="0" destOrd="0" presId="urn:microsoft.com/office/officeart/2005/8/layout/hList7"/>
    <dgm:cxn modelId="{673C3B2E-8C7F-43EE-9D47-EDCD00BCB14B}" type="presOf" srcId="{284C483F-384A-4755-B061-BC791EDE1675}" destId="{636CD848-1610-4187-BAEC-4E44B41D3A9A}" srcOrd="0" destOrd="0" presId="urn:microsoft.com/office/officeart/2005/8/layout/hList7"/>
    <dgm:cxn modelId="{38982A30-EFF4-4A3A-9F0D-D774EEDE7138}" srcId="{BBF79D62-1B08-4CEC-8B03-F0B2998A5C9A}" destId="{6CD5389B-29B9-44A3-8C61-1D57F37AB9F9}" srcOrd="2" destOrd="0" parTransId="{287C3F83-9948-443E-8A2B-4BB0EB170039}" sibTransId="{7A0B1117-2984-48A7-820D-F287D9BBD216}"/>
    <dgm:cxn modelId="{30AD0D39-8674-45EC-B583-05A6F5B15C8B}" srcId="{BBF79D62-1B08-4CEC-8B03-F0B2998A5C9A}" destId="{C8015257-31F3-481C-BFE5-B13EB38471F6}" srcOrd="4" destOrd="0" parTransId="{8D37FB93-5DC7-45F1-8851-1442987F4D3E}" sibTransId="{46AC0295-3BEB-4B3C-A3E0-DBA9CD3AF151}"/>
    <dgm:cxn modelId="{8314AB39-79B6-42CA-96DF-8FF93BBB2E35}" type="presOf" srcId="{D8FD4D11-506C-496C-A552-FC8A5548279A}" destId="{AB87B664-7B61-4F4F-9B24-29FC24B5C1C6}" srcOrd="1" destOrd="0" presId="urn:microsoft.com/office/officeart/2005/8/layout/hList7"/>
    <dgm:cxn modelId="{DEAFAD3F-ED0C-4C00-A161-59E9339524BD}" type="presOf" srcId="{7A0B1117-2984-48A7-820D-F287D9BBD216}" destId="{C151B7FE-11EB-4305-B44E-1C707CD1AD28}" srcOrd="0" destOrd="0" presId="urn:microsoft.com/office/officeart/2005/8/layout/hList7"/>
    <dgm:cxn modelId="{16DD0D48-BDA4-49E2-B551-A1D354616D7A}" type="presOf" srcId="{D8FD4D11-506C-496C-A552-FC8A5548279A}" destId="{F99BDA30-52A8-423E-BEFF-470CA8188777}" srcOrd="0" destOrd="0" presId="urn:microsoft.com/office/officeart/2005/8/layout/hList7"/>
    <dgm:cxn modelId="{BC352C48-BDEF-4552-A589-1D25B83AFEAA}" type="presOf" srcId="{6CD5389B-29B9-44A3-8C61-1D57F37AB9F9}" destId="{F44453CA-15A3-413F-9306-CBE790E39E16}" srcOrd="0" destOrd="0" presId="urn:microsoft.com/office/officeart/2005/8/layout/hList7"/>
    <dgm:cxn modelId="{212B01AB-D9BE-41A8-8825-3078F0C7EBAB}" type="presOf" srcId="{92ABF9C1-BE9C-4F60-BBF9-981E6FB6F0D9}" destId="{090A7DBE-1FD4-432E-A229-2A176AE28979}" srcOrd="0" destOrd="0" presId="urn:microsoft.com/office/officeart/2005/8/layout/hList7"/>
    <dgm:cxn modelId="{6D23D9AC-2AB0-4FF2-BA1E-49A99419C606}" srcId="{BBF79D62-1B08-4CEC-8B03-F0B2998A5C9A}" destId="{284C483F-384A-4755-B061-BC791EDE1675}" srcOrd="1" destOrd="0" parTransId="{0B3394A5-9DD0-4EF8-BF18-63F8205C5CBE}" sibTransId="{EC382042-3508-42ED-8059-517222C1AF24}"/>
    <dgm:cxn modelId="{12B913AE-F605-4B41-868B-FF9F649799EC}" srcId="{BBF79D62-1B08-4CEC-8B03-F0B2998A5C9A}" destId="{92ABF9C1-BE9C-4F60-BBF9-981E6FB6F0D9}" srcOrd="0" destOrd="0" parTransId="{18484BF5-8636-49B8-B618-079D40B78375}" sibTransId="{5B5A9231-F6FA-44B2-8A2D-C938B21E6F4C}"/>
    <dgm:cxn modelId="{B4D5D1BC-9114-44F3-8557-85A9FEBFE366}" type="presOf" srcId="{5B5A9231-F6FA-44B2-8A2D-C938B21E6F4C}" destId="{0FFF590C-CF11-4793-9E9D-8360006C3C6E}" srcOrd="0" destOrd="0" presId="urn:microsoft.com/office/officeart/2005/8/layout/hList7"/>
    <dgm:cxn modelId="{5D2984C0-740D-4B17-A248-D95B9DBEAFC0}" srcId="{BBF79D62-1B08-4CEC-8B03-F0B2998A5C9A}" destId="{D8FD4D11-506C-496C-A552-FC8A5548279A}" srcOrd="3" destOrd="0" parTransId="{6EFCE1C4-ABA9-4768-933C-AA597C308F08}" sibTransId="{309C1646-6E87-4C9F-9B96-3E02598D7F16}"/>
    <dgm:cxn modelId="{2A3843C7-9A50-4D05-9F44-496AF30F2BE8}" type="presOf" srcId="{309C1646-6E87-4C9F-9B96-3E02598D7F16}" destId="{BC8B8B40-1D91-445F-884F-47B1EEDE57F3}" srcOrd="0" destOrd="0" presId="urn:microsoft.com/office/officeart/2005/8/layout/hList7"/>
    <dgm:cxn modelId="{318A7AD6-859B-4E13-A213-CC4D4CA78614}" type="presOf" srcId="{EC382042-3508-42ED-8059-517222C1AF24}" destId="{4AD72DF2-BF6A-4BFE-8A82-35E9CE57ECD4}" srcOrd="0" destOrd="0" presId="urn:microsoft.com/office/officeart/2005/8/layout/hList7"/>
    <dgm:cxn modelId="{C69B1DE0-C57F-4967-8E99-1A2CB2578745}" type="presOf" srcId="{C8015257-31F3-481C-BFE5-B13EB38471F6}" destId="{9C0A6D83-E659-4C70-A6CA-F080C24E7E9F}" srcOrd="1" destOrd="0" presId="urn:microsoft.com/office/officeart/2005/8/layout/hList7"/>
    <dgm:cxn modelId="{A5AE1FCE-B983-481F-8238-1D6298F9C865}" type="presParOf" srcId="{05F171B5-F2EC-470F-9358-46DECEAA7A33}" destId="{1FBA999E-446F-476D-8D54-CEA5D0ADE763}" srcOrd="0" destOrd="0" presId="urn:microsoft.com/office/officeart/2005/8/layout/hList7"/>
    <dgm:cxn modelId="{71DA819E-E4D2-485A-A974-C51F9948CB58}" type="presParOf" srcId="{05F171B5-F2EC-470F-9358-46DECEAA7A33}" destId="{2D548751-23D8-443B-B01E-ACDCC352244C}" srcOrd="1" destOrd="0" presId="urn:microsoft.com/office/officeart/2005/8/layout/hList7"/>
    <dgm:cxn modelId="{4B22198E-9E3C-422B-8A2D-BD9B65170428}" type="presParOf" srcId="{2D548751-23D8-443B-B01E-ACDCC352244C}" destId="{355ECA72-6834-423E-9461-FFC2C728A969}" srcOrd="0" destOrd="0" presId="urn:microsoft.com/office/officeart/2005/8/layout/hList7"/>
    <dgm:cxn modelId="{B1E5A8FF-91B2-4B50-9787-B1F060A79D1A}" type="presParOf" srcId="{355ECA72-6834-423E-9461-FFC2C728A969}" destId="{090A7DBE-1FD4-432E-A229-2A176AE28979}" srcOrd="0" destOrd="0" presId="urn:microsoft.com/office/officeart/2005/8/layout/hList7"/>
    <dgm:cxn modelId="{9149090B-7594-4B46-B2DE-0A7FFAFC6E42}" type="presParOf" srcId="{355ECA72-6834-423E-9461-FFC2C728A969}" destId="{53973B55-5786-423A-906D-F9D77B62BC01}" srcOrd="1" destOrd="0" presId="urn:microsoft.com/office/officeart/2005/8/layout/hList7"/>
    <dgm:cxn modelId="{86CE4579-B1E6-4AF7-8931-E2BFC0CFB024}" type="presParOf" srcId="{355ECA72-6834-423E-9461-FFC2C728A969}" destId="{BEF06877-2200-4DF4-910E-5E6E7E20CD4A}" srcOrd="2" destOrd="0" presId="urn:microsoft.com/office/officeart/2005/8/layout/hList7"/>
    <dgm:cxn modelId="{AC7EC84F-2A74-4759-9CEE-523295430300}" type="presParOf" srcId="{355ECA72-6834-423E-9461-FFC2C728A969}" destId="{97D128EA-E44C-4AB9-AB6E-31934219A685}" srcOrd="3" destOrd="0" presId="urn:microsoft.com/office/officeart/2005/8/layout/hList7"/>
    <dgm:cxn modelId="{8A6530E8-2808-4D16-AD98-D9FE9865F8D9}" type="presParOf" srcId="{2D548751-23D8-443B-B01E-ACDCC352244C}" destId="{0FFF590C-CF11-4793-9E9D-8360006C3C6E}" srcOrd="1" destOrd="0" presId="urn:microsoft.com/office/officeart/2005/8/layout/hList7"/>
    <dgm:cxn modelId="{061DC61D-9533-4C37-9A7D-2DB362741F5C}" type="presParOf" srcId="{2D548751-23D8-443B-B01E-ACDCC352244C}" destId="{2630216E-85F4-4695-B166-8FB29FECE44F}" srcOrd="2" destOrd="0" presId="urn:microsoft.com/office/officeart/2005/8/layout/hList7"/>
    <dgm:cxn modelId="{EAD6D007-961C-4CB2-B542-15FB38F9ADCB}" type="presParOf" srcId="{2630216E-85F4-4695-B166-8FB29FECE44F}" destId="{636CD848-1610-4187-BAEC-4E44B41D3A9A}" srcOrd="0" destOrd="0" presId="urn:microsoft.com/office/officeart/2005/8/layout/hList7"/>
    <dgm:cxn modelId="{281A12EC-9CF5-47A8-93B9-DA81FA087BEC}" type="presParOf" srcId="{2630216E-85F4-4695-B166-8FB29FECE44F}" destId="{F94B04E7-3253-45B6-87E3-54F6913782CC}" srcOrd="1" destOrd="0" presId="urn:microsoft.com/office/officeart/2005/8/layout/hList7"/>
    <dgm:cxn modelId="{C557E47E-8B8A-4F35-B06B-A4BF280AA9CE}" type="presParOf" srcId="{2630216E-85F4-4695-B166-8FB29FECE44F}" destId="{F34703CA-72EE-4A69-AC46-1396CBBADC58}" srcOrd="2" destOrd="0" presId="urn:microsoft.com/office/officeart/2005/8/layout/hList7"/>
    <dgm:cxn modelId="{16804963-4A9C-466F-9DC4-F20C8CD0C7C8}" type="presParOf" srcId="{2630216E-85F4-4695-B166-8FB29FECE44F}" destId="{91D0FF95-5B8D-4CC3-B39F-7759D5FAF4B7}" srcOrd="3" destOrd="0" presId="urn:microsoft.com/office/officeart/2005/8/layout/hList7"/>
    <dgm:cxn modelId="{0A7B63C6-EE30-46D8-A11F-241D35C4D858}" type="presParOf" srcId="{2D548751-23D8-443B-B01E-ACDCC352244C}" destId="{4AD72DF2-BF6A-4BFE-8A82-35E9CE57ECD4}" srcOrd="3" destOrd="0" presId="urn:microsoft.com/office/officeart/2005/8/layout/hList7"/>
    <dgm:cxn modelId="{65663C12-5B99-4C6F-AA02-2603673DACFD}" type="presParOf" srcId="{2D548751-23D8-443B-B01E-ACDCC352244C}" destId="{BBD48388-6562-45EA-9604-E2F7EC712FEB}" srcOrd="4" destOrd="0" presId="urn:microsoft.com/office/officeart/2005/8/layout/hList7"/>
    <dgm:cxn modelId="{B227F957-C8C6-48A8-94DE-0A55B75BC87C}" type="presParOf" srcId="{BBD48388-6562-45EA-9604-E2F7EC712FEB}" destId="{F44453CA-15A3-413F-9306-CBE790E39E16}" srcOrd="0" destOrd="0" presId="urn:microsoft.com/office/officeart/2005/8/layout/hList7"/>
    <dgm:cxn modelId="{E897703B-8B6F-45DA-869E-FD653E707953}" type="presParOf" srcId="{BBD48388-6562-45EA-9604-E2F7EC712FEB}" destId="{3C5F2550-EF8A-4CF7-9F93-4AD1AC34FD79}" srcOrd="1" destOrd="0" presId="urn:microsoft.com/office/officeart/2005/8/layout/hList7"/>
    <dgm:cxn modelId="{F9989143-6A38-41DF-A204-BF0351464F5D}" type="presParOf" srcId="{BBD48388-6562-45EA-9604-E2F7EC712FEB}" destId="{DC22C9F1-B268-4D49-8D86-97E5C0FF4147}" srcOrd="2" destOrd="0" presId="urn:microsoft.com/office/officeart/2005/8/layout/hList7"/>
    <dgm:cxn modelId="{9A12644E-9D82-4FFB-A150-BFF23537E7B8}" type="presParOf" srcId="{BBD48388-6562-45EA-9604-E2F7EC712FEB}" destId="{69F1DA22-3925-4704-9533-D1F2837F79A4}" srcOrd="3" destOrd="0" presId="urn:microsoft.com/office/officeart/2005/8/layout/hList7"/>
    <dgm:cxn modelId="{179FA94B-FE29-4A50-98EE-238CFFCC5012}" type="presParOf" srcId="{2D548751-23D8-443B-B01E-ACDCC352244C}" destId="{C151B7FE-11EB-4305-B44E-1C707CD1AD28}" srcOrd="5" destOrd="0" presId="urn:microsoft.com/office/officeart/2005/8/layout/hList7"/>
    <dgm:cxn modelId="{DE9BF2C5-A5BF-4005-B750-04EB1D849316}" type="presParOf" srcId="{2D548751-23D8-443B-B01E-ACDCC352244C}" destId="{1099F2F3-2A7A-49F6-89AE-F9214DA71642}" srcOrd="6" destOrd="0" presId="urn:microsoft.com/office/officeart/2005/8/layout/hList7"/>
    <dgm:cxn modelId="{ADB4E68B-7425-4114-876A-6851A3EC9E10}" type="presParOf" srcId="{1099F2F3-2A7A-49F6-89AE-F9214DA71642}" destId="{F99BDA30-52A8-423E-BEFF-470CA8188777}" srcOrd="0" destOrd="0" presId="urn:microsoft.com/office/officeart/2005/8/layout/hList7"/>
    <dgm:cxn modelId="{253BFB10-DA7A-4E0F-96ED-CF4B63C18998}" type="presParOf" srcId="{1099F2F3-2A7A-49F6-89AE-F9214DA71642}" destId="{AB87B664-7B61-4F4F-9B24-29FC24B5C1C6}" srcOrd="1" destOrd="0" presId="urn:microsoft.com/office/officeart/2005/8/layout/hList7"/>
    <dgm:cxn modelId="{A1EE8B59-4B89-4802-B983-E28D4C0FB641}" type="presParOf" srcId="{1099F2F3-2A7A-49F6-89AE-F9214DA71642}" destId="{3DDBE233-B2BB-4335-BCE2-748BD4F3FCA9}" srcOrd="2" destOrd="0" presId="urn:microsoft.com/office/officeart/2005/8/layout/hList7"/>
    <dgm:cxn modelId="{6D767F6D-6C5E-4D42-82C2-25972820B371}" type="presParOf" srcId="{1099F2F3-2A7A-49F6-89AE-F9214DA71642}" destId="{33671742-F7E2-454C-9E54-ECC3DD42A64F}" srcOrd="3" destOrd="0" presId="urn:microsoft.com/office/officeart/2005/8/layout/hList7"/>
    <dgm:cxn modelId="{DE72B530-7B64-49C5-8780-BCDB3DA4EB29}" type="presParOf" srcId="{2D548751-23D8-443B-B01E-ACDCC352244C}" destId="{BC8B8B40-1D91-445F-884F-47B1EEDE57F3}" srcOrd="7" destOrd="0" presId="urn:microsoft.com/office/officeart/2005/8/layout/hList7"/>
    <dgm:cxn modelId="{DB83D0BC-89CB-424C-B3E5-57F9DF334FB7}" type="presParOf" srcId="{2D548751-23D8-443B-B01E-ACDCC352244C}" destId="{5A0CB512-2345-4D9E-AD73-BBEA38800CB8}" srcOrd="8" destOrd="0" presId="urn:microsoft.com/office/officeart/2005/8/layout/hList7"/>
    <dgm:cxn modelId="{F63BBD32-B45E-470F-AF28-4549F8175351}" type="presParOf" srcId="{5A0CB512-2345-4D9E-AD73-BBEA38800CB8}" destId="{475EA617-532E-4225-8B73-00D85FB58857}" srcOrd="0" destOrd="0" presId="urn:microsoft.com/office/officeart/2005/8/layout/hList7"/>
    <dgm:cxn modelId="{4745AA95-61B5-4534-A387-00F2C6D84E3D}" type="presParOf" srcId="{5A0CB512-2345-4D9E-AD73-BBEA38800CB8}" destId="{9C0A6D83-E659-4C70-A6CA-F080C24E7E9F}" srcOrd="1" destOrd="0" presId="urn:microsoft.com/office/officeart/2005/8/layout/hList7"/>
    <dgm:cxn modelId="{C282870F-26F1-496D-8678-DE3F64CE8086}" type="presParOf" srcId="{5A0CB512-2345-4D9E-AD73-BBEA38800CB8}" destId="{83C10B05-0272-4ECA-B179-B95B10709B59}" srcOrd="2" destOrd="0" presId="urn:microsoft.com/office/officeart/2005/8/layout/hList7"/>
    <dgm:cxn modelId="{856FA19C-61E8-4E56-AD4D-5785A57BFC31}" type="presParOf" srcId="{5A0CB512-2345-4D9E-AD73-BBEA38800CB8}" destId="{65C920A3-784F-41B8-87EF-AE8D136E006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9211A-758C-454B-85E0-A1875CACCE07}">
      <dsp:nvSpPr>
        <dsp:cNvPr id="0" name=""/>
        <dsp:cNvSpPr/>
      </dsp:nvSpPr>
      <dsp:spPr>
        <a:xfrm rot="10800000">
          <a:off x="22302" y="1432100"/>
          <a:ext cx="2314880" cy="318804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29C0D-CD2D-45C0-A220-9AEB642557D5}">
      <dsp:nvSpPr>
        <dsp:cNvPr id="0" name=""/>
        <dsp:cNvSpPr/>
      </dsp:nvSpPr>
      <dsp:spPr>
        <a:xfrm>
          <a:off x="7834" y="993716"/>
          <a:ext cx="2343815" cy="606328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76" tIns="168376" rIns="168376" bIns="16837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b="1" kern="1200" dirty="0">
              <a:solidFill>
                <a:schemeClr val="tx1"/>
              </a:solidFill>
            </a:rPr>
            <a:t>Distritos com maior impacto</a:t>
          </a:r>
        </a:p>
      </dsp:txBody>
      <dsp:txXfrm>
        <a:off x="87748" y="1073630"/>
        <a:ext cx="2183987" cy="526414"/>
      </dsp:txXfrm>
    </dsp:sp>
    <dsp:sp modelId="{47ADC9F1-0B94-46B4-ACEB-38D2DB08A2A6}">
      <dsp:nvSpPr>
        <dsp:cNvPr id="0" name=""/>
        <dsp:cNvSpPr/>
      </dsp:nvSpPr>
      <dsp:spPr>
        <a:xfrm rot="10800000">
          <a:off x="2525789" y="1639079"/>
          <a:ext cx="2847181" cy="3086901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1" tIns="90201" rIns="90201" bIns="9020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chemeClr val="bg1"/>
              </a:solidFill>
            </a:rPr>
            <a:t>População total afectada: 12.181 famílias | 62.309 pessoas.</a:t>
          </a:r>
          <a:endParaRPr lang="en-US" sz="1600" kern="1200" dirty="0">
            <a:solidFill>
              <a:schemeClr val="bg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>
              <a:solidFill>
                <a:schemeClr val="bg1"/>
              </a:solidFill>
            </a:rPr>
            <a:t>Activados</a:t>
          </a:r>
          <a:r>
            <a:rPr lang="pt-BR" sz="1600" kern="1200" dirty="0">
              <a:solidFill>
                <a:schemeClr val="bg1"/>
              </a:solidFill>
            </a:rPr>
            <a:t> 31 Centros de Acomodação, que acolheram um total de 3.980 pessoas.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 dirty="0">
            <a:solidFill>
              <a:schemeClr val="bg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i="1" kern="1200" dirty="0">
              <a:solidFill>
                <a:schemeClr val="bg1"/>
              </a:solidFill>
            </a:rPr>
            <a:t>Fonte</a:t>
          </a:r>
          <a:r>
            <a:rPr lang="pt-BR" sz="1200" b="0" i="1" kern="1200" dirty="0">
              <a:solidFill>
                <a:schemeClr val="bg1"/>
              </a:solidFill>
            </a:rPr>
            <a:t>: </a:t>
          </a:r>
          <a:r>
            <a:rPr lang="pt-BR" sz="1200" b="1" i="1" kern="1200" dirty="0">
              <a:solidFill>
                <a:schemeClr val="bg1"/>
              </a:solidFill>
            </a:rPr>
            <a:t>Base de Dados do COESP-VS-SSCM.</a:t>
          </a:r>
        </a:p>
      </dsp:txBody>
      <dsp:txXfrm rot="10800000">
        <a:off x="2650876" y="1639079"/>
        <a:ext cx="2597007" cy="2961814"/>
      </dsp:txXfrm>
    </dsp:sp>
    <dsp:sp modelId="{93E0EB86-33CD-4A3B-A0B3-04E636DE0598}">
      <dsp:nvSpPr>
        <dsp:cNvPr id="0" name=""/>
        <dsp:cNvSpPr/>
      </dsp:nvSpPr>
      <dsp:spPr>
        <a:xfrm>
          <a:off x="2523850" y="1010645"/>
          <a:ext cx="2847181" cy="639222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76" tIns="168376" rIns="168376" bIns="16837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tx1"/>
              </a:solidFill>
            </a:rPr>
            <a:t>População afectada</a:t>
          </a:r>
          <a:endParaRPr lang="pt-PT" sz="1600" kern="1200" dirty="0">
            <a:solidFill>
              <a:schemeClr val="tx1"/>
            </a:solidFill>
          </a:endParaRPr>
        </a:p>
      </dsp:txBody>
      <dsp:txXfrm>
        <a:off x="2608100" y="1094895"/>
        <a:ext cx="2678681" cy="554972"/>
      </dsp:txXfrm>
    </dsp:sp>
    <dsp:sp modelId="{DE47BD55-F59C-4E9A-BE8B-7926C772CEE8}">
      <dsp:nvSpPr>
        <dsp:cNvPr id="0" name=""/>
        <dsp:cNvSpPr/>
      </dsp:nvSpPr>
      <dsp:spPr>
        <a:xfrm rot="10800000">
          <a:off x="5414620" y="1594136"/>
          <a:ext cx="2457107" cy="2968552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1" tIns="90201" rIns="90201" bIns="9020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600" kern="1200" dirty="0">
              <a:solidFill>
                <a:schemeClr val="bg1"/>
              </a:solidFill>
            </a:rPr>
            <a:t>- Chuvas intensas e cheias localizadas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600" kern="1200" dirty="0">
              <a:solidFill>
                <a:schemeClr val="bg1"/>
              </a:solidFill>
            </a:rPr>
            <a:t>- Inundações urbanas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600" kern="1200" dirty="0">
              <a:solidFill>
                <a:schemeClr val="bg1"/>
              </a:solidFill>
            </a:rPr>
            <a:t>- Deslocamento de famílias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600" kern="1200" dirty="0">
              <a:solidFill>
                <a:schemeClr val="bg1"/>
              </a:solidFill>
            </a:rPr>
            <a:t>- Aumento de doenças associadas à água e saneamento</a:t>
          </a:r>
        </a:p>
      </dsp:txBody>
      <dsp:txXfrm rot="10800000">
        <a:off x="5522569" y="1594136"/>
        <a:ext cx="2241209" cy="2860603"/>
      </dsp:txXfrm>
    </dsp:sp>
    <dsp:sp modelId="{9036417C-8A97-4EEF-87D9-4472943CA734}">
      <dsp:nvSpPr>
        <dsp:cNvPr id="0" name=""/>
        <dsp:cNvSpPr/>
      </dsp:nvSpPr>
      <dsp:spPr>
        <a:xfrm>
          <a:off x="5432487" y="1051177"/>
          <a:ext cx="2421374" cy="595982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76" tIns="168376" rIns="168376" bIns="16837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Principais eventos registados</a:t>
          </a:r>
          <a:endParaRPr lang="pt-PT" sz="1600" kern="1200" dirty="0">
            <a:solidFill>
              <a:schemeClr val="tx1"/>
            </a:solidFill>
          </a:endParaRPr>
        </a:p>
      </dsp:txBody>
      <dsp:txXfrm>
        <a:off x="5511038" y="1129728"/>
        <a:ext cx="2264272" cy="517431"/>
      </dsp:txXfrm>
    </dsp:sp>
    <dsp:sp modelId="{6D135F2D-23CB-400F-8BBF-3A0C4188FC4A}">
      <dsp:nvSpPr>
        <dsp:cNvPr id="0" name=""/>
        <dsp:cNvSpPr/>
      </dsp:nvSpPr>
      <dsp:spPr>
        <a:xfrm rot="10800000">
          <a:off x="7986717" y="1611896"/>
          <a:ext cx="3198264" cy="309763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1" tIns="90201" rIns="90201" bIns="9020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- Doenças diarreicas (</a:t>
          </a:r>
          <a:r>
            <a:rPr lang="pt-BR" sz="1600" kern="1200" dirty="0">
              <a:solidFill>
                <a:schemeClr val="bg1"/>
              </a:solidFill>
            </a:rPr>
            <a:t>17.868 casos 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- </a:t>
          </a:r>
          <a:r>
            <a:rPr lang="en-US" sz="1600" kern="1200" dirty="0" err="1">
              <a:solidFill>
                <a:schemeClr val="bg1"/>
              </a:solidFill>
            </a:rPr>
            <a:t>Cólera</a:t>
          </a:r>
          <a:r>
            <a:rPr lang="en-US" sz="1600" kern="1200" dirty="0">
              <a:solidFill>
                <a:schemeClr val="bg1"/>
              </a:solidFill>
            </a:rPr>
            <a:t> (1 </a:t>
          </a:r>
          <a:r>
            <a:rPr lang="en-US" sz="1600" kern="1200" dirty="0" err="1">
              <a:solidFill>
                <a:schemeClr val="bg1"/>
              </a:solidFill>
            </a:rPr>
            <a:t>caso</a:t>
          </a:r>
          <a:r>
            <a:rPr lang="en-US" sz="1600" kern="1200" dirty="0">
              <a:solidFill>
                <a:schemeClr val="bg1"/>
              </a:solidFill>
            </a:rPr>
            <a:t>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- Malária (</a:t>
          </a:r>
          <a:r>
            <a:rPr lang="pt-BR" sz="1600" kern="1200" dirty="0">
              <a:solidFill>
                <a:schemeClr val="bg1"/>
              </a:solidFill>
            </a:rPr>
            <a:t>10.854 casos </a:t>
          </a:r>
          <a:r>
            <a:rPr lang="en-US" sz="1600" kern="1200" dirty="0">
              <a:solidFill>
                <a:schemeClr val="bg1"/>
              </a:solidFill>
            </a:rPr>
            <a:t>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- Síndromes respiratórias (22.407 casos)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- Traumas e acidentes associados às cheias (</a:t>
          </a:r>
          <a:r>
            <a:rPr lang="pt-BR" sz="1600" kern="1200" dirty="0">
              <a:solidFill>
                <a:schemeClr val="bg1"/>
              </a:solidFill>
            </a:rPr>
            <a:t>613 casos</a:t>
          </a:r>
          <a:r>
            <a:rPr lang="en-US" sz="1600" kern="1200" dirty="0">
              <a:solidFill>
                <a:schemeClr val="bg1"/>
              </a:solidFill>
            </a:rPr>
            <a:t>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>
              <a:solidFill>
                <a:schemeClr val="bg1"/>
              </a:solidFill>
            </a:rPr>
            <a:t>[6 óbitos (</a:t>
          </a:r>
          <a:r>
            <a:rPr lang="pt-BR" sz="1600" b="0" i="1" kern="1200" dirty="0">
              <a:solidFill>
                <a:schemeClr val="bg1"/>
              </a:solidFill>
            </a:rPr>
            <a:t>4 afogamentos, 1 electrocução, 1 malária</a:t>
          </a:r>
          <a:r>
            <a:rPr lang="pt-BR" sz="1600" b="0" kern="1200" dirty="0">
              <a:solidFill>
                <a:schemeClr val="bg1"/>
              </a:solidFill>
            </a:rPr>
            <a:t>)]</a:t>
          </a:r>
          <a:endParaRPr lang="en-US" sz="1600" kern="1200" dirty="0">
            <a:solidFill>
              <a:schemeClr val="bg1"/>
            </a:solidFill>
          </a:endParaRPr>
        </a:p>
      </dsp:txBody>
      <dsp:txXfrm rot="10800000">
        <a:off x="8122807" y="1611896"/>
        <a:ext cx="2926084" cy="2961543"/>
      </dsp:txXfrm>
    </dsp:sp>
    <dsp:sp modelId="{0B19AA17-723C-4E90-9BD1-C8D2334F60E3}">
      <dsp:nvSpPr>
        <dsp:cNvPr id="0" name=""/>
        <dsp:cNvSpPr/>
      </dsp:nvSpPr>
      <dsp:spPr>
        <a:xfrm>
          <a:off x="7987655" y="1009746"/>
          <a:ext cx="3182198" cy="632620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76" tIns="168376" rIns="168376" bIns="1683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Principais riscos de saúde pública</a:t>
          </a:r>
          <a:endParaRPr lang="pt-PT" sz="1600" kern="1200" dirty="0">
            <a:solidFill>
              <a:schemeClr val="tx1"/>
            </a:solidFill>
          </a:endParaRPr>
        </a:p>
      </dsp:txBody>
      <dsp:txXfrm>
        <a:off x="8071035" y="1093126"/>
        <a:ext cx="3015438" cy="549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A7DBE-1FD4-432E-A229-2A176AE28979}">
      <dsp:nvSpPr>
        <dsp:cNvPr id="0" name=""/>
        <dsp:cNvSpPr/>
      </dsp:nvSpPr>
      <dsp:spPr>
        <a:xfrm>
          <a:off x="0" y="0"/>
          <a:ext cx="2020341" cy="4926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 preparação deve iniciar antes da ECC, incluindo pré-posicionamento de insumos nos distritos de maior risco.</a:t>
          </a:r>
          <a:endParaRPr lang="pt-PT" sz="1500" b="0" kern="1200" dirty="0"/>
        </a:p>
      </dsp:txBody>
      <dsp:txXfrm>
        <a:off x="0" y="1970532"/>
        <a:ext cx="2020341" cy="1970532"/>
      </dsp:txXfrm>
    </dsp:sp>
    <dsp:sp modelId="{97D128EA-E44C-4AB9-AB6E-31934219A685}">
      <dsp:nvSpPr>
        <dsp:cNvPr id="0" name=""/>
        <dsp:cNvSpPr/>
      </dsp:nvSpPr>
      <dsp:spPr>
        <a:xfrm>
          <a:off x="189936" y="295579"/>
          <a:ext cx="1640467" cy="16404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CD848-1610-4187-BAEC-4E44B41D3A9A}">
      <dsp:nvSpPr>
        <dsp:cNvPr id="0" name=""/>
        <dsp:cNvSpPr/>
      </dsp:nvSpPr>
      <dsp:spPr>
        <a:xfrm>
          <a:off x="2080952" y="0"/>
          <a:ext cx="2020341" cy="4926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 vigilância comunitária integrada acelera a detecção precoce de surtos.</a:t>
          </a:r>
          <a:endParaRPr lang="en-US" sz="1500" b="0" kern="1200" dirty="0"/>
        </a:p>
      </dsp:txBody>
      <dsp:txXfrm>
        <a:off x="2080952" y="1970532"/>
        <a:ext cx="2020341" cy="1970532"/>
      </dsp:txXfrm>
    </dsp:sp>
    <dsp:sp modelId="{91D0FF95-5B8D-4CC3-B39F-7759D5FAF4B7}">
      <dsp:nvSpPr>
        <dsp:cNvPr id="0" name=""/>
        <dsp:cNvSpPr/>
      </dsp:nvSpPr>
      <dsp:spPr>
        <a:xfrm>
          <a:off x="2270889" y="295579"/>
          <a:ext cx="1640467" cy="16404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453CA-15A3-413F-9306-CBE790E39E16}">
      <dsp:nvSpPr>
        <dsp:cNvPr id="0" name=""/>
        <dsp:cNvSpPr/>
      </dsp:nvSpPr>
      <dsp:spPr>
        <a:xfrm>
          <a:off x="4161904" y="0"/>
          <a:ext cx="2020341" cy="4926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Centros de acomodação exigem pacotes mínimos pré-definidos de saúde, WASH e protecção.</a:t>
          </a:r>
          <a:endParaRPr lang="en-US" sz="1500" b="0" kern="1200" dirty="0"/>
        </a:p>
      </dsp:txBody>
      <dsp:txXfrm>
        <a:off x="4161904" y="1970532"/>
        <a:ext cx="2020341" cy="1970532"/>
      </dsp:txXfrm>
    </dsp:sp>
    <dsp:sp modelId="{69F1DA22-3925-4704-9533-D1F2837F79A4}">
      <dsp:nvSpPr>
        <dsp:cNvPr id="0" name=""/>
        <dsp:cNvSpPr/>
      </dsp:nvSpPr>
      <dsp:spPr>
        <a:xfrm>
          <a:off x="4351841" y="295579"/>
          <a:ext cx="1640467" cy="16404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BDA30-52A8-423E-BEFF-470CA8188777}">
      <dsp:nvSpPr>
        <dsp:cNvPr id="0" name=""/>
        <dsp:cNvSpPr/>
      </dsp:nvSpPr>
      <dsp:spPr>
        <a:xfrm>
          <a:off x="6242856" y="0"/>
          <a:ext cx="2020341" cy="4926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 resposta </a:t>
          </a:r>
          <a:r>
            <a:rPr lang="en-US" sz="1500" kern="1200"/>
            <a:t>integrada evita interrupção de serviços essenciais.</a:t>
          </a:r>
          <a:endParaRPr lang="en-US" sz="1500" b="1" kern="1200" dirty="0"/>
        </a:p>
      </dsp:txBody>
      <dsp:txXfrm>
        <a:off x="6242856" y="1970532"/>
        <a:ext cx="2020341" cy="1970532"/>
      </dsp:txXfrm>
    </dsp:sp>
    <dsp:sp modelId="{33671742-F7E2-454C-9E54-ECC3DD42A64F}">
      <dsp:nvSpPr>
        <dsp:cNvPr id="0" name=""/>
        <dsp:cNvSpPr/>
      </dsp:nvSpPr>
      <dsp:spPr>
        <a:xfrm>
          <a:off x="6432793" y="295579"/>
          <a:ext cx="1640467" cy="16404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EA617-532E-4225-8B73-00D85FB58857}">
      <dsp:nvSpPr>
        <dsp:cNvPr id="0" name=""/>
        <dsp:cNvSpPr/>
      </dsp:nvSpPr>
      <dsp:spPr>
        <a:xfrm>
          <a:off x="8323808" y="0"/>
          <a:ext cx="2020341" cy="4926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Parcerias previamente estabelecidas aumentam rapidez da resposta.</a:t>
          </a:r>
          <a:endParaRPr lang="en-US" sz="1500" b="1" kern="1200" dirty="0"/>
        </a:p>
      </dsp:txBody>
      <dsp:txXfrm>
        <a:off x="8323808" y="1970532"/>
        <a:ext cx="2020341" cy="1970532"/>
      </dsp:txXfrm>
    </dsp:sp>
    <dsp:sp modelId="{65C920A3-784F-41B8-87EF-AE8D136E006D}">
      <dsp:nvSpPr>
        <dsp:cNvPr id="0" name=""/>
        <dsp:cNvSpPr/>
      </dsp:nvSpPr>
      <dsp:spPr>
        <a:xfrm>
          <a:off x="8513745" y="295579"/>
          <a:ext cx="1640467" cy="16404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A999E-446F-476D-8D54-CEA5D0ADE763}">
      <dsp:nvSpPr>
        <dsp:cNvPr id="0" name=""/>
        <dsp:cNvSpPr/>
      </dsp:nvSpPr>
      <dsp:spPr>
        <a:xfrm>
          <a:off x="413765" y="3941064"/>
          <a:ext cx="9516618" cy="738949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Quando </a:t>
            </a:r>
            <a:r>
              <a:rPr lang="en-US" b="0" dirty="0" err="1"/>
              <a:t>falamos</a:t>
            </a:r>
            <a:r>
              <a:rPr lang="en-US" b="0" dirty="0"/>
              <a:t> de </a:t>
            </a:r>
            <a:r>
              <a:rPr lang="en-US" b="0" dirty="0" err="1"/>
              <a:t>preparação</a:t>
            </a:r>
            <a:r>
              <a:rPr lang="en-US" b="0" dirty="0"/>
              <a:t> para </a:t>
            </a:r>
            <a:r>
              <a:rPr lang="en-US" b="0" dirty="0" err="1"/>
              <a:t>emergências</a:t>
            </a:r>
            <a:r>
              <a:rPr lang="en-US" b="0" dirty="0"/>
              <a:t> de </a:t>
            </a:r>
            <a:r>
              <a:rPr lang="en-US" b="0" dirty="0" err="1"/>
              <a:t>saúde</a:t>
            </a:r>
            <a:r>
              <a:rPr lang="en-US" b="0" dirty="0"/>
              <a:t> </a:t>
            </a:r>
            <a:r>
              <a:rPr lang="en-US" b="0" dirty="0" err="1"/>
              <a:t>pública</a:t>
            </a:r>
            <a:r>
              <a:rPr lang="en-US" b="0" dirty="0"/>
              <a:t> </a:t>
            </a:r>
            <a:r>
              <a:rPr lang="en-US" b="0" dirty="0" err="1"/>
              <a:t>na</a:t>
            </a:r>
            <a:r>
              <a:rPr lang="en-US" b="0" dirty="0"/>
              <a:t> </a:t>
            </a:r>
            <a:r>
              <a:rPr lang="en-US" b="0" dirty="0" err="1"/>
              <a:t>Cidade</a:t>
            </a:r>
            <a:r>
              <a:rPr lang="en-US" b="0" dirty="0"/>
              <a:t> de Maputo, é </a:t>
            </a:r>
            <a:r>
              <a:rPr lang="en-US" b="0" dirty="0" err="1"/>
              <a:t>importante</a:t>
            </a:r>
            <a:r>
              <a:rPr lang="en-US" b="0" dirty="0"/>
              <a:t> </a:t>
            </a:r>
            <a:r>
              <a:rPr lang="en-US" b="0" dirty="0" err="1"/>
              <a:t>não</a:t>
            </a:r>
            <a:r>
              <a:rPr lang="en-US" b="0" dirty="0"/>
              <a:t> </a:t>
            </a:r>
            <a:r>
              <a:rPr lang="en-US" b="0" dirty="0" err="1"/>
              <a:t>olharmos</a:t>
            </a:r>
            <a:r>
              <a:rPr lang="en-US" b="0" dirty="0"/>
              <a:t> </a:t>
            </a:r>
            <a:r>
              <a:rPr lang="en-US" b="0" dirty="0" err="1"/>
              <a:t>apenas</a:t>
            </a:r>
            <a:r>
              <a:rPr lang="en-US" b="0" dirty="0"/>
              <a:t> para um </a:t>
            </a:r>
            <a:r>
              <a:rPr lang="en-US" b="0" dirty="0" err="1"/>
              <a:t>tipo</a:t>
            </a:r>
            <a:r>
              <a:rPr lang="en-US" b="0" dirty="0"/>
              <a:t> de </a:t>
            </a:r>
            <a:r>
              <a:rPr lang="en-US" b="0" dirty="0" err="1"/>
              <a:t>evento</a:t>
            </a:r>
            <a:r>
              <a:rPr lang="en-US" b="0" dirty="0"/>
              <a:t>. A </a:t>
            </a:r>
            <a:r>
              <a:rPr lang="en-US" b="0" dirty="0" err="1"/>
              <a:t>Cidade</a:t>
            </a:r>
            <a:r>
              <a:rPr lang="en-US" b="0" dirty="0"/>
              <a:t> </a:t>
            </a:r>
            <a:r>
              <a:rPr lang="en-US" b="0" dirty="0" err="1"/>
              <a:t>está</a:t>
            </a:r>
            <a:r>
              <a:rPr lang="en-US" b="0" dirty="0"/>
              <a:t> </a:t>
            </a:r>
            <a:r>
              <a:rPr lang="en-US" b="0" dirty="0" err="1"/>
              <a:t>exposta</a:t>
            </a:r>
            <a:r>
              <a:rPr lang="en-US" b="0" dirty="0"/>
              <a:t> a </a:t>
            </a:r>
            <a:r>
              <a:rPr lang="en-US" b="0" dirty="0" err="1"/>
              <a:t>diferentes</a:t>
            </a:r>
            <a:r>
              <a:rPr lang="en-US" b="0" dirty="0"/>
              <a:t> </a:t>
            </a:r>
            <a:r>
              <a:rPr lang="en-US" b="0" dirty="0" err="1"/>
              <a:t>ameaças</a:t>
            </a:r>
            <a:r>
              <a:rPr lang="en-US" b="0" dirty="0"/>
              <a:t>,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muitas</a:t>
            </a:r>
            <a:r>
              <a:rPr lang="en-US" b="0" dirty="0"/>
              <a:t> </a:t>
            </a:r>
            <a:r>
              <a:rPr lang="en-US" b="0" dirty="0" err="1"/>
              <a:t>vezes</a:t>
            </a:r>
            <a:r>
              <a:rPr lang="en-US" b="0" dirty="0"/>
              <a:t> </a:t>
            </a:r>
            <a:r>
              <a:rPr lang="en-US" b="0" dirty="0" err="1"/>
              <a:t>estão</a:t>
            </a:r>
            <a:r>
              <a:rPr lang="en-US" b="0" dirty="0"/>
              <a:t> </a:t>
            </a:r>
            <a:r>
              <a:rPr lang="en-US" b="0" dirty="0" err="1"/>
              <a:t>interligadas</a:t>
            </a:r>
            <a:r>
              <a:rPr lang="en-US" b="0" dirty="0"/>
              <a:t> e </a:t>
            </a:r>
            <a:r>
              <a:rPr lang="en-US" b="0" dirty="0" err="1"/>
              <a:t>podem</a:t>
            </a:r>
            <a:r>
              <a:rPr lang="en-US" b="0" dirty="0"/>
              <a:t> </a:t>
            </a:r>
            <a:r>
              <a:rPr lang="en-US" b="0" dirty="0" err="1"/>
              <a:t>ocorrer</a:t>
            </a:r>
            <a:r>
              <a:rPr lang="en-US" b="0" dirty="0"/>
              <a:t> de forma </a:t>
            </a:r>
            <a:r>
              <a:rPr lang="en-US" b="0" dirty="0" err="1"/>
              <a:t>simultânea</a:t>
            </a:r>
            <a:r>
              <a:rPr lang="en-US" b="0" dirty="0"/>
              <a:t> </a:t>
            </a:r>
            <a:r>
              <a:rPr lang="en-US" b="0" dirty="0" err="1"/>
              <a:t>ou</a:t>
            </a:r>
            <a:r>
              <a:rPr lang="en-US" b="0" dirty="0"/>
              <a:t> </a:t>
            </a:r>
            <a:r>
              <a:rPr lang="en-US" b="0" dirty="0" err="1"/>
              <a:t>em</a:t>
            </a:r>
            <a:r>
              <a:rPr lang="en-US" b="0" dirty="0"/>
              <a:t> </a:t>
            </a:r>
            <a:r>
              <a:rPr lang="en-US" b="0" dirty="0" err="1"/>
              <a:t>sequência</a:t>
            </a:r>
            <a:r>
              <a:rPr lang="en-US" b="0" dirty="0"/>
              <a:t>.</a:t>
            </a:r>
          </a:p>
          <a:p>
            <a:r>
              <a:rPr lang="en-US" b="0" dirty="0" err="1"/>
              <a:t>Temos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um </a:t>
            </a:r>
            <a:r>
              <a:rPr lang="en-US" b="0" dirty="0" err="1"/>
              <a:t>lado</a:t>
            </a:r>
            <a:r>
              <a:rPr lang="en-US" b="0" dirty="0"/>
              <a:t>, </a:t>
            </a:r>
            <a:r>
              <a:rPr lang="en-US" b="0" dirty="0" err="1"/>
              <a:t>os</a:t>
            </a:r>
            <a:r>
              <a:rPr lang="en-US" b="0" dirty="0"/>
              <a:t> </a:t>
            </a:r>
            <a:r>
              <a:rPr lang="en-US" b="0" dirty="0" err="1"/>
              <a:t>riscos</a:t>
            </a:r>
            <a:r>
              <a:rPr lang="en-US" b="0" dirty="0"/>
              <a:t> </a:t>
            </a:r>
            <a:r>
              <a:rPr lang="en-US" b="0" dirty="0" err="1"/>
              <a:t>climáticos</a:t>
            </a:r>
            <a:r>
              <a:rPr lang="en-US" b="0" dirty="0"/>
              <a:t> e </a:t>
            </a:r>
            <a:r>
              <a:rPr lang="en-US" b="0" dirty="0" err="1"/>
              <a:t>ambientais</a:t>
            </a:r>
            <a:r>
              <a:rPr lang="en-US" b="0" dirty="0"/>
              <a:t>, </a:t>
            </a:r>
            <a:r>
              <a:rPr lang="en-US" b="0" dirty="0" err="1"/>
              <a:t>como</a:t>
            </a:r>
            <a:r>
              <a:rPr lang="en-US" b="0" dirty="0"/>
              <a:t> </a:t>
            </a:r>
            <a:r>
              <a:rPr lang="en-US" b="0" dirty="0" err="1"/>
              <a:t>cheias</a:t>
            </a:r>
            <a:r>
              <a:rPr lang="en-US" b="0" dirty="0"/>
              <a:t> e </a:t>
            </a:r>
            <a:r>
              <a:rPr lang="en-US" b="0" dirty="0" err="1"/>
              <a:t>inundações</a:t>
            </a:r>
            <a:r>
              <a:rPr lang="en-US" b="0" dirty="0"/>
              <a:t>, </a:t>
            </a:r>
            <a:r>
              <a:rPr lang="en-US" b="0" dirty="0" err="1"/>
              <a:t>seca</a:t>
            </a:r>
            <a:r>
              <a:rPr lang="en-US" b="0" dirty="0"/>
              <a:t>, </a:t>
            </a:r>
            <a:r>
              <a:rPr lang="en-US" b="0" dirty="0" err="1"/>
              <a:t>eventos</a:t>
            </a:r>
            <a:r>
              <a:rPr lang="en-US" b="0" dirty="0"/>
              <a:t> </a:t>
            </a:r>
            <a:r>
              <a:rPr lang="en-US" b="0" dirty="0" err="1"/>
              <a:t>meteorológicos</a:t>
            </a:r>
            <a:r>
              <a:rPr lang="en-US" b="0" dirty="0"/>
              <a:t> </a:t>
            </a:r>
            <a:r>
              <a:rPr lang="en-US" b="0" dirty="0" err="1"/>
              <a:t>extremos</a:t>
            </a:r>
            <a:r>
              <a:rPr lang="en-US" b="0" dirty="0"/>
              <a:t> e </a:t>
            </a:r>
            <a:r>
              <a:rPr lang="en-US" b="0" dirty="0" err="1"/>
              <a:t>problemas</a:t>
            </a:r>
            <a:r>
              <a:rPr lang="en-US" b="0" dirty="0"/>
              <a:t> </a:t>
            </a:r>
            <a:r>
              <a:rPr lang="en-US" b="0" dirty="0" err="1"/>
              <a:t>relacionados</a:t>
            </a:r>
            <a:r>
              <a:rPr lang="en-US" b="0" dirty="0"/>
              <a:t> com </a:t>
            </a:r>
            <a:r>
              <a:rPr lang="en-US" b="0" dirty="0" err="1"/>
              <a:t>água</a:t>
            </a:r>
            <a:r>
              <a:rPr lang="en-US" b="0" dirty="0"/>
              <a:t> e </a:t>
            </a:r>
            <a:r>
              <a:rPr lang="en-US" b="0" dirty="0" err="1"/>
              <a:t>saneamento</a:t>
            </a:r>
            <a:r>
              <a:rPr lang="en-US" b="0" dirty="0"/>
              <a:t>. Estes </a:t>
            </a:r>
            <a:r>
              <a:rPr lang="en-US" b="0" dirty="0" err="1"/>
              <a:t>eventos</a:t>
            </a:r>
            <a:r>
              <a:rPr lang="en-US" b="0" dirty="0"/>
              <a:t> </a:t>
            </a:r>
            <a:r>
              <a:rPr lang="en-US" b="0" dirty="0" err="1"/>
              <a:t>podem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sua</a:t>
            </a:r>
            <a:r>
              <a:rPr lang="en-US" b="0" dirty="0"/>
              <a:t> </a:t>
            </a:r>
            <a:r>
              <a:rPr lang="en-US" b="0" dirty="0" err="1"/>
              <a:t>vez</a:t>
            </a:r>
            <a:r>
              <a:rPr lang="en-US" b="0" dirty="0"/>
              <a:t>, </a:t>
            </a:r>
            <a:r>
              <a:rPr lang="en-US" b="0" dirty="0" err="1"/>
              <a:t>criar</a:t>
            </a:r>
            <a:r>
              <a:rPr lang="en-US" b="0" dirty="0"/>
              <a:t> </a:t>
            </a:r>
            <a:r>
              <a:rPr lang="en-US" b="0" dirty="0" err="1"/>
              <a:t>condições</a:t>
            </a:r>
            <a:r>
              <a:rPr lang="en-US" b="0" dirty="0"/>
              <a:t> para o </a:t>
            </a:r>
            <a:r>
              <a:rPr lang="en-US" b="0" dirty="0" err="1"/>
              <a:t>surgimento</a:t>
            </a:r>
            <a:r>
              <a:rPr lang="en-US" b="0" dirty="0"/>
              <a:t> </a:t>
            </a:r>
            <a:r>
              <a:rPr lang="en-US" b="0" dirty="0" err="1"/>
              <a:t>ou</a:t>
            </a:r>
            <a:r>
              <a:rPr lang="en-US" b="0" dirty="0"/>
              <a:t> </a:t>
            </a:r>
            <a:r>
              <a:rPr lang="en-US" b="0" dirty="0" err="1"/>
              <a:t>agravamento</a:t>
            </a:r>
            <a:r>
              <a:rPr lang="en-US" b="0" dirty="0"/>
              <a:t> de </a:t>
            </a:r>
            <a:r>
              <a:rPr lang="en-US" b="0" dirty="0" err="1"/>
              <a:t>riscos</a:t>
            </a:r>
            <a:r>
              <a:rPr lang="en-US" b="0" dirty="0"/>
              <a:t> </a:t>
            </a:r>
            <a:r>
              <a:rPr lang="en-US" b="0" dirty="0" err="1"/>
              <a:t>epidemiológicos</a:t>
            </a:r>
            <a:r>
              <a:rPr lang="en-US" b="0" dirty="0"/>
              <a:t>, </a:t>
            </a:r>
            <a:r>
              <a:rPr lang="en-US" b="0" dirty="0" err="1"/>
              <a:t>como</a:t>
            </a:r>
            <a:r>
              <a:rPr lang="en-US" b="0" dirty="0"/>
              <a:t> </a:t>
            </a:r>
            <a:r>
              <a:rPr lang="en-US" b="0" dirty="0" err="1"/>
              <a:t>cólera</a:t>
            </a:r>
            <a:r>
              <a:rPr lang="en-US" b="0" dirty="0"/>
              <a:t> e </a:t>
            </a:r>
            <a:r>
              <a:rPr lang="en-US" b="0" dirty="0" err="1"/>
              <a:t>outras</a:t>
            </a:r>
            <a:r>
              <a:rPr lang="en-US" b="0" dirty="0"/>
              <a:t> </a:t>
            </a:r>
            <a:r>
              <a:rPr lang="en-US" b="0" dirty="0" err="1"/>
              <a:t>doenças</a:t>
            </a:r>
            <a:r>
              <a:rPr lang="en-US" b="0" dirty="0"/>
              <a:t> </a:t>
            </a:r>
            <a:r>
              <a:rPr lang="en-US" b="0" dirty="0" err="1"/>
              <a:t>diarreicas</a:t>
            </a:r>
            <a:r>
              <a:rPr lang="en-US" b="0" dirty="0"/>
              <a:t>, </a:t>
            </a:r>
            <a:r>
              <a:rPr lang="en-US" b="0" dirty="0" err="1"/>
              <a:t>malária</a:t>
            </a:r>
            <a:r>
              <a:rPr lang="en-US" b="0" dirty="0"/>
              <a:t>, </a:t>
            </a:r>
            <a:r>
              <a:rPr lang="en-US" b="0" dirty="0" err="1"/>
              <a:t>sarampo</a:t>
            </a:r>
            <a:r>
              <a:rPr lang="en-US" b="0" dirty="0"/>
              <a:t>, </a:t>
            </a:r>
            <a:r>
              <a:rPr lang="en-US" b="0" dirty="0" err="1"/>
              <a:t>poliomielite</a:t>
            </a:r>
            <a:r>
              <a:rPr lang="en-US" b="0" dirty="0"/>
              <a:t> e outros </a:t>
            </a:r>
            <a:r>
              <a:rPr lang="en-US" b="0" dirty="0" err="1"/>
              <a:t>surtos</a:t>
            </a:r>
            <a:r>
              <a:rPr lang="en-US" b="0" dirty="0"/>
              <a:t>.</a:t>
            </a:r>
          </a:p>
          <a:p>
            <a:r>
              <a:rPr lang="en-US" b="0" dirty="0" err="1"/>
              <a:t>Há</a:t>
            </a:r>
            <a:r>
              <a:rPr lang="en-US" b="0" dirty="0"/>
              <a:t> </a:t>
            </a:r>
            <a:r>
              <a:rPr lang="en-US" b="0" dirty="0" err="1"/>
              <a:t>ainda</a:t>
            </a:r>
            <a:r>
              <a:rPr lang="en-US" b="0" dirty="0"/>
              <a:t> </a:t>
            </a:r>
            <a:r>
              <a:rPr lang="en-US" b="0" dirty="0" err="1"/>
              <a:t>factores</a:t>
            </a:r>
            <a:r>
              <a:rPr lang="en-US" b="0" dirty="0"/>
              <a:t>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condicionam</a:t>
            </a:r>
            <a:r>
              <a:rPr lang="en-US" b="0" dirty="0"/>
              <a:t> </a:t>
            </a:r>
            <a:r>
              <a:rPr lang="en-US" b="0" dirty="0" err="1"/>
              <a:t>directamente</a:t>
            </a:r>
            <a:r>
              <a:rPr lang="en-US" b="0" dirty="0"/>
              <a:t> a </a:t>
            </a:r>
            <a:r>
              <a:rPr lang="en-US" b="0" dirty="0" err="1"/>
              <a:t>nossa</a:t>
            </a:r>
            <a:r>
              <a:rPr lang="en-US" b="0" dirty="0"/>
              <a:t> </a:t>
            </a:r>
            <a:r>
              <a:rPr lang="en-US" b="0" dirty="0" err="1"/>
              <a:t>capacidade</a:t>
            </a:r>
            <a:r>
              <a:rPr lang="en-US" b="0" dirty="0"/>
              <a:t> de </a:t>
            </a:r>
            <a:r>
              <a:rPr lang="en-US" b="0" dirty="0" err="1"/>
              <a:t>resposta</a:t>
            </a:r>
            <a:r>
              <a:rPr lang="en-US" b="0" dirty="0"/>
              <a:t>, </a:t>
            </a:r>
            <a:r>
              <a:rPr lang="en-US" b="0" dirty="0" err="1"/>
              <a:t>como</a:t>
            </a:r>
            <a:r>
              <a:rPr lang="en-US" b="0" dirty="0"/>
              <a:t> o </a:t>
            </a:r>
            <a:r>
              <a:rPr lang="en-US" b="0" dirty="0" err="1"/>
              <a:t>deslocamento</a:t>
            </a:r>
            <a:r>
              <a:rPr lang="en-US" b="0" dirty="0"/>
              <a:t> das </a:t>
            </a:r>
            <a:r>
              <a:rPr lang="en-US" b="0" dirty="0" err="1"/>
              <a:t>populações</a:t>
            </a:r>
            <a:r>
              <a:rPr lang="en-US" b="0" dirty="0"/>
              <a:t>, a </a:t>
            </a:r>
            <a:r>
              <a:rPr lang="en-US" b="0" dirty="0" err="1"/>
              <a:t>interrupção</a:t>
            </a:r>
            <a:r>
              <a:rPr lang="en-US" b="0" dirty="0"/>
              <a:t> dos </a:t>
            </a:r>
            <a:r>
              <a:rPr lang="en-US" b="0" dirty="0" err="1"/>
              <a:t>serviços</a:t>
            </a:r>
            <a:r>
              <a:rPr lang="en-US" b="0" dirty="0"/>
              <a:t> </a:t>
            </a:r>
            <a:r>
              <a:rPr lang="en-US" b="0" dirty="0" err="1"/>
              <a:t>essenciais</a:t>
            </a:r>
            <a:r>
              <a:rPr lang="en-US" b="0" dirty="0"/>
              <a:t>, traumas e </a:t>
            </a:r>
            <a:r>
              <a:rPr lang="en-US" b="0" dirty="0" err="1"/>
              <a:t>acidentes</a:t>
            </a:r>
            <a:r>
              <a:rPr lang="en-US" b="0" dirty="0"/>
              <a:t>, </a:t>
            </a:r>
            <a:r>
              <a:rPr lang="en-US" b="0" dirty="0" err="1"/>
              <a:t>bem</a:t>
            </a:r>
            <a:r>
              <a:rPr lang="en-US" b="0" dirty="0"/>
              <a:t> </a:t>
            </a:r>
            <a:r>
              <a:rPr lang="en-US" b="0" dirty="0" err="1"/>
              <a:t>como</a:t>
            </a:r>
            <a:r>
              <a:rPr lang="en-US" b="0" dirty="0"/>
              <a:t> </a:t>
            </a:r>
            <a:r>
              <a:rPr lang="en-US" b="0" dirty="0" err="1"/>
              <a:t>os</a:t>
            </a:r>
            <a:r>
              <a:rPr lang="en-US" b="0" dirty="0"/>
              <a:t> </a:t>
            </a:r>
            <a:r>
              <a:rPr lang="en-US" b="0" dirty="0" err="1"/>
              <a:t>riscos</a:t>
            </a:r>
            <a:r>
              <a:rPr lang="en-US" b="0" dirty="0"/>
              <a:t> </a:t>
            </a:r>
            <a:r>
              <a:rPr lang="en-US" b="0" dirty="0" err="1"/>
              <a:t>associados</a:t>
            </a:r>
            <a:r>
              <a:rPr lang="en-US" b="0" dirty="0"/>
              <a:t> </a:t>
            </a:r>
            <a:r>
              <a:rPr lang="en-US" b="0" dirty="0" err="1"/>
              <a:t>aos</a:t>
            </a:r>
            <a:r>
              <a:rPr lang="en-US" b="0" dirty="0"/>
              <a:t> Pontos de Entrada.</a:t>
            </a:r>
          </a:p>
          <a:p>
            <a:r>
              <a:rPr lang="en-US" b="0" dirty="0"/>
              <a:t>É </a:t>
            </a:r>
            <a:r>
              <a:rPr lang="en-US" b="0" dirty="0" err="1"/>
              <a:t>esta</a:t>
            </a:r>
            <a:r>
              <a:rPr lang="en-US" b="0" dirty="0"/>
              <a:t> </a:t>
            </a:r>
            <a:r>
              <a:rPr lang="en-US" b="0" dirty="0" err="1"/>
              <a:t>interligação</a:t>
            </a:r>
            <a:r>
              <a:rPr lang="en-US" b="0" dirty="0"/>
              <a:t> entre </a:t>
            </a:r>
            <a:r>
              <a:rPr lang="en-US" b="0" dirty="0" err="1"/>
              <a:t>diferentes</a:t>
            </a:r>
            <a:r>
              <a:rPr lang="en-US" b="0" dirty="0"/>
              <a:t> </a:t>
            </a:r>
            <a:r>
              <a:rPr lang="en-US" b="0" dirty="0" err="1"/>
              <a:t>ameaças</a:t>
            </a:r>
            <a:r>
              <a:rPr lang="en-US" b="0" dirty="0"/>
              <a:t>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reforça</a:t>
            </a:r>
            <a:r>
              <a:rPr lang="en-US" b="0" dirty="0"/>
              <a:t> a </a:t>
            </a:r>
            <a:r>
              <a:rPr lang="en-US" b="0" dirty="0" err="1"/>
              <a:t>necessidade</a:t>
            </a:r>
            <a:r>
              <a:rPr lang="en-US" b="0" dirty="0"/>
              <a:t> de </a:t>
            </a:r>
            <a:r>
              <a:rPr lang="en-US" b="0" dirty="0" err="1"/>
              <a:t>passarmos</a:t>
            </a:r>
            <a:r>
              <a:rPr lang="en-US" b="0" dirty="0"/>
              <a:t> de </a:t>
            </a:r>
            <a:r>
              <a:rPr lang="en-US" b="0" dirty="0" err="1"/>
              <a:t>uma</a:t>
            </a:r>
            <a:r>
              <a:rPr lang="en-US" b="0" dirty="0"/>
              <a:t> </a:t>
            </a:r>
            <a:r>
              <a:rPr lang="en-US" b="0" dirty="0" err="1"/>
              <a:t>preparação</a:t>
            </a:r>
            <a:r>
              <a:rPr lang="en-US" b="0" dirty="0"/>
              <a:t> </a:t>
            </a:r>
            <a:r>
              <a:rPr lang="en-US" b="0" dirty="0" err="1"/>
              <a:t>centrada</a:t>
            </a:r>
            <a:r>
              <a:rPr lang="en-US" b="0" dirty="0"/>
              <a:t> num </a:t>
            </a:r>
            <a:r>
              <a:rPr lang="en-US" b="0" dirty="0" err="1"/>
              <a:t>evento</a:t>
            </a:r>
            <a:r>
              <a:rPr lang="en-US" b="0" dirty="0"/>
              <a:t> </a:t>
            </a:r>
            <a:r>
              <a:rPr lang="en-US" b="0" dirty="0" err="1"/>
              <a:t>específico</a:t>
            </a:r>
            <a:r>
              <a:rPr lang="en-US" b="0" dirty="0"/>
              <a:t> para </a:t>
            </a:r>
            <a:r>
              <a:rPr lang="en-US" b="0" dirty="0" err="1"/>
              <a:t>uma</a:t>
            </a:r>
            <a:r>
              <a:rPr lang="en-US" b="0" dirty="0"/>
              <a:t> </a:t>
            </a:r>
            <a:r>
              <a:rPr lang="en-US" b="0" dirty="0" err="1"/>
              <a:t>abordagem</a:t>
            </a:r>
            <a:r>
              <a:rPr lang="en-US" b="0" dirty="0"/>
              <a:t> </a:t>
            </a:r>
            <a:r>
              <a:rPr lang="en-US" b="0" dirty="0" err="1"/>
              <a:t>multirrisco</a:t>
            </a:r>
            <a:r>
              <a:rPr lang="en-US" b="0" dirty="0"/>
              <a:t>, </a:t>
            </a:r>
            <a:r>
              <a:rPr lang="en-US" b="0" dirty="0" err="1"/>
              <a:t>capaz</a:t>
            </a:r>
            <a:r>
              <a:rPr lang="en-US" b="0" dirty="0"/>
              <a:t> de </a:t>
            </a:r>
            <a:r>
              <a:rPr lang="en-US" b="0" dirty="0" err="1"/>
              <a:t>antecipar</a:t>
            </a:r>
            <a:r>
              <a:rPr lang="en-US" b="0" dirty="0"/>
              <a:t> </a:t>
            </a:r>
            <a:r>
              <a:rPr lang="en-US" b="0" dirty="0" err="1"/>
              <a:t>diferentes</a:t>
            </a:r>
            <a:r>
              <a:rPr lang="en-US" b="0" dirty="0"/>
              <a:t> </a:t>
            </a:r>
            <a:r>
              <a:rPr lang="en-US" b="0" dirty="0" err="1"/>
              <a:t>cenários</a:t>
            </a:r>
            <a:r>
              <a:rPr lang="en-US" b="0" dirty="0"/>
              <a:t> e </a:t>
            </a:r>
            <a:r>
              <a:rPr lang="en-US" b="0" dirty="0" err="1"/>
              <a:t>assegurar</a:t>
            </a:r>
            <a:r>
              <a:rPr lang="en-US" b="0" dirty="0"/>
              <a:t> a </a:t>
            </a:r>
            <a:r>
              <a:rPr lang="en-US" b="0" dirty="0" err="1"/>
              <a:t>continuidade</a:t>
            </a:r>
            <a:r>
              <a:rPr lang="en-US" b="0" dirty="0"/>
              <a:t> da </a:t>
            </a:r>
            <a:r>
              <a:rPr lang="en-US" b="0" dirty="0" err="1"/>
              <a:t>resposta</a:t>
            </a:r>
            <a:r>
              <a:rPr lang="en-US" b="0" dirty="0"/>
              <a:t> e dos </a:t>
            </a:r>
            <a:r>
              <a:rPr lang="en-US" b="0" dirty="0" err="1"/>
              <a:t>serviços</a:t>
            </a:r>
            <a:r>
              <a:rPr lang="en-US" b="0" dirty="0"/>
              <a:t> </a:t>
            </a:r>
            <a:r>
              <a:rPr lang="en-US" b="0" dirty="0" err="1"/>
              <a:t>essenciais</a:t>
            </a:r>
            <a:r>
              <a:rPr lang="en-US" b="0" dirty="0"/>
              <a:t>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48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 </a:t>
            </a:r>
            <a:r>
              <a:rPr lang="en-US" b="0" dirty="0" err="1"/>
              <a:t>Época</a:t>
            </a:r>
            <a:r>
              <a:rPr lang="en-US" b="0" dirty="0"/>
              <a:t> </a:t>
            </a:r>
            <a:r>
              <a:rPr lang="en-US" b="0" dirty="0" err="1"/>
              <a:t>Ciclónica</a:t>
            </a:r>
            <a:r>
              <a:rPr lang="en-US" b="0" dirty="0"/>
              <a:t> e </a:t>
            </a:r>
            <a:r>
              <a:rPr lang="en-US" b="0" dirty="0" err="1"/>
              <a:t>Chuvosa</a:t>
            </a:r>
            <a:r>
              <a:rPr lang="en-US" b="0" dirty="0"/>
              <a:t> 2025/26 </a:t>
            </a:r>
            <a:r>
              <a:rPr lang="en-US" b="0" dirty="0" err="1"/>
              <a:t>permitiu-nos</a:t>
            </a:r>
            <a:r>
              <a:rPr lang="en-US" b="0" dirty="0"/>
              <a:t> </a:t>
            </a:r>
            <a:r>
              <a:rPr lang="en-US" b="0" dirty="0" err="1"/>
              <a:t>observar</a:t>
            </a:r>
            <a:r>
              <a:rPr lang="en-US" b="0" dirty="0"/>
              <a:t>, </a:t>
            </a:r>
            <a:r>
              <a:rPr lang="en-US" b="0" dirty="0" err="1"/>
              <a:t>na</a:t>
            </a:r>
            <a:r>
              <a:rPr lang="en-US" b="0" dirty="0"/>
              <a:t> </a:t>
            </a:r>
            <a:r>
              <a:rPr lang="en-US" b="0" dirty="0" err="1"/>
              <a:t>prática</a:t>
            </a:r>
            <a:r>
              <a:rPr lang="en-US" b="0" dirty="0"/>
              <a:t>, </a:t>
            </a:r>
            <a:r>
              <a:rPr lang="en-US" b="0" dirty="0" err="1"/>
              <a:t>como</a:t>
            </a:r>
            <a:r>
              <a:rPr lang="en-US" b="0" dirty="0"/>
              <a:t> </a:t>
            </a:r>
            <a:r>
              <a:rPr lang="en-US" b="0" dirty="0" err="1"/>
              <a:t>diferentes</a:t>
            </a:r>
            <a:r>
              <a:rPr lang="en-US" b="0" dirty="0"/>
              <a:t> </a:t>
            </a:r>
            <a:r>
              <a:rPr lang="en-US" b="0" dirty="0" err="1"/>
              <a:t>riscos</a:t>
            </a:r>
            <a:r>
              <a:rPr lang="en-US" b="0" dirty="0"/>
              <a:t> </a:t>
            </a:r>
            <a:r>
              <a:rPr lang="en-US" b="0" dirty="0" err="1"/>
              <a:t>podem</a:t>
            </a:r>
            <a:r>
              <a:rPr lang="en-US" b="0" dirty="0"/>
              <a:t> </a:t>
            </a:r>
            <a:r>
              <a:rPr lang="en-US" b="0" dirty="0" err="1"/>
              <a:t>convergir</a:t>
            </a:r>
            <a:r>
              <a:rPr lang="en-US" b="0" dirty="0"/>
              <a:t> e </a:t>
            </a:r>
            <a:r>
              <a:rPr lang="en-US" b="0" dirty="0" err="1"/>
              <a:t>colocar</a:t>
            </a:r>
            <a:r>
              <a:rPr lang="en-US" b="0" dirty="0"/>
              <a:t> à </a:t>
            </a:r>
            <a:r>
              <a:rPr lang="en-US" b="0" dirty="0" err="1"/>
              <a:t>prova</a:t>
            </a:r>
            <a:r>
              <a:rPr lang="en-US" b="0" dirty="0"/>
              <a:t> a </a:t>
            </a:r>
            <a:r>
              <a:rPr lang="en-US" b="0" dirty="0" err="1"/>
              <a:t>capacidade</a:t>
            </a:r>
            <a:r>
              <a:rPr lang="en-US" b="0" dirty="0"/>
              <a:t> de </a:t>
            </a:r>
            <a:r>
              <a:rPr lang="en-US" b="0" dirty="0" err="1"/>
              <a:t>resposta</a:t>
            </a:r>
            <a:r>
              <a:rPr lang="en-US" b="0" dirty="0"/>
              <a:t> do </a:t>
            </a:r>
            <a:r>
              <a:rPr lang="en-US" b="0" dirty="0" err="1"/>
              <a:t>sistema</a:t>
            </a:r>
            <a:r>
              <a:rPr lang="en-US" b="0" dirty="0"/>
              <a:t> de </a:t>
            </a:r>
            <a:r>
              <a:rPr lang="en-US" b="0" dirty="0" err="1"/>
              <a:t>saúde</a:t>
            </a:r>
            <a:r>
              <a:rPr lang="en-US" b="0" dirty="0"/>
              <a:t>.</a:t>
            </a:r>
          </a:p>
          <a:p>
            <a:r>
              <a:rPr lang="en-US" b="0" dirty="0"/>
              <a:t>O </a:t>
            </a:r>
            <a:r>
              <a:rPr lang="en-US" b="0" dirty="0" err="1"/>
              <a:t>período</a:t>
            </a:r>
            <a:r>
              <a:rPr lang="en-US" b="0" dirty="0"/>
              <a:t> </a:t>
            </a:r>
            <a:r>
              <a:rPr lang="en-US" b="0" dirty="0" err="1"/>
              <a:t>mais</a:t>
            </a:r>
            <a:r>
              <a:rPr lang="en-US" b="0" dirty="0"/>
              <a:t> </a:t>
            </a:r>
            <a:r>
              <a:rPr lang="en-US" b="0" dirty="0" err="1"/>
              <a:t>crítico</a:t>
            </a:r>
            <a:r>
              <a:rPr lang="en-US" b="0" dirty="0"/>
              <a:t> </a:t>
            </a:r>
            <a:r>
              <a:rPr lang="en-US" b="0" dirty="0" err="1"/>
              <a:t>ocorreu</a:t>
            </a:r>
            <a:r>
              <a:rPr lang="en-US" b="0" dirty="0"/>
              <a:t> entre Janeiro e </a:t>
            </a:r>
            <a:r>
              <a:rPr lang="en-US" b="0" dirty="0" err="1"/>
              <a:t>Março</a:t>
            </a:r>
            <a:r>
              <a:rPr lang="en-US" b="0" dirty="0"/>
              <a:t> de 2026, </a:t>
            </a:r>
            <a:r>
              <a:rPr lang="en-US" b="0" dirty="0" err="1"/>
              <a:t>marcado</a:t>
            </a:r>
            <a:r>
              <a:rPr lang="en-US" b="0" dirty="0"/>
              <a:t>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chuvas</a:t>
            </a:r>
            <a:r>
              <a:rPr lang="en-US" b="0" dirty="0"/>
              <a:t> </a:t>
            </a:r>
            <a:r>
              <a:rPr lang="en-US" b="0" dirty="0" err="1"/>
              <a:t>intensas</a:t>
            </a:r>
            <a:r>
              <a:rPr lang="en-US" b="0" dirty="0"/>
              <a:t>, </a:t>
            </a:r>
            <a:r>
              <a:rPr lang="en-US" b="0" dirty="0" err="1"/>
              <a:t>cheias</a:t>
            </a:r>
            <a:r>
              <a:rPr lang="en-US" b="0" dirty="0"/>
              <a:t> </a:t>
            </a:r>
            <a:r>
              <a:rPr lang="en-US" b="0" dirty="0" err="1"/>
              <a:t>localizadas</a:t>
            </a:r>
            <a:r>
              <a:rPr lang="en-US" b="0" dirty="0"/>
              <a:t> e </a:t>
            </a:r>
            <a:r>
              <a:rPr lang="en-US" b="0" dirty="0" err="1"/>
              <a:t>inundações</a:t>
            </a:r>
            <a:r>
              <a:rPr lang="en-US" b="0" dirty="0"/>
              <a:t> </a:t>
            </a:r>
            <a:r>
              <a:rPr lang="en-US" b="0" dirty="0" err="1"/>
              <a:t>urbanas</a:t>
            </a:r>
            <a:r>
              <a:rPr lang="en-US" b="0" dirty="0"/>
              <a:t>, com </a:t>
            </a:r>
            <a:r>
              <a:rPr lang="en-US" b="0" dirty="0" err="1"/>
              <a:t>maior</a:t>
            </a:r>
            <a:r>
              <a:rPr lang="en-US" b="0" dirty="0"/>
              <a:t> </a:t>
            </a:r>
            <a:r>
              <a:rPr lang="en-US" b="0" dirty="0" err="1"/>
              <a:t>impacto</a:t>
            </a:r>
            <a:r>
              <a:rPr lang="en-US" b="0" dirty="0"/>
              <a:t> </a:t>
            </a:r>
            <a:r>
              <a:rPr lang="en-US" b="0" dirty="0" err="1"/>
              <a:t>em</a:t>
            </a:r>
            <a:r>
              <a:rPr lang="en-US" b="0" dirty="0"/>
              <a:t> </a:t>
            </a:r>
            <a:r>
              <a:rPr lang="en-US" b="0" dirty="0" err="1"/>
              <a:t>quatro</a:t>
            </a:r>
            <a:r>
              <a:rPr lang="en-US" b="0" dirty="0"/>
              <a:t> </a:t>
            </a:r>
            <a:r>
              <a:rPr lang="en-US" b="0" dirty="0" err="1"/>
              <a:t>distritos</a:t>
            </a:r>
            <a:r>
              <a:rPr lang="en-US" b="0" dirty="0"/>
              <a:t> da </a:t>
            </a:r>
            <a:r>
              <a:rPr lang="en-US" b="0" dirty="0" err="1"/>
              <a:t>Cidade</a:t>
            </a:r>
            <a:r>
              <a:rPr lang="en-US" b="0" dirty="0"/>
              <a:t>.</a:t>
            </a:r>
          </a:p>
          <a:p>
            <a:r>
              <a:rPr lang="en-US" b="0" dirty="0"/>
              <a:t>O </a:t>
            </a:r>
            <a:r>
              <a:rPr lang="en-US" b="0" dirty="0" err="1"/>
              <a:t>impacto</a:t>
            </a:r>
            <a:r>
              <a:rPr lang="en-US" b="0" dirty="0"/>
              <a:t> </a:t>
            </a:r>
            <a:r>
              <a:rPr lang="en-US" b="0" dirty="0" err="1"/>
              <a:t>ultrapassou</a:t>
            </a:r>
            <a:r>
              <a:rPr lang="en-US" b="0" dirty="0"/>
              <a:t> a </a:t>
            </a:r>
            <a:r>
              <a:rPr lang="en-US" b="0" dirty="0" err="1"/>
              <a:t>componente</a:t>
            </a:r>
            <a:r>
              <a:rPr lang="en-US" b="0" dirty="0"/>
              <a:t> </a:t>
            </a:r>
            <a:r>
              <a:rPr lang="en-US" b="0" dirty="0" err="1"/>
              <a:t>ambiental</a:t>
            </a:r>
            <a:r>
              <a:rPr lang="en-US" b="0" dirty="0"/>
              <a:t>. Mais de 62 mil </a:t>
            </a:r>
            <a:r>
              <a:rPr lang="en-US" b="0" dirty="0" err="1"/>
              <a:t>pessoas</a:t>
            </a:r>
            <a:r>
              <a:rPr lang="en-US" b="0" dirty="0"/>
              <a:t>, </a:t>
            </a:r>
            <a:r>
              <a:rPr lang="en-US" b="0" dirty="0" err="1"/>
              <a:t>correspondentes</a:t>
            </a:r>
            <a:r>
              <a:rPr lang="en-US" b="0" dirty="0"/>
              <a:t> a </a:t>
            </a:r>
            <a:r>
              <a:rPr lang="en-US" b="0" dirty="0" err="1"/>
              <a:t>mais</a:t>
            </a:r>
            <a:r>
              <a:rPr lang="en-US" b="0" dirty="0"/>
              <a:t> de 12 mil </a:t>
            </a:r>
            <a:r>
              <a:rPr lang="en-US" b="0" dirty="0" err="1"/>
              <a:t>famílias</a:t>
            </a:r>
            <a:r>
              <a:rPr lang="en-US" b="0" dirty="0"/>
              <a:t>, </a:t>
            </a:r>
            <a:r>
              <a:rPr lang="en-US" b="0" dirty="0" err="1"/>
              <a:t>foram</a:t>
            </a:r>
            <a:r>
              <a:rPr lang="en-US" b="0" dirty="0"/>
              <a:t> </a:t>
            </a:r>
            <a:r>
              <a:rPr lang="en-US" b="0" dirty="0" err="1"/>
              <a:t>afectadas</a:t>
            </a:r>
            <a:r>
              <a:rPr lang="en-US" b="0" dirty="0"/>
              <a:t>, tendo </a:t>
            </a:r>
            <a:r>
              <a:rPr lang="en-US" b="0" dirty="0" err="1"/>
              <a:t>sido</a:t>
            </a:r>
            <a:r>
              <a:rPr lang="en-US" b="0" dirty="0"/>
              <a:t> </a:t>
            </a:r>
            <a:r>
              <a:rPr lang="en-US" b="0" dirty="0" err="1"/>
              <a:t>necessária</a:t>
            </a:r>
            <a:r>
              <a:rPr lang="en-US" b="0" dirty="0"/>
              <a:t> a </a:t>
            </a:r>
            <a:r>
              <a:rPr lang="en-US" b="0" dirty="0" err="1"/>
              <a:t>activação</a:t>
            </a:r>
            <a:r>
              <a:rPr lang="en-US" b="0" dirty="0"/>
              <a:t> de 31 Centros de </a:t>
            </a:r>
            <a:r>
              <a:rPr lang="en-US" b="0" dirty="0" err="1"/>
              <a:t>Acomodação</a:t>
            </a:r>
            <a:r>
              <a:rPr lang="en-US" b="0" dirty="0"/>
              <a:t>,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acolheram</a:t>
            </a:r>
            <a:r>
              <a:rPr lang="en-US" b="0" dirty="0"/>
              <a:t> </a:t>
            </a:r>
            <a:r>
              <a:rPr lang="en-US" b="0" dirty="0" err="1"/>
              <a:t>cerca</a:t>
            </a:r>
            <a:r>
              <a:rPr lang="en-US" b="0" dirty="0"/>
              <a:t> de </a:t>
            </a:r>
            <a:r>
              <a:rPr lang="en-US" b="0" dirty="0" err="1"/>
              <a:t>quatro</a:t>
            </a:r>
            <a:r>
              <a:rPr lang="en-US" b="0" dirty="0"/>
              <a:t> mil </a:t>
            </a:r>
            <a:r>
              <a:rPr lang="en-US" b="0" dirty="0" err="1"/>
              <a:t>pessoas</a:t>
            </a:r>
            <a:r>
              <a:rPr lang="en-US" b="0" dirty="0"/>
              <a:t>.</a:t>
            </a:r>
          </a:p>
          <a:p>
            <a:r>
              <a:rPr lang="en-US" b="0" dirty="0"/>
              <a:t>Esta </a:t>
            </a:r>
            <a:r>
              <a:rPr lang="en-US" b="0" dirty="0" err="1"/>
              <a:t>situação</a:t>
            </a:r>
            <a:r>
              <a:rPr lang="en-US" b="0" dirty="0"/>
              <a:t> </a:t>
            </a:r>
            <a:r>
              <a:rPr lang="en-US" b="0" dirty="0" err="1"/>
              <a:t>traduziu</a:t>
            </a:r>
            <a:r>
              <a:rPr lang="en-US" b="0" dirty="0"/>
              <a:t>-se </a:t>
            </a:r>
            <a:r>
              <a:rPr lang="en-US" b="0" dirty="0" err="1"/>
              <a:t>rapidamente</a:t>
            </a:r>
            <a:r>
              <a:rPr lang="en-US" b="0" dirty="0"/>
              <a:t> </a:t>
            </a:r>
            <a:r>
              <a:rPr lang="en-US" b="0" dirty="0" err="1"/>
              <a:t>em</a:t>
            </a:r>
            <a:r>
              <a:rPr lang="en-US" b="0" dirty="0"/>
              <a:t> </a:t>
            </a:r>
            <a:r>
              <a:rPr lang="en-US" b="0" dirty="0" err="1"/>
              <a:t>riscos</a:t>
            </a:r>
            <a:r>
              <a:rPr lang="en-US" b="0" dirty="0"/>
              <a:t> </a:t>
            </a:r>
            <a:r>
              <a:rPr lang="en-US" b="0" dirty="0" err="1"/>
              <a:t>concretos</a:t>
            </a:r>
            <a:r>
              <a:rPr lang="en-US" b="0" dirty="0"/>
              <a:t> para a </a:t>
            </a:r>
            <a:r>
              <a:rPr lang="en-US" b="0" dirty="0" err="1"/>
              <a:t>saúde</a:t>
            </a:r>
            <a:r>
              <a:rPr lang="en-US" b="0" dirty="0"/>
              <a:t> </a:t>
            </a:r>
            <a:r>
              <a:rPr lang="en-US" b="0" dirty="0" err="1"/>
              <a:t>pública</a:t>
            </a:r>
            <a:r>
              <a:rPr lang="en-US" b="0" dirty="0"/>
              <a:t>. O </a:t>
            </a:r>
            <a:r>
              <a:rPr lang="en-US" b="0" dirty="0" err="1"/>
              <a:t>deslocamento</a:t>
            </a:r>
            <a:r>
              <a:rPr lang="en-US" b="0" dirty="0"/>
              <a:t> das </a:t>
            </a:r>
            <a:r>
              <a:rPr lang="en-US" b="0" dirty="0" err="1"/>
              <a:t>famílias</a:t>
            </a:r>
            <a:r>
              <a:rPr lang="en-US" b="0" dirty="0"/>
              <a:t> e as </a:t>
            </a:r>
            <a:r>
              <a:rPr lang="en-US" b="0" dirty="0" err="1"/>
              <a:t>limitações</a:t>
            </a:r>
            <a:r>
              <a:rPr lang="en-US" b="0" dirty="0"/>
              <a:t> no </a:t>
            </a:r>
            <a:r>
              <a:rPr lang="en-US" b="0" dirty="0" err="1"/>
              <a:t>acesso</a:t>
            </a:r>
            <a:r>
              <a:rPr lang="en-US" b="0" dirty="0"/>
              <a:t> à </a:t>
            </a:r>
            <a:r>
              <a:rPr lang="en-US" b="0" dirty="0" err="1"/>
              <a:t>água</a:t>
            </a:r>
            <a:r>
              <a:rPr lang="en-US" b="0" dirty="0"/>
              <a:t> </a:t>
            </a:r>
            <a:r>
              <a:rPr lang="en-US" b="0" dirty="0" err="1"/>
              <a:t>segura</a:t>
            </a:r>
            <a:r>
              <a:rPr lang="en-US" b="0" dirty="0"/>
              <a:t> e </a:t>
            </a:r>
            <a:r>
              <a:rPr lang="en-US" b="0" dirty="0" err="1"/>
              <a:t>ao</a:t>
            </a:r>
            <a:r>
              <a:rPr lang="en-US" b="0" dirty="0"/>
              <a:t> </a:t>
            </a:r>
            <a:r>
              <a:rPr lang="en-US" b="0" dirty="0" err="1"/>
              <a:t>saneamento</a:t>
            </a:r>
            <a:r>
              <a:rPr lang="en-US" b="0" dirty="0"/>
              <a:t> </a:t>
            </a:r>
            <a:r>
              <a:rPr lang="en-US" b="0" dirty="0" err="1"/>
              <a:t>aumentaram</a:t>
            </a:r>
            <a:r>
              <a:rPr lang="en-US" b="0" dirty="0"/>
              <a:t> a </a:t>
            </a:r>
            <a:r>
              <a:rPr lang="en-US" b="0" dirty="0" err="1"/>
              <a:t>vulnerabilidade</a:t>
            </a:r>
            <a:r>
              <a:rPr lang="en-US" b="0" dirty="0"/>
              <a:t> para </a:t>
            </a:r>
            <a:r>
              <a:rPr lang="en-US" b="0" dirty="0" err="1"/>
              <a:t>doenças</a:t>
            </a:r>
            <a:r>
              <a:rPr lang="en-US" b="0" dirty="0"/>
              <a:t> </a:t>
            </a:r>
            <a:r>
              <a:rPr lang="en-US" b="0" dirty="0" err="1"/>
              <a:t>diarreicas</a:t>
            </a:r>
            <a:r>
              <a:rPr lang="en-US" b="0" dirty="0"/>
              <a:t>, </a:t>
            </a:r>
            <a:r>
              <a:rPr lang="en-US" b="0" dirty="0" err="1"/>
              <a:t>enquanto</a:t>
            </a:r>
            <a:r>
              <a:rPr lang="en-US" b="0" dirty="0"/>
              <a:t> se </a:t>
            </a:r>
            <a:r>
              <a:rPr lang="en-US" b="0" dirty="0" err="1"/>
              <a:t>manteve</a:t>
            </a:r>
            <a:r>
              <a:rPr lang="en-US" b="0" dirty="0"/>
              <a:t> a </a:t>
            </a:r>
            <a:r>
              <a:rPr lang="en-US" b="0" dirty="0" err="1"/>
              <a:t>ocorrência</a:t>
            </a:r>
            <a:r>
              <a:rPr lang="en-US" b="0" dirty="0"/>
              <a:t> de </a:t>
            </a:r>
            <a:r>
              <a:rPr lang="en-US" b="0" dirty="0" err="1"/>
              <a:t>malária</a:t>
            </a:r>
            <a:r>
              <a:rPr lang="en-US" b="0" dirty="0"/>
              <a:t> e </a:t>
            </a:r>
            <a:r>
              <a:rPr lang="en-US" b="0" dirty="0" err="1"/>
              <a:t>síndromes</a:t>
            </a:r>
            <a:r>
              <a:rPr lang="en-US" b="0" dirty="0"/>
              <a:t> </a:t>
            </a:r>
            <a:r>
              <a:rPr lang="en-US" b="0" dirty="0" err="1"/>
              <a:t>respiratórias</a:t>
            </a:r>
            <a:r>
              <a:rPr lang="en-US" b="0" dirty="0"/>
              <a:t>. </a:t>
            </a:r>
            <a:r>
              <a:rPr lang="en-US" b="0" dirty="0" err="1"/>
              <a:t>Foram</a:t>
            </a:r>
            <a:r>
              <a:rPr lang="en-US" b="0" dirty="0"/>
              <a:t> </a:t>
            </a:r>
            <a:r>
              <a:rPr lang="en-US" b="0" dirty="0" err="1"/>
              <a:t>igualmente</a:t>
            </a:r>
            <a:r>
              <a:rPr lang="en-US" b="0" dirty="0"/>
              <a:t> </a:t>
            </a:r>
            <a:r>
              <a:rPr lang="en-US" b="0" dirty="0" err="1"/>
              <a:t>registados</a:t>
            </a:r>
            <a:r>
              <a:rPr lang="en-US" b="0" dirty="0"/>
              <a:t> traumas e </a:t>
            </a:r>
            <a:r>
              <a:rPr lang="en-US" b="0" dirty="0" err="1"/>
              <a:t>acidentes</a:t>
            </a:r>
            <a:r>
              <a:rPr lang="en-US" b="0" dirty="0"/>
              <a:t> </a:t>
            </a:r>
            <a:r>
              <a:rPr lang="en-US" b="0" dirty="0" err="1"/>
              <a:t>associados</a:t>
            </a:r>
            <a:r>
              <a:rPr lang="en-US" b="0" dirty="0"/>
              <a:t> </a:t>
            </a:r>
            <a:r>
              <a:rPr lang="en-US" b="0" dirty="0" err="1"/>
              <a:t>às</a:t>
            </a:r>
            <a:r>
              <a:rPr lang="en-US" b="0" dirty="0"/>
              <a:t> </a:t>
            </a:r>
            <a:r>
              <a:rPr lang="en-US" b="0" dirty="0" err="1"/>
              <a:t>cheias</a:t>
            </a:r>
            <a:r>
              <a:rPr lang="en-US" b="0" dirty="0"/>
              <a:t>, </a:t>
            </a:r>
            <a:r>
              <a:rPr lang="en-US" b="0" dirty="0" err="1"/>
              <a:t>incluindo</a:t>
            </a:r>
            <a:r>
              <a:rPr lang="en-US" b="0" dirty="0"/>
              <a:t> </a:t>
            </a:r>
            <a:r>
              <a:rPr lang="en-US" b="0" dirty="0" err="1"/>
              <a:t>óbitos</a:t>
            </a:r>
            <a:r>
              <a:rPr lang="en-US" b="0" dirty="0"/>
              <a:t>.</a:t>
            </a:r>
          </a:p>
          <a:p>
            <a:r>
              <a:rPr lang="en-US" b="0" dirty="0" err="1"/>
              <a:t>Portanto</a:t>
            </a:r>
            <a:r>
              <a:rPr lang="en-US" b="0" dirty="0"/>
              <a:t>, </a:t>
            </a:r>
            <a:r>
              <a:rPr lang="en-US" b="0" dirty="0" err="1"/>
              <a:t>mais</a:t>
            </a:r>
            <a:r>
              <a:rPr lang="en-US" b="0" dirty="0"/>
              <a:t> do </a:t>
            </a:r>
            <a:r>
              <a:rPr lang="en-US" b="0" dirty="0" err="1"/>
              <a:t>que</a:t>
            </a:r>
            <a:r>
              <a:rPr lang="en-US" b="0" dirty="0"/>
              <a:t> um </a:t>
            </a:r>
            <a:r>
              <a:rPr lang="en-US" b="0" dirty="0" err="1"/>
              <a:t>evento</a:t>
            </a:r>
            <a:r>
              <a:rPr lang="en-US" b="0" dirty="0"/>
              <a:t> </a:t>
            </a:r>
            <a:r>
              <a:rPr lang="en-US" b="0" dirty="0" err="1"/>
              <a:t>climático</a:t>
            </a:r>
            <a:r>
              <a:rPr lang="en-US" b="0" dirty="0"/>
              <a:t>, </a:t>
            </a:r>
            <a:r>
              <a:rPr lang="en-US" b="0" dirty="0" err="1"/>
              <a:t>tivemos</a:t>
            </a:r>
            <a:r>
              <a:rPr lang="en-US" b="0" dirty="0"/>
              <a:t> </a:t>
            </a:r>
            <a:r>
              <a:rPr lang="en-US" b="0" dirty="0" err="1"/>
              <a:t>uma</a:t>
            </a:r>
            <a:r>
              <a:rPr lang="en-US" b="0" dirty="0"/>
              <a:t> </a:t>
            </a:r>
            <a:r>
              <a:rPr lang="en-US" b="0" dirty="0" err="1"/>
              <a:t>emergência</a:t>
            </a:r>
            <a:r>
              <a:rPr lang="en-US" b="0" dirty="0"/>
              <a:t> </a:t>
            </a:r>
            <a:r>
              <a:rPr lang="en-US" b="0" dirty="0" err="1"/>
              <a:t>complexa</a:t>
            </a:r>
            <a:r>
              <a:rPr lang="en-US" b="0" dirty="0"/>
              <a:t> de </a:t>
            </a:r>
            <a:r>
              <a:rPr lang="en-US" b="0" dirty="0" err="1"/>
              <a:t>saúde</a:t>
            </a:r>
            <a:r>
              <a:rPr lang="en-US" b="0" dirty="0"/>
              <a:t> </a:t>
            </a:r>
            <a:r>
              <a:rPr lang="en-US" b="0" dirty="0" err="1"/>
              <a:t>pública</a:t>
            </a:r>
            <a:r>
              <a:rPr lang="en-US" b="0" dirty="0"/>
              <a:t>,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exigiu</a:t>
            </a:r>
            <a:r>
              <a:rPr lang="en-US" b="0" dirty="0"/>
              <a:t> </a:t>
            </a:r>
            <a:r>
              <a:rPr lang="en-US" b="0" dirty="0" err="1"/>
              <a:t>simultaneamente</a:t>
            </a:r>
            <a:r>
              <a:rPr lang="en-US" b="0" dirty="0"/>
              <a:t> </a:t>
            </a:r>
            <a:r>
              <a:rPr lang="en-US" b="0" dirty="0" err="1"/>
              <a:t>vigilância</a:t>
            </a:r>
            <a:r>
              <a:rPr lang="en-US" b="0" dirty="0"/>
              <a:t> </a:t>
            </a:r>
            <a:r>
              <a:rPr lang="en-US" b="0" dirty="0" err="1"/>
              <a:t>epidemiológica</a:t>
            </a:r>
            <a:r>
              <a:rPr lang="en-US" b="0" dirty="0"/>
              <a:t>, </a:t>
            </a:r>
            <a:r>
              <a:rPr lang="en-US" b="0" dirty="0" err="1"/>
              <a:t>assistência</a:t>
            </a:r>
            <a:r>
              <a:rPr lang="en-US" b="0" dirty="0"/>
              <a:t> </a:t>
            </a:r>
            <a:r>
              <a:rPr lang="en-US" b="0" dirty="0" err="1"/>
              <a:t>clínica</a:t>
            </a:r>
            <a:r>
              <a:rPr lang="en-US" b="0" dirty="0"/>
              <a:t>, WASH, </a:t>
            </a:r>
            <a:r>
              <a:rPr lang="en-US" b="0" dirty="0" err="1"/>
              <a:t>comunicação</a:t>
            </a:r>
            <a:r>
              <a:rPr lang="en-US" b="0" dirty="0"/>
              <a:t> de </a:t>
            </a:r>
            <a:r>
              <a:rPr lang="en-US" b="0" dirty="0" err="1"/>
              <a:t>risco</a:t>
            </a:r>
            <a:r>
              <a:rPr lang="en-US" b="0" dirty="0"/>
              <a:t>, </a:t>
            </a:r>
            <a:r>
              <a:rPr lang="en-US" b="0" dirty="0" err="1"/>
              <a:t>logística</a:t>
            </a:r>
            <a:r>
              <a:rPr lang="en-US" b="0" dirty="0"/>
              <a:t>, </a:t>
            </a:r>
            <a:r>
              <a:rPr lang="en-US" b="0" dirty="0" err="1"/>
              <a:t>coordenação</a:t>
            </a:r>
            <a:r>
              <a:rPr lang="en-US" b="0" dirty="0"/>
              <a:t> </a:t>
            </a:r>
            <a:r>
              <a:rPr lang="en-US" b="0" dirty="0" err="1"/>
              <a:t>multissectorial</a:t>
            </a:r>
            <a:r>
              <a:rPr lang="en-US" b="0" dirty="0"/>
              <a:t> e </a:t>
            </a:r>
            <a:r>
              <a:rPr lang="en-US" b="0" dirty="0" err="1"/>
              <a:t>manutenção</a:t>
            </a:r>
            <a:r>
              <a:rPr lang="en-US" b="0" dirty="0"/>
              <a:t> dos </a:t>
            </a:r>
            <a:r>
              <a:rPr lang="en-US" b="0" dirty="0" err="1"/>
              <a:t>serviços</a:t>
            </a:r>
            <a:r>
              <a:rPr lang="en-US" b="0" dirty="0"/>
              <a:t> </a:t>
            </a:r>
            <a:r>
              <a:rPr lang="en-US" b="0" dirty="0" err="1"/>
              <a:t>essenciais</a:t>
            </a:r>
            <a:r>
              <a:rPr lang="en-US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88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Perante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cenário</a:t>
            </a:r>
            <a:r>
              <a:rPr lang="en-US" dirty="0"/>
              <a:t>,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integrada</a:t>
            </a:r>
            <a:r>
              <a:rPr lang="en-US" dirty="0"/>
              <a:t> e </a:t>
            </a:r>
            <a:r>
              <a:rPr lang="en-US" dirty="0" err="1"/>
              <a:t>organizada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pilares</a:t>
            </a:r>
            <a:r>
              <a:rPr lang="en-US" dirty="0"/>
              <a:t>.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62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 </a:t>
            </a:r>
            <a:r>
              <a:rPr lang="en-US" b="1" dirty="0" err="1"/>
              <a:t>lições</a:t>
            </a:r>
            <a:r>
              <a:rPr lang="en-US" b="1" dirty="0"/>
              <a:t> </a:t>
            </a:r>
            <a:r>
              <a:rPr lang="en-US" b="1" dirty="0" err="1"/>
              <a:t>retiradas</a:t>
            </a:r>
            <a:r>
              <a:rPr lang="en-US" b="1" dirty="0"/>
              <a:t> das </a:t>
            </a:r>
            <a:r>
              <a:rPr lang="en-US" b="1" dirty="0" err="1"/>
              <a:t>emergências</a:t>
            </a:r>
            <a:r>
              <a:rPr lang="en-US" b="1" dirty="0"/>
              <a:t> </a:t>
            </a:r>
            <a:r>
              <a:rPr lang="en-US" b="1" dirty="0" err="1"/>
              <a:t>recentes</a:t>
            </a:r>
            <a:r>
              <a:rPr lang="en-US" b="1" dirty="0"/>
              <a:t> </a:t>
            </a:r>
            <a:r>
              <a:rPr lang="en-US" b="1" dirty="0" err="1"/>
              <a:t>mostram-nos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responder </a:t>
            </a:r>
            <a:r>
              <a:rPr lang="en-US" b="1" dirty="0" err="1"/>
              <a:t>bem</a:t>
            </a:r>
            <a:r>
              <a:rPr lang="en-US" b="1" dirty="0"/>
              <a:t> </a:t>
            </a:r>
            <a:r>
              <a:rPr lang="en-US" b="1" dirty="0" err="1"/>
              <a:t>não</a:t>
            </a:r>
            <a:r>
              <a:rPr lang="en-US" b="1" dirty="0"/>
              <a:t> é </a:t>
            </a:r>
            <a:r>
              <a:rPr lang="en-US" b="1" dirty="0" err="1"/>
              <a:t>suficiente</a:t>
            </a:r>
            <a:r>
              <a:rPr lang="en-US" b="1" dirty="0"/>
              <a:t>. </a:t>
            </a:r>
            <a:r>
              <a:rPr lang="en-US" b="1" dirty="0" err="1"/>
              <a:t>Precisamos</a:t>
            </a:r>
            <a:r>
              <a:rPr lang="en-US" b="1" dirty="0"/>
              <a:t>, </a:t>
            </a:r>
            <a:r>
              <a:rPr lang="en-US" b="1" dirty="0" err="1"/>
              <a:t>sobretudo</a:t>
            </a:r>
            <a:r>
              <a:rPr lang="en-US" b="1" dirty="0"/>
              <a:t>, de </a:t>
            </a:r>
            <a:r>
              <a:rPr lang="en-US" b="1" dirty="0" err="1"/>
              <a:t>estar</a:t>
            </a:r>
            <a:r>
              <a:rPr lang="en-US" b="1" dirty="0"/>
              <a:t> </a:t>
            </a:r>
            <a:r>
              <a:rPr lang="en-US" b="1" dirty="0" err="1"/>
              <a:t>preparados</a:t>
            </a:r>
            <a:r>
              <a:rPr lang="en-US" b="1" dirty="0"/>
              <a:t> antes </a:t>
            </a:r>
            <a:r>
              <a:rPr lang="en-US" b="1" dirty="0" err="1"/>
              <a:t>que</a:t>
            </a:r>
            <a:r>
              <a:rPr lang="en-US" b="1" dirty="0"/>
              <a:t> a </a:t>
            </a:r>
            <a:r>
              <a:rPr lang="en-US" b="1" dirty="0" err="1"/>
              <a:t>emergência</a:t>
            </a:r>
            <a:r>
              <a:rPr lang="en-US" b="1" dirty="0"/>
              <a:t> </a:t>
            </a:r>
            <a:r>
              <a:rPr lang="en-US" b="1" dirty="0" err="1"/>
              <a:t>aconteça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Tradicionalmente</a:t>
            </a:r>
            <a:r>
              <a:rPr lang="en-US" dirty="0"/>
              <a:t>, a </a:t>
            </a:r>
            <a:r>
              <a:rPr lang="en-US" dirty="0" err="1"/>
              <a:t>resposta</a:t>
            </a:r>
            <a:r>
              <a:rPr lang="en-US" dirty="0"/>
              <a:t> era </a:t>
            </a:r>
            <a:r>
              <a:rPr lang="en-US" dirty="0" err="1"/>
              <a:t>predominantemente</a:t>
            </a:r>
            <a:r>
              <a:rPr lang="en-US" dirty="0"/>
              <a:t> </a:t>
            </a:r>
            <a:r>
              <a:rPr lang="en-US" b="1" dirty="0" err="1"/>
              <a:t>reactiva</a:t>
            </a:r>
            <a:r>
              <a:rPr lang="en-US" dirty="0"/>
              <a:t>: </a:t>
            </a:r>
            <a:r>
              <a:rPr lang="en-US" dirty="0" err="1"/>
              <a:t>ocorria</a:t>
            </a:r>
            <a:r>
              <a:rPr lang="en-US" dirty="0"/>
              <a:t> um </a:t>
            </a:r>
            <a:r>
              <a:rPr lang="en-US" dirty="0" err="1"/>
              <a:t>evento</a:t>
            </a:r>
            <a:r>
              <a:rPr lang="en-US" dirty="0"/>
              <a:t>, </a:t>
            </a:r>
            <a:r>
              <a:rPr lang="en-US" dirty="0" err="1"/>
              <a:t>mobilizavam</a:t>
            </a:r>
            <a:r>
              <a:rPr lang="en-US" dirty="0"/>
              <a:t>-se </a:t>
            </a:r>
            <a:r>
              <a:rPr lang="en-US" dirty="0" err="1"/>
              <a:t>equipas</a:t>
            </a:r>
            <a:r>
              <a:rPr lang="en-US" dirty="0"/>
              <a:t> e </a:t>
            </a:r>
            <a:r>
              <a:rPr lang="en-US" dirty="0" err="1"/>
              <a:t>recursos</a:t>
            </a:r>
            <a:r>
              <a:rPr lang="en-US" dirty="0"/>
              <a:t> e </a:t>
            </a:r>
            <a:r>
              <a:rPr lang="en-US" dirty="0" err="1"/>
              <a:t>concentravam</a:t>
            </a:r>
            <a:r>
              <a:rPr lang="en-US" dirty="0"/>
              <a:t>-se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esforços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àquela</a:t>
            </a:r>
            <a:r>
              <a:rPr lang="en-US" dirty="0"/>
              <a:t> </a:t>
            </a:r>
            <a:r>
              <a:rPr lang="en-US" dirty="0" err="1"/>
              <a:t>emergência</a:t>
            </a:r>
            <a:r>
              <a:rPr lang="en-US" dirty="0"/>
              <a:t> </a:t>
            </a:r>
            <a:r>
              <a:rPr lang="en-US" dirty="0" err="1"/>
              <a:t>específica</a:t>
            </a:r>
            <a:r>
              <a:rPr lang="en-US" dirty="0"/>
              <a:t>. Esta </a:t>
            </a:r>
            <a:r>
              <a:rPr lang="en-US" dirty="0" err="1"/>
              <a:t>abordagem</a:t>
            </a:r>
            <a:r>
              <a:rPr lang="en-US" dirty="0"/>
              <a:t>, </a:t>
            </a:r>
            <a:r>
              <a:rPr lang="en-US" dirty="0" err="1"/>
              <a:t>muitas</a:t>
            </a:r>
            <a:r>
              <a:rPr lang="en-US" dirty="0"/>
              <a:t> </a:t>
            </a:r>
            <a:r>
              <a:rPr lang="en-US" dirty="0" err="1"/>
              <a:t>vezes</a:t>
            </a:r>
            <a:r>
              <a:rPr lang="en-US" dirty="0"/>
              <a:t> </a:t>
            </a:r>
            <a:r>
              <a:rPr lang="en-US" dirty="0" err="1"/>
              <a:t>centrada</a:t>
            </a:r>
            <a:r>
              <a:rPr lang="en-US" dirty="0"/>
              <a:t> num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evento</a:t>
            </a:r>
            <a:r>
              <a:rPr lang="en-US" dirty="0"/>
              <a:t> e com </a:t>
            </a:r>
            <a:r>
              <a:rPr lang="en-US" dirty="0" err="1"/>
              <a:t>responsabilidades</a:t>
            </a:r>
            <a:r>
              <a:rPr lang="en-US" dirty="0"/>
              <a:t> </a:t>
            </a:r>
            <a:r>
              <a:rPr lang="en-US" dirty="0" err="1"/>
              <a:t>fragmentadas</a:t>
            </a:r>
            <a:r>
              <a:rPr lang="en-US" dirty="0"/>
              <a:t>, </a:t>
            </a:r>
            <a:r>
              <a:rPr lang="en-US" dirty="0" err="1"/>
              <a:t>limitava</a:t>
            </a:r>
            <a:r>
              <a:rPr lang="en-US" dirty="0"/>
              <a:t> a </a:t>
            </a:r>
            <a:r>
              <a:rPr lang="en-US" dirty="0" err="1"/>
              <a:t>capacidade</a:t>
            </a:r>
            <a:r>
              <a:rPr lang="en-US" dirty="0"/>
              <a:t> de </a:t>
            </a:r>
            <a:r>
              <a:rPr lang="en-US" dirty="0" err="1"/>
              <a:t>antecipação</a:t>
            </a:r>
            <a:r>
              <a:rPr lang="en-US" dirty="0"/>
              <a:t>.</a:t>
            </a:r>
          </a:p>
          <a:p>
            <a:r>
              <a:rPr lang="en-US" b="1" dirty="0"/>
              <a:t>O </a:t>
            </a:r>
            <a:r>
              <a:rPr lang="en-US" b="1" dirty="0" err="1"/>
              <a:t>que</a:t>
            </a:r>
            <a:r>
              <a:rPr lang="en-US" b="1" dirty="0"/>
              <a:t> se </a:t>
            </a:r>
            <a:r>
              <a:rPr lang="en-US" b="1" dirty="0" err="1"/>
              <a:t>pretende</a:t>
            </a:r>
            <a:r>
              <a:rPr lang="en-US" b="1" dirty="0"/>
              <a:t> </a:t>
            </a:r>
            <a:r>
              <a:rPr lang="en-US" b="1" dirty="0" err="1"/>
              <a:t>actualmente</a:t>
            </a:r>
            <a:r>
              <a:rPr lang="en-US" b="1" dirty="0"/>
              <a:t> é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mudança</a:t>
            </a:r>
            <a:r>
              <a:rPr lang="en-US" b="1" dirty="0"/>
              <a:t> para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abordagem</a:t>
            </a:r>
            <a:r>
              <a:rPr lang="en-US" b="1" dirty="0"/>
              <a:t> </a:t>
            </a:r>
            <a:r>
              <a:rPr lang="en-US" b="1" dirty="0" err="1"/>
              <a:t>multirrisco</a:t>
            </a:r>
            <a:r>
              <a:rPr lang="en-US" dirty="0"/>
              <a:t>, </a:t>
            </a:r>
            <a:r>
              <a:rPr lang="en-US" dirty="0" err="1"/>
              <a:t>assente</a:t>
            </a:r>
            <a:r>
              <a:rPr lang="en-US" dirty="0"/>
              <a:t> </a:t>
            </a:r>
            <a:r>
              <a:rPr lang="en-US" dirty="0" err="1"/>
              <a:t>numa</a:t>
            </a:r>
            <a:r>
              <a:rPr lang="en-US" dirty="0"/>
              <a:t>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dirty="0" err="1"/>
              <a:t>contínua</a:t>
            </a:r>
            <a:r>
              <a:rPr lang="en-US" dirty="0"/>
              <a:t> das </a:t>
            </a:r>
            <a:r>
              <a:rPr lang="en-US" dirty="0" err="1"/>
              <a:t>ameaças</a:t>
            </a:r>
            <a:r>
              <a:rPr lang="en-US" dirty="0"/>
              <a:t> e </a:t>
            </a:r>
            <a:r>
              <a:rPr lang="en-US" dirty="0" err="1"/>
              <a:t>vulnerabilidades</a:t>
            </a:r>
            <a:r>
              <a:rPr lang="en-US" dirty="0"/>
              <a:t>.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riscos</a:t>
            </a:r>
            <a:r>
              <a:rPr lang="en-US" dirty="0"/>
              <a:t> </a:t>
            </a:r>
            <a:r>
              <a:rPr lang="en-US" dirty="0" err="1"/>
              <a:t>antecipadamente</a:t>
            </a:r>
            <a:r>
              <a:rPr lang="en-US" dirty="0"/>
              <a:t>, </a:t>
            </a:r>
            <a:r>
              <a:rPr lang="en-US" dirty="0" err="1"/>
              <a:t>investir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prevenção</a:t>
            </a:r>
            <a:r>
              <a:rPr lang="en-US" dirty="0"/>
              <a:t>, </a:t>
            </a:r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err="1"/>
              <a:t>planos</a:t>
            </a:r>
            <a:r>
              <a:rPr lang="en-US" dirty="0"/>
              <a:t>, </a:t>
            </a:r>
            <a:r>
              <a:rPr lang="en-US" dirty="0" err="1"/>
              <a:t>recursos</a:t>
            </a:r>
            <a:r>
              <a:rPr lang="en-US" dirty="0"/>
              <a:t> e </a:t>
            </a:r>
            <a:r>
              <a:rPr lang="en-US" dirty="0" err="1"/>
              <a:t>equipas</a:t>
            </a:r>
            <a:r>
              <a:rPr lang="en-US" dirty="0"/>
              <a:t> e </a:t>
            </a:r>
            <a:r>
              <a:rPr lang="en-US" dirty="0" err="1"/>
              <a:t>assegurar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estejam</a:t>
            </a:r>
            <a:r>
              <a:rPr lang="en-US" dirty="0"/>
              <a:t> </a:t>
            </a:r>
            <a:r>
              <a:rPr lang="en-US" dirty="0" err="1"/>
              <a:t>efectivamente</a:t>
            </a:r>
            <a:r>
              <a:rPr lang="en-US" dirty="0"/>
              <a:t> </a:t>
            </a:r>
            <a:r>
              <a:rPr lang="en-US" dirty="0" err="1"/>
              <a:t>prontos</a:t>
            </a:r>
            <a:r>
              <a:rPr lang="en-US" dirty="0"/>
              <a:t> para responder.</a:t>
            </a:r>
          </a:p>
          <a:p>
            <a:r>
              <a:rPr lang="en-US" dirty="0"/>
              <a:t>Quando a </a:t>
            </a:r>
            <a:r>
              <a:rPr lang="en-US" dirty="0" err="1"/>
              <a:t>emergência</a:t>
            </a:r>
            <a:r>
              <a:rPr lang="en-US" dirty="0"/>
              <a:t> </a:t>
            </a:r>
            <a:r>
              <a:rPr lang="en-US" dirty="0" err="1"/>
              <a:t>ocorre</a:t>
            </a:r>
            <a:r>
              <a:rPr lang="en-US" dirty="0"/>
              <a:t>, a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b="1" dirty="0" err="1"/>
              <a:t>rápida</a:t>
            </a:r>
            <a:r>
              <a:rPr lang="en-US" b="1" dirty="0"/>
              <a:t>, </a:t>
            </a:r>
            <a:r>
              <a:rPr lang="en-US" b="1" dirty="0" err="1"/>
              <a:t>coordenada</a:t>
            </a:r>
            <a:r>
              <a:rPr lang="en-US" b="1" dirty="0"/>
              <a:t> e </a:t>
            </a:r>
            <a:r>
              <a:rPr lang="en-US" b="1" dirty="0" err="1"/>
              <a:t>integrada</a:t>
            </a:r>
            <a:r>
              <a:rPr lang="en-US" dirty="0"/>
              <a:t>, mas 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termina </a:t>
            </a:r>
            <a:r>
              <a:rPr lang="en-US" dirty="0" err="1"/>
              <a:t>aí</a:t>
            </a:r>
            <a:r>
              <a:rPr lang="en-US" dirty="0"/>
              <a:t>. É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recuperar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serviços</a:t>
            </a:r>
            <a:r>
              <a:rPr lang="en-US" dirty="0"/>
              <a:t>, </a:t>
            </a:r>
            <a:r>
              <a:rPr lang="en-US" dirty="0" err="1"/>
              <a:t>avaliar</a:t>
            </a:r>
            <a:r>
              <a:rPr lang="en-US" dirty="0"/>
              <a:t>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funcionou</a:t>
            </a:r>
            <a:r>
              <a:rPr lang="en-US" dirty="0"/>
              <a:t> e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funcionou</a:t>
            </a:r>
            <a:r>
              <a:rPr lang="en-US" dirty="0"/>
              <a:t> e </a:t>
            </a:r>
            <a:r>
              <a:rPr lang="en-US" dirty="0" err="1"/>
              <a:t>transformar</a:t>
            </a:r>
            <a:r>
              <a:rPr lang="en-US" dirty="0"/>
              <a:t>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aprendizagens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melhorias</a:t>
            </a:r>
            <a:r>
              <a:rPr lang="en-US" dirty="0"/>
              <a:t> para o </a:t>
            </a:r>
            <a:r>
              <a:rPr lang="en-US" dirty="0" err="1"/>
              <a:t>ciclo</a:t>
            </a:r>
            <a:r>
              <a:rPr lang="en-US" dirty="0"/>
              <a:t> </a:t>
            </a:r>
            <a:r>
              <a:rPr lang="en-US" dirty="0" err="1"/>
              <a:t>seguinte</a:t>
            </a:r>
            <a:r>
              <a:rPr lang="en-US" dirty="0"/>
              <a:t>.</a:t>
            </a:r>
          </a:p>
          <a:p>
            <a:r>
              <a:rPr lang="en-US" b="1" dirty="0" err="1"/>
              <a:t>Portanto</a:t>
            </a:r>
            <a:r>
              <a:rPr lang="en-US" b="1" dirty="0"/>
              <a:t>, </a:t>
            </a:r>
            <a:r>
              <a:rPr lang="en-US" b="1" dirty="0" err="1"/>
              <a:t>preparação</a:t>
            </a:r>
            <a:r>
              <a:rPr lang="en-US" b="1" dirty="0"/>
              <a:t>, </a:t>
            </a:r>
            <a:r>
              <a:rPr lang="en-US" b="1" dirty="0" err="1"/>
              <a:t>resposta</a:t>
            </a:r>
            <a:r>
              <a:rPr lang="en-US" b="1" dirty="0"/>
              <a:t> e </a:t>
            </a:r>
            <a:r>
              <a:rPr lang="en-US" b="1" dirty="0" err="1"/>
              <a:t>recuperação</a:t>
            </a:r>
            <a:r>
              <a:rPr lang="en-US" b="1" dirty="0"/>
              <a:t> </a:t>
            </a:r>
            <a:r>
              <a:rPr lang="en-US" b="1" dirty="0" err="1"/>
              <a:t>deixam</a:t>
            </a:r>
            <a:r>
              <a:rPr lang="en-US" b="1" dirty="0"/>
              <a:t> de ser </a:t>
            </a:r>
            <a:r>
              <a:rPr lang="en-US" b="1" dirty="0" err="1"/>
              <a:t>momentos</a:t>
            </a:r>
            <a:r>
              <a:rPr lang="en-US" b="1" dirty="0"/>
              <a:t> </a:t>
            </a:r>
            <a:r>
              <a:rPr lang="en-US" b="1" dirty="0" err="1"/>
              <a:t>isolados</a:t>
            </a:r>
            <a:r>
              <a:rPr lang="en-US" b="1" dirty="0"/>
              <a:t> e </a:t>
            </a:r>
            <a:r>
              <a:rPr lang="en-US" b="1" dirty="0" err="1"/>
              <a:t>passam</a:t>
            </a:r>
            <a:r>
              <a:rPr lang="en-US" b="1" dirty="0"/>
              <a:t> a </a:t>
            </a:r>
            <a:r>
              <a:rPr lang="en-US" b="1" dirty="0" err="1"/>
              <a:t>constituir</a:t>
            </a:r>
            <a:r>
              <a:rPr lang="en-US" b="1" dirty="0"/>
              <a:t> um </a:t>
            </a:r>
            <a:r>
              <a:rPr lang="en-US" b="1" dirty="0" err="1"/>
              <a:t>ciclo</a:t>
            </a:r>
            <a:r>
              <a:rPr lang="en-US" b="1" dirty="0"/>
              <a:t> </a:t>
            </a:r>
            <a:r>
              <a:rPr lang="en-US" b="1" dirty="0" err="1"/>
              <a:t>contínuo</a:t>
            </a:r>
            <a:r>
              <a:rPr lang="en-US" b="1" dirty="0"/>
              <a:t> de </a:t>
            </a:r>
            <a:r>
              <a:rPr lang="en-US" b="1" dirty="0" err="1"/>
              <a:t>gestão</a:t>
            </a:r>
            <a:r>
              <a:rPr lang="en-US" b="1" dirty="0"/>
              <a:t> do </a:t>
            </a:r>
            <a:r>
              <a:rPr lang="en-US" b="1" dirty="0" err="1"/>
              <a:t>risco</a:t>
            </a:r>
            <a:r>
              <a:rPr lang="en-US" b="1" dirty="0"/>
              <a:t>.</a:t>
            </a:r>
            <a:r>
              <a:rPr lang="en-US" dirty="0"/>
              <a:t> É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mudança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passar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reagir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emergências</a:t>
            </a:r>
            <a:r>
              <a:rPr lang="en-US" dirty="0"/>
              <a:t> para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antecipar</a:t>
            </a:r>
            <a:r>
              <a:rPr lang="en-US" dirty="0"/>
              <a:t>, </a:t>
            </a:r>
            <a:r>
              <a:rPr lang="en-US" dirty="0" err="1"/>
              <a:t>preparar</a:t>
            </a:r>
            <a:r>
              <a:rPr lang="en-US" dirty="0"/>
              <a:t> e </a:t>
            </a:r>
            <a:r>
              <a:rPr lang="en-US" dirty="0" err="1"/>
              <a:t>reduzir</a:t>
            </a:r>
            <a:r>
              <a:rPr lang="en-US" dirty="0"/>
              <a:t> 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.</a:t>
            </a:r>
          </a:p>
          <a:p>
            <a:endParaRPr lang="pt-PT" dirty="0"/>
          </a:p>
          <a:p>
            <a:r>
              <a:rPr lang="en-US" dirty="0"/>
              <a:t>Esta </a:t>
            </a:r>
            <a:r>
              <a:rPr lang="en-US" dirty="0" err="1"/>
              <a:t>mudança</a:t>
            </a:r>
            <a:r>
              <a:rPr lang="en-US" dirty="0"/>
              <a:t> de </a:t>
            </a:r>
            <a:r>
              <a:rPr lang="en-US" dirty="0" err="1"/>
              <a:t>abordagem</a:t>
            </a:r>
            <a:r>
              <a:rPr lang="en-US" dirty="0"/>
              <a:t> </a:t>
            </a:r>
            <a:r>
              <a:rPr lang="en-US" dirty="0" err="1"/>
              <a:t>coloca-nos</a:t>
            </a:r>
            <a:r>
              <a:rPr lang="en-US" dirty="0"/>
              <a:t>, </a:t>
            </a:r>
            <a:r>
              <a:rPr lang="en-US" dirty="0" err="1"/>
              <a:t>então</a:t>
            </a:r>
            <a:r>
              <a:rPr lang="en-US" dirty="0"/>
              <a:t>,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questão</a:t>
            </a:r>
            <a:r>
              <a:rPr lang="en-US" dirty="0"/>
              <a:t> fundamental: </a:t>
            </a:r>
            <a:r>
              <a:rPr lang="en-US" dirty="0" err="1"/>
              <a:t>quão</a:t>
            </a:r>
            <a:r>
              <a:rPr lang="en-US" dirty="0"/>
              <a:t> </a:t>
            </a:r>
            <a:r>
              <a:rPr lang="en-US" dirty="0" err="1"/>
              <a:t>preparados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, </a:t>
            </a:r>
            <a:r>
              <a:rPr lang="en-US" dirty="0" err="1"/>
              <a:t>hoje</a:t>
            </a:r>
            <a:r>
              <a:rPr lang="en-US" dirty="0"/>
              <a:t>, para responder à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/>
              <a:t>emergência</a:t>
            </a:r>
            <a:r>
              <a:rPr lang="en-US" dirty="0"/>
              <a:t>? [</a:t>
            </a:r>
            <a:r>
              <a:rPr lang="en-US" dirty="0" err="1"/>
              <a:t>Próximo</a:t>
            </a:r>
            <a:r>
              <a:rPr lang="en-US" dirty="0"/>
              <a:t> Slide]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6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 </a:t>
            </a:r>
            <a:r>
              <a:rPr lang="en-US" b="0" dirty="0" err="1"/>
              <a:t>experiência</a:t>
            </a:r>
            <a:r>
              <a:rPr lang="en-US" b="0" dirty="0"/>
              <a:t> </a:t>
            </a:r>
            <a:r>
              <a:rPr lang="en-US" b="0" dirty="0" err="1"/>
              <a:t>recente</a:t>
            </a:r>
            <a:r>
              <a:rPr lang="en-US" b="0" dirty="0"/>
              <a:t> </a:t>
            </a:r>
            <a:r>
              <a:rPr lang="en-US" b="0" dirty="0" err="1"/>
              <a:t>permitiu-nos</a:t>
            </a:r>
            <a:r>
              <a:rPr lang="en-US" b="0" dirty="0"/>
              <a:t> </a:t>
            </a:r>
            <a:r>
              <a:rPr lang="en-US" b="0" dirty="0" err="1"/>
              <a:t>identificar</a:t>
            </a:r>
            <a:r>
              <a:rPr lang="en-US" b="0" dirty="0"/>
              <a:t> </a:t>
            </a:r>
            <a:r>
              <a:rPr lang="en-US" b="0" dirty="0" err="1"/>
              <a:t>algumas</a:t>
            </a:r>
            <a:r>
              <a:rPr lang="en-US" b="0" dirty="0"/>
              <a:t> </a:t>
            </a:r>
            <a:r>
              <a:rPr lang="en-US" b="0" dirty="0" err="1"/>
              <a:t>áreas</a:t>
            </a:r>
            <a:r>
              <a:rPr lang="en-US" b="0" dirty="0"/>
              <a:t> </a:t>
            </a:r>
            <a:r>
              <a:rPr lang="en-US" b="0" dirty="0" err="1"/>
              <a:t>prioritárias</a:t>
            </a:r>
            <a:r>
              <a:rPr lang="en-US" b="0" dirty="0"/>
              <a:t> para </a:t>
            </a:r>
            <a:r>
              <a:rPr lang="en-US" b="0" dirty="0" err="1"/>
              <a:t>consolidar</a:t>
            </a:r>
            <a:r>
              <a:rPr lang="en-US" b="0" dirty="0"/>
              <a:t> a </a:t>
            </a:r>
            <a:r>
              <a:rPr lang="en-US" b="0" dirty="0" err="1"/>
              <a:t>nossa</a:t>
            </a:r>
            <a:r>
              <a:rPr lang="en-US" b="0" dirty="0"/>
              <a:t> </a:t>
            </a:r>
            <a:r>
              <a:rPr lang="en-US" b="0" dirty="0" err="1"/>
              <a:t>prontidão</a:t>
            </a:r>
            <a:r>
              <a:rPr lang="en-US" b="0" dirty="0"/>
              <a:t>. </a:t>
            </a:r>
            <a:r>
              <a:rPr lang="en-US" b="0" dirty="0" err="1"/>
              <a:t>Não</a:t>
            </a:r>
            <a:r>
              <a:rPr lang="en-US" b="0" dirty="0"/>
              <a:t> </a:t>
            </a:r>
            <a:r>
              <a:rPr lang="en-US" b="0" dirty="0" err="1"/>
              <a:t>partimos</a:t>
            </a:r>
            <a:r>
              <a:rPr lang="en-US" b="0" dirty="0"/>
              <a:t> do zero: </a:t>
            </a:r>
            <a:r>
              <a:rPr lang="en-US" b="0" dirty="0" err="1"/>
              <a:t>existem</a:t>
            </a:r>
            <a:r>
              <a:rPr lang="en-US" b="0" dirty="0"/>
              <a:t> </a:t>
            </a:r>
            <a:r>
              <a:rPr lang="en-US" b="0" dirty="0" err="1"/>
              <a:t>sistemas</a:t>
            </a:r>
            <a:r>
              <a:rPr lang="en-US" b="0" dirty="0"/>
              <a:t> de </a:t>
            </a:r>
            <a:r>
              <a:rPr lang="en-US" b="0" dirty="0" err="1"/>
              <a:t>vigilância</a:t>
            </a:r>
            <a:r>
              <a:rPr lang="en-US" b="0" dirty="0"/>
              <a:t>, rede laboratorial, </a:t>
            </a:r>
            <a:r>
              <a:rPr lang="en-US" b="0" dirty="0" err="1"/>
              <a:t>mecanismos</a:t>
            </a:r>
            <a:r>
              <a:rPr lang="en-US" b="0" dirty="0"/>
              <a:t> </a:t>
            </a:r>
            <a:r>
              <a:rPr lang="en-US" b="0" dirty="0" err="1"/>
              <a:t>logísticos</a:t>
            </a:r>
            <a:r>
              <a:rPr lang="en-US" b="0" dirty="0"/>
              <a:t>, </a:t>
            </a:r>
            <a:r>
              <a:rPr lang="en-US" b="0" dirty="0" err="1"/>
              <a:t>estruturas</a:t>
            </a:r>
            <a:r>
              <a:rPr lang="en-US" b="0" dirty="0"/>
              <a:t> de </a:t>
            </a:r>
            <a:r>
              <a:rPr lang="en-US" b="0" dirty="0" err="1"/>
              <a:t>comunicação</a:t>
            </a:r>
            <a:r>
              <a:rPr lang="en-US" b="0" dirty="0"/>
              <a:t> de </a:t>
            </a:r>
            <a:r>
              <a:rPr lang="en-US" b="0" dirty="0" err="1"/>
              <a:t>risco</a:t>
            </a:r>
            <a:r>
              <a:rPr lang="en-US" b="0" dirty="0"/>
              <a:t> e de </a:t>
            </a:r>
            <a:r>
              <a:rPr lang="en-US" b="0" dirty="0" err="1"/>
              <a:t>coordenação</a:t>
            </a:r>
            <a:r>
              <a:rPr lang="en-US" b="0" dirty="0"/>
              <a:t>. O </a:t>
            </a:r>
            <a:r>
              <a:rPr lang="en-US" b="0" dirty="0" err="1"/>
              <a:t>desafio</a:t>
            </a:r>
            <a:r>
              <a:rPr lang="en-US" b="0" dirty="0"/>
              <a:t> é </a:t>
            </a:r>
            <a:r>
              <a:rPr lang="en-US" b="0" dirty="0" err="1"/>
              <a:t>assegurar</a:t>
            </a:r>
            <a:r>
              <a:rPr lang="en-US" b="0" dirty="0"/>
              <a:t>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estas</a:t>
            </a:r>
            <a:r>
              <a:rPr lang="en-US" b="0" dirty="0"/>
              <a:t> </a:t>
            </a:r>
            <a:r>
              <a:rPr lang="en-US" b="0" dirty="0" err="1"/>
              <a:t>capacidades</a:t>
            </a:r>
            <a:r>
              <a:rPr lang="en-US" b="0" dirty="0"/>
              <a:t> </a:t>
            </a:r>
            <a:r>
              <a:rPr lang="en-US" b="0" dirty="0" err="1"/>
              <a:t>estejam</a:t>
            </a:r>
            <a:r>
              <a:rPr lang="en-US" b="0" dirty="0"/>
              <a:t> </a:t>
            </a:r>
            <a:r>
              <a:rPr lang="en-US" b="0" dirty="0" err="1"/>
              <a:t>permanentemente</a:t>
            </a:r>
            <a:r>
              <a:rPr lang="en-US" b="0" dirty="0"/>
              <a:t> </a:t>
            </a:r>
            <a:r>
              <a:rPr lang="en-US" b="0" dirty="0" err="1"/>
              <a:t>operacionais</a:t>
            </a:r>
            <a:r>
              <a:rPr lang="en-US" b="0" dirty="0"/>
              <a:t> e </a:t>
            </a:r>
            <a:r>
              <a:rPr lang="en-US" b="0" dirty="0" err="1"/>
              <a:t>articuladas</a:t>
            </a:r>
            <a:r>
              <a:rPr lang="en-US" b="0" dirty="0"/>
              <a:t>.</a:t>
            </a:r>
          </a:p>
          <a:p>
            <a:r>
              <a:rPr lang="en-US" b="0" dirty="0"/>
              <a:t>Neste </a:t>
            </a:r>
            <a:r>
              <a:rPr lang="en-US" b="0" dirty="0" err="1"/>
              <a:t>contexto</a:t>
            </a:r>
            <a:r>
              <a:rPr lang="en-US" b="0" dirty="0"/>
              <a:t>, </a:t>
            </a:r>
            <a:r>
              <a:rPr lang="en-US" b="0" dirty="0" err="1"/>
              <a:t>importa</a:t>
            </a:r>
            <a:r>
              <a:rPr lang="en-US" b="0" dirty="0"/>
              <a:t> </a:t>
            </a:r>
            <a:r>
              <a:rPr lang="en-US" b="0" dirty="0" err="1"/>
              <a:t>fortalecer</a:t>
            </a:r>
            <a:r>
              <a:rPr lang="en-US" b="0" dirty="0"/>
              <a:t> </a:t>
            </a:r>
            <a:r>
              <a:rPr lang="en-US" b="0" dirty="0" err="1"/>
              <a:t>particularmente</a:t>
            </a:r>
            <a:r>
              <a:rPr lang="en-US" b="0" dirty="0"/>
              <a:t> o </a:t>
            </a:r>
            <a:r>
              <a:rPr lang="en-US" b="0" dirty="0" err="1"/>
              <a:t>alerta</a:t>
            </a:r>
            <a:r>
              <a:rPr lang="en-US" b="0" dirty="0"/>
              <a:t> </a:t>
            </a:r>
            <a:r>
              <a:rPr lang="en-US" b="0" dirty="0" err="1"/>
              <a:t>precoce</a:t>
            </a:r>
            <a:r>
              <a:rPr lang="en-US" b="0" dirty="0"/>
              <a:t>, a </a:t>
            </a:r>
            <a:r>
              <a:rPr lang="en-US" b="0" dirty="0" err="1"/>
              <a:t>resposta</a:t>
            </a:r>
            <a:r>
              <a:rPr lang="en-US" b="0" dirty="0"/>
              <a:t> </a:t>
            </a:r>
            <a:r>
              <a:rPr lang="en-US" b="0" dirty="0" err="1"/>
              <a:t>atempada</a:t>
            </a:r>
            <a:r>
              <a:rPr lang="en-US" b="0" dirty="0"/>
              <a:t> — </a:t>
            </a:r>
            <a:r>
              <a:rPr lang="en-US" b="0" dirty="0" err="1"/>
              <a:t>incluindo</a:t>
            </a:r>
            <a:r>
              <a:rPr lang="en-US" b="0" dirty="0"/>
              <a:t> a </a:t>
            </a:r>
            <a:r>
              <a:rPr lang="en-US" b="0" dirty="0" err="1"/>
              <a:t>monitoria</a:t>
            </a:r>
            <a:r>
              <a:rPr lang="en-US" b="0" dirty="0"/>
              <a:t> </a:t>
            </a:r>
            <a:r>
              <a:rPr lang="en-US" b="0" dirty="0" err="1"/>
              <a:t>através</a:t>
            </a:r>
            <a:r>
              <a:rPr lang="en-US" b="0" dirty="0"/>
              <a:t> do 7-1-7 —, a </a:t>
            </a:r>
            <a:r>
              <a:rPr lang="en-US" b="0" dirty="0" err="1"/>
              <a:t>capacidade</a:t>
            </a:r>
            <a:r>
              <a:rPr lang="en-US" b="0" dirty="0"/>
              <a:t> </a:t>
            </a:r>
            <a:r>
              <a:rPr lang="en-US" b="0" dirty="0" err="1"/>
              <a:t>diagnóstica</a:t>
            </a:r>
            <a:r>
              <a:rPr lang="en-US" b="0" dirty="0"/>
              <a:t>, o </a:t>
            </a:r>
            <a:r>
              <a:rPr lang="en-US" b="0" dirty="0" err="1"/>
              <a:t>pré-posicionamento</a:t>
            </a:r>
            <a:r>
              <a:rPr lang="en-US" b="0" dirty="0"/>
              <a:t> de </a:t>
            </a:r>
            <a:r>
              <a:rPr lang="en-US" b="0" dirty="0" err="1"/>
              <a:t>insumos</a:t>
            </a:r>
            <a:r>
              <a:rPr lang="en-US" b="0" dirty="0"/>
              <a:t>, a </a:t>
            </a:r>
            <a:r>
              <a:rPr lang="en-US" b="0" dirty="0" err="1"/>
              <a:t>comunicação</a:t>
            </a:r>
            <a:r>
              <a:rPr lang="en-US" b="0" dirty="0"/>
              <a:t> de </a:t>
            </a:r>
            <a:r>
              <a:rPr lang="en-US" b="0" dirty="0" err="1"/>
              <a:t>risco</a:t>
            </a:r>
            <a:r>
              <a:rPr lang="en-US" b="0" dirty="0"/>
              <a:t> e a </a:t>
            </a:r>
            <a:r>
              <a:rPr lang="en-US" b="0" dirty="0" err="1"/>
              <a:t>clareza</a:t>
            </a:r>
            <a:r>
              <a:rPr lang="en-US" b="0" dirty="0"/>
              <a:t> dos </a:t>
            </a:r>
            <a:r>
              <a:rPr lang="en-US" b="0" dirty="0" err="1"/>
              <a:t>mecanismos</a:t>
            </a:r>
            <a:r>
              <a:rPr lang="en-US" b="0" dirty="0"/>
              <a:t> de </a:t>
            </a:r>
            <a:r>
              <a:rPr lang="en-US" b="0" dirty="0" err="1"/>
              <a:t>coordenação</a:t>
            </a:r>
            <a:r>
              <a:rPr lang="en-US" b="0" dirty="0"/>
              <a:t>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9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Na </a:t>
            </a:r>
            <a:r>
              <a:rPr lang="en-US" b="0" dirty="0" err="1"/>
              <a:t>prática</a:t>
            </a:r>
            <a:r>
              <a:rPr lang="en-US" b="0" dirty="0"/>
              <a:t> </a:t>
            </a:r>
            <a:r>
              <a:rPr lang="en-US" b="0" dirty="0" err="1"/>
              <a:t>esta</a:t>
            </a:r>
            <a:r>
              <a:rPr lang="en-US" b="0" dirty="0"/>
              <a:t> </a:t>
            </a:r>
            <a:r>
              <a:rPr lang="en-US" b="0" dirty="0" err="1"/>
              <a:t>abordagem</a:t>
            </a:r>
            <a:r>
              <a:rPr lang="en-US" b="0" dirty="0"/>
              <a:t> </a:t>
            </a:r>
            <a:r>
              <a:rPr lang="en-US" b="0" dirty="0" err="1"/>
              <a:t>multirrisco</a:t>
            </a:r>
            <a:r>
              <a:rPr lang="en-US" b="0" dirty="0"/>
              <a:t> </a:t>
            </a:r>
            <a:r>
              <a:rPr lang="en-US" b="0" dirty="0" err="1"/>
              <a:t>traduz</a:t>
            </a:r>
            <a:r>
              <a:rPr lang="en-US" b="0" dirty="0"/>
              <a:t>-se num </a:t>
            </a:r>
            <a:r>
              <a:rPr lang="en-US" b="0" dirty="0" err="1"/>
              <a:t>ciclo</a:t>
            </a:r>
            <a:r>
              <a:rPr lang="en-US" b="0" dirty="0"/>
              <a:t> </a:t>
            </a:r>
            <a:r>
              <a:rPr lang="en-US" b="0" dirty="0" err="1"/>
              <a:t>operacional</a:t>
            </a:r>
            <a:r>
              <a:rPr lang="en-US" b="0" dirty="0"/>
              <a:t>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começa</a:t>
            </a:r>
            <a:r>
              <a:rPr lang="en-US" b="0" dirty="0"/>
              <a:t> </a:t>
            </a:r>
            <a:r>
              <a:rPr lang="en-US" b="0" dirty="0" err="1"/>
              <a:t>muito</a:t>
            </a:r>
            <a:r>
              <a:rPr lang="en-US" b="0" dirty="0"/>
              <a:t> antes da </a:t>
            </a:r>
            <a:r>
              <a:rPr lang="en-US" b="0" dirty="0" err="1"/>
              <a:t>ocorrência</a:t>
            </a:r>
            <a:r>
              <a:rPr lang="en-US" b="0" dirty="0"/>
              <a:t> da </a:t>
            </a:r>
            <a:r>
              <a:rPr lang="en-US" b="0" dirty="0" err="1"/>
              <a:t>emergência</a:t>
            </a:r>
            <a:r>
              <a:rPr lang="en-US" b="0" dirty="0"/>
              <a:t>.</a:t>
            </a:r>
          </a:p>
          <a:p>
            <a:r>
              <a:rPr lang="en-US" b="0" dirty="0"/>
              <a:t>Antes, o </a:t>
            </a:r>
            <a:r>
              <a:rPr lang="en-US" b="0" dirty="0" err="1"/>
              <a:t>foco</a:t>
            </a:r>
            <a:r>
              <a:rPr lang="en-US" b="0" dirty="0"/>
              <a:t> </a:t>
            </a:r>
            <a:r>
              <a:rPr lang="en-US" b="0" dirty="0" err="1"/>
              <a:t>deve</a:t>
            </a:r>
            <a:r>
              <a:rPr lang="en-US" b="0" dirty="0"/>
              <a:t> </a:t>
            </a:r>
            <a:r>
              <a:rPr lang="en-US" b="0" dirty="0" err="1"/>
              <a:t>estar</a:t>
            </a:r>
            <a:r>
              <a:rPr lang="en-US" b="0" dirty="0"/>
              <a:t> </a:t>
            </a:r>
            <a:r>
              <a:rPr lang="en-US" b="0" dirty="0" err="1"/>
              <a:t>na</a:t>
            </a:r>
            <a:r>
              <a:rPr lang="en-US" b="0" dirty="0"/>
              <a:t> </a:t>
            </a:r>
            <a:r>
              <a:rPr lang="en-US" b="0" dirty="0" err="1"/>
              <a:t>preparação</a:t>
            </a:r>
            <a:r>
              <a:rPr lang="en-US" b="0" dirty="0"/>
              <a:t> e </a:t>
            </a:r>
            <a:r>
              <a:rPr lang="en-US" b="0" dirty="0" err="1"/>
              <a:t>redução</a:t>
            </a:r>
            <a:r>
              <a:rPr lang="en-US" b="0" dirty="0"/>
              <a:t> do </a:t>
            </a:r>
            <a:r>
              <a:rPr lang="en-US" b="0" dirty="0" err="1"/>
              <a:t>risco</a:t>
            </a:r>
            <a:r>
              <a:rPr lang="en-US" b="0" dirty="0"/>
              <a:t>: </a:t>
            </a:r>
            <a:r>
              <a:rPr lang="en-US" b="0" dirty="0" err="1"/>
              <a:t>conhecer</a:t>
            </a:r>
            <a:r>
              <a:rPr lang="en-US" b="0" dirty="0"/>
              <a:t> e </a:t>
            </a:r>
            <a:r>
              <a:rPr lang="en-US" b="0" dirty="0" err="1"/>
              <a:t>mapear</a:t>
            </a:r>
            <a:r>
              <a:rPr lang="en-US" b="0" dirty="0"/>
              <a:t> as </a:t>
            </a:r>
            <a:r>
              <a:rPr lang="en-US" b="0" dirty="0" err="1"/>
              <a:t>ameaças</a:t>
            </a:r>
            <a:r>
              <a:rPr lang="en-US" b="0" dirty="0"/>
              <a:t>, </a:t>
            </a:r>
            <a:r>
              <a:rPr lang="en-US" b="0" dirty="0" err="1"/>
              <a:t>avaliar</a:t>
            </a:r>
            <a:r>
              <a:rPr lang="en-US" b="0" dirty="0"/>
              <a:t> a </a:t>
            </a:r>
            <a:r>
              <a:rPr lang="en-US" b="0" dirty="0" err="1"/>
              <a:t>prontidão</a:t>
            </a:r>
            <a:r>
              <a:rPr lang="en-US" b="0" dirty="0"/>
              <a:t>, </a:t>
            </a:r>
            <a:r>
              <a:rPr lang="en-US" b="0" dirty="0" err="1"/>
              <a:t>preparar</a:t>
            </a:r>
            <a:r>
              <a:rPr lang="en-US" b="0" dirty="0"/>
              <a:t> as </a:t>
            </a:r>
            <a:r>
              <a:rPr lang="en-US" b="0" dirty="0" err="1"/>
              <a:t>equipas</a:t>
            </a:r>
            <a:r>
              <a:rPr lang="en-US" b="0" dirty="0"/>
              <a:t>, </a:t>
            </a:r>
            <a:r>
              <a:rPr lang="en-US" b="0" dirty="0" err="1"/>
              <a:t>garantir</a:t>
            </a:r>
            <a:r>
              <a:rPr lang="en-US" b="0" dirty="0"/>
              <a:t> stocks </a:t>
            </a:r>
            <a:r>
              <a:rPr lang="en-US" b="0" dirty="0" err="1"/>
              <a:t>essenciais</a:t>
            </a:r>
            <a:r>
              <a:rPr lang="en-US" b="0" dirty="0"/>
              <a:t> e </a:t>
            </a:r>
            <a:r>
              <a:rPr lang="en-US" b="0" dirty="0" err="1"/>
              <a:t>testar</a:t>
            </a:r>
            <a:r>
              <a:rPr lang="en-US" b="0" dirty="0"/>
              <a:t> </a:t>
            </a:r>
            <a:r>
              <a:rPr lang="en-US" b="0" dirty="0" err="1"/>
              <a:t>os</a:t>
            </a:r>
            <a:r>
              <a:rPr lang="en-US" b="0" dirty="0"/>
              <a:t> </a:t>
            </a:r>
            <a:r>
              <a:rPr lang="en-US" b="0" dirty="0" err="1"/>
              <a:t>mecanismos</a:t>
            </a:r>
            <a:r>
              <a:rPr lang="en-US" b="0" dirty="0"/>
              <a:t> de </a:t>
            </a:r>
            <a:r>
              <a:rPr lang="en-US" b="0" dirty="0" err="1"/>
              <a:t>comunicação</a:t>
            </a:r>
            <a:r>
              <a:rPr lang="en-US" b="0" dirty="0"/>
              <a:t>.</a:t>
            </a:r>
          </a:p>
          <a:p>
            <a:r>
              <a:rPr lang="en-US" b="0" dirty="0"/>
              <a:t>Durante a </a:t>
            </a:r>
            <a:r>
              <a:rPr lang="en-US" b="0" dirty="0" err="1"/>
              <a:t>emergência</a:t>
            </a:r>
            <a:r>
              <a:rPr lang="en-US" b="0" dirty="0"/>
              <a:t>, a </a:t>
            </a:r>
            <a:r>
              <a:rPr lang="en-US" b="0" dirty="0" err="1"/>
              <a:t>prioridade</a:t>
            </a:r>
            <a:r>
              <a:rPr lang="en-US" b="0" dirty="0"/>
              <a:t> </a:t>
            </a:r>
            <a:r>
              <a:rPr lang="en-US" b="0" dirty="0" err="1"/>
              <a:t>passa</a:t>
            </a:r>
            <a:r>
              <a:rPr lang="en-US" b="0" dirty="0"/>
              <a:t> a ser </a:t>
            </a:r>
            <a:r>
              <a:rPr lang="en-US" b="0" dirty="0" err="1"/>
              <a:t>uma</a:t>
            </a:r>
            <a:r>
              <a:rPr lang="en-US" b="0" dirty="0"/>
              <a:t> </a:t>
            </a:r>
            <a:r>
              <a:rPr lang="en-US" b="0" dirty="0" err="1"/>
              <a:t>resposta</a:t>
            </a:r>
            <a:r>
              <a:rPr lang="en-US" b="0" dirty="0"/>
              <a:t> </a:t>
            </a:r>
            <a:r>
              <a:rPr lang="en-US" b="0" dirty="0" err="1"/>
              <a:t>atempada</a:t>
            </a:r>
            <a:r>
              <a:rPr lang="en-US" b="0" dirty="0"/>
              <a:t> e </a:t>
            </a:r>
            <a:r>
              <a:rPr lang="en-US" b="0" dirty="0" err="1"/>
              <a:t>coordenada</a:t>
            </a:r>
            <a:r>
              <a:rPr lang="en-US" b="0" dirty="0"/>
              <a:t>: </a:t>
            </a:r>
            <a:r>
              <a:rPr lang="en-US" b="0" dirty="0" err="1"/>
              <a:t>detectar</a:t>
            </a:r>
            <a:r>
              <a:rPr lang="en-US" b="0" dirty="0"/>
              <a:t> e </a:t>
            </a:r>
            <a:r>
              <a:rPr lang="en-US" b="0" dirty="0" err="1"/>
              <a:t>notificar</a:t>
            </a:r>
            <a:r>
              <a:rPr lang="en-US" b="0" dirty="0"/>
              <a:t> </a:t>
            </a:r>
            <a:r>
              <a:rPr lang="en-US" b="0" dirty="0" err="1"/>
              <a:t>rapidamente</a:t>
            </a:r>
            <a:r>
              <a:rPr lang="en-US" b="0" dirty="0"/>
              <a:t>, </a:t>
            </a:r>
            <a:r>
              <a:rPr lang="en-US" b="0" dirty="0" err="1"/>
              <a:t>investigar</a:t>
            </a:r>
            <a:r>
              <a:rPr lang="en-US" b="0" dirty="0"/>
              <a:t>, </a:t>
            </a:r>
            <a:r>
              <a:rPr lang="en-US" b="0" dirty="0" err="1"/>
              <a:t>garantir</a:t>
            </a:r>
            <a:r>
              <a:rPr lang="en-US" b="0" dirty="0"/>
              <a:t> o </a:t>
            </a:r>
            <a:r>
              <a:rPr lang="en-US" b="0" dirty="0" err="1"/>
              <a:t>manejo</a:t>
            </a:r>
            <a:r>
              <a:rPr lang="en-US" b="0" dirty="0"/>
              <a:t> </a:t>
            </a:r>
            <a:r>
              <a:rPr lang="en-US" b="0" dirty="0" err="1"/>
              <a:t>adequado</a:t>
            </a:r>
            <a:r>
              <a:rPr lang="en-US" b="0" dirty="0"/>
              <a:t> dos </a:t>
            </a:r>
            <a:r>
              <a:rPr lang="en-US" b="0" dirty="0" err="1"/>
              <a:t>casos</a:t>
            </a:r>
            <a:r>
              <a:rPr lang="en-US" b="0" dirty="0"/>
              <a:t>, </a:t>
            </a:r>
            <a:r>
              <a:rPr lang="en-US" b="0" dirty="0" err="1"/>
              <a:t>implementar</a:t>
            </a:r>
            <a:r>
              <a:rPr lang="en-US" b="0" dirty="0"/>
              <a:t> as </a:t>
            </a:r>
            <a:r>
              <a:rPr lang="en-US" b="0" dirty="0" err="1"/>
              <a:t>medidas</a:t>
            </a:r>
            <a:r>
              <a:rPr lang="en-US" b="0" dirty="0"/>
              <a:t> de WASH e PCI e </a:t>
            </a:r>
            <a:r>
              <a:rPr lang="en-US" b="0" dirty="0" err="1"/>
              <a:t>assegurar</a:t>
            </a:r>
            <a:r>
              <a:rPr lang="en-US" b="0" dirty="0"/>
              <a:t> </a:t>
            </a:r>
            <a:r>
              <a:rPr lang="en-US" b="0" dirty="0" err="1"/>
              <a:t>os</a:t>
            </a:r>
            <a:r>
              <a:rPr lang="en-US" b="0" dirty="0"/>
              <a:t> </a:t>
            </a:r>
            <a:r>
              <a:rPr lang="en-US" b="0" dirty="0" err="1"/>
              <a:t>mecanismos</a:t>
            </a:r>
            <a:r>
              <a:rPr lang="en-US" b="0" dirty="0"/>
              <a:t> de </a:t>
            </a:r>
            <a:r>
              <a:rPr lang="en-US" b="0" dirty="0" err="1"/>
              <a:t>referência</a:t>
            </a:r>
            <a:r>
              <a:rPr lang="en-US" b="0" dirty="0"/>
              <a:t>.</a:t>
            </a:r>
          </a:p>
          <a:p>
            <a:r>
              <a:rPr lang="en-US" b="0" dirty="0" err="1"/>
              <a:t>Depois</a:t>
            </a:r>
            <a:r>
              <a:rPr lang="en-US" b="0" dirty="0"/>
              <a:t> da </a:t>
            </a:r>
            <a:r>
              <a:rPr lang="en-US" b="0" dirty="0" err="1"/>
              <a:t>emergência</a:t>
            </a:r>
            <a:r>
              <a:rPr lang="en-US" b="0" dirty="0"/>
              <a:t>, o </a:t>
            </a:r>
            <a:r>
              <a:rPr lang="en-US" b="0" dirty="0" err="1"/>
              <a:t>ciclo</a:t>
            </a:r>
            <a:r>
              <a:rPr lang="en-US" b="0" dirty="0"/>
              <a:t> </a:t>
            </a:r>
            <a:r>
              <a:rPr lang="en-US" b="0" dirty="0" err="1"/>
              <a:t>não</a:t>
            </a:r>
            <a:r>
              <a:rPr lang="en-US" b="0" dirty="0"/>
              <a:t> termina. É </a:t>
            </a:r>
            <a:r>
              <a:rPr lang="en-US" b="0" dirty="0" err="1"/>
              <a:t>necessário</a:t>
            </a:r>
            <a:r>
              <a:rPr lang="en-US" b="0" dirty="0"/>
              <a:t> </a:t>
            </a:r>
            <a:r>
              <a:rPr lang="en-US" b="0" dirty="0" err="1"/>
              <a:t>avaliar</a:t>
            </a:r>
            <a:r>
              <a:rPr lang="en-US" b="0" dirty="0"/>
              <a:t> o </a:t>
            </a:r>
            <a:r>
              <a:rPr lang="en-US" b="0" dirty="0" err="1"/>
              <a:t>impacto</a:t>
            </a:r>
            <a:r>
              <a:rPr lang="en-US" b="0" dirty="0"/>
              <a:t>, </a:t>
            </a:r>
            <a:r>
              <a:rPr lang="en-US" b="0" dirty="0" err="1"/>
              <a:t>restabelecer</a:t>
            </a:r>
            <a:r>
              <a:rPr lang="en-US" b="0" dirty="0"/>
              <a:t> </a:t>
            </a:r>
            <a:r>
              <a:rPr lang="en-US" b="0" dirty="0" err="1"/>
              <a:t>os</a:t>
            </a:r>
            <a:r>
              <a:rPr lang="en-US" b="0" dirty="0"/>
              <a:t> </a:t>
            </a:r>
            <a:r>
              <a:rPr lang="en-US" b="0" dirty="0" err="1"/>
              <a:t>serviços</a:t>
            </a:r>
            <a:r>
              <a:rPr lang="en-US" b="0" dirty="0"/>
              <a:t>, </a:t>
            </a:r>
            <a:r>
              <a:rPr lang="en-US" b="0" dirty="0" err="1"/>
              <a:t>repor</a:t>
            </a:r>
            <a:r>
              <a:rPr lang="en-US" b="0" dirty="0"/>
              <a:t> </a:t>
            </a:r>
            <a:r>
              <a:rPr lang="en-US" b="0" dirty="0" err="1"/>
              <a:t>os</a:t>
            </a:r>
            <a:r>
              <a:rPr lang="en-US" b="0" dirty="0"/>
              <a:t> stocks e, </a:t>
            </a:r>
            <a:r>
              <a:rPr lang="en-US" b="0" dirty="0" err="1"/>
              <a:t>sobretudo</a:t>
            </a:r>
            <a:r>
              <a:rPr lang="en-US" b="0" dirty="0"/>
              <a:t>, </a:t>
            </a:r>
            <a:r>
              <a:rPr lang="en-US" b="0" dirty="0" err="1"/>
              <a:t>documentar</a:t>
            </a:r>
            <a:r>
              <a:rPr lang="en-US" b="0" dirty="0"/>
              <a:t> as </a:t>
            </a:r>
            <a:r>
              <a:rPr lang="en-US" b="0" dirty="0" err="1"/>
              <a:t>lições</a:t>
            </a:r>
            <a:r>
              <a:rPr lang="en-US" b="0" dirty="0"/>
              <a:t> </a:t>
            </a:r>
            <a:r>
              <a:rPr lang="en-US" b="0" dirty="0" err="1"/>
              <a:t>aprendidas</a:t>
            </a:r>
            <a:r>
              <a:rPr lang="en-US" b="0" dirty="0"/>
              <a:t> e </a:t>
            </a:r>
            <a:r>
              <a:rPr lang="en-US" b="0" dirty="0" err="1"/>
              <a:t>corrigir</a:t>
            </a:r>
            <a:r>
              <a:rPr lang="en-US" b="0" dirty="0"/>
              <a:t> as lacunas </a:t>
            </a:r>
            <a:r>
              <a:rPr lang="en-US" b="0" dirty="0" err="1"/>
              <a:t>identificadas</a:t>
            </a:r>
            <a:r>
              <a:rPr lang="en-US" b="0" dirty="0"/>
              <a:t>.</a:t>
            </a:r>
          </a:p>
          <a:p>
            <a:r>
              <a:rPr lang="en-US" b="0" dirty="0"/>
              <a:t>É </a:t>
            </a:r>
            <a:r>
              <a:rPr lang="en-US" b="0" dirty="0" err="1"/>
              <a:t>esta</a:t>
            </a:r>
            <a:r>
              <a:rPr lang="en-US" b="0" dirty="0"/>
              <a:t> </a:t>
            </a:r>
            <a:r>
              <a:rPr lang="en-US" b="0" dirty="0" err="1"/>
              <a:t>aprendizagem</a:t>
            </a:r>
            <a:r>
              <a:rPr lang="en-US" b="0" dirty="0"/>
              <a:t> </a:t>
            </a:r>
            <a:r>
              <a:rPr lang="en-US" b="0" dirty="0" err="1"/>
              <a:t>que</a:t>
            </a:r>
            <a:r>
              <a:rPr lang="en-US" b="0" dirty="0"/>
              <a:t> </a:t>
            </a:r>
            <a:r>
              <a:rPr lang="en-US" b="0" dirty="0" err="1"/>
              <a:t>deve</a:t>
            </a:r>
            <a:r>
              <a:rPr lang="en-US" b="0" dirty="0"/>
              <a:t> </a:t>
            </a:r>
            <a:r>
              <a:rPr lang="en-US" b="0" dirty="0" err="1"/>
              <a:t>alimentar</a:t>
            </a:r>
            <a:r>
              <a:rPr lang="en-US" b="0" dirty="0"/>
              <a:t> </a:t>
            </a:r>
            <a:r>
              <a:rPr lang="en-US" b="0" dirty="0" err="1"/>
              <a:t>novamente</a:t>
            </a:r>
            <a:r>
              <a:rPr lang="en-US" b="0" dirty="0"/>
              <a:t> a </a:t>
            </a:r>
            <a:r>
              <a:rPr lang="en-US" b="0" dirty="0" err="1"/>
              <a:t>preparação</a:t>
            </a:r>
            <a:r>
              <a:rPr lang="en-US" b="0" dirty="0"/>
              <a:t>, </a:t>
            </a:r>
            <a:r>
              <a:rPr lang="en-US" b="0" dirty="0" err="1"/>
              <a:t>tornando</a:t>
            </a:r>
            <a:r>
              <a:rPr lang="en-US" b="0" dirty="0"/>
              <a:t> </a:t>
            </a:r>
            <a:r>
              <a:rPr lang="en-US" b="0" dirty="0" err="1"/>
              <a:t>cada</a:t>
            </a:r>
            <a:r>
              <a:rPr lang="en-US" b="0" dirty="0"/>
              <a:t> </a:t>
            </a:r>
            <a:r>
              <a:rPr lang="en-US" b="0" dirty="0" err="1"/>
              <a:t>resposta</a:t>
            </a:r>
            <a:r>
              <a:rPr lang="en-US" b="0" dirty="0"/>
              <a:t> </a:t>
            </a:r>
            <a:r>
              <a:rPr lang="en-US" b="0" dirty="0" err="1"/>
              <a:t>uma</a:t>
            </a:r>
            <a:r>
              <a:rPr lang="en-US" b="0" dirty="0"/>
              <a:t> </a:t>
            </a:r>
            <a:r>
              <a:rPr lang="en-US" b="0" dirty="0" err="1"/>
              <a:t>oportunidade</a:t>
            </a:r>
            <a:r>
              <a:rPr lang="en-US" b="0" dirty="0"/>
              <a:t> para </a:t>
            </a:r>
            <a:r>
              <a:rPr lang="en-US" b="0" dirty="0" err="1"/>
              <a:t>melhorar</a:t>
            </a:r>
            <a:r>
              <a:rPr lang="en-US" b="0" dirty="0"/>
              <a:t> a </a:t>
            </a:r>
            <a:r>
              <a:rPr lang="en-US" b="0" dirty="0" err="1"/>
              <a:t>prontidão</a:t>
            </a:r>
            <a:r>
              <a:rPr lang="en-US" b="0" dirty="0"/>
              <a:t> para a </a:t>
            </a:r>
            <a:r>
              <a:rPr lang="en-US" b="0" dirty="0" err="1"/>
              <a:t>próxima</a:t>
            </a:r>
            <a:r>
              <a:rPr lang="en-US" b="0" dirty="0"/>
              <a:t> </a:t>
            </a:r>
            <a:r>
              <a:rPr lang="en-US" b="0" dirty="0" err="1"/>
              <a:t>emergência</a:t>
            </a:r>
            <a:r>
              <a:rPr lang="en-US" b="0" dirty="0"/>
              <a:t>.”</a:t>
            </a:r>
          </a:p>
          <a:p>
            <a:endParaRPr lang="pt-PT" dirty="0"/>
          </a:p>
          <a:p>
            <a:r>
              <a:rPr lang="en-US" dirty="0"/>
              <a:t>“Por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falamos</a:t>
            </a:r>
            <a:r>
              <a:rPr lang="en-US" dirty="0"/>
              <a:t> de um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melhoria</a:t>
            </a:r>
            <a:r>
              <a:rPr lang="en-US" dirty="0"/>
              <a:t> </a:t>
            </a:r>
            <a:r>
              <a:rPr lang="en-US" dirty="0" err="1"/>
              <a:t>contínua</a:t>
            </a:r>
            <a:r>
              <a:rPr lang="en-US" dirty="0"/>
              <a:t>: </a:t>
            </a:r>
            <a:r>
              <a:rPr lang="en-US" dirty="0" err="1"/>
              <a:t>preparar</a:t>
            </a:r>
            <a:r>
              <a:rPr lang="en-US" dirty="0"/>
              <a:t>, responder, </a:t>
            </a:r>
            <a:r>
              <a:rPr lang="en-US" dirty="0" err="1"/>
              <a:t>aprender</a:t>
            </a:r>
            <a:r>
              <a:rPr lang="en-US" dirty="0"/>
              <a:t> e </a:t>
            </a:r>
            <a:r>
              <a:rPr lang="en-US" dirty="0" err="1"/>
              <a:t>voltar</a:t>
            </a:r>
            <a:r>
              <a:rPr lang="en-US" dirty="0"/>
              <a:t> a </a:t>
            </a:r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.”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6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openxmlformats.org/officeDocument/2006/relationships/image" Target="../media/image12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429000"/>
            <a:ext cx="10705672" cy="18819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Resposta às Emergências de Saúde Pública: avaliação, lições aprendidas e fortalecimento da prontidão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Introdução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9D5CA-B995-1C22-8594-AF04FABC0F1D}"/>
              </a:ext>
            </a:extLst>
          </p:cNvPr>
          <p:cNvSpPr txBox="1"/>
          <p:nvPr/>
        </p:nvSpPr>
        <p:spPr>
          <a:xfrm>
            <a:off x="684064" y="1347401"/>
            <a:ext cx="108145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Cidade</a:t>
            </a:r>
            <a:r>
              <a:rPr lang="en-US" sz="2000" dirty="0">
                <a:solidFill>
                  <a:schemeClr val="bg1"/>
                </a:solidFill>
              </a:rPr>
              <a:t> de Maputo </a:t>
            </a:r>
            <a:r>
              <a:rPr lang="en-US" sz="2000" dirty="0" err="1">
                <a:solidFill>
                  <a:schemeClr val="bg1"/>
                </a:solidFill>
              </a:rPr>
              <a:t>está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exposta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múltiplas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ameaças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saúde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pública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exigem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capacidade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permanente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preparação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detecção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As </a:t>
            </a:r>
            <a:r>
              <a:rPr lang="en-US" sz="2000" dirty="0" err="1">
                <a:solidFill>
                  <a:schemeClr val="bg1"/>
                </a:solidFill>
              </a:rPr>
              <a:t>emergências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recentes</a:t>
            </a:r>
            <a:r>
              <a:rPr lang="en-US" sz="2000" dirty="0">
                <a:solidFill>
                  <a:schemeClr val="bg1"/>
                </a:solidFill>
              </a:rPr>
              <a:t>, com </a:t>
            </a:r>
            <a:r>
              <a:rPr lang="en-US" sz="2000" dirty="0" err="1">
                <a:solidFill>
                  <a:schemeClr val="bg1"/>
                </a:solidFill>
              </a:rPr>
              <a:t>destaque</a:t>
            </a:r>
            <a:r>
              <a:rPr lang="en-US" sz="2000" dirty="0">
                <a:solidFill>
                  <a:schemeClr val="bg1"/>
                </a:solidFill>
              </a:rPr>
              <a:t> para a </a:t>
            </a:r>
            <a:r>
              <a:rPr lang="en-US" sz="2000" dirty="0" err="1">
                <a:solidFill>
                  <a:schemeClr val="bg1"/>
                </a:solidFill>
              </a:rPr>
              <a:t>Época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Ciclónica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Chuvosa</a:t>
            </a:r>
            <a:r>
              <a:rPr lang="en-US" sz="2000" dirty="0">
                <a:solidFill>
                  <a:schemeClr val="bg1"/>
                </a:solidFill>
              </a:rPr>
              <a:t> 2025/26, </a:t>
            </a:r>
            <a:r>
              <a:rPr lang="en-US" sz="2000" dirty="0" err="1">
                <a:solidFill>
                  <a:schemeClr val="bg1"/>
                </a:solidFill>
              </a:rPr>
              <a:t>colocaram</a:t>
            </a:r>
            <a:r>
              <a:rPr lang="en-US" sz="2000" dirty="0">
                <a:solidFill>
                  <a:schemeClr val="bg1"/>
                </a:solidFill>
              </a:rPr>
              <a:t> à </a:t>
            </a:r>
            <a:r>
              <a:rPr lang="en-US" sz="2000" dirty="0" err="1">
                <a:solidFill>
                  <a:schemeClr val="bg1"/>
                </a:solidFill>
              </a:rPr>
              <a:t>prova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capacidade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sistema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permitindo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identificar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ganhos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desafios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lições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aprendidas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experiência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reforça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necessidade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evoluir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uma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predominantemente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reactiva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uma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abordagem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multirrisco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assente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prontidão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coordenada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recuperação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melhoria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contínua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 </a:t>
            </a:r>
            <a:r>
              <a:rPr lang="en-US" sz="2000" dirty="0" err="1">
                <a:solidFill>
                  <a:schemeClr val="bg1"/>
                </a:solidFill>
              </a:rPr>
              <a:t>experiência</a:t>
            </a:r>
            <a:r>
              <a:rPr lang="en-US" sz="2000" dirty="0">
                <a:solidFill>
                  <a:schemeClr val="bg1"/>
                </a:solidFill>
              </a:rPr>
              <a:t> à </a:t>
            </a:r>
            <a:r>
              <a:rPr lang="en-US" sz="2000" dirty="0" err="1">
                <a:solidFill>
                  <a:schemeClr val="bg1"/>
                </a:solidFill>
              </a:rPr>
              <a:t>aprendizagem</a:t>
            </a:r>
            <a:r>
              <a:rPr lang="en-US" sz="2000" dirty="0">
                <a:solidFill>
                  <a:schemeClr val="bg1"/>
                </a:solidFill>
              </a:rPr>
              <a:t>. Da </a:t>
            </a:r>
            <a:r>
              <a:rPr lang="en-US" sz="2000" dirty="0" err="1">
                <a:solidFill>
                  <a:schemeClr val="bg1"/>
                </a:solidFill>
              </a:rPr>
              <a:t>aprendizagem</a:t>
            </a:r>
            <a:r>
              <a:rPr lang="en-US" sz="2000" dirty="0">
                <a:solidFill>
                  <a:schemeClr val="bg1"/>
                </a:solidFill>
              </a:rPr>
              <a:t> à </a:t>
            </a:r>
            <a:r>
              <a:rPr lang="en-US" sz="2000" dirty="0" err="1">
                <a:solidFill>
                  <a:schemeClr val="bg1"/>
                </a:solidFill>
              </a:rPr>
              <a:t>prontidão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33F7-985C-9D14-F648-557A7BED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37AE98-A9C6-965A-3A62-BB40810B3269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err="1">
                <a:solidFill>
                  <a:schemeClr val="bg1"/>
                </a:solidFill>
                <a:cs typeface="Arial" panose="020B0604020202020204" pitchFamily="34" charset="0"/>
              </a:rPr>
              <a:t>Objectivos</a:t>
            </a:r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 da Apresentação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1ABA9-A87D-E891-A70E-42A65262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A899A-62B0-23F3-9A0C-E868D29B932D}"/>
              </a:ext>
            </a:extLst>
          </p:cNvPr>
          <p:cNvSpPr txBox="1"/>
          <p:nvPr/>
        </p:nvSpPr>
        <p:spPr>
          <a:xfrm>
            <a:off x="684064" y="1347401"/>
            <a:ext cx="1081451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Objectivo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geral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>
              <a:buNone/>
            </a:pPr>
            <a:r>
              <a:rPr lang="en-US" sz="2000" dirty="0" err="1">
                <a:solidFill>
                  <a:schemeClr val="bg1"/>
                </a:solidFill>
              </a:rPr>
              <a:t>Analisar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capacidade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preparação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Cidade</a:t>
            </a:r>
            <a:r>
              <a:rPr lang="en-US" sz="2000" dirty="0">
                <a:solidFill>
                  <a:schemeClr val="bg1"/>
                </a:solidFill>
              </a:rPr>
              <a:t> de Maputo </a:t>
            </a:r>
            <a:r>
              <a:rPr lang="en-US" sz="2000" dirty="0" err="1">
                <a:solidFill>
                  <a:schemeClr val="bg1"/>
                </a:solidFill>
              </a:rPr>
              <a:t>às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emergências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saúde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pública</a:t>
            </a:r>
            <a:r>
              <a:rPr lang="en-US" sz="2000" dirty="0">
                <a:solidFill>
                  <a:schemeClr val="bg1"/>
                </a:solidFill>
              </a:rPr>
              <a:t>, à luz das </a:t>
            </a:r>
            <a:r>
              <a:rPr lang="en-US" sz="2000" dirty="0" err="1">
                <a:solidFill>
                  <a:schemeClr val="bg1"/>
                </a:solidFill>
              </a:rPr>
              <a:t>experiências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recentes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identificando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aprendidas</a:t>
            </a:r>
            <a:r>
              <a:rPr lang="en-US" sz="2000" dirty="0">
                <a:solidFill>
                  <a:schemeClr val="bg1"/>
                </a:solidFill>
              </a:rPr>
              <a:t>, lacunas e </a:t>
            </a:r>
            <a:r>
              <a:rPr lang="en-US" sz="2000" dirty="0" err="1">
                <a:solidFill>
                  <a:schemeClr val="bg1"/>
                </a:solidFill>
              </a:rPr>
              <a:t>prioridades</a:t>
            </a:r>
            <a:r>
              <a:rPr lang="en-US" sz="2000" dirty="0">
                <a:solidFill>
                  <a:schemeClr val="bg1"/>
                </a:solidFill>
              </a:rPr>
              <a:t> para o </a:t>
            </a:r>
            <a:r>
              <a:rPr lang="en-US" sz="2000" dirty="0" err="1">
                <a:solidFill>
                  <a:schemeClr val="bg1"/>
                </a:solidFill>
              </a:rPr>
              <a:t>fortalecimento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prontidão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algn="just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algn="just"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Objectivos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específicos</a:t>
            </a:r>
            <a:endParaRPr lang="en-US" sz="2000" b="1" dirty="0">
              <a:solidFill>
                <a:schemeClr val="bg1"/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Apresentar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perfil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risco</a:t>
            </a:r>
            <a:r>
              <a:rPr lang="en-US" sz="2000" dirty="0">
                <a:solidFill>
                  <a:schemeClr val="bg1"/>
                </a:solidFill>
              </a:rPr>
              <a:t> e as </a:t>
            </a:r>
            <a:r>
              <a:rPr lang="en-US" sz="2000" dirty="0" err="1">
                <a:solidFill>
                  <a:schemeClr val="bg1"/>
                </a:solidFill>
              </a:rPr>
              <a:t>principais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ameaças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saúde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pública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relevantes</a:t>
            </a:r>
            <a:r>
              <a:rPr lang="en-US" sz="2000" dirty="0">
                <a:solidFill>
                  <a:schemeClr val="bg1"/>
                </a:solidFill>
              </a:rPr>
              <a:t> para a </a:t>
            </a:r>
            <a:r>
              <a:rPr lang="en-US" sz="2000" dirty="0" err="1">
                <a:solidFill>
                  <a:schemeClr val="bg1"/>
                </a:solidFill>
              </a:rPr>
              <a:t>Cidade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Analisar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experiência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recente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, com </a:t>
            </a:r>
            <a:r>
              <a:rPr lang="en-US" sz="2000" dirty="0" err="1">
                <a:solidFill>
                  <a:schemeClr val="bg1"/>
                </a:solidFill>
              </a:rPr>
              <a:t>enfoque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ECC 2025/26, </a:t>
            </a:r>
            <a:r>
              <a:rPr lang="en-US" sz="2000" dirty="0" err="1">
                <a:solidFill>
                  <a:schemeClr val="bg1"/>
                </a:solidFill>
              </a:rPr>
              <a:t>incluindo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cheias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inundações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cólera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Identificar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ganhos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desafios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lições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aprendidas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Avaliar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principais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capacidades</a:t>
            </a:r>
            <a:r>
              <a:rPr lang="en-US" sz="2000" dirty="0">
                <a:solidFill>
                  <a:schemeClr val="bg1"/>
                </a:solidFill>
              </a:rPr>
              <a:t> e lacunas de </a:t>
            </a:r>
            <a:r>
              <a:rPr lang="en-US" sz="2000" dirty="0" err="1">
                <a:solidFill>
                  <a:schemeClr val="bg1"/>
                </a:solidFill>
              </a:rPr>
              <a:t>prontidão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Apresentar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prioridades</a:t>
            </a:r>
            <a:r>
              <a:rPr lang="en-US" sz="2000" dirty="0">
                <a:solidFill>
                  <a:schemeClr val="bg1"/>
                </a:solidFill>
              </a:rPr>
              <a:t> para o </a:t>
            </a:r>
            <a:r>
              <a:rPr lang="en-US" sz="2000" dirty="0" err="1">
                <a:solidFill>
                  <a:schemeClr val="bg1"/>
                </a:solidFill>
              </a:rPr>
              <a:t>fortalecimento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preparação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detecção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recuperação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8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Conteúdo da Apresentação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B7A22-9F27-BB26-42FA-FE7D9EB883A7}"/>
              </a:ext>
            </a:extLst>
          </p:cNvPr>
          <p:cNvSpPr txBox="1"/>
          <p:nvPr/>
        </p:nvSpPr>
        <p:spPr>
          <a:xfrm>
            <a:off x="811530" y="1417320"/>
            <a:ext cx="10229850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I. </a:t>
            </a:r>
            <a:r>
              <a:rPr lang="en-US" sz="2400" dirty="0" err="1">
                <a:solidFill>
                  <a:schemeClr val="bg1"/>
                </a:solidFill>
              </a:rPr>
              <a:t>Perfil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risco</a:t>
            </a:r>
            <a:r>
              <a:rPr lang="en-US" sz="2400" dirty="0">
                <a:solidFill>
                  <a:schemeClr val="bg1"/>
                </a:solidFill>
              </a:rPr>
              <a:t> e </a:t>
            </a:r>
            <a:r>
              <a:rPr lang="en-US" sz="2400" dirty="0" err="1">
                <a:solidFill>
                  <a:schemeClr val="bg1"/>
                </a:solidFill>
              </a:rPr>
              <a:t>contexto</a:t>
            </a:r>
            <a:r>
              <a:rPr lang="en-US" sz="2400" dirty="0">
                <a:solidFill>
                  <a:schemeClr val="bg1"/>
                </a:solidFill>
              </a:rPr>
              <a:t> das </a:t>
            </a:r>
            <a:r>
              <a:rPr lang="en-US" sz="2400" dirty="0" err="1">
                <a:solidFill>
                  <a:schemeClr val="bg1"/>
                </a:solidFill>
              </a:rPr>
              <a:t>emergências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saúde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pública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II. </a:t>
            </a:r>
            <a:r>
              <a:rPr lang="en-US" sz="2400" dirty="0" err="1">
                <a:solidFill>
                  <a:schemeClr val="bg1"/>
                </a:solidFill>
              </a:rPr>
              <a:t>Experiência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recente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resposta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Cidade</a:t>
            </a:r>
            <a:r>
              <a:rPr lang="en-US" sz="2400" dirty="0">
                <a:solidFill>
                  <a:schemeClr val="bg1"/>
                </a:solidFill>
              </a:rPr>
              <a:t> de Maputo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III. </a:t>
            </a:r>
            <a:r>
              <a:rPr lang="en-US" sz="2400" dirty="0" err="1">
                <a:solidFill>
                  <a:schemeClr val="bg1"/>
                </a:solidFill>
              </a:rPr>
              <a:t>Avaliação</a:t>
            </a:r>
            <a:r>
              <a:rPr lang="en-US" sz="2400" dirty="0">
                <a:solidFill>
                  <a:schemeClr val="bg1"/>
                </a:solidFill>
              </a:rPr>
              <a:t> da </a:t>
            </a:r>
            <a:r>
              <a:rPr lang="en-US" sz="2400" dirty="0" err="1">
                <a:solidFill>
                  <a:schemeClr val="bg1"/>
                </a:solidFill>
              </a:rPr>
              <a:t>resposta</a:t>
            </a:r>
            <a:r>
              <a:rPr lang="en-US" sz="2400" dirty="0">
                <a:solidFill>
                  <a:schemeClr val="bg1"/>
                </a:solidFill>
              </a:rPr>
              <a:t> e </a:t>
            </a:r>
            <a:r>
              <a:rPr lang="en-US" sz="2400" dirty="0" err="1">
                <a:solidFill>
                  <a:schemeClr val="bg1"/>
                </a:solidFill>
              </a:rPr>
              <a:t>lições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aprendidas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IV. Da </a:t>
            </a:r>
            <a:r>
              <a:rPr lang="en-US" sz="2400" dirty="0" err="1">
                <a:solidFill>
                  <a:schemeClr val="bg1"/>
                </a:solidFill>
              </a:rPr>
              <a:t>resposta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reactiva</a:t>
            </a:r>
            <a:r>
              <a:rPr lang="en-US" sz="2400" dirty="0">
                <a:solidFill>
                  <a:schemeClr val="bg1"/>
                </a:solidFill>
              </a:rPr>
              <a:t> à </a:t>
            </a:r>
            <a:r>
              <a:rPr lang="en-US" sz="2400" dirty="0" err="1">
                <a:solidFill>
                  <a:schemeClr val="bg1"/>
                </a:solidFill>
              </a:rPr>
              <a:t>prontidão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multirrisco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V. </a:t>
            </a:r>
            <a:r>
              <a:rPr lang="en-US" sz="2400" dirty="0" err="1">
                <a:solidFill>
                  <a:schemeClr val="bg1"/>
                </a:solidFill>
              </a:rPr>
              <a:t>Prioridades</a:t>
            </a:r>
            <a:r>
              <a:rPr lang="en-US" sz="2400" dirty="0">
                <a:solidFill>
                  <a:schemeClr val="bg1"/>
                </a:solidFill>
              </a:rPr>
              <a:t> para o </a:t>
            </a:r>
            <a:r>
              <a:rPr lang="en-US" sz="2400" dirty="0" err="1">
                <a:solidFill>
                  <a:schemeClr val="bg1"/>
                </a:solidFill>
              </a:rPr>
              <a:t>fortalecimento</a:t>
            </a:r>
            <a:r>
              <a:rPr lang="en-US" sz="2400" dirty="0">
                <a:solidFill>
                  <a:schemeClr val="bg1"/>
                </a:solidFill>
              </a:rPr>
              <a:t> da </a:t>
            </a:r>
            <a:r>
              <a:rPr lang="en-US" sz="2400" dirty="0" err="1">
                <a:solidFill>
                  <a:schemeClr val="bg1"/>
                </a:solidFill>
              </a:rPr>
              <a:t>prontidão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59CEB2-FCAB-DA44-132A-A4C2DE45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I. PERFIL DE RISCO E CONTEXTO</a:t>
            </a:r>
            <a:endParaRPr lang="pt-P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949E5-301C-E65F-FCEE-4E361B1B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3FA8A-A7BD-41F9-BCEB-6C5AB8D10B6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0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1143000" y="0"/>
            <a:ext cx="105441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 err="1">
                <a:solidFill>
                  <a:schemeClr val="bg1"/>
                </a:solidFill>
              </a:rPr>
              <a:t>Perfil</a:t>
            </a:r>
            <a:r>
              <a:rPr lang="en-US" sz="2800" b="1" dirty="0">
                <a:solidFill>
                  <a:schemeClr val="bg1"/>
                </a:solidFill>
              </a:rPr>
              <a:t> de </a:t>
            </a:r>
            <a:r>
              <a:rPr lang="en-US" sz="2800" b="1" dirty="0" err="1">
                <a:solidFill>
                  <a:schemeClr val="bg1"/>
                </a:solidFill>
              </a:rPr>
              <a:t>risco</a:t>
            </a:r>
            <a:r>
              <a:rPr lang="en-US" sz="2800" b="1" dirty="0">
                <a:solidFill>
                  <a:schemeClr val="bg1"/>
                </a:solidFill>
              </a:rPr>
              <a:t> de </a:t>
            </a:r>
            <a:r>
              <a:rPr lang="en-US" sz="2800" b="1" dirty="0" err="1">
                <a:solidFill>
                  <a:schemeClr val="bg1"/>
                </a:solidFill>
              </a:rPr>
              <a:t>Emergências</a:t>
            </a:r>
            <a:r>
              <a:rPr lang="en-US" sz="2800" b="1" dirty="0">
                <a:solidFill>
                  <a:schemeClr val="bg1"/>
                </a:solidFill>
              </a:rPr>
              <a:t> de </a:t>
            </a:r>
            <a:r>
              <a:rPr lang="en-US" sz="2800" b="1" dirty="0" err="1">
                <a:solidFill>
                  <a:schemeClr val="bg1"/>
                </a:solidFill>
              </a:rPr>
              <a:t>Saúde</a:t>
            </a:r>
            <a:r>
              <a:rPr lang="en-US" sz="2800" b="1" dirty="0">
                <a:solidFill>
                  <a:schemeClr val="bg1"/>
                </a:solidFill>
              </a:rPr>
              <a:t> Pública da </a:t>
            </a:r>
            <a:r>
              <a:rPr lang="en-US" sz="2800" b="1" dirty="0" err="1">
                <a:solidFill>
                  <a:schemeClr val="bg1"/>
                </a:solidFill>
              </a:rPr>
              <a:t>Cidade</a:t>
            </a:r>
            <a:r>
              <a:rPr lang="en-US" sz="2800" b="1" dirty="0">
                <a:solidFill>
                  <a:schemeClr val="bg1"/>
                </a:solidFill>
              </a:rPr>
              <a:t> de Maputo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3491BA-12FD-3271-6EB4-1CEB9B22A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16" y="1162853"/>
            <a:ext cx="8416659" cy="473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0AE2-FBC7-1D20-EEE5-85FE577C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77DD27-6D2D-8CD6-1FEC-82F5E8DD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II. EXPERIÊNCIA RECENTE DE RESPOSTA</a:t>
            </a:r>
            <a:endParaRPr lang="pt-P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90EEA4-878E-2EE3-87E6-7AB6E70D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3FA8A-A7BD-41F9-BCEB-6C5AB8D10B6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25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057275" y="221163"/>
            <a:ext cx="10629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>
                <a:solidFill>
                  <a:schemeClr val="bg1"/>
                </a:solidFill>
              </a:rPr>
              <a:t>ECC 2025/26: a </a:t>
            </a:r>
            <a:r>
              <a:rPr lang="en-US" sz="2800" b="1" dirty="0" err="1">
                <a:solidFill>
                  <a:schemeClr val="bg1"/>
                </a:solidFill>
              </a:rPr>
              <a:t>capacidade</a:t>
            </a:r>
            <a:r>
              <a:rPr lang="en-US" sz="2800" b="1" dirty="0">
                <a:solidFill>
                  <a:schemeClr val="bg1"/>
                </a:solidFill>
              </a:rPr>
              <a:t> do </a:t>
            </a:r>
            <a:r>
              <a:rPr lang="en-US" sz="2800" b="1" dirty="0" err="1">
                <a:solidFill>
                  <a:schemeClr val="bg1"/>
                </a:solidFill>
              </a:rPr>
              <a:t>sistema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posta</a:t>
            </a:r>
            <a:r>
              <a:rPr lang="en-US" sz="2800" b="1" dirty="0">
                <a:solidFill>
                  <a:schemeClr val="bg1"/>
                </a:solidFill>
              </a:rPr>
              <a:t> à </a:t>
            </a:r>
            <a:r>
              <a:rPr lang="en-US" sz="2800" b="1" dirty="0" err="1">
                <a:solidFill>
                  <a:schemeClr val="bg1"/>
                </a:solidFill>
              </a:rPr>
              <a:t>prova</a:t>
            </a:r>
            <a:endParaRPr lang="pt-P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graphicFrame>
        <p:nvGraphicFramePr>
          <p:cNvPr id="4" name="Diagrama 7">
            <a:extLst>
              <a:ext uri="{FF2B5EF4-FFF2-40B4-BE49-F238E27FC236}">
                <a16:creationId xmlns:a16="http://schemas.microsoft.com/office/drawing/2014/main" id="{6E3A69C4-F47D-E42F-8924-C96BD65A0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5213856"/>
              </p:ext>
            </p:extLst>
          </p:nvPr>
        </p:nvGraphicFramePr>
        <p:xfrm>
          <a:off x="501454" y="397970"/>
          <a:ext cx="11185721" cy="5613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Espaço Reservado para Conteúdo 6">
            <a:extLst>
              <a:ext uri="{FF2B5EF4-FFF2-40B4-BE49-F238E27FC236}">
                <a16:creationId xmlns:a16="http://schemas.microsoft.com/office/drawing/2014/main" id="{A40C4C98-F4ED-5B9C-ECA6-399B0D07F8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82874" y="2235849"/>
            <a:ext cx="1854599" cy="2386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: Cantos Arredondados 8">
            <a:extLst>
              <a:ext uri="{FF2B5EF4-FFF2-40B4-BE49-F238E27FC236}">
                <a16:creationId xmlns:a16="http://schemas.microsoft.com/office/drawing/2014/main" id="{F060EF5C-634E-695B-5156-A4A9165C11FB}"/>
              </a:ext>
            </a:extLst>
          </p:cNvPr>
          <p:cNvSpPr/>
          <p:nvPr/>
        </p:nvSpPr>
        <p:spPr>
          <a:xfrm>
            <a:off x="2221122" y="5386384"/>
            <a:ext cx="7124369" cy="3822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Período crítico:</a:t>
            </a:r>
            <a:r>
              <a:rPr lang="pt-BR" sz="1400" dirty="0">
                <a:solidFill>
                  <a:schemeClr val="tx1"/>
                </a:solidFill>
              </a:rPr>
              <a:t> 2ª Metade da ECC - Janeiro – Março 2026</a:t>
            </a: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1577340" y="221163"/>
            <a:ext cx="99669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sz="2800" b="1" dirty="0">
                <a:solidFill>
                  <a:schemeClr val="bg1"/>
                </a:solidFill>
              </a:rPr>
              <a:t>Principais </a:t>
            </a:r>
            <a:r>
              <a:rPr lang="pt-BR" sz="2800" b="1" dirty="0" err="1">
                <a:solidFill>
                  <a:schemeClr val="bg1"/>
                </a:solidFill>
              </a:rPr>
              <a:t>Acções</a:t>
            </a:r>
            <a:r>
              <a:rPr lang="pt-BR" sz="2800" b="1" dirty="0">
                <a:solidFill>
                  <a:schemeClr val="bg1"/>
                </a:solidFill>
              </a:rPr>
              <a:t> de Resposta Realizadas por Pilar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6D60F-9E84-C263-3453-28EC5E4F9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896938"/>
            <a:ext cx="93726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9EB3-F660-4CB6-4922-02B079AD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761ED5-A949-D831-77D8-C48A45F5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III. AVALIAÇÃO E LIÇÕES APRENDIDAS</a:t>
            </a:r>
            <a:endParaRPr lang="pt-P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89C35-7B12-8827-1288-65490F8EE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3FA8A-A7BD-41F9-BCEB-6C5AB8D10B6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9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2416994" y="221163"/>
            <a:ext cx="7584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 err="1">
                <a:solidFill>
                  <a:schemeClr val="bg1"/>
                </a:solidFill>
              </a:rPr>
              <a:t>Avaliação</a:t>
            </a:r>
            <a:r>
              <a:rPr lang="en-US" sz="2800" b="1" dirty="0">
                <a:solidFill>
                  <a:schemeClr val="bg1"/>
                </a:solidFill>
              </a:rPr>
              <a:t> Pós-</a:t>
            </a:r>
            <a:r>
              <a:rPr lang="en-US" sz="2800" b="1" dirty="0" err="1">
                <a:solidFill>
                  <a:schemeClr val="bg1"/>
                </a:solidFill>
              </a:rPr>
              <a:t>Acção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62B39-5489-EF0F-989C-59B48B07D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746"/>
            <a:ext cx="12192000" cy="48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331B-80B3-A421-805D-FC61A7BC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5DEC54-BD43-9F7B-D37E-7E0CB80D4717}"/>
              </a:ext>
            </a:extLst>
          </p:cNvPr>
          <p:cNvSpPr txBox="1"/>
          <p:nvPr/>
        </p:nvSpPr>
        <p:spPr>
          <a:xfrm>
            <a:off x="2416994" y="221163"/>
            <a:ext cx="7584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 </a:t>
            </a:r>
            <a:r>
              <a:rPr lang="en-US" sz="2800" b="1" dirty="0" err="1">
                <a:solidFill>
                  <a:schemeClr val="bg1"/>
                </a:solidFill>
              </a:rPr>
              <a:t>que</a:t>
            </a:r>
            <a:r>
              <a:rPr lang="en-US" sz="2800" b="1" dirty="0">
                <a:solidFill>
                  <a:schemeClr val="bg1"/>
                </a:solidFill>
              </a:rPr>
              <a:t> a </a:t>
            </a:r>
            <a:r>
              <a:rPr lang="en-US" sz="2800" b="1" dirty="0" err="1">
                <a:solidFill>
                  <a:schemeClr val="bg1"/>
                </a:solidFill>
              </a:rPr>
              <a:t>resposta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revelou</a:t>
            </a:r>
            <a:r>
              <a:rPr lang="en-US" sz="2800" b="1" dirty="0">
                <a:solidFill>
                  <a:schemeClr val="bg1"/>
                </a:solidFill>
              </a:rPr>
              <a:t>?</a:t>
            </a:r>
            <a:endParaRPr lang="pt-PT" sz="28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CA7E63-C457-968D-A52A-CD84FF29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E38DD-9547-233B-C441-A2C5EE769096}"/>
              </a:ext>
            </a:extLst>
          </p:cNvPr>
          <p:cNvSpPr txBox="1"/>
          <p:nvPr/>
        </p:nvSpPr>
        <p:spPr>
          <a:xfrm>
            <a:off x="777240" y="1478135"/>
            <a:ext cx="5318760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Capacidades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demonstradas</a:t>
            </a:r>
            <a:endParaRPr lang="en-US" sz="20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Activação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atempada</a:t>
            </a:r>
            <a:r>
              <a:rPr lang="en-US" dirty="0">
                <a:solidFill>
                  <a:schemeClr val="bg1"/>
                </a:solidFill>
              </a:rPr>
              <a:t> dos </a:t>
            </a:r>
            <a:r>
              <a:rPr lang="en-US" dirty="0" err="1">
                <a:solidFill>
                  <a:schemeClr val="bg1"/>
                </a:solidFill>
              </a:rPr>
              <a:t>mecanismos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coordenação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Vigilância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activa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Continuidade</a:t>
            </a:r>
            <a:r>
              <a:rPr lang="en-US" dirty="0">
                <a:solidFill>
                  <a:schemeClr val="bg1"/>
                </a:solidFill>
              </a:rPr>
              <a:t> dos </a:t>
            </a:r>
            <a:r>
              <a:rPr lang="en-US" dirty="0" err="1">
                <a:solidFill>
                  <a:schemeClr val="bg1"/>
                </a:solidFill>
              </a:rPr>
              <a:t>serviços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essenciais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Mobilização</a:t>
            </a:r>
            <a:r>
              <a:rPr lang="en-US" dirty="0">
                <a:solidFill>
                  <a:schemeClr val="bg1"/>
                </a:solidFill>
              </a:rPr>
              <a:t> dos </a:t>
            </a:r>
            <a:r>
              <a:rPr lang="en-US" dirty="0" err="1">
                <a:solidFill>
                  <a:schemeClr val="bg1"/>
                </a:solidFill>
              </a:rPr>
              <a:t>parceiros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Comunicação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risco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envolvimento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comunitário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FD236A-B72F-7C17-77AF-C18B1B01B9D4}"/>
              </a:ext>
            </a:extLst>
          </p:cNvPr>
          <p:cNvSpPr txBox="1"/>
          <p:nvPr/>
        </p:nvSpPr>
        <p:spPr>
          <a:xfrm>
            <a:off x="6532245" y="1478135"/>
            <a:ext cx="515493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Lacunas </a:t>
            </a:r>
            <a:r>
              <a:rPr lang="en-US" b="1" dirty="0" err="1">
                <a:solidFill>
                  <a:schemeClr val="bg1"/>
                </a:solidFill>
              </a:rPr>
              <a:t>evidenciadas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Transporte, </a:t>
            </a:r>
            <a:r>
              <a:rPr lang="en-US" dirty="0" err="1">
                <a:solidFill>
                  <a:schemeClr val="bg1"/>
                </a:solidFill>
              </a:rPr>
              <a:t>combustível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comunicação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Recursos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humanos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insuficientes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Limitações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laboratoriais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Qualidade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oportunidade</a:t>
            </a:r>
            <a:r>
              <a:rPr lang="en-US" dirty="0">
                <a:solidFill>
                  <a:schemeClr val="bg1"/>
                </a:solidFill>
              </a:rPr>
              <a:t> dos dados;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Condições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alguns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centros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acomodação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Vulnerabilidades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ambientais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persistentes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E509F-FDDE-0040-BC2D-AD0EBBA8BF4D}"/>
              </a:ext>
            </a:extLst>
          </p:cNvPr>
          <p:cNvSpPr txBox="1"/>
          <p:nvPr/>
        </p:nvSpPr>
        <p:spPr>
          <a:xfrm>
            <a:off x="1322796" y="4935177"/>
            <a:ext cx="9772650" cy="646331"/>
          </a:xfrm>
          <a:prstGeom prst="rect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 err="1">
                <a:solidFill>
                  <a:schemeClr val="bg1"/>
                </a:solidFill>
              </a:rPr>
              <a:t>resposta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mostrou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capacidades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instaladas</a:t>
            </a:r>
            <a:r>
              <a:rPr lang="en-US" dirty="0">
                <a:solidFill>
                  <a:schemeClr val="bg1"/>
                </a:solidFill>
              </a:rPr>
              <a:t>, mas </a:t>
            </a:r>
            <a:r>
              <a:rPr lang="en-US" dirty="0" err="1">
                <a:solidFill>
                  <a:schemeClr val="bg1"/>
                </a:solidFill>
              </a:rPr>
              <a:t>também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vulnerabilidades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podem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comprometer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rapidez</a:t>
            </a:r>
            <a:r>
              <a:rPr lang="en-US" dirty="0">
                <a:solidFill>
                  <a:schemeClr val="bg1"/>
                </a:solidFill>
              </a:rPr>
              <a:t> e a </a:t>
            </a:r>
            <a:r>
              <a:rPr lang="en-US" dirty="0" err="1">
                <a:solidFill>
                  <a:schemeClr val="bg1"/>
                </a:solidFill>
              </a:rPr>
              <a:t>efectividade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resposta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4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Lições Aprendidas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graphicFrame>
        <p:nvGraphicFramePr>
          <p:cNvPr id="2" name="Espaço Reservado para Conteúdo 4">
            <a:extLst>
              <a:ext uri="{FF2B5EF4-FFF2-40B4-BE49-F238E27FC236}">
                <a16:creationId xmlns:a16="http://schemas.microsoft.com/office/drawing/2014/main" id="{A5B9ADAC-E6B2-2F17-9B4F-986020507D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2680987"/>
              </p:ext>
            </p:extLst>
          </p:nvPr>
        </p:nvGraphicFramePr>
        <p:xfrm>
          <a:off x="825850" y="1215079"/>
          <a:ext cx="10344150" cy="4926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3">
            <a:extLst>
              <a:ext uri="{FF2B5EF4-FFF2-40B4-BE49-F238E27FC236}">
                <a16:creationId xmlns:a16="http://schemas.microsoft.com/office/drawing/2014/main" id="{95014BDC-DAFC-40D6-7CBF-D8AEA4B21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81" y="1502524"/>
            <a:ext cx="1783324" cy="17751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8F5BCB3-74C7-73A8-5A58-78756E3A74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8958" y="1477968"/>
            <a:ext cx="1751640" cy="1799723"/>
          </a:xfrm>
          <a:prstGeom prst="rect">
            <a:avLst/>
          </a:prstGeom>
        </p:spPr>
      </p:pic>
      <p:pic>
        <p:nvPicPr>
          <p:cNvPr id="10" name="Imagem 10">
            <a:extLst>
              <a:ext uri="{FF2B5EF4-FFF2-40B4-BE49-F238E27FC236}">
                <a16:creationId xmlns:a16="http://schemas.microsoft.com/office/drawing/2014/main" id="{1167E5CB-4B4A-8C02-78A6-9B2F96240DE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106663" y="1487312"/>
            <a:ext cx="1755106" cy="1805590"/>
          </a:xfrm>
          <a:prstGeom prst="rect">
            <a:avLst/>
          </a:prstGeom>
        </p:spPr>
      </p:pic>
      <p:pic>
        <p:nvPicPr>
          <p:cNvPr id="12" name="Imagem 13">
            <a:extLst>
              <a:ext uri="{FF2B5EF4-FFF2-40B4-BE49-F238E27FC236}">
                <a16:creationId xmlns:a16="http://schemas.microsoft.com/office/drawing/2014/main" id="{4DF02619-57A4-987D-FAE6-56309253CDD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341"/>
          <a:stretch>
            <a:fillRect/>
          </a:stretch>
        </p:blipFill>
        <p:spPr>
          <a:xfrm>
            <a:off x="7218354" y="1488886"/>
            <a:ext cx="1797530" cy="1802441"/>
          </a:xfrm>
          <a:prstGeom prst="rect">
            <a:avLst/>
          </a:prstGeom>
        </p:spPr>
      </p:pic>
      <p:pic>
        <p:nvPicPr>
          <p:cNvPr id="14" name="Imagem 17">
            <a:extLst>
              <a:ext uri="{FF2B5EF4-FFF2-40B4-BE49-F238E27FC236}">
                <a16:creationId xmlns:a16="http://schemas.microsoft.com/office/drawing/2014/main" id="{57E591B4-8121-50B8-C096-A748A25AC2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4547" y="1513441"/>
            <a:ext cx="1797530" cy="17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1AE2-5B57-199B-E3FA-CF0C3E7A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D855BD-7792-5DD8-4CFB-7B24BB1A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384993"/>
            <a:ext cx="9568498" cy="1506537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IV. DA RESPOSTA REACTIVA À PRONTIDÃO MULTIRRISCO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83CC9D-AD06-7137-66ED-63A8C3B7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3FA8A-A7BD-41F9-BCEB-6C5AB8D10B6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5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1920240" y="221163"/>
            <a:ext cx="8801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>
                <a:solidFill>
                  <a:schemeClr val="bg1"/>
                </a:solidFill>
              </a:rPr>
              <a:t>Mudar a forma </a:t>
            </a:r>
            <a:r>
              <a:rPr lang="en-US" sz="2800" b="1" dirty="0" err="1">
                <a:solidFill>
                  <a:schemeClr val="bg1"/>
                </a:solidFill>
              </a:rPr>
              <a:t>como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gerimos</a:t>
            </a:r>
            <a:r>
              <a:rPr lang="en-US" sz="2800" b="1" dirty="0">
                <a:solidFill>
                  <a:schemeClr val="bg1"/>
                </a:solidFill>
              </a:rPr>
              <a:t> as </a:t>
            </a:r>
            <a:r>
              <a:rPr lang="en-US" sz="2800" b="1" dirty="0" err="1">
                <a:solidFill>
                  <a:schemeClr val="bg1"/>
                </a:solidFill>
              </a:rPr>
              <a:t>emergências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23FA9-0BE6-6551-7E59-3324671F1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0" r="719"/>
          <a:stretch>
            <a:fillRect/>
          </a:stretch>
        </p:blipFill>
        <p:spPr>
          <a:xfrm>
            <a:off x="0" y="1188720"/>
            <a:ext cx="12104370" cy="52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245870" y="217170"/>
            <a:ext cx="105841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Áreas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prioritárias</a:t>
            </a:r>
            <a:r>
              <a:rPr lang="en-US" sz="2800" b="1" dirty="0">
                <a:solidFill>
                  <a:schemeClr val="bg1"/>
                </a:solidFill>
              </a:rPr>
              <a:t> para o </a:t>
            </a:r>
            <a:r>
              <a:rPr lang="en-US" sz="2800" b="1" dirty="0" err="1">
                <a:solidFill>
                  <a:schemeClr val="bg1"/>
                </a:solidFill>
              </a:rPr>
              <a:t>fortalecimento</a:t>
            </a:r>
            <a:r>
              <a:rPr lang="en-US" sz="2800" b="1" dirty="0">
                <a:solidFill>
                  <a:schemeClr val="bg1"/>
                </a:solidFill>
              </a:rPr>
              <a:t> da </a:t>
            </a:r>
            <a:r>
              <a:rPr lang="en-US" sz="2800" b="1" dirty="0" err="1">
                <a:solidFill>
                  <a:schemeClr val="bg1"/>
                </a:solidFill>
              </a:rPr>
              <a:t>prontidão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E90412-AECA-F911-907A-1D1C979F1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626320"/>
              </p:ext>
            </p:extLst>
          </p:nvPr>
        </p:nvGraphicFramePr>
        <p:xfrm>
          <a:off x="411480" y="1377720"/>
          <a:ext cx="11418569" cy="45544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696781">
                  <a:extLst>
                    <a:ext uri="{9D8B030D-6E8A-4147-A177-3AD203B41FA5}">
                      <a16:colId xmlns:a16="http://schemas.microsoft.com/office/drawing/2014/main" val="331533855"/>
                    </a:ext>
                  </a:extLst>
                </a:gridCol>
                <a:gridCol w="4433246">
                  <a:extLst>
                    <a:ext uri="{9D8B030D-6E8A-4147-A177-3AD203B41FA5}">
                      <a16:colId xmlns:a16="http://schemas.microsoft.com/office/drawing/2014/main" val="370985401"/>
                    </a:ext>
                  </a:extLst>
                </a:gridCol>
                <a:gridCol w="4288542">
                  <a:extLst>
                    <a:ext uri="{9D8B030D-6E8A-4147-A177-3AD203B41FA5}">
                      <a16:colId xmlns:a16="http://schemas.microsoft.com/office/drawing/2014/main" val="2314304659"/>
                    </a:ext>
                  </a:extLst>
                </a:gridCol>
              </a:tblGrid>
              <a:tr h="433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Capacidade</a:t>
                      </a: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existente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Aspecto</a:t>
                      </a: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 a </a:t>
                      </a: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fortalecer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2538256242"/>
                  </a:ext>
                </a:extLst>
              </a:tr>
              <a:tr h="75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Vigilância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Sistema de </a:t>
                      </a: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notificação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/ERR</a:t>
                      </a: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 err="1"/>
                        <a:t>Alerta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precoce</a:t>
                      </a:r>
                      <a:r>
                        <a:rPr lang="en-US" sz="1600" b="0" dirty="0"/>
                        <a:t> e </a:t>
                      </a:r>
                      <a:r>
                        <a:rPr lang="en-US" sz="1600" b="0" dirty="0" err="1"/>
                        <a:t>vigilância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comunitária</a:t>
                      </a:r>
                      <a:br>
                        <a:rPr lang="en-US" sz="1600" b="0" dirty="0"/>
                      </a:br>
                      <a:r>
                        <a:rPr lang="en-US" sz="1600" b="0" dirty="0" err="1"/>
                        <a:t>Resposta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atempada</a:t>
                      </a:r>
                      <a:r>
                        <a:rPr lang="en-US" sz="1600" b="0" dirty="0"/>
                        <a:t> (7-1-7)</a:t>
                      </a:r>
                      <a:endParaRPr lang="en-US" sz="1700" b="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1941799921"/>
                  </a:ext>
                </a:extLst>
              </a:tr>
              <a:tr h="108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Laboratório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Rede laboratorial e </a:t>
                      </a:r>
                      <a:r>
                        <a:rPr lang="en-US" sz="1600" dirty="0" err="1"/>
                        <a:t>sistema</a:t>
                      </a:r>
                      <a:r>
                        <a:rPr lang="en-US" sz="1600" dirty="0"/>
                        <a:t> de </a:t>
                      </a:r>
                      <a:r>
                        <a:rPr lang="en-US" sz="1600" dirty="0" err="1"/>
                        <a:t>referenciação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/>
                        <a:t>Disponibilidade</a:t>
                      </a:r>
                      <a:r>
                        <a:rPr lang="en-US" sz="1600" dirty="0"/>
                        <a:t> de testes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 err="1"/>
                        <a:t>Diagnóstico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oportuno</a:t>
                      </a:r>
                      <a:r>
                        <a:rPr lang="en-US" sz="1600" dirty="0"/>
                        <a:t> e </a:t>
                      </a:r>
                      <a:r>
                        <a:rPr lang="en-US" sz="1600" dirty="0" err="1"/>
                        <a:t>referenciação</a:t>
                      </a:r>
                      <a:r>
                        <a:rPr lang="en-US" sz="1600" dirty="0"/>
                        <a:t> de </a:t>
                      </a:r>
                      <a:r>
                        <a:rPr lang="en-US" sz="1600" dirty="0" err="1"/>
                        <a:t>amostras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3591571597"/>
                  </a:ext>
                </a:extLst>
              </a:tr>
              <a:tr h="75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Logística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bg1"/>
                          </a:solidFill>
                        </a:rPr>
                        <a:t>Mecanismos de distribuição</a:t>
                      </a: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Stocks </a:t>
                      </a: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mínimos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 e </a:t>
                      </a: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pré-posicionamento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/>
                        <a:t>de </a:t>
                      </a:r>
                      <a:r>
                        <a:rPr lang="en-US" sz="1600" dirty="0" err="1"/>
                        <a:t>insumos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estratégicos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700519046"/>
                  </a:ext>
                </a:extLst>
              </a:tr>
              <a:tr h="75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CREC</a:t>
                      </a: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bg1"/>
                          </a:solidFill>
                        </a:rPr>
                        <a:t>Estruturas e canais existentes</a:t>
                      </a: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/>
                        <a:t>Comunicação</a:t>
                      </a:r>
                      <a:r>
                        <a:rPr lang="en-US" sz="1600" dirty="0"/>
                        <a:t> de </a:t>
                      </a:r>
                      <a:r>
                        <a:rPr lang="en-US" sz="1600" dirty="0" err="1"/>
                        <a:t>risco</a:t>
                      </a:r>
                      <a:r>
                        <a:rPr lang="en-US" sz="1600" dirty="0"/>
                        <a:t> e </a:t>
                      </a:r>
                      <a:r>
                        <a:rPr lang="en-US" sz="1600" dirty="0" err="1"/>
                        <a:t>resposta</a:t>
                      </a:r>
                      <a:r>
                        <a:rPr lang="en-US" sz="1600" dirty="0"/>
                        <a:t> à </a:t>
                      </a:r>
                      <a:r>
                        <a:rPr lang="en-US" sz="1600" dirty="0" err="1"/>
                        <a:t>desinformação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3958821590"/>
                  </a:ext>
                </a:extLst>
              </a:tr>
              <a:tr h="75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bg1"/>
                          </a:solidFill>
                        </a:rPr>
                        <a:t>Coordenação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bg1"/>
                          </a:solidFill>
                        </a:rPr>
                        <a:t>Estruturas de resposta</a:t>
                      </a:r>
                    </a:p>
                  </a:txBody>
                  <a:tcPr marL="86065" marR="86065" marT="43033" marB="430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Articulação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 e </a:t>
                      </a: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clareza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sz="1700" dirty="0" err="1">
                          <a:solidFill>
                            <a:schemeClr val="bg1"/>
                          </a:solidFill>
                        </a:rPr>
                        <a:t>responsabilidades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marL="86065" marR="86065" marT="43033" marB="43033" anchor="ctr"/>
                </a:tc>
                <a:extLst>
                  <a:ext uri="{0D108BD9-81ED-4DB2-BD59-A6C34878D82A}">
                    <a16:rowId xmlns:a16="http://schemas.microsoft.com/office/drawing/2014/main" val="360439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259F-4583-3753-18AE-3ED376E2130C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>
                <a:solidFill>
                  <a:schemeClr val="bg1"/>
                </a:solidFill>
              </a:rPr>
              <a:t>Ciclo </a:t>
            </a:r>
            <a:r>
              <a:rPr lang="en-US" sz="2800" b="1" dirty="0" err="1">
                <a:solidFill>
                  <a:schemeClr val="bg1"/>
                </a:solidFill>
              </a:rPr>
              <a:t>Operacional</a:t>
            </a:r>
            <a:r>
              <a:rPr lang="en-US" sz="2800" b="1" dirty="0">
                <a:solidFill>
                  <a:schemeClr val="bg1"/>
                </a:solidFill>
              </a:rPr>
              <a:t> da </a:t>
            </a:r>
            <a:r>
              <a:rPr lang="en-US" sz="2800" b="1" dirty="0" err="1">
                <a:solidFill>
                  <a:schemeClr val="bg1"/>
                </a:solidFill>
              </a:rPr>
              <a:t>Resposta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A48D81-25C7-28E1-FEBE-958243C7EFB0}"/>
              </a:ext>
            </a:extLst>
          </p:cNvPr>
          <p:cNvGrpSpPr/>
          <p:nvPr/>
        </p:nvGrpSpPr>
        <p:grpSpPr>
          <a:xfrm>
            <a:off x="594360" y="1720512"/>
            <a:ext cx="3520440" cy="2889195"/>
            <a:chOff x="594360" y="1720512"/>
            <a:chExt cx="3520440" cy="1874519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CEB3B8D8-3CC9-5B03-CF3F-E839B86D4FDB}"/>
                </a:ext>
              </a:extLst>
            </p:cNvPr>
            <p:cNvSpPr/>
            <p:nvPr/>
          </p:nvSpPr>
          <p:spPr>
            <a:xfrm>
              <a:off x="594360" y="1720512"/>
              <a:ext cx="352044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2864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09B4CD-35E4-71ED-EC1E-FFD84DB2DAB1}"/>
                </a:ext>
              </a:extLst>
            </p:cNvPr>
            <p:cNvSpPr txBox="1"/>
            <p:nvPr/>
          </p:nvSpPr>
          <p:spPr>
            <a:xfrm>
              <a:off x="758952" y="1830240"/>
              <a:ext cx="2637260" cy="4193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28649B"/>
                  </a:solidFill>
                </a:defRPr>
              </a:pPr>
              <a:r>
                <a:rPr lang="pt-PT" sz="24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ANTES</a:t>
              </a:r>
            </a:p>
            <a:p>
              <a:pPr>
                <a:defRPr sz="1400" b="1">
                  <a:solidFill>
                    <a:srgbClr val="28649B"/>
                  </a:solidFill>
                </a:defRPr>
              </a:pPr>
              <a:r>
                <a:rPr lang="pt-PT" sz="1200" dirty="0">
                  <a:latin typeface="Arial" panose="020B0604020202020204" pitchFamily="34" charset="0"/>
                  <a:cs typeface="Arial" panose="020B0604020202020204" pitchFamily="34" charset="0"/>
                </a:rPr>
                <a:t>[Preparação e Redução do Risco]</a:t>
              </a:r>
              <a:endParaRPr lang="pt-PT" sz="12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681A1A-0AFF-735C-9E95-03AF0B7DA52A}"/>
                </a:ext>
              </a:extLst>
            </p:cNvPr>
            <p:cNvSpPr txBox="1"/>
            <p:nvPr/>
          </p:nvSpPr>
          <p:spPr>
            <a:xfrm>
              <a:off x="758952" y="2328609"/>
              <a:ext cx="3223113" cy="1018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Mapear riscos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Avaliar prontidão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en-US" sz="1600" dirty="0" err="1">
                  <a:solidFill>
                    <a:srgbClr val="2D2D2D"/>
                  </a:solidFill>
                  <a:latin typeface="+mn-lt"/>
                </a:rPr>
                <a:t>Capacitar</a:t>
              </a:r>
              <a:r>
                <a:rPr lang="en-US" sz="1600" dirty="0">
                  <a:solidFill>
                    <a:srgbClr val="2D2D2D"/>
                  </a:solidFill>
                  <a:latin typeface="+mn-lt"/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  <a:latin typeface="+mn-lt"/>
                </a:rPr>
                <a:t>Equipas</a:t>
              </a:r>
              <a:r>
                <a:rPr lang="en-US" sz="1600" dirty="0">
                  <a:solidFill>
                    <a:srgbClr val="2D2D2D"/>
                  </a:solidFill>
                  <a:latin typeface="+mn-lt"/>
                </a:rPr>
                <a:t> de </a:t>
              </a:r>
              <a:r>
                <a:rPr lang="en-US" sz="1600" dirty="0" err="1">
                  <a:solidFill>
                    <a:srgbClr val="2D2D2D"/>
                  </a:solidFill>
                  <a:latin typeface="+mn-lt"/>
                </a:rPr>
                <a:t>Resposta</a:t>
              </a:r>
              <a:r>
                <a:rPr lang="en-US" sz="1600" dirty="0">
                  <a:solidFill>
                    <a:srgbClr val="2D2D2D"/>
                  </a:solidFill>
                  <a:latin typeface="+mn-lt"/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  <a:latin typeface="+mn-lt"/>
                </a:rPr>
                <a:t>Rápida</a:t>
              </a:r>
              <a:r>
                <a:rPr lang="en-US" sz="1600" dirty="0">
                  <a:solidFill>
                    <a:srgbClr val="2D2D2D"/>
                  </a:solidFill>
                  <a:latin typeface="+mn-lt"/>
                </a:rPr>
                <a:t> 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Pré-posicionar stocks 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Testar fluxos de comunicação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93AD63-5F72-5E6C-A746-4EDE1A54B7B8}"/>
              </a:ext>
            </a:extLst>
          </p:cNvPr>
          <p:cNvGrpSpPr/>
          <p:nvPr/>
        </p:nvGrpSpPr>
        <p:grpSpPr>
          <a:xfrm>
            <a:off x="4343400" y="1720512"/>
            <a:ext cx="3520440" cy="2889195"/>
            <a:chOff x="4343400" y="1720512"/>
            <a:chExt cx="3520440" cy="1874519"/>
          </a:xfrm>
        </p:grpSpPr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95D26A9A-D704-925C-C825-6273CC4F4024}"/>
                </a:ext>
              </a:extLst>
            </p:cNvPr>
            <p:cNvSpPr/>
            <p:nvPr/>
          </p:nvSpPr>
          <p:spPr>
            <a:xfrm>
              <a:off x="4343400" y="1720512"/>
              <a:ext cx="352044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437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BC79D9-A62C-F00E-6559-89F6573BE0F2}"/>
                </a:ext>
              </a:extLst>
            </p:cNvPr>
            <p:cNvSpPr txBox="1"/>
            <p:nvPr/>
          </p:nvSpPr>
          <p:spPr>
            <a:xfrm>
              <a:off x="4507992" y="1830240"/>
              <a:ext cx="2827121" cy="4193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B43737"/>
                  </a:solidFill>
                </a:defRPr>
              </a:pPr>
              <a:r>
                <a:rPr lang="pt-PT" sz="24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DURANTE</a:t>
              </a:r>
            </a:p>
            <a:p>
              <a:pPr>
                <a:defRPr sz="1400" b="1">
                  <a:solidFill>
                    <a:srgbClr val="B43737"/>
                  </a:solidFill>
                </a:defRPr>
              </a:pPr>
              <a:r>
                <a:rPr lang="pt-PT" sz="1200" dirty="0">
                  <a:latin typeface="Arial" panose="020B0604020202020204" pitchFamily="34" charset="0"/>
                  <a:cs typeface="Arial" panose="020B0604020202020204" pitchFamily="34" charset="0"/>
                </a:rPr>
                <a:t>[Resposta Atempada e Coordenada]</a:t>
              </a:r>
              <a:endParaRPr lang="pt-PT" sz="12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881F34-5B5E-1090-A404-802D3123E0CC}"/>
                </a:ext>
              </a:extLst>
            </p:cNvPr>
            <p:cNvSpPr txBox="1"/>
            <p:nvPr/>
          </p:nvSpPr>
          <p:spPr>
            <a:xfrm>
              <a:off x="4507992" y="2328609"/>
              <a:ext cx="3355848" cy="858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Detectar/notificar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Investigar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Manejo de casos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WASH + PCI</a:t>
              </a:r>
              <a:br>
                <a:rPr lang="pt-PT" sz="1600" noProof="0" dirty="0">
                  <a:latin typeface="+mn-lt"/>
                  <a:cs typeface="Arial" panose="020B0604020202020204" pitchFamily="34" charset="0"/>
                </a:rPr>
              </a:br>
              <a:r>
                <a:rPr lang="pt-PT" sz="1600" noProof="0" dirty="0">
                  <a:latin typeface="+mn-lt"/>
                  <a:cs typeface="Arial" panose="020B0604020202020204" pitchFamily="34" charset="0"/>
                </a:rPr>
                <a:t>Garantir referência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C4EAC-41B6-4382-DAA7-4330E17F04FF}"/>
              </a:ext>
            </a:extLst>
          </p:cNvPr>
          <p:cNvGrpSpPr/>
          <p:nvPr/>
        </p:nvGrpSpPr>
        <p:grpSpPr>
          <a:xfrm>
            <a:off x="8092440" y="1720512"/>
            <a:ext cx="3520440" cy="2889195"/>
            <a:chOff x="8092440" y="1720512"/>
            <a:chExt cx="3520440" cy="1874519"/>
          </a:xfrm>
        </p:grpSpPr>
        <p:sp>
          <p:nvSpPr>
            <p:cNvPr id="13" name="Rounded Rectangle 10">
              <a:extLst>
                <a:ext uri="{FF2B5EF4-FFF2-40B4-BE49-F238E27FC236}">
                  <a16:creationId xmlns:a16="http://schemas.microsoft.com/office/drawing/2014/main" id="{9699701D-6126-B31D-DB64-5E2694D228A8}"/>
                </a:ext>
              </a:extLst>
            </p:cNvPr>
            <p:cNvSpPr/>
            <p:nvPr/>
          </p:nvSpPr>
          <p:spPr>
            <a:xfrm>
              <a:off x="8092440" y="1720512"/>
              <a:ext cx="3520440" cy="187451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377D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357BA6-CEF1-2F16-63FA-B8E70CC797A1}"/>
                </a:ext>
              </a:extLst>
            </p:cNvPr>
            <p:cNvSpPr txBox="1"/>
            <p:nvPr/>
          </p:nvSpPr>
          <p:spPr>
            <a:xfrm>
              <a:off x="8257031" y="1830240"/>
              <a:ext cx="2476062" cy="4193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377D4B"/>
                  </a:solidFill>
                </a:defRPr>
              </a:pPr>
              <a:r>
                <a:rPr lang="pt-PT" sz="24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DEPOIS</a:t>
              </a:r>
            </a:p>
            <a:p>
              <a:pPr>
                <a:defRPr sz="1400" b="1">
                  <a:solidFill>
                    <a:srgbClr val="377D4B"/>
                  </a:solidFill>
                </a:defRPr>
              </a:pPr>
              <a:r>
                <a:rPr lang="pt-PT" sz="1200" dirty="0">
                  <a:latin typeface="Arial" panose="020B0604020202020204" pitchFamily="34" charset="0"/>
                  <a:cs typeface="Arial" panose="020B0604020202020204" pitchFamily="34" charset="0"/>
                </a:rPr>
                <a:t>[Recuperação e Aprendizagem]</a:t>
              </a:r>
              <a:endParaRPr lang="pt-PT" sz="12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334E71-7328-B8C4-FCBA-B6D01B1A5A49}"/>
                </a:ext>
              </a:extLst>
            </p:cNvPr>
            <p:cNvSpPr txBox="1"/>
            <p:nvPr/>
          </p:nvSpPr>
          <p:spPr>
            <a:xfrm>
              <a:off x="8257031" y="2344929"/>
              <a:ext cx="2998574" cy="8586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Avaliar impacto</a:t>
              </a:r>
              <a:b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Repor stocks</a:t>
              </a:r>
              <a:b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Restabelecer serviços</a:t>
              </a:r>
              <a:b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Lições aprendidas</a:t>
              </a:r>
              <a:b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Corrigir lacunas</a:t>
              </a:r>
            </a:p>
          </p:txBody>
        </p:sp>
      </p:grp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3C18E62-A70E-E791-9155-440D874A6C86}"/>
              </a:ext>
            </a:extLst>
          </p:cNvPr>
          <p:cNvCxnSpPr>
            <a:cxnSpLocks/>
            <a:stCxn id="13" idx="2"/>
            <a:endCxn id="4" idx="2"/>
          </p:cNvCxnSpPr>
          <p:nvPr/>
        </p:nvCxnSpPr>
        <p:spPr>
          <a:xfrm rot="5400000">
            <a:off x="6103620" y="860667"/>
            <a:ext cx="12700" cy="749808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EBA631-BD1F-3987-1FB4-887C508E0104}"/>
              </a:ext>
            </a:extLst>
          </p:cNvPr>
          <p:cNvSpPr/>
          <p:nvPr/>
        </p:nvSpPr>
        <p:spPr>
          <a:xfrm>
            <a:off x="4418076" y="4732810"/>
            <a:ext cx="3355848" cy="23437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schemeClr val="tx1"/>
                </a:solidFill>
              </a:rPr>
              <a:t>Melhoria Contínua</a:t>
            </a:r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6C0D-907B-898F-5997-B968578C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7490D6-58C7-CC3C-83D2-580BE5E8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384993"/>
            <a:ext cx="9568498" cy="1506537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V. FORTALECIMENTO DA PRONTIDÃO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25FFC0-ED82-96CB-86D7-35917F1C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93FA8A-A7BD-41F9-BCEB-6C5AB8D10B6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7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2F7C-DDBD-8142-D0E3-EF3726F6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E17143-E239-9868-2895-B935497C8A81}"/>
              </a:ext>
            </a:extLst>
          </p:cNvPr>
          <p:cNvSpPr txBox="1"/>
          <p:nvPr/>
        </p:nvSpPr>
        <p:spPr>
          <a:xfrm>
            <a:off x="2416994" y="221163"/>
            <a:ext cx="8251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>
                <a:solidFill>
                  <a:schemeClr val="bg1"/>
                </a:solidFill>
              </a:rPr>
              <a:t>Cinco </a:t>
            </a:r>
            <a:r>
              <a:rPr lang="en-US" sz="2800" b="1" dirty="0" err="1">
                <a:solidFill>
                  <a:schemeClr val="bg1"/>
                </a:solidFill>
              </a:rPr>
              <a:t>prioridades</a:t>
            </a:r>
            <a:r>
              <a:rPr lang="en-US" sz="2800" b="1" dirty="0">
                <a:solidFill>
                  <a:schemeClr val="bg1"/>
                </a:solidFill>
              </a:rPr>
              <a:t> para </a:t>
            </a:r>
            <a:r>
              <a:rPr lang="en-US" sz="2800" b="1" dirty="0" err="1">
                <a:solidFill>
                  <a:schemeClr val="bg1"/>
                </a:solidFill>
              </a:rPr>
              <a:t>fortalecer</a:t>
            </a:r>
            <a:r>
              <a:rPr lang="en-US" sz="2800" b="1" dirty="0">
                <a:solidFill>
                  <a:schemeClr val="bg1"/>
                </a:solidFill>
              </a:rPr>
              <a:t> a </a:t>
            </a:r>
            <a:r>
              <a:rPr lang="en-US" sz="2800" b="1" dirty="0" err="1">
                <a:solidFill>
                  <a:schemeClr val="bg1"/>
                </a:solidFill>
              </a:rPr>
              <a:t>prontidão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C0EA7-09F8-32D9-95C4-554524DC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D0E2B8-47E3-DDEF-5FAB-0523A21313CB}"/>
              </a:ext>
            </a:extLst>
          </p:cNvPr>
          <p:cNvGrpSpPr/>
          <p:nvPr/>
        </p:nvGrpSpPr>
        <p:grpSpPr>
          <a:xfrm>
            <a:off x="752740" y="1051650"/>
            <a:ext cx="10652760" cy="660600"/>
            <a:chOff x="731520" y="1051560"/>
            <a:chExt cx="10652760" cy="6606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7CDF9C-32DE-1D4E-87C2-74F72A26A553}"/>
                </a:ext>
              </a:extLst>
            </p:cNvPr>
            <p:cNvGrpSpPr/>
            <p:nvPr/>
          </p:nvGrpSpPr>
          <p:grpSpPr>
            <a:xfrm>
              <a:off x="731520" y="1051560"/>
              <a:ext cx="10652760" cy="658368"/>
              <a:chOff x="731520" y="1051560"/>
              <a:chExt cx="10652760" cy="658368"/>
            </a:xfrm>
          </p:grpSpPr>
          <p:sp>
            <p:nvSpPr>
              <p:cNvPr id="7" name="Rounded Rectangle 4">
                <a:extLst>
                  <a:ext uri="{FF2B5EF4-FFF2-40B4-BE49-F238E27FC236}">
                    <a16:creationId xmlns:a16="http://schemas.microsoft.com/office/drawing/2014/main" id="{763497D1-6B80-F6CF-38C3-5C3D19923722}"/>
                  </a:ext>
                </a:extLst>
              </p:cNvPr>
              <p:cNvSpPr/>
              <p:nvPr/>
            </p:nvSpPr>
            <p:spPr>
              <a:xfrm>
                <a:off x="731520" y="1051560"/>
                <a:ext cx="685800" cy="64008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5A481D-E4EC-8686-2CC9-672F8E79123B}"/>
                  </a:ext>
                </a:extLst>
              </p:cNvPr>
              <p:cNvSpPr txBox="1"/>
              <p:nvPr/>
            </p:nvSpPr>
            <p:spPr>
              <a:xfrm>
                <a:off x="810566" y="1161288"/>
                <a:ext cx="52770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2400" b="1">
                    <a:solidFill>
                      <a:srgbClr val="14375A"/>
                    </a:solidFill>
                  </a:defRPr>
                </a:pPr>
                <a:r>
                  <a:rPr lang="pt-PT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83D778B-353A-0549-F656-7F9902792E12}"/>
                  </a:ext>
                </a:extLst>
              </p:cNvPr>
              <p:cNvGrpSpPr/>
              <p:nvPr/>
            </p:nvGrpSpPr>
            <p:grpSpPr>
              <a:xfrm>
                <a:off x="1600200" y="1051560"/>
                <a:ext cx="9784080" cy="658368"/>
                <a:chOff x="1600200" y="1051560"/>
                <a:chExt cx="9784080" cy="658368"/>
              </a:xfrm>
            </p:grpSpPr>
            <p:sp>
              <p:nvSpPr>
                <p:cNvPr id="10" name="Rounded Rectangle 7">
                  <a:extLst>
                    <a:ext uri="{FF2B5EF4-FFF2-40B4-BE49-F238E27FC236}">
                      <a16:creationId xmlns:a16="http://schemas.microsoft.com/office/drawing/2014/main" id="{132BA295-479A-D66D-AE80-828D0F7359B2}"/>
                    </a:ext>
                  </a:extLst>
                </p:cNvPr>
                <p:cNvSpPr/>
                <p:nvPr/>
              </p:nvSpPr>
              <p:spPr>
                <a:xfrm>
                  <a:off x="1600200" y="1051560"/>
                  <a:ext cx="9784080" cy="658368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14375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A478619-3F67-65BC-5216-99587EBB13CA}"/>
                    </a:ext>
                  </a:extLst>
                </p:cNvPr>
                <p:cNvSpPr txBox="1"/>
                <p:nvPr/>
              </p:nvSpPr>
              <p:spPr>
                <a:xfrm>
                  <a:off x="1637994" y="1086903"/>
                  <a:ext cx="902811" cy="33855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 sz="1400" b="1">
                      <a:solidFill>
                        <a:srgbClr val="14375A"/>
                      </a:solidFill>
                    </a:defRPr>
                  </a:pPr>
                  <a:r>
                    <a:rPr lang="pt-PT" sz="1600" noProof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Mapear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2F477B9-0FD0-5358-56F9-E0A48B5368DF}"/>
                    </a:ext>
                  </a:extLst>
                </p:cNvPr>
                <p:cNvSpPr txBox="1"/>
                <p:nvPr/>
              </p:nvSpPr>
              <p:spPr>
                <a:xfrm>
                  <a:off x="1655063" y="1431212"/>
                  <a:ext cx="9297319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182880" bIns="0">
                  <a:spAutoFit/>
                </a:bodyPr>
                <a:lstStyle/>
                <a:p>
                  <a:pPr>
                    <a:defRPr sz="1100">
                      <a:solidFill>
                        <a:srgbClr val="2D2D2D"/>
                      </a:solidFill>
                    </a:defRPr>
                  </a:pPr>
                  <a:r>
                    <a:rPr lang="pt-PT" sz="1600" noProof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Risco por Distrito/Unidades Sanitárias </a:t>
                  </a:r>
                </a:p>
              </p:txBody>
            </p:sp>
          </p:grp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7C3144-7CF7-60AB-D9C2-A452530E8FC9}"/>
                </a:ext>
              </a:extLst>
            </p:cNvPr>
            <p:cNvSpPr txBox="1"/>
            <p:nvPr/>
          </p:nvSpPr>
          <p:spPr>
            <a:xfrm>
              <a:off x="731520" y="1481328"/>
              <a:ext cx="685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2D2D2D"/>
                  </a:solidFill>
                </a:defRPr>
              </a:pPr>
              <a:r>
                <a:rPr lang="pt-PT" noProof="0" dirty="0">
                  <a:latin typeface="Arial" panose="020B0604020202020204" pitchFamily="34" charset="0"/>
                  <a:cs typeface="Arial" panose="020B0604020202020204" pitchFamily="34" charset="0"/>
                </a:rPr>
                <a:t>Mapear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BD3E2E-09EB-CCCD-3EAF-1D7F305E0B41}"/>
              </a:ext>
            </a:extLst>
          </p:cNvPr>
          <p:cNvGrpSpPr/>
          <p:nvPr/>
        </p:nvGrpSpPr>
        <p:grpSpPr>
          <a:xfrm>
            <a:off x="731520" y="1965960"/>
            <a:ext cx="10652760" cy="714816"/>
            <a:chOff x="731520" y="1965960"/>
            <a:chExt cx="10652760" cy="714816"/>
          </a:xfrm>
        </p:grpSpPr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16B32465-AEB9-61C7-9B5D-8588B950726A}"/>
                </a:ext>
              </a:extLst>
            </p:cNvPr>
            <p:cNvSpPr/>
            <p:nvPr/>
          </p:nvSpPr>
          <p:spPr>
            <a:xfrm>
              <a:off x="731520" y="1984248"/>
              <a:ext cx="685800" cy="6400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D7E1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CF4BF4-E10F-BC1F-48E6-C3EF794951D0}"/>
                </a:ext>
              </a:extLst>
            </p:cNvPr>
            <p:cNvSpPr txBox="1"/>
            <p:nvPr/>
          </p:nvSpPr>
          <p:spPr>
            <a:xfrm>
              <a:off x="822960" y="1965960"/>
              <a:ext cx="5029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28649B"/>
                  </a:solidFill>
                </a:defRPr>
              </a:pPr>
              <a:r>
                <a:rPr lang="pt-PT" noProof="0" dirty="0"/>
                <a:t>02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65C686-DF0E-1686-1FC3-5220559C009F}"/>
                </a:ext>
              </a:extLst>
            </p:cNvPr>
            <p:cNvSpPr txBox="1"/>
            <p:nvPr/>
          </p:nvSpPr>
          <p:spPr>
            <a:xfrm>
              <a:off x="777240" y="2320054"/>
              <a:ext cx="5943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2D2D2D"/>
                  </a:solidFill>
                </a:defRPr>
              </a:pPr>
              <a:r>
                <a:rPr lang="pt-PT" sz="1050" noProof="0" dirty="0">
                  <a:latin typeface="Arial" panose="020B0604020202020204" pitchFamily="34" charset="0"/>
                  <a:cs typeface="Arial" panose="020B0604020202020204" pitchFamily="34" charset="0"/>
                </a:rPr>
                <a:t>Avaliar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D7F8F3B-6C89-77A6-3EA9-F2608E2A79FF}"/>
                </a:ext>
              </a:extLst>
            </p:cNvPr>
            <p:cNvGrpSpPr/>
            <p:nvPr/>
          </p:nvGrpSpPr>
          <p:grpSpPr>
            <a:xfrm>
              <a:off x="1600200" y="1984248"/>
              <a:ext cx="9784080" cy="696528"/>
              <a:chOff x="1600200" y="1984248"/>
              <a:chExt cx="9784080" cy="696528"/>
            </a:xfrm>
          </p:grpSpPr>
          <p:sp>
            <p:nvSpPr>
              <p:cNvPr id="18" name="Rounded Rectangle 13">
                <a:extLst>
                  <a:ext uri="{FF2B5EF4-FFF2-40B4-BE49-F238E27FC236}">
                    <a16:creationId xmlns:a16="http://schemas.microsoft.com/office/drawing/2014/main" id="{B6C433D1-BC8A-AFA4-2BBA-96EF392C37DC}"/>
                  </a:ext>
                </a:extLst>
              </p:cNvPr>
              <p:cNvSpPr/>
              <p:nvPr/>
            </p:nvSpPr>
            <p:spPr>
              <a:xfrm>
                <a:off x="1600200" y="1984248"/>
                <a:ext cx="9784080" cy="6583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2864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37AB08-C0BC-DADF-1706-3F2C375F583A}"/>
                  </a:ext>
                </a:extLst>
              </p:cNvPr>
              <p:cNvSpPr txBox="1"/>
              <p:nvPr/>
            </p:nvSpPr>
            <p:spPr>
              <a:xfrm>
                <a:off x="1700507" y="2035497"/>
                <a:ext cx="861518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400" b="1">
                    <a:solidFill>
                      <a:srgbClr val="28649B"/>
                    </a:solidFill>
                  </a:defRPr>
                </a:pPr>
                <a:r>
                  <a:rPr lang="pt-PT" sz="16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Avaliar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FC3198-C244-30A1-32FD-ADC95741C57B}"/>
                  </a:ext>
                </a:extLst>
              </p:cNvPr>
              <p:cNvSpPr txBox="1"/>
              <p:nvPr/>
            </p:nvSpPr>
            <p:spPr>
              <a:xfrm>
                <a:off x="1655063" y="2342222"/>
                <a:ext cx="95097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100">
                    <a:solidFill>
                      <a:srgbClr val="2D2D2D"/>
                    </a:solidFill>
                  </a:defRPr>
                </a:pPr>
                <a:r>
                  <a:rPr lang="pt-PT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pt-PT" sz="1600" b="1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ilares</a:t>
                </a:r>
                <a:r>
                  <a:rPr lang="pt-PT" sz="16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prontidão </a:t>
                </a:r>
                <a:r>
                  <a:rPr lang="pt-PT" sz="16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a resposta a ECC e outras emergências de Saúde Pública 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B5F0758-1CCE-5B01-2B7F-A982D62183E4}"/>
              </a:ext>
            </a:extLst>
          </p:cNvPr>
          <p:cNvGrpSpPr/>
          <p:nvPr/>
        </p:nvGrpSpPr>
        <p:grpSpPr>
          <a:xfrm>
            <a:off x="731520" y="2891505"/>
            <a:ext cx="10652760" cy="805697"/>
            <a:chOff x="731520" y="2891505"/>
            <a:chExt cx="10652760" cy="805697"/>
          </a:xfrm>
        </p:grpSpPr>
        <p:sp>
          <p:nvSpPr>
            <p:cNvPr id="22" name="Rounded Rectangle 16">
              <a:extLst>
                <a:ext uri="{FF2B5EF4-FFF2-40B4-BE49-F238E27FC236}">
                  <a16:creationId xmlns:a16="http://schemas.microsoft.com/office/drawing/2014/main" id="{120B04DA-F568-8FFC-CBDB-F4DCE721EB2F}"/>
                </a:ext>
              </a:extLst>
            </p:cNvPr>
            <p:cNvSpPr/>
            <p:nvPr/>
          </p:nvSpPr>
          <p:spPr>
            <a:xfrm>
              <a:off x="731520" y="2916935"/>
              <a:ext cx="695418" cy="780267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D7E1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13EE3D-AE4E-5B4C-4DD9-66864FFDF055}"/>
                </a:ext>
              </a:extLst>
            </p:cNvPr>
            <p:cNvSpPr txBox="1"/>
            <p:nvPr/>
          </p:nvSpPr>
          <p:spPr>
            <a:xfrm>
              <a:off x="903786" y="2891505"/>
              <a:ext cx="403316" cy="415498"/>
            </a:xfrm>
            <a:prstGeom prst="rect">
              <a:avLst/>
            </a:prstGeom>
            <a:noFill/>
          </p:spPr>
          <p:txBody>
            <a:bodyPr wrap="none" lIns="0" bIns="0">
              <a:spAutoFit/>
            </a:bodyPr>
            <a:lstStyle/>
            <a:p>
              <a:pPr algn="ctr">
                <a:defRPr sz="2400" b="1">
                  <a:solidFill>
                    <a:srgbClr val="007D7D"/>
                  </a:solidFill>
                </a:defRPr>
              </a:pPr>
              <a:r>
                <a:rPr lang="pt-PT" noProof="0" dirty="0"/>
                <a:t>03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5D6998-0BCF-0D86-7C5A-852727EB3936}"/>
                </a:ext>
              </a:extLst>
            </p:cNvPr>
            <p:cNvSpPr txBox="1"/>
            <p:nvPr/>
          </p:nvSpPr>
          <p:spPr>
            <a:xfrm>
              <a:off x="777240" y="3189063"/>
              <a:ext cx="695418" cy="323165"/>
            </a:xfrm>
            <a:prstGeom prst="rect">
              <a:avLst/>
            </a:prstGeom>
            <a:noFill/>
          </p:spPr>
          <p:txBody>
            <a:bodyPr wrap="square" lIns="0" bIns="0">
              <a:spAutoFit/>
            </a:bodyPr>
            <a:lstStyle/>
            <a:p>
              <a:pPr algn="ctr">
                <a:defRPr sz="900">
                  <a:solidFill>
                    <a:srgbClr val="2D2D2D"/>
                  </a:solidFill>
                </a:defRPr>
              </a:pPr>
              <a:r>
                <a:rPr lang="pt-PT" sz="900" b="1" noProof="0" dirty="0"/>
                <a:t>Pré-posicionar</a:t>
              </a:r>
            </a:p>
          </p:txBody>
        </p:sp>
        <p:sp>
          <p:nvSpPr>
            <p:cNvPr id="25" name="Rounded Rectangle 19">
              <a:extLst>
                <a:ext uri="{FF2B5EF4-FFF2-40B4-BE49-F238E27FC236}">
                  <a16:creationId xmlns:a16="http://schemas.microsoft.com/office/drawing/2014/main" id="{F72122FE-5882-3DA7-D40F-F3D4AFA14AC0}"/>
                </a:ext>
              </a:extLst>
            </p:cNvPr>
            <p:cNvSpPr/>
            <p:nvPr/>
          </p:nvSpPr>
          <p:spPr>
            <a:xfrm>
              <a:off x="1600200" y="2916935"/>
              <a:ext cx="9784080" cy="732737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7D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4036D83-1E1C-4F50-2C40-9419E4925235}"/>
                </a:ext>
              </a:extLst>
            </p:cNvPr>
            <p:cNvSpPr txBox="1"/>
            <p:nvPr/>
          </p:nvSpPr>
          <p:spPr>
            <a:xfrm>
              <a:off x="1676283" y="2915941"/>
              <a:ext cx="1536639" cy="292388"/>
            </a:xfrm>
            <a:prstGeom prst="rect">
              <a:avLst/>
            </a:prstGeom>
            <a:noFill/>
          </p:spPr>
          <p:txBody>
            <a:bodyPr wrap="none" lIns="0" bIns="0">
              <a:spAutoFit/>
            </a:bodyPr>
            <a:lstStyle/>
            <a:p>
              <a:pPr>
                <a:defRPr sz="1400" b="1">
                  <a:solidFill>
                    <a:srgbClr val="007D7D"/>
                  </a:solidFill>
                </a:defRPr>
              </a:pPr>
              <a:r>
                <a:rPr lang="pt-PT" sz="1600" noProof="0" dirty="0"/>
                <a:t>Pré-posicionar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C139FB-91C8-9316-CDE9-A70047F16811}"/>
                </a:ext>
              </a:extLst>
            </p:cNvPr>
            <p:cNvSpPr txBox="1"/>
            <p:nvPr/>
          </p:nvSpPr>
          <p:spPr>
            <a:xfrm>
              <a:off x="1655063" y="3223330"/>
              <a:ext cx="9695688" cy="292388"/>
            </a:xfrm>
            <a:prstGeom prst="rect">
              <a:avLst/>
            </a:prstGeom>
            <a:noFill/>
          </p:spPr>
          <p:txBody>
            <a:bodyPr wrap="square" lIns="0" bIns="0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en-US" sz="1600" dirty="0" err="1">
                  <a:solidFill>
                    <a:srgbClr val="2D2D2D"/>
                  </a:solidFill>
                </a:rPr>
                <a:t>Medicamentos</a:t>
              </a:r>
              <a:r>
                <a:rPr lang="en-US" sz="1600" dirty="0">
                  <a:solidFill>
                    <a:srgbClr val="2D2D2D"/>
                  </a:solidFill>
                </a:rPr>
                <a:t> e </a:t>
              </a:r>
              <a:r>
                <a:rPr lang="en-US" sz="1600" dirty="0" err="1">
                  <a:solidFill>
                    <a:srgbClr val="2D2D2D"/>
                  </a:solidFill>
                </a:rPr>
                <a:t>insumos</a:t>
              </a:r>
              <a:r>
                <a:rPr lang="en-US" sz="1600" dirty="0">
                  <a:solidFill>
                    <a:srgbClr val="2D2D2D"/>
                  </a:solidFill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</a:rPr>
                <a:t>essenciais</a:t>
              </a:r>
              <a:r>
                <a:rPr lang="en-US" sz="1600" dirty="0">
                  <a:solidFill>
                    <a:srgbClr val="2D2D2D"/>
                  </a:solidFill>
                </a:rPr>
                <a:t> de PCI e WASH </a:t>
              </a:r>
              <a:r>
                <a:rPr lang="en-US" sz="1600" dirty="0" err="1">
                  <a:solidFill>
                    <a:srgbClr val="2D2D2D"/>
                  </a:solidFill>
                </a:rPr>
                <a:t>nas</a:t>
              </a:r>
              <a:r>
                <a:rPr lang="en-US" sz="1600" dirty="0">
                  <a:solidFill>
                    <a:srgbClr val="2D2D2D"/>
                  </a:solidFill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</a:rPr>
                <a:t>unidades</a:t>
              </a:r>
              <a:r>
                <a:rPr lang="en-US" sz="1600" dirty="0">
                  <a:solidFill>
                    <a:srgbClr val="2D2D2D"/>
                  </a:solidFill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</a:rPr>
                <a:t>sanitárias</a:t>
              </a:r>
              <a:r>
                <a:rPr lang="en-US" sz="1600" dirty="0">
                  <a:solidFill>
                    <a:srgbClr val="2D2D2D"/>
                  </a:solidFill>
                </a:rPr>
                <a:t> </a:t>
              </a:r>
              <a:r>
                <a:rPr lang="en-US" sz="1600" dirty="0" err="1">
                  <a:solidFill>
                    <a:srgbClr val="2D2D2D"/>
                  </a:solidFill>
                </a:rPr>
                <a:t>prioritárias</a:t>
              </a:r>
              <a:endParaRPr lang="pt-PT" sz="1400" noProof="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0E28D55-FC43-9ECF-1FDF-BA0CDF7018D3}"/>
              </a:ext>
            </a:extLst>
          </p:cNvPr>
          <p:cNvGrpSpPr/>
          <p:nvPr/>
        </p:nvGrpSpPr>
        <p:grpSpPr>
          <a:xfrm>
            <a:off x="731520" y="3849622"/>
            <a:ext cx="10652760" cy="875446"/>
            <a:chOff x="731520" y="3849624"/>
            <a:chExt cx="10652760" cy="774754"/>
          </a:xfrm>
        </p:grpSpPr>
        <p:sp>
          <p:nvSpPr>
            <p:cNvPr id="29" name="Rounded Rectangle 22">
              <a:extLst>
                <a:ext uri="{FF2B5EF4-FFF2-40B4-BE49-F238E27FC236}">
                  <a16:creationId xmlns:a16="http://schemas.microsoft.com/office/drawing/2014/main" id="{CC73F54D-AEAD-5303-81DC-3F103F48AADB}"/>
                </a:ext>
              </a:extLst>
            </p:cNvPr>
            <p:cNvSpPr/>
            <p:nvPr/>
          </p:nvSpPr>
          <p:spPr>
            <a:xfrm>
              <a:off x="731520" y="3849624"/>
              <a:ext cx="685800" cy="6400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D7E1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27432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04E0FC-6ACC-8B4F-43CA-BB2FB700C347}"/>
                </a:ext>
              </a:extLst>
            </p:cNvPr>
            <p:cNvSpPr txBox="1"/>
            <p:nvPr/>
          </p:nvSpPr>
          <p:spPr>
            <a:xfrm>
              <a:off x="883576" y="3917043"/>
              <a:ext cx="670923" cy="326852"/>
            </a:xfrm>
            <a:prstGeom prst="rect">
              <a:avLst/>
            </a:prstGeom>
            <a:noFill/>
          </p:spPr>
          <p:txBody>
            <a:bodyPr wrap="square" lIns="0" tIns="0" rIns="274320" bIns="0">
              <a:spAutoFit/>
            </a:bodyPr>
            <a:lstStyle/>
            <a:p>
              <a:pPr algn="ctr">
                <a:defRPr sz="2400" b="1">
                  <a:solidFill>
                    <a:srgbClr val="DC7D23"/>
                  </a:solidFill>
                </a:defRPr>
              </a:pPr>
              <a:r>
                <a:rPr lang="pt-PT" noProof="0" dirty="0"/>
                <a:t>04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60E2B2-3FE2-4798-8152-108E6962BD15}"/>
                </a:ext>
              </a:extLst>
            </p:cNvPr>
            <p:cNvSpPr txBox="1"/>
            <p:nvPr/>
          </p:nvSpPr>
          <p:spPr>
            <a:xfrm>
              <a:off x="804885" y="4239824"/>
              <a:ext cx="773999" cy="153888"/>
            </a:xfrm>
            <a:prstGeom prst="rect">
              <a:avLst/>
            </a:prstGeom>
            <a:noFill/>
          </p:spPr>
          <p:txBody>
            <a:bodyPr wrap="square" lIns="0" tIns="0" rIns="274320" bIns="0">
              <a:spAutoFit/>
            </a:bodyPr>
            <a:lstStyle/>
            <a:p>
              <a:pPr algn="ctr">
                <a:defRPr sz="900">
                  <a:solidFill>
                    <a:srgbClr val="2D2D2D"/>
                  </a:solidFill>
                </a:defRPr>
              </a:pPr>
              <a:r>
                <a:rPr lang="pt-PT" sz="1000" b="1" noProof="0" dirty="0"/>
                <a:t>Simular</a:t>
              </a:r>
            </a:p>
          </p:txBody>
        </p:sp>
        <p:sp>
          <p:nvSpPr>
            <p:cNvPr id="32" name="Rounded Rectangle 25">
              <a:extLst>
                <a:ext uri="{FF2B5EF4-FFF2-40B4-BE49-F238E27FC236}">
                  <a16:creationId xmlns:a16="http://schemas.microsoft.com/office/drawing/2014/main" id="{4BF48BF4-4E7A-5601-5877-B7120DF37D23}"/>
                </a:ext>
              </a:extLst>
            </p:cNvPr>
            <p:cNvSpPr/>
            <p:nvPr/>
          </p:nvSpPr>
          <p:spPr>
            <a:xfrm>
              <a:off x="1600200" y="3849624"/>
              <a:ext cx="9784080" cy="774754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7D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27432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5A5E079-13BB-04BC-2116-C9474901E56A}"/>
                </a:ext>
              </a:extLst>
            </p:cNvPr>
            <p:cNvSpPr txBox="1"/>
            <p:nvPr/>
          </p:nvSpPr>
          <p:spPr>
            <a:xfrm>
              <a:off x="1764792" y="3860426"/>
              <a:ext cx="1001556" cy="246221"/>
            </a:xfrm>
            <a:prstGeom prst="rect">
              <a:avLst/>
            </a:prstGeom>
            <a:noFill/>
          </p:spPr>
          <p:txBody>
            <a:bodyPr wrap="none" lIns="0" tIns="0" rIns="274320" bIns="0">
              <a:spAutoFit/>
            </a:bodyPr>
            <a:lstStyle/>
            <a:p>
              <a:pPr>
                <a:defRPr sz="1400" b="1">
                  <a:solidFill>
                    <a:srgbClr val="DC7D23"/>
                  </a:solidFill>
                </a:defRPr>
              </a:pPr>
              <a:r>
                <a:rPr lang="pt-PT" sz="1600" noProof="0" dirty="0"/>
                <a:t>Simular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36BF8C-F7DB-D881-78F9-8CC2D81FBFEA}"/>
                </a:ext>
              </a:extLst>
            </p:cNvPr>
            <p:cNvSpPr txBox="1"/>
            <p:nvPr/>
          </p:nvSpPr>
          <p:spPr>
            <a:xfrm>
              <a:off x="1737380" y="4147491"/>
              <a:ext cx="9646900" cy="246221"/>
            </a:xfrm>
            <a:prstGeom prst="rect">
              <a:avLst/>
            </a:prstGeom>
            <a:noFill/>
          </p:spPr>
          <p:txBody>
            <a:bodyPr wrap="square" lIns="0" tIns="0" rIns="274320" bIns="0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pt-PT" sz="1600" b="1" noProof="0" dirty="0"/>
                <a:t>Exercício de mesa</a:t>
              </a:r>
              <a:r>
                <a:rPr lang="pt-PT" sz="1600" b="1" dirty="0"/>
                <a:t> </a:t>
              </a:r>
              <a:r>
                <a:rPr lang="pt-PT" sz="1600" dirty="0"/>
                <a:t>com distritos e unidades sanitárias para fortalecer a resposta as emergências de Saúde Pública</a:t>
              </a:r>
              <a:endParaRPr lang="pt-PT" sz="1600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2BC8C0-2F92-4A8D-5133-D3F4B2DE448A}"/>
              </a:ext>
            </a:extLst>
          </p:cNvPr>
          <p:cNvGrpSpPr/>
          <p:nvPr/>
        </p:nvGrpSpPr>
        <p:grpSpPr>
          <a:xfrm>
            <a:off x="721531" y="4782312"/>
            <a:ext cx="10662749" cy="658368"/>
            <a:chOff x="721531" y="4782312"/>
            <a:chExt cx="10662749" cy="658368"/>
          </a:xfrm>
        </p:grpSpPr>
        <p:sp>
          <p:nvSpPr>
            <p:cNvPr id="36" name="Rounded Rectangle 28">
              <a:extLst>
                <a:ext uri="{FF2B5EF4-FFF2-40B4-BE49-F238E27FC236}">
                  <a16:creationId xmlns:a16="http://schemas.microsoft.com/office/drawing/2014/main" id="{534CBE85-F8B7-DCD1-F410-89630668768E}"/>
                </a:ext>
              </a:extLst>
            </p:cNvPr>
            <p:cNvSpPr/>
            <p:nvPr/>
          </p:nvSpPr>
          <p:spPr>
            <a:xfrm>
              <a:off x="731520" y="4782312"/>
              <a:ext cx="685800" cy="6400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D7E1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27432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C7F59C7-9462-56FC-1030-DF228D8FDD13}"/>
                </a:ext>
              </a:extLst>
            </p:cNvPr>
            <p:cNvSpPr txBox="1"/>
            <p:nvPr/>
          </p:nvSpPr>
          <p:spPr>
            <a:xfrm>
              <a:off x="721531" y="4856130"/>
              <a:ext cx="796373" cy="369332"/>
            </a:xfrm>
            <a:prstGeom prst="rect">
              <a:avLst/>
            </a:prstGeom>
            <a:noFill/>
          </p:spPr>
          <p:txBody>
            <a:bodyPr wrap="none" lIns="0" tIns="0" rIns="274320" bIns="0">
              <a:spAutoFit/>
            </a:bodyPr>
            <a:lstStyle/>
            <a:p>
              <a:pPr algn="ctr">
                <a:defRPr sz="2400" b="1">
                  <a:solidFill>
                    <a:srgbClr val="B43737"/>
                  </a:solidFill>
                </a:defRPr>
              </a:pPr>
              <a:r>
                <a:rPr lang="pt-PT" noProof="0" dirty="0"/>
                <a:t>  05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0211B23-CB74-5BC2-C9B5-AB96A2EEDFF4}"/>
                </a:ext>
              </a:extLst>
            </p:cNvPr>
            <p:cNvSpPr txBox="1"/>
            <p:nvPr/>
          </p:nvSpPr>
          <p:spPr>
            <a:xfrm>
              <a:off x="766943" y="5215982"/>
              <a:ext cx="809196" cy="138499"/>
            </a:xfrm>
            <a:prstGeom prst="rect">
              <a:avLst/>
            </a:prstGeom>
            <a:noFill/>
          </p:spPr>
          <p:txBody>
            <a:bodyPr wrap="none" lIns="0" tIns="0" rIns="274320" bIns="0">
              <a:spAutoFit/>
            </a:bodyPr>
            <a:lstStyle/>
            <a:p>
              <a:pPr algn="ctr">
                <a:defRPr sz="900">
                  <a:solidFill>
                    <a:srgbClr val="2D2D2D"/>
                  </a:solidFill>
                </a:defRPr>
              </a:pPr>
              <a:r>
                <a:rPr lang="pt-PT" b="1" noProof="0" dirty="0">
                  <a:latin typeface="Arial" panose="020B0604020202020204" pitchFamily="34" charset="0"/>
                  <a:cs typeface="Arial" panose="020B0604020202020204" pitchFamily="34" charset="0"/>
                </a:rPr>
                <a:t>Monitorar</a:t>
              </a:r>
            </a:p>
          </p:txBody>
        </p:sp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D1B80D3D-7EBC-3462-33D5-7C3341B4CF3F}"/>
                </a:ext>
              </a:extLst>
            </p:cNvPr>
            <p:cNvSpPr/>
            <p:nvPr/>
          </p:nvSpPr>
          <p:spPr>
            <a:xfrm>
              <a:off x="1600200" y="4782312"/>
              <a:ext cx="9784080" cy="65836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437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274320" bIns="0"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553501-38FA-AA27-296E-40C5C6C7083E}"/>
                </a:ext>
              </a:extLst>
            </p:cNvPr>
            <p:cNvSpPr txBox="1"/>
            <p:nvPr/>
          </p:nvSpPr>
          <p:spPr>
            <a:xfrm>
              <a:off x="1764792" y="4817177"/>
              <a:ext cx="1225977" cy="246221"/>
            </a:xfrm>
            <a:prstGeom prst="rect">
              <a:avLst/>
            </a:prstGeom>
            <a:noFill/>
          </p:spPr>
          <p:txBody>
            <a:bodyPr wrap="none" lIns="0" tIns="0" rIns="274320" bIns="0">
              <a:spAutoFit/>
            </a:bodyPr>
            <a:lstStyle/>
            <a:p>
              <a:pPr>
                <a:defRPr sz="1400" b="1">
                  <a:solidFill>
                    <a:srgbClr val="B43737"/>
                  </a:solidFill>
                </a:defRPr>
              </a:pPr>
              <a:r>
                <a:rPr lang="pt-PT" sz="1600" noProof="0" dirty="0"/>
                <a:t>Monitorar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F63E64-8B20-4EAB-C29E-B6CD12A90387}"/>
                </a:ext>
              </a:extLst>
            </p:cNvPr>
            <p:cNvSpPr txBox="1"/>
            <p:nvPr/>
          </p:nvSpPr>
          <p:spPr>
            <a:xfrm>
              <a:off x="1737380" y="5102352"/>
              <a:ext cx="9646900" cy="246221"/>
            </a:xfrm>
            <a:prstGeom prst="rect">
              <a:avLst/>
            </a:prstGeom>
            <a:noFill/>
          </p:spPr>
          <p:txBody>
            <a:bodyPr wrap="square" lIns="0" tIns="0" rIns="274320" bIns="0">
              <a:spAutoFit/>
            </a:bodyPr>
            <a:lstStyle/>
            <a:p>
              <a:pPr>
                <a:defRPr sz="1100">
                  <a:solidFill>
                    <a:srgbClr val="2D2D2D"/>
                  </a:solidFill>
                </a:defRPr>
              </a:pPr>
              <a:r>
                <a:rPr lang="pt-PT" sz="1600" b="1" noProof="0" dirty="0">
                  <a:latin typeface="Arial" panose="020B0604020202020204" pitchFamily="34" charset="0"/>
                  <a:cs typeface="Arial" panose="020B0604020202020204" pitchFamily="34" charset="0"/>
                </a:rPr>
                <a:t>Painel </a:t>
              </a:r>
              <a:r>
                <a:rPr lang="pt-PT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pt-PT" sz="1600" b="1" noProof="0" dirty="0">
                  <a:latin typeface="Arial" panose="020B0604020202020204" pitchFamily="34" charset="0"/>
                  <a:cs typeface="Arial" panose="020B0604020202020204" pitchFamily="34" charset="0"/>
                </a:rPr>
                <a:t> gatilhos </a:t>
              </a:r>
              <a:r>
                <a:rPr lang="pt-PT" sz="16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para melhoria da qualidade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52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C19C47-3607-7A8C-10D7-9B498303F99D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 err="1">
                <a:solidFill>
                  <a:schemeClr val="bg1"/>
                </a:solidFill>
              </a:rPr>
              <a:t>Considerações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Finais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10D50-464F-D70A-B335-87A465D1C1E3}"/>
              </a:ext>
            </a:extLst>
          </p:cNvPr>
          <p:cNvSpPr txBox="1"/>
          <p:nvPr/>
        </p:nvSpPr>
        <p:spPr>
          <a:xfrm>
            <a:off x="657224" y="1452979"/>
            <a:ext cx="11096625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Cidade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enfrenta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múltiplos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riscos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exigindo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preparação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permanente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multirrisco</a:t>
            </a:r>
            <a:r>
              <a:rPr lang="en-US" sz="2000" dirty="0">
                <a:solidFill>
                  <a:schemeClr val="bg1"/>
                </a:solidFill>
              </a:rPr>
              <a:t>, e </a:t>
            </a:r>
            <a:r>
              <a:rPr lang="en-US" sz="2000" dirty="0" err="1">
                <a:solidFill>
                  <a:schemeClr val="bg1"/>
                </a:solidFill>
              </a:rPr>
              <a:t>não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apenas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resposta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sazonal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 ECC 2025/26 </a:t>
            </a:r>
            <a:r>
              <a:rPr lang="en-US" sz="2000" dirty="0" err="1">
                <a:solidFill>
                  <a:schemeClr val="bg1"/>
                </a:solidFill>
              </a:rPr>
              <a:t>demonstrou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capacidades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importantes</a:t>
            </a:r>
            <a:r>
              <a:rPr lang="en-US" sz="2000" dirty="0">
                <a:solidFill>
                  <a:schemeClr val="bg1"/>
                </a:solidFill>
              </a:rPr>
              <a:t>, mas </a:t>
            </a:r>
            <a:r>
              <a:rPr lang="en-US" sz="2000" dirty="0" err="1">
                <a:solidFill>
                  <a:schemeClr val="bg1"/>
                </a:solidFill>
              </a:rPr>
              <a:t>também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evidenciou</a:t>
            </a:r>
            <a:r>
              <a:rPr lang="en-US" sz="2000" dirty="0">
                <a:solidFill>
                  <a:schemeClr val="bg1"/>
                </a:solidFill>
              </a:rPr>
              <a:t> lacunas </a:t>
            </a:r>
            <a:r>
              <a:rPr lang="en-US" sz="2000" dirty="0" err="1">
                <a:solidFill>
                  <a:schemeClr val="bg1"/>
                </a:solidFill>
              </a:rPr>
              <a:t>operacionais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requerem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correcção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As </a:t>
            </a:r>
            <a:r>
              <a:rPr lang="en-US" sz="2000" dirty="0" err="1">
                <a:solidFill>
                  <a:schemeClr val="bg1"/>
                </a:solidFill>
              </a:rPr>
              <a:t>lições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aprendidas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devem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traduzir</a:t>
            </a:r>
            <a:r>
              <a:rPr lang="en-US" sz="2000" dirty="0">
                <a:solidFill>
                  <a:schemeClr val="bg1"/>
                </a:solidFill>
              </a:rPr>
              <a:t>-se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correctivas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monitoráveis</a:t>
            </a:r>
            <a:r>
              <a:rPr lang="en-US" sz="2000" dirty="0">
                <a:solidFill>
                  <a:schemeClr val="bg1"/>
                </a:solidFill>
              </a:rPr>
              <a:t>, com </a:t>
            </a:r>
            <a:r>
              <a:rPr lang="en-US" sz="2000" dirty="0" err="1">
                <a:solidFill>
                  <a:schemeClr val="bg1"/>
                </a:solidFill>
              </a:rPr>
              <a:t>responsabilidades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prazos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definidos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O </a:t>
            </a:r>
            <a:r>
              <a:rPr lang="en-US" sz="2000" dirty="0" err="1">
                <a:solidFill>
                  <a:schemeClr val="bg1"/>
                </a:solidFill>
              </a:rPr>
              <a:t>fortalecimento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prontidão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exige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articulação</a:t>
            </a:r>
            <a:r>
              <a:rPr lang="en-US" sz="2000" dirty="0">
                <a:solidFill>
                  <a:schemeClr val="bg1"/>
                </a:solidFill>
              </a:rPr>
              <a:t> entre </a:t>
            </a:r>
            <a:r>
              <a:rPr lang="en-US" sz="2000" dirty="0" err="1">
                <a:solidFill>
                  <a:schemeClr val="bg1"/>
                </a:solidFill>
              </a:rPr>
              <a:t>Cidade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distritos</a:t>
            </a:r>
            <a:r>
              <a:rPr lang="en-US" sz="2000" dirty="0">
                <a:solidFill>
                  <a:schemeClr val="bg1"/>
                </a:solidFill>
              </a:rPr>
              <a:t>, US, comunidades, outros </a:t>
            </a:r>
            <a:r>
              <a:rPr lang="en-US" sz="2000" dirty="0" err="1">
                <a:solidFill>
                  <a:schemeClr val="bg1"/>
                </a:solidFill>
              </a:rPr>
              <a:t>sectores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parceiros</a:t>
            </a:r>
            <a:r>
              <a:rPr lang="en-US" sz="2000" dirty="0">
                <a:solidFill>
                  <a:schemeClr val="bg1"/>
                </a:solidFill>
              </a:rPr>
              <a:t>, com </a:t>
            </a:r>
            <a:r>
              <a:rPr lang="en-US" sz="2000" dirty="0" err="1">
                <a:solidFill>
                  <a:schemeClr val="bg1"/>
                </a:solidFill>
              </a:rPr>
              <a:t>capacidade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antecipar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detectar</a:t>
            </a:r>
            <a:r>
              <a:rPr lang="en-US" sz="2000" dirty="0">
                <a:solidFill>
                  <a:schemeClr val="bg1"/>
                </a:solidFill>
              </a:rPr>
              <a:t> e responder </a:t>
            </a:r>
            <a:r>
              <a:rPr lang="en-US" sz="2000" dirty="0" err="1">
                <a:solidFill>
                  <a:schemeClr val="bg1"/>
                </a:solidFill>
              </a:rPr>
              <a:t>atempadamente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mantendo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serviços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essenciais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Muito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pela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atenção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dispensada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598B7-3419-D091-E698-E0F6B505E00B}"/>
              </a:ext>
            </a:extLst>
          </p:cNvPr>
          <p:cNvSpPr txBox="1"/>
          <p:nvPr/>
        </p:nvSpPr>
        <p:spPr>
          <a:xfrm>
            <a:off x="3163253" y="437617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“A </a:t>
            </a:r>
            <a:r>
              <a:rPr lang="en-US" i="1" dirty="0" err="1">
                <a:solidFill>
                  <a:schemeClr val="bg1"/>
                </a:solidFill>
              </a:rPr>
              <a:t>resiliência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constrói</a:t>
            </a:r>
            <a:r>
              <a:rPr lang="en-US" i="1" dirty="0">
                <a:solidFill>
                  <a:schemeClr val="bg1"/>
                </a:solidFill>
              </a:rPr>
              <a:t>-se antes da crise.”</a:t>
            </a:r>
            <a:endParaRPr lang="pt-PT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9462</TotalTime>
  <Words>1946</Words>
  <Application>Microsoft Office PowerPoint</Application>
  <PresentationFormat>Ecrã Panorâmico</PresentationFormat>
  <Paragraphs>198</Paragraphs>
  <Slides>22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35" baseType="lpstr">
      <vt:lpstr>MS PGothic</vt:lpstr>
      <vt:lpstr>Aptos</vt:lpstr>
      <vt:lpstr>Arial</vt:lpstr>
      <vt:lpstr>Arial Narrow</vt:lpstr>
      <vt:lpstr>Calibri</vt:lpstr>
      <vt:lpstr>Century Gothic</vt:lpstr>
      <vt:lpstr>Comic Sans MS</vt:lpstr>
      <vt:lpstr>Courier New</vt:lpstr>
      <vt:lpstr>Garet Bold</vt:lpstr>
      <vt:lpstr>Garet Bold Italics</vt:lpstr>
      <vt:lpstr>Times New Roman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I. PERFIL DE RISCO E CONTEXTO</vt:lpstr>
      <vt:lpstr>Apresentação do PowerPoint</vt:lpstr>
      <vt:lpstr>II. EXPERIÊNCIA RECENTE DE RESPOSTA</vt:lpstr>
      <vt:lpstr>Apresentação do PowerPoint</vt:lpstr>
      <vt:lpstr>Apresentação do PowerPoint</vt:lpstr>
      <vt:lpstr>III. AVALIAÇÃO E LIÇÕES APRENDIDAS</vt:lpstr>
      <vt:lpstr>Apresentação do PowerPoint</vt:lpstr>
      <vt:lpstr>Apresentação do PowerPoint</vt:lpstr>
      <vt:lpstr>Apresentação do PowerPoint</vt:lpstr>
      <vt:lpstr>IV. DA RESPOSTA REACTIVA À PRONTIDÃO MULTIRRISCO</vt:lpstr>
      <vt:lpstr>Apresentação do PowerPoint</vt:lpstr>
      <vt:lpstr>Apresentação do PowerPoint</vt:lpstr>
      <vt:lpstr>Apresentação do PowerPoint</vt:lpstr>
      <vt:lpstr>V. FORTALECIMENTO DA PRONTIDÃO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Eunice Fumo</cp:lastModifiedBy>
  <cp:revision>129</cp:revision>
  <dcterms:created xsi:type="dcterms:W3CDTF">2025-07-14T08:03:00Z</dcterms:created>
  <dcterms:modified xsi:type="dcterms:W3CDTF">2026-10-08T08:22:36Z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