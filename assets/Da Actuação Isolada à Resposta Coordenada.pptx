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084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tema resume a nossa mensagem: a resposta à VBG em Maputo evoluiu de acções isoladas de cada sector para uma resposta coordenada, centrada na sobrevivente. Vamos partilhar as boas práticas e as aprendizagens da Medicus Mundi e dos seus parceiros neste percurso.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de partida. Durante muito tempo cada sector respondia por si: a mulher ia à polícia, ao hospital, à acção social e ao tribunal, contando a sua história várias vezes, e muitos casos perdiam-se pelo caminho. A proposta do mecanismo multisectorial é inverter esta lógica: a sobrevivente entra por uma porta, é acolhida e acompanhada, e são os serviços que se articulam à volta 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coordenada não nasceu de um dia para o outro. Desde 2018 a Medicus Mundi trabalha na cidade de Maputo em fases sucessivas: começámos por aproximar os sectores, investimos na capacitação dos profissionais, reforçámos a integração e, na fase actual, consolidámos rotas de saída concretas para as sobreviventes no distrito de Ka Mubukwana.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nossa intervenção organiza-se em três eixos que se reforçam mutuamente: coordenar o mecanismo multisectorial, fortalecer as capacidades das organizações que respondem à VBG e trabalhar directamente com a comunidade. No centro está o GAI, a boa prática que dá forma concreta à resposta coordenada.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eixo: o fortalecimento da coordenação. É aqui que a passagem da actuação isolada para a resposta coordenada se torna mais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Mecanismo Multisectorial de Atendimento Integral à Mulher Vítima de Violência reúne saúde, acção social, polícia e justiça, com a sociedade civil e a comunidade. O nosso papel foi apoiar a organização dos encontros do mecanismo, para reforçar a planificação e a tomada de decisões conjunta, e realizar supervisões e apoio técnico às unidades que atendem vítimas, garantindo qualidade e eficácia dos serviços. [Confirmar os números finais de encontros e supervisões.]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acelerar e garantir a abrangência da resposta, foram criados 14 comités comunitários de VBG, um em cada bairro do distrito de Ka Mubukwana, e até ao momento 5 núcleos escolares de VBG nas escolas secundárias. Estas estruturas são os olhos e os ouvidos da resposta: identificam casos, orientam as sobreviventes para o GAI e ligam a comunidade ao mecanismo multisectorial.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eixo: uma resposta coordenada só funciona se cada actor tiver as competências e as ferramentas para cumprir o seu papel.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eixo realizámos a formação sobre o novo pacote integrado para os Pontos Focais de VBG da Cidade de Maputo, e formámos mais de 150 membros da comunidade e das escolas do distrito de Ka Mubukwana em gestão de casos de VBG. Formámos também 20 paralegais e 3 técnicos da Associação Hixikanwe. Além das pessoas, criámos ferramentas: um sistema de informação, protocolos de atendimento humanizado e procedimentos de actuação que garantem a integralidade e a promoção dos direitos humanos.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Chegamos à principal boa prática que queremos partilhar: o Gabinete de Atendimento Integral, o GAI, gerido em parceria com a Associação Hixikanwe. O seu lema resume a abordagem: acolher, proteger, orientar e integrar.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GAI é um modelo comunitário que reforça o mecanismo de resposta à VBG. Funciona como ponto de entrada e de encaminhamento: a mulher chega a um só lugar e daí tem acesso a apoio psicossocial, assistência social e encaminhamento jurídico e clínico. Durante o projecto foram atendidas 1.554 sobreviventes, 155% da meta prevista, o que mostra a confiança que a comunidade depositou neste serviço.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força do GAI está na sua equipa multidisciplinar: uma psicóloga, uma assistente social, uma conselheira, 20 paralegais que fazem a ponte com a comunidade, e um escritório de advogados contratado para prestar assistência jurídica às mulheres sobreviventes. Esta composição permite responder ao mesmo tempo às necessidades emocionais, sociais e legais de cada mulher.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rota de saída que o GAI torna possível. O caso é identificado na comunidade, na escola, pelos paralegais ou pela própria mulher. No GAI ela é acolhida e ouvida. Se houver risco, fica protegida no quarto de trânsito e, quando necessário, é transferida para o Centro Nhamai enquanto o processo segue os trâmites legais, com assistência jurídica. O percurso termina na autonomia, através do fortalecimento económico. Em todos os passos a mulher não está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dos elementos mais inovadores é o mecanismo de protecção e segurança. O GAI dispõe de um quarto de trânsito, preparado para acolher de forma transitória as vítimas em situação de risco. A partir daí, em coordenação com o Centro de Acolhimento Nhamai, as mulheres são transferidas para acolhimento temporário enquanto os seus processos seguem os trâmites legais. Assim, nenhuma mulher precisa de regressar ao lugar onde sofreu a violência por falta de alternativa.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rota de saída só fica completa quando a mulher conquista autonomia. Por isso o GAI aposta no fortalecimento económico, através de formação profissional, inserção em estágios e emprego, e financiamento para iniciar negócios. Até ao momento foram financiadas 25 mulheres e prevê-se que, até Dezembro, mais de 100 mulheres beneficiárias recebam financiamento e kits de autoemprego para iniciarem os seus negócios.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eixo: o trabalho com a comunidade. Sem uma comunidade informada, os serviços ficam à espera de casos que nunca chegam.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trabalho com a comunidade promovemos diálogos comunitários, cine-fóruns e palestras nas escolas. Estas actividades informam sobre direitos e sobre os serviços disponíveis, quebram o silêncio à volta da violência e envolvem também os homens e os rapazes, através da abordagem das novas masculinidades. [Acrescentar, se disponível, o número de sessões e de participantes.]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Destas experiências retiramos seis aprendizagens principais. A coordenação precisa de um ponto de entrada concreto. A proximidade comunitária acelera a detecção. Protecção e autonomia económica são inseparáveis. A capacitação contínua garante qualidade. A escola é um espaço privilegiado de prevenção. E a rede multisectorial só se mantém viva com encontros e planificação regulares.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Persistem desafios. O pessoal da Acção Social e da Procuradoria está colocado nas sedes distritais e desloca-se aos serviços de atendimento com periodicidade irregular. As supervisões ficaram abaixo do previsto. E o compromisso orçamental público com o atendimento às vítimas precisa de crescer. Os próximos passos passam por concluir o financiamento de mais de 100 mulheres até Dezembro, alargar os núcleos escolares, consolidar o GAI como modelo replicável e continuar a advocacia junto das autoridades. [Rever e ajustar estes pontos com a equipa.]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terminar: a principal aprendizagem é que nenhuma instituição consegue, sozinha, responder à violência baseada no género. Quando os sectores se coordenam à volta da sobrevivente, ela deixa de percorrer o caminho sozinha. Obrigado pela atenção.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566400" cy="525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24123A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02356"/>
            <a:ext cx="10566400" cy="414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566400" cy="525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24123A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02356"/>
            <a:ext cx="10566400" cy="414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23A"/>
              </a:gs>
              <a:gs pos="100000">
                <a:srgbClr val="3B1E5E"/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ontos isolados que convergem para um centro coordenad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1270000"/>
            <a:ext cx="4064000" cy="406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68021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CIDADE DE MAPUTO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1229320"/>
            <a:ext cx="6802120" cy="125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5EE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Da Actuação Isolada à Resposta Coordenada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12800" y="2661775"/>
            <a:ext cx="680212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Boas práticas e aprendizagens do Mecanismo Multisectorial no atendimento às sobreviventes da Violência Baseada no Género na Cidade de Maputo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12800" y="5295900"/>
            <a:ext cx="2628900" cy="749300"/>
          </a:xfrm>
          <a:prstGeom prst="roundRect">
            <a:avLst>
              <a:gd name="adj" fmla="val 16949"/>
            </a:avLst>
          </a:prstGeom>
          <a:solidFill>
            <a:srgbClr val="FA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Logótipo da Medicus Mundi"/>
          <p:cNvPicPr>
            <a:picLocks noChangeAspect="1"/>
          </p:cNvPicPr>
          <p:nvPr/>
        </p:nvPicPr>
        <p:blipFill>
          <a:blip r:embed="rId4"/>
          <a:srcRect t="-124" b="-124"/>
          <a:stretch/>
        </p:blipFill>
        <p:spPr>
          <a:xfrm>
            <a:off x="1041400" y="5429250"/>
            <a:ext cx="1270000" cy="482600"/>
          </a:xfrm>
          <a:prstGeom prst="rect">
            <a:avLst/>
          </a:prstGeom>
        </p:spPr>
      </p:pic>
      <p:pic>
        <p:nvPicPr>
          <p:cNvPr id="9" name="Image 2" descr="Logótipo da Associação Hixikanwe"/>
          <p:cNvPicPr>
            <a:picLocks noChangeAspect="1"/>
          </p:cNvPicPr>
          <p:nvPr/>
        </p:nvPicPr>
        <p:blipFill>
          <a:blip r:embed="rId5"/>
          <a:srcRect t="-393" b="-393"/>
          <a:stretch/>
        </p:blipFill>
        <p:spPr>
          <a:xfrm>
            <a:off x="2514600" y="5422900"/>
            <a:ext cx="698500" cy="495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95700" y="5546064"/>
            <a:ext cx="135763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Maputo,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8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Duas formas de responder à VBG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59529"/>
            <a:ext cx="4648200" cy="2840302"/>
          </a:xfrm>
          <a:prstGeom prst="roundRect">
            <a:avLst>
              <a:gd name="adj" fmla="val 5366"/>
            </a:avLst>
          </a:prstGeom>
          <a:solidFill>
            <a:srgbClr val="EE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7600" y="2464329"/>
            <a:ext cx="41597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5B516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Actuação isolada</a:t>
            </a:r>
            <a:endParaRPr lang="en-US" sz="2200" dirty="0"/>
          </a:p>
        </p:txBody>
      </p:sp>
      <p:pic>
        <p:nvPicPr>
          <p:cNvPr id="6" name="Image 0" descr="Warning"/>
          <p:cNvPicPr>
            <a:picLocks noChangeAspect="1"/>
          </p:cNvPicPr>
          <p:nvPr/>
        </p:nvPicPr>
        <p:blipFill>
          <a:blip r:embed="rId3"/>
          <a:srcRect t="-119" b="-119"/>
          <a:stretch/>
        </p:blipFill>
        <p:spPr>
          <a:xfrm>
            <a:off x="1117600" y="2951956"/>
            <a:ext cx="221721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0921" y="2951956"/>
            <a:ext cx="382673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sobrevivente percorre sozinha cada serviço</a:t>
            </a:r>
            <a:endParaRPr lang="en-US" sz="1500" dirty="0"/>
          </a:p>
        </p:txBody>
      </p:sp>
      <p:pic>
        <p:nvPicPr>
          <p:cNvPr id="8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7600" y="3618706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7800" y="3618706"/>
            <a:ext cx="366117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Repete a sua história em cada porta</a:t>
            </a:r>
            <a:endParaRPr lang="en-US" sz="1500" dirty="0"/>
          </a:p>
        </p:txBody>
      </p:sp>
      <p:pic>
        <p:nvPicPr>
          <p:cNvPr id="10" name="Image 2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7600" y="4028281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47800" y="4028281"/>
            <a:ext cx="379674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Sectores que não comunicam entre si</a:t>
            </a:r>
            <a:endParaRPr lang="en-US" sz="1500" dirty="0"/>
          </a:p>
        </p:txBody>
      </p:sp>
      <p:pic>
        <p:nvPicPr>
          <p:cNvPr id="12" name="Image 3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7600" y="4437856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47800" y="4437856"/>
            <a:ext cx="4013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Casos que se perdem no encaminhamento</a:t>
            </a:r>
            <a:endParaRPr lang="en-US" sz="1500" dirty="0"/>
          </a:p>
        </p:txBody>
      </p:sp>
      <p:pic>
        <p:nvPicPr>
          <p:cNvPr id="14" name="Image 4" descr="arrow-righ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0" y="3376481"/>
            <a:ext cx="762000" cy="4064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731000" y="1902354"/>
            <a:ext cx="4648200" cy="3354652"/>
          </a:xfrm>
          <a:prstGeom prst="roundRect">
            <a:avLst>
              <a:gd name="adj" fmla="val 4543"/>
            </a:avLst>
          </a:prstGeom>
          <a:solidFill>
            <a:srgbClr val="6B3FA0"/>
          </a:solidFill>
          <a:ln/>
          <a:effectLst>
            <a:outerShdw blurRad="381000" dist="152400" dir="5400000" algn="bl" rotWithShape="0">
              <a:srgbClr val="24123A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7035800" y="2207154"/>
            <a:ext cx="41597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Resposta coordenada</a:t>
            </a:r>
            <a:endParaRPr lang="en-US" sz="2200" dirty="0"/>
          </a:p>
        </p:txBody>
      </p:sp>
      <p:pic>
        <p:nvPicPr>
          <p:cNvPr id="17" name="Image 5" descr="CheckCircl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35800" y="2694781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366000" y="2694781"/>
            <a:ext cx="4013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Uma porta de entrada que acolhe e orienta</a:t>
            </a:r>
            <a:endParaRPr lang="en-US" sz="1500" dirty="0"/>
          </a:p>
        </p:txBody>
      </p:sp>
      <p:pic>
        <p:nvPicPr>
          <p:cNvPr id="19" name="Image 6" descr="CheckCircle"/>
          <p:cNvPicPr>
            <a:picLocks noChangeAspect="1"/>
          </p:cNvPicPr>
          <p:nvPr/>
        </p:nvPicPr>
        <p:blipFill>
          <a:blip r:embed="rId7"/>
          <a:srcRect t="-526" b="-526"/>
          <a:stretch/>
        </p:blipFill>
        <p:spPr>
          <a:xfrm>
            <a:off x="7035800" y="3104356"/>
            <a:ext cx="213651" cy="2286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351051" y="3104356"/>
            <a:ext cx="383505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Encaminhamento acompanhado entre sectores</a:t>
            </a:r>
            <a:endParaRPr lang="en-US" sz="1500" dirty="0"/>
          </a:p>
        </p:txBody>
      </p:sp>
      <p:pic>
        <p:nvPicPr>
          <p:cNvPr id="21" name="Image 7" descr="CheckCircle"/>
          <p:cNvPicPr>
            <a:picLocks noChangeAspect="1"/>
          </p:cNvPicPr>
          <p:nvPr/>
        </p:nvPicPr>
        <p:blipFill>
          <a:blip r:embed="rId8"/>
          <a:srcRect l="-489" r="-489"/>
          <a:stretch/>
        </p:blipFill>
        <p:spPr>
          <a:xfrm>
            <a:off x="7035800" y="3771106"/>
            <a:ext cx="211601" cy="228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349001" y="3771106"/>
            <a:ext cx="383716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Saúde, acção social, polícia e justiça articuladas</a:t>
            </a:r>
            <a:endParaRPr lang="en-US" sz="1500" dirty="0"/>
          </a:p>
        </p:txBody>
      </p:sp>
      <p:pic>
        <p:nvPicPr>
          <p:cNvPr id="23" name="Image 8" descr="CheckCircle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35800" y="4437856"/>
            <a:ext cx="209550" cy="2286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346950" y="4437856"/>
            <a:ext cx="383927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Protecção imediata e caminho para a autonomia</a:t>
            </a:r>
            <a:endParaRPr lang="en-US" sz="1500" dirty="0"/>
          </a:p>
        </p:txBody>
      </p:sp>
      <p:sp>
        <p:nvSpPr>
          <p:cNvPr id="25" name="Text 14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6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PERCURSO DA MEDICUS MUNDI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8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Desde 2018, a construir a resposta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8555"/>
            <a:ext cx="2489200" cy="0"/>
          </a:xfrm>
          <a:prstGeom prst="line">
            <a:avLst/>
          </a:prstGeom>
          <a:noFill/>
          <a:ln w="50800">
            <a:solidFill>
              <a:srgbClr val="CDB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800" y="2207155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B3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I · 2018–2020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22076"/>
            <a:ext cx="251155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Primeiras pontes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867489"/>
            <a:ext cx="2511552" cy="118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Início da articulação entre saúde, acção social, polícia e justiça. Capacitação inicial de profissionais e pesquisas sobre a VBG em Maputo.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5200" y="1978555"/>
            <a:ext cx="2489200" cy="0"/>
          </a:xfrm>
          <a:prstGeom prst="line">
            <a:avLst/>
          </a:prstGeom>
          <a:noFill/>
          <a:ln w="50800">
            <a:solidFill>
              <a:srgbClr val="A98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05200" y="2207155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B3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II · 2020–2022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05200" y="2522076"/>
            <a:ext cx="251155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Mais capacidade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5200" y="2867489"/>
            <a:ext cx="2511552" cy="118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Capacitação para serviços psicossociais e jurídicos, campanhas de sensibilização e mais pontos de atendimento jurídico.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7600" y="1978555"/>
            <a:ext cx="2489200" cy="0"/>
          </a:xfrm>
          <a:prstGeom prst="line">
            <a:avLst/>
          </a:prstGeom>
          <a:noFill/>
          <a:ln w="508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97600" y="2207155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6B3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III · [PERÍODO]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7600" y="2522076"/>
            <a:ext cx="251155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Mais integração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7600" y="2867489"/>
            <a:ext cx="2511552" cy="94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Maior integração dos sectores no atendimento às vítimas e foco no acesso a serviços integrais de qualidade.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90000" y="1978555"/>
            <a:ext cx="2489200" cy="0"/>
          </a:xfrm>
          <a:prstGeom prst="line">
            <a:avLst/>
          </a:prstGeom>
          <a:noFill/>
          <a:ln w="50800">
            <a:solidFill>
              <a:srgbClr val="E07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90000" y="2207155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IV · 2024–2026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90000" y="2522076"/>
            <a:ext cx="251155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Rotas de saída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2867489"/>
            <a:ext cx="2511552" cy="94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Criação do GAI, comités comunitários, núcleos escolares e empoderamento económico em Ka Mubukwana.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378657"/>
            <a:ext cx="1088339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6B3FA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Cada fase acrescentou uma peça: primeiro ligar os sectores, depois capacitá-los, por fim integrá-los numa rota única.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1185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NOSSA ABORDAGEM</a:t>
            </a:r>
            <a:endParaRPr lang="en-US" sz="11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6074"/>
            <a:ext cx="10883392" cy="534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24"/>
              </a:lnSpc>
              <a:buNone/>
            </a:pPr>
            <a:r>
              <a:rPr lang="en-US" sz="3499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Três eixos, uma resposta</a:t>
            </a:r>
            <a:endParaRPr lang="en-US" sz="3499" dirty="0"/>
          </a:p>
        </p:txBody>
      </p:sp>
      <p:sp>
        <p:nvSpPr>
          <p:cNvPr id="4" name="Shape 2"/>
          <p:cNvSpPr/>
          <p:nvPr/>
        </p:nvSpPr>
        <p:spPr>
          <a:xfrm>
            <a:off x="812800" y="1880065"/>
            <a:ext cx="3386667" cy="2608329"/>
          </a:xfrm>
          <a:prstGeom prst="roundRect">
            <a:avLst>
              <a:gd name="adj" fmla="val 5843"/>
            </a:avLst>
          </a:prstGeom>
          <a:solidFill>
            <a:srgbClr val="FFFFFF"/>
          </a:solidFill>
          <a:ln/>
          <a:effectLst>
            <a:outerShdw blurRad="254000" dist="76200" dir="5400000" algn="bl" rotWithShape="0">
              <a:srgbClr val="24123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6800" y="2134065"/>
            <a:ext cx="2965027" cy="46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465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01</a:t>
            </a:r>
            <a:endParaRPr lang="en-US" sz="3465" dirty="0"/>
          </a:p>
        </p:txBody>
      </p:sp>
      <p:sp>
        <p:nvSpPr>
          <p:cNvPr id="6" name="Text 4"/>
          <p:cNvSpPr/>
          <p:nvPr/>
        </p:nvSpPr>
        <p:spPr>
          <a:xfrm>
            <a:off x="1066800" y="2675136"/>
            <a:ext cx="2965027" cy="81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13"/>
              </a:lnSpc>
              <a:buNone/>
            </a:pPr>
            <a:r>
              <a:rPr lang="en-US" sz="1761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Coordenação do Mecanismo Multisectorial</a:t>
            </a:r>
            <a:endParaRPr lang="en-US" sz="1761" dirty="0"/>
          </a:p>
        </p:txBody>
      </p:sp>
      <p:sp>
        <p:nvSpPr>
          <p:cNvPr id="7" name="Text 5"/>
          <p:cNvSpPr/>
          <p:nvPr/>
        </p:nvSpPr>
        <p:spPr>
          <a:xfrm>
            <a:off x="1066800" y="3567841"/>
            <a:ext cx="2965027" cy="69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7"/>
              </a:lnSpc>
              <a:buNone/>
            </a:pPr>
            <a:r>
              <a:rPr lang="en-US" sz="1255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Encontros, </a:t>
            </a:r>
            <a:r>
              <a:rPr lang="en-US" sz="1255" dirty="0" err="1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ao</a:t>
            </a:r>
            <a:r>
              <a:rPr lang="en-US" sz="1255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255" dirty="0" err="1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nível</a:t>
            </a:r>
            <a:r>
              <a:rPr lang="en-US" sz="1255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do de Ka </a:t>
            </a:r>
            <a:r>
              <a:rPr lang="en-US" sz="1255" dirty="0" err="1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Mubukwana</a:t>
            </a:r>
            <a:r>
              <a:rPr lang="en-US" sz="1255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 da </a:t>
            </a:r>
            <a:r>
              <a:rPr lang="en-US" sz="1255" dirty="0" err="1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Cidade</a:t>
            </a:r>
            <a:r>
              <a:rPr lang="en-US" sz="1255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Maputo.</a:t>
            </a:r>
            <a:endParaRPr lang="en-US" sz="1255" dirty="0"/>
          </a:p>
        </p:txBody>
      </p:sp>
      <p:sp>
        <p:nvSpPr>
          <p:cNvPr id="8" name="Shape 6"/>
          <p:cNvSpPr/>
          <p:nvPr/>
        </p:nvSpPr>
        <p:spPr>
          <a:xfrm>
            <a:off x="4402667" y="1880065"/>
            <a:ext cx="3386667" cy="2608329"/>
          </a:xfrm>
          <a:prstGeom prst="roundRect">
            <a:avLst>
              <a:gd name="adj" fmla="val 5843"/>
            </a:avLst>
          </a:prstGeom>
          <a:solidFill>
            <a:srgbClr val="FFFFFF"/>
          </a:solidFill>
          <a:ln/>
          <a:effectLst>
            <a:outerShdw blurRad="254000" dist="76200" dir="5400000" algn="bl" rotWithShape="0">
              <a:srgbClr val="24123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56667" y="2134065"/>
            <a:ext cx="29650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56667" y="2692865"/>
            <a:ext cx="2965027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Capacidades das organizações-chave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56667" y="3343077"/>
            <a:ext cx="296502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OSC e instituições públicas preparadas para prevenir e gerir casos de VBG.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2534" y="1880065"/>
            <a:ext cx="3386667" cy="2608329"/>
          </a:xfrm>
          <a:prstGeom prst="roundRect">
            <a:avLst>
              <a:gd name="adj" fmla="val 5843"/>
            </a:avLst>
          </a:prstGeom>
          <a:solidFill>
            <a:srgbClr val="FFFFFF"/>
          </a:solidFill>
          <a:ln/>
          <a:effectLst>
            <a:outerShdw blurRad="254000" dist="76200" dir="5400000" algn="bl" rotWithShape="0">
              <a:srgbClr val="24123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46534" y="2134065"/>
            <a:ext cx="29650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46534" y="2692865"/>
            <a:ext cx="2965027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Trabalho com a comunidade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6534" y="3343077"/>
            <a:ext cx="2965027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Sensibilização nos bairros e nas escolas: diálogos, cine-fóruns e palestras.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4793193"/>
            <a:ext cx="10566400" cy="1048808"/>
          </a:xfrm>
          <a:prstGeom prst="roundRect">
            <a:avLst>
              <a:gd name="adj" fmla="val 14531"/>
            </a:avLst>
          </a:prstGeom>
          <a:solidFill>
            <a:srgbClr val="2412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Logótipo do Gabinete de Atendimento Integra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4936598"/>
            <a:ext cx="1143000" cy="762000"/>
          </a:xfrm>
          <a:prstGeom prst="roundRect">
            <a:avLst>
              <a:gd name="adj" fmla="val 11667"/>
            </a:avLst>
          </a:prstGeom>
        </p:spPr>
      </p:pic>
      <p:sp>
        <p:nvSpPr>
          <p:cNvPr id="18" name="Text 15"/>
          <p:cNvSpPr/>
          <p:nvPr/>
        </p:nvSpPr>
        <p:spPr>
          <a:xfrm>
            <a:off x="2362200" y="4934744"/>
            <a:ext cx="90258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CENTRO · BOA PRÁTICA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62200" y="5186164"/>
            <a:ext cx="902589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Gabinete de Atendimento Integral (GAI)</a:t>
            </a:r>
            <a:r>
              <a:rPr lang="en-US" sz="15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porta de entrada, protecção e caminho para a autonomia das sobreviventes.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23A"/>
              </a:gs>
              <a:gs pos="100000">
                <a:srgbClr val="3B1E5E"/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93280" y="2095500"/>
            <a:ext cx="418592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E07B2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01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812800" y="19964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EIXO 1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413000"/>
            <a:ext cx="680212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EE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Fortalecer a coordenação do Mecanismo Multisectorial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12800" y="4292600"/>
            <a:ext cx="654050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Ao nível do distrito de Ka Mubukwana e da Cidade de Maputo, para uma resposta à VBG mais rápida e abrangente.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EIXO 1 · COORDENAÇÃO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Vários sectores, uma só resposta</a:t>
            </a:r>
            <a:endParaRPr lang="en-US" sz="3600" dirty="0"/>
          </a:p>
        </p:txBody>
      </p:sp>
      <p:pic>
        <p:nvPicPr>
          <p:cNvPr id="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75000" y="2054755"/>
            <a:ext cx="101600" cy="1752600"/>
          </a:xfrm>
          <a:prstGeom prst="rect">
            <a:avLst/>
          </a:prstGeom>
        </p:spPr>
      </p:pic>
      <p:pic>
        <p:nvPicPr>
          <p:cNvPr id="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75000" y="2816755"/>
            <a:ext cx="1752600" cy="990600"/>
          </a:xfrm>
          <a:prstGeom prst="rect">
            <a:avLst/>
          </a:prstGeom>
        </p:spPr>
      </p:pic>
      <p:pic>
        <p:nvPicPr>
          <p:cNvPr id="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75000" y="3705755"/>
            <a:ext cx="1752600" cy="990600"/>
          </a:xfrm>
          <a:prstGeom prst="rect">
            <a:avLst/>
          </a:prstGeom>
        </p:spPr>
      </p:pic>
      <p:pic>
        <p:nvPicPr>
          <p:cNvPr id="7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175000" y="3705755"/>
            <a:ext cx="101600" cy="1752600"/>
          </a:xfrm>
          <a:prstGeom prst="rect">
            <a:avLst/>
          </a:prstGeom>
        </p:spPr>
      </p:pic>
      <p:pic>
        <p:nvPicPr>
          <p:cNvPr id="8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24000" y="3705755"/>
            <a:ext cx="1752600" cy="990600"/>
          </a:xfrm>
          <a:prstGeom prst="rect">
            <a:avLst/>
          </a:prstGeom>
        </p:spPr>
      </p:pic>
      <p:pic>
        <p:nvPicPr>
          <p:cNvPr id="9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24000" y="2816755"/>
            <a:ext cx="1752600" cy="990600"/>
          </a:xfrm>
          <a:prstGeom prst="rect">
            <a:avLst/>
          </a:prstGeom>
        </p:spPr>
      </p:pic>
      <p:pic>
        <p:nvPicPr>
          <p:cNvPr id="10" name="Image 6" descr="ellipse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463800" y="2994555"/>
            <a:ext cx="1524000" cy="15240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2438400" y="3534305"/>
            <a:ext cx="1574800" cy="45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Mecanismo Multisectorial</a:t>
            </a:r>
            <a:endParaRPr lang="en-US" sz="1300" dirty="0"/>
          </a:p>
        </p:txBody>
      </p:sp>
      <p:sp>
        <p:nvSpPr>
          <p:cNvPr id="12" name="Text 3"/>
          <p:cNvSpPr/>
          <p:nvPr/>
        </p:nvSpPr>
        <p:spPr>
          <a:xfrm>
            <a:off x="2470150" y="1870605"/>
            <a:ext cx="1511300" cy="472414"/>
          </a:xfrm>
          <a:custGeom>
            <a:avLst/>
            <a:gdLst/>
            <a:ahLst/>
            <a:cxnLst/>
            <a:rect l="l" t="t" r="r" b="b"/>
            <a:pathLst>
              <a:path w="1511300" h="472414">
                <a:moveTo>
                  <a:pt x="236207" y="0"/>
                </a:moveTo>
                <a:lnTo>
                  <a:pt x="1275093" y="0"/>
                </a:lnTo>
                <a:arcTo wR="236207" hR="236207" stAng="16200000" swAng="5400000"/>
                <a:lnTo>
                  <a:pt x="1511300" y="236207"/>
                </a:lnTo>
                <a:arcTo wR="236207" hR="236207" stAng="0" swAng="5400000"/>
                <a:lnTo>
                  <a:pt x="236207" y="472414"/>
                </a:lnTo>
                <a:arcTo wR="236207" hR="236207" stAng="5400000" swAng="5400000"/>
                <a:lnTo>
                  <a:pt x="0" y="236207"/>
                </a:lnTo>
                <a:arcTo wR="236207" hR="236207" stAng="10800000" swAng="5400000"/>
                <a:close/>
              </a:path>
            </a:pathLst>
          </a:cu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 wrap="square" lIns="57150" tIns="120650" rIns="57150" bIns="9525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Saúde</a:t>
            </a:r>
            <a:endParaRPr lang="en-US" sz="1300" dirty="0"/>
          </a:p>
        </p:txBody>
      </p:sp>
      <p:sp>
        <p:nvSpPr>
          <p:cNvPr id="13" name="Text 4"/>
          <p:cNvSpPr/>
          <p:nvPr/>
        </p:nvSpPr>
        <p:spPr>
          <a:xfrm>
            <a:off x="4121150" y="2632605"/>
            <a:ext cx="1511300" cy="472414"/>
          </a:xfrm>
          <a:custGeom>
            <a:avLst/>
            <a:gdLst/>
            <a:ahLst/>
            <a:cxnLst/>
            <a:rect l="l" t="t" r="r" b="b"/>
            <a:pathLst>
              <a:path w="1511300" h="472414">
                <a:moveTo>
                  <a:pt x="236207" y="0"/>
                </a:moveTo>
                <a:lnTo>
                  <a:pt x="1275093" y="0"/>
                </a:lnTo>
                <a:arcTo wR="236207" hR="236207" stAng="16200000" swAng="5400000"/>
                <a:lnTo>
                  <a:pt x="1511300" y="236207"/>
                </a:lnTo>
                <a:arcTo wR="236207" hR="236207" stAng="0" swAng="5400000"/>
                <a:lnTo>
                  <a:pt x="236207" y="472414"/>
                </a:lnTo>
                <a:arcTo wR="236207" hR="236207" stAng="5400000" swAng="5400000"/>
                <a:lnTo>
                  <a:pt x="0" y="236207"/>
                </a:lnTo>
                <a:arcTo wR="236207" hR="236207" stAng="10800000" swAng="5400000"/>
                <a:close/>
              </a:path>
            </a:pathLst>
          </a:cu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 wrap="square" lIns="57150" tIns="120650" rIns="57150" bIns="9525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Acção Social</a:t>
            </a:r>
            <a:endParaRPr lang="en-US" sz="1300" dirty="0"/>
          </a:p>
        </p:txBody>
      </p:sp>
      <p:sp>
        <p:nvSpPr>
          <p:cNvPr id="14" name="Text 5"/>
          <p:cNvSpPr/>
          <p:nvPr/>
        </p:nvSpPr>
        <p:spPr>
          <a:xfrm>
            <a:off x="4121150" y="4410605"/>
            <a:ext cx="1511300" cy="472414"/>
          </a:xfrm>
          <a:custGeom>
            <a:avLst/>
            <a:gdLst/>
            <a:ahLst/>
            <a:cxnLst/>
            <a:rect l="l" t="t" r="r" b="b"/>
            <a:pathLst>
              <a:path w="1511300" h="472414">
                <a:moveTo>
                  <a:pt x="236207" y="0"/>
                </a:moveTo>
                <a:lnTo>
                  <a:pt x="1275093" y="0"/>
                </a:lnTo>
                <a:arcTo wR="236207" hR="236207" stAng="16200000" swAng="5400000"/>
                <a:lnTo>
                  <a:pt x="1511300" y="236207"/>
                </a:lnTo>
                <a:arcTo wR="236207" hR="236207" stAng="0" swAng="5400000"/>
                <a:lnTo>
                  <a:pt x="236207" y="472414"/>
                </a:lnTo>
                <a:arcTo wR="236207" hR="236207" stAng="5400000" swAng="5400000"/>
                <a:lnTo>
                  <a:pt x="0" y="236207"/>
                </a:lnTo>
                <a:arcTo wR="236207" hR="236207" stAng="10800000" swAng="5400000"/>
                <a:close/>
              </a:path>
            </a:pathLst>
          </a:cu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 wrap="square" lIns="57150" tIns="120650" rIns="57150" bIns="9525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Polícia</a:t>
            </a:r>
            <a:endParaRPr lang="en-US" sz="1300" dirty="0"/>
          </a:p>
        </p:txBody>
      </p:sp>
      <p:sp>
        <p:nvSpPr>
          <p:cNvPr id="15" name="Text 6"/>
          <p:cNvSpPr/>
          <p:nvPr/>
        </p:nvSpPr>
        <p:spPr>
          <a:xfrm>
            <a:off x="2470150" y="5172605"/>
            <a:ext cx="1511300" cy="472414"/>
          </a:xfrm>
          <a:custGeom>
            <a:avLst/>
            <a:gdLst/>
            <a:ahLst/>
            <a:cxnLst/>
            <a:rect l="l" t="t" r="r" b="b"/>
            <a:pathLst>
              <a:path w="1511300" h="472414">
                <a:moveTo>
                  <a:pt x="236207" y="0"/>
                </a:moveTo>
                <a:lnTo>
                  <a:pt x="1275093" y="0"/>
                </a:lnTo>
                <a:arcTo wR="236207" hR="236207" stAng="16200000" swAng="5400000"/>
                <a:lnTo>
                  <a:pt x="1511300" y="236207"/>
                </a:lnTo>
                <a:arcTo wR="236207" hR="236207" stAng="0" swAng="5400000"/>
                <a:lnTo>
                  <a:pt x="236207" y="472414"/>
                </a:lnTo>
                <a:arcTo wR="236207" hR="236207" stAng="5400000" swAng="5400000"/>
                <a:lnTo>
                  <a:pt x="0" y="236207"/>
                </a:lnTo>
                <a:arcTo wR="236207" hR="236207" stAng="10800000" swAng="5400000"/>
                <a:close/>
              </a:path>
            </a:pathLst>
          </a:cu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 wrap="square" lIns="57150" tIns="120650" rIns="57150" bIns="9525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Justiça</a:t>
            </a:r>
            <a:endParaRPr lang="en-US" sz="1300" dirty="0"/>
          </a:p>
        </p:txBody>
      </p:sp>
      <p:sp>
        <p:nvSpPr>
          <p:cNvPr id="16" name="Text 7"/>
          <p:cNvSpPr/>
          <p:nvPr/>
        </p:nvSpPr>
        <p:spPr>
          <a:xfrm>
            <a:off x="819150" y="4410605"/>
            <a:ext cx="1511300" cy="472414"/>
          </a:xfrm>
          <a:custGeom>
            <a:avLst/>
            <a:gdLst/>
            <a:ahLst/>
            <a:cxnLst/>
            <a:rect l="l" t="t" r="r" b="b"/>
            <a:pathLst>
              <a:path w="1511300" h="472414">
                <a:moveTo>
                  <a:pt x="236207" y="0"/>
                </a:moveTo>
                <a:lnTo>
                  <a:pt x="1275093" y="0"/>
                </a:lnTo>
                <a:arcTo wR="236207" hR="236207" stAng="16200000" swAng="5400000"/>
                <a:lnTo>
                  <a:pt x="1511300" y="236207"/>
                </a:lnTo>
                <a:arcTo wR="236207" hR="236207" stAng="0" swAng="5400000"/>
                <a:lnTo>
                  <a:pt x="236207" y="472414"/>
                </a:lnTo>
                <a:arcTo wR="236207" hR="236207" stAng="5400000" swAng="5400000"/>
                <a:lnTo>
                  <a:pt x="0" y="236207"/>
                </a:lnTo>
                <a:arcTo wR="236207" hR="236207" stAng="10800000" swAng="5400000"/>
                <a:close/>
              </a:path>
            </a:pathLst>
          </a:cu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 wrap="square" lIns="57150" tIns="120650" rIns="57150" bIns="9525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Sociedade civil</a:t>
            </a:r>
            <a:endParaRPr lang="en-US" sz="1300" dirty="0"/>
          </a:p>
        </p:txBody>
      </p:sp>
      <p:sp>
        <p:nvSpPr>
          <p:cNvPr id="17" name="Text 8"/>
          <p:cNvSpPr/>
          <p:nvPr/>
        </p:nvSpPr>
        <p:spPr>
          <a:xfrm>
            <a:off x="819150" y="2632605"/>
            <a:ext cx="1511300" cy="472414"/>
          </a:xfrm>
          <a:custGeom>
            <a:avLst/>
            <a:gdLst/>
            <a:ahLst/>
            <a:cxnLst/>
            <a:rect l="l" t="t" r="r" b="b"/>
            <a:pathLst>
              <a:path w="1511300" h="472414">
                <a:moveTo>
                  <a:pt x="236207" y="0"/>
                </a:moveTo>
                <a:lnTo>
                  <a:pt x="1275093" y="0"/>
                </a:lnTo>
                <a:arcTo wR="236207" hR="236207" stAng="16200000" swAng="5400000"/>
                <a:lnTo>
                  <a:pt x="1511300" y="236207"/>
                </a:lnTo>
                <a:arcTo wR="236207" hR="236207" stAng="0" swAng="5400000"/>
                <a:lnTo>
                  <a:pt x="236207" y="472414"/>
                </a:lnTo>
                <a:arcTo wR="236207" hR="236207" stAng="5400000" swAng="5400000"/>
                <a:lnTo>
                  <a:pt x="0" y="236207"/>
                </a:lnTo>
                <a:arcTo wR="236207" hR="236207" stAng="10800000" swAng="5400000"/>
                <a:close/>
              </a:path>
            </a:pathLst>
          </a:cu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  <p:txBody>
          <a:bodyPr wrap="square" lIns="57150" tIns="120650" rIns="57150" bIns="9525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Comunidade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6045200" y="2173818"/>
            <a:ext cx="549402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Medicus Mundi apoia o mecanismo para que funcione como uma rede: </a:t>
            </a:r>
            <a:r>
              <a:rPr lang="en-US" sz="1500" b="1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planificação conjunta, decisões partilhadas e qualidade</a:t>
            </a: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no atendimento.</a:t>
            </a:r>
            <a:endParaRPr lang="en-US" sz="1500" dirty="0"/>
          </a:p>
        </p:txBody>
      </p:sp>
      <p:sp>
        <p:nvSpPr>
          <p:cNvPr id="19" name="Shape 10"/>
          <p:cNvSpPr/>
          <p:nvPr/>
        </p:nvSpPr>
        <p:spPr>
          <a:xfrm>
            <a:off x="6045200" y="3205693"/>
            <a:ext cx="5334000" cy="965200"/>
          </a:xfrm>
          <a:prstGeom prst="roundRect">
            <a:avLst>
              <a:gd name="adj" fmla="val 13158"/>
            </a:avLst>
          </a:prstGeom>
          <a:solidFill>
            <a:srgbClr val="F1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1"/>
          <p:cNvSpPr/>
          <p:nvPr/>
        </p:nvSpPr>
        <p:spPr>
          <a:xfrm>
            <a:off x="6273800" y="3383493"/>
            <a:ext cx="41917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6B3FA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4800" dirty="0"/>
          </a:p>
        </p:txBody>
      </p:sp>
      <p:sp>
        <p:nvSpPr>
          <p:cNvPr id="21" name="Text 12"/>
          <p:cNvSpPr/>
          <p:nvPr/>
        </p:nvSpPr>
        <p:spPr>
          <a:xfrm>
            <a:off x="6826317" y="3448317"/>
            <a:ext cx="4454013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Encontros do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Mecanismo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- a Medicus Mundi,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busca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apoiar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pelo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menos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2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encontros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semestrais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do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Mecanismo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Multisectorial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6045200" y="4374093"/>
            <a:ext cx="5334000" cy="965200"/>
          </a:xfrm>
          <a:prstGeom prst="roundRect">
            <a:avLst>
              <a:gd name="adj" fmla="val 13158"/>
            </a:avLst>
          </a:prstGeom>
          <a:solidFill>
            <a:srgbClr val="F1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4"/>
          <p:cNvSpPr/>
          <p:nvPr/>
        </p:nvSpPr>
        <p:spPr>
          <a:xfrm>
            <a:off x="6273800" y="4551893"/>
            <a:ext cx="43164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6B3FA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</a:t>
            </a:r>
            <a:endParaRPr lang="en-US" sz="4800" dirty="0"/>
          </a:p>
        </p:txBody>
      </p:sp>
      <p:sp>
        <p:nvSpPr>
          <p:cNvPr id="24" name="Text 15"/>
          <p:cNvSpPr/>
          <p:nvPr/>
        </p:nvSpPr>
        <p:spPr>
          <a:xfrm>
            <a:off x="6836701" y="4616717"/>
            <a:ext cx="4443316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Visitas de supervisão e apoio técnico</a:t>
            </a:r>
            <a:r>
              <a:rPr lang="en-US" sz="14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às unidades de atendimento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EIXO 1 · COORDENAÇÃO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Mais perto do bairro e da escola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51555"/>
            <a:ext cx="5181600" cy="1625600"/>
          </a:xfrm>
          <a:prstGeom prst="roundRect">
            <a:avLst>
              <a:gd name="adj" fmla="val 9375"/>
            </a:avLst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6800" y="2029355"/>
            <a:ext cx="148464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6B97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14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551443" y="2118320"/>
            <a:ext cx="3284626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Comités comunitários de VBG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51443" y="2730435"/>
            <a:ext cx="3284626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DE3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Um em cada um dos 14 bairros do distrito de Ka Mubukwana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7600" y="1851555"/>
            <a:ext cx="5181600" cy="1625600"/>
          </a:xfrm>
          <a:prstGeom prst="roundRect">
            <a:avLst>
              <a:gd name="adj" fmla="val 9375"/>
            </a:avLst>
          </a:prstGeom>
          <a:solidFill>
            <a:srgbClr val="241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51600" y="2029355"/>
            <a:ext cx="862648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07B2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5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7399073" y="2255441"/>
            <a:ext cx="3837911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Núcleos escolares de VBG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99073" y="2593249"/>
            <a:ext cx="3837911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Nas escolas secundárias do distrito, até ao momento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731155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6B3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Criados para acelerar a detecção e garantir a abrangência da resposta: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9150" y="4202906"/>
            <a:ext cx="2171700" cy="532077"/>
          </a:xfrm>
          <a:prstGeom prst="roundRect">
            <a:avLst>
              <a:gd name="adj" fmla="val 20288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 wrap="square" lIns="46996" tIns="127133" rIns="46996" bIns="101733" rtlCol="0" anchor="t">
            <a:normAutofit/>
          </a:bodyPr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Bairro ou escola</a:t>
            </a:r>
            <a:endParaRPr lang="en-US" sz="1300" dirty="0"/>
          </a:p>
        </p:txBody>
      </p:sp>
      <p:pic>
        <p:nvPicPr>
          <p:cNvPr id="14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4200" y="4367349"/>
            <a:ext cx="355600" cy="203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13150" y="4095620"/>
            <a:ext cx="2171700" cy="746654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 wrap="square" lIns="46996" tIns="127133" rIns="46996" bIns="101733" rtlCol="0" anchor="t">
            <a:normAutofit/>
          </a:bodyPr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Comité ou núcleo identifica e orienta</a:t>
            </a:r>
            <a:endParaRPr lang="en-US" sz="1300" dirty="0"/>
          </a:p>
        </p:txBody>
      </p:sp>
      <p:pic>
        <p:nvPicPr>
          <p:cNvPr id="16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8200" y="4367349"/>
            <a:ext cx="3556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7150" y="4202906"/>
            <a:ext cx="2171700" cy="532077"/>
          </a:xfrm>
          <a:prstGeom prst="roundRect">
            <a:avLst>
              <a:gd name="adj" fmla="val 20288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 wrap="square" lIns="46996" tIns="127133" rIns="46996" bIns="101733" rtlCol="0" anchor="t">
            <a:normAutofit/>
          </a:bodyPr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GAI acolhe e acompanha</a:t>
            </a:r>
            <a:endParaRPr lang="en-US" sz="13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12200" y="4367349"/>
            <a:ext cx="355600" cy="203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01150" y="4095620"/>
            <a:ext cx="2171700" cy="746654"/>
          </a:xfrm>
          <a:prstGeom prst="roundRect">
            <a:avLst>
              <a:gd name="adj" fmla="val 14458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 wrap="square" lIns="46996" tIns="127133" rIns="46996" bIns="101733" rtlCol="0" anchor="t">
            <a:normAutofit/>
          </a:bodyPr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Rede multisectorial responde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23A"/>
              </a:gs>
              <a:gs pos="100000">
                <a:srgbClr val="3B1E5E"/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93280" y="2095500"/>
            <a:ext cx="418592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E07B2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02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812800" y="22758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EIXO 2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692400"/>
            <a:ext cx="6802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EE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Fortalecer as capacidades de quem responde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12800" y="4013200"/>
            <a:ext cx="654050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Organizações da sociedade civil e instituições públicas na prevenção e resposta à VBG na Cidade de Maputo.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EIXO 2 · CAPACIDADES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Capacidades para responder melhor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04875" y="1812611"/>
            <a:ext cx="2470150" cy="2703116"/>
          </a:xfrm>
          <a:prstGeom prst="roundRect">
            <a:avLst>
              <a:gd name="adj" fmla="val 6170"/>
            </a:avLst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GraduationCa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400" y="2080158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400" y="2574267"/>
            <a:ext cx="2073338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1875"/>
              </a:lnSpc>
              <a:buNone/>
            </a:pPr>
            <a:r>
              <a:rPr lang="en-US" sz="65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30</a:t>
            </a:r>
            <a:r>
              <a:rPr lang="en-US" sz="41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 </a:t>
            </a:r>
          </a:p>
          <a:p>
            <a:pPr marL="0" indent="0" algn="ctr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Pontos Focais de VBG </a:t>
            </a:r>
            <a:r>
              <a:rPr lang="en-US" sz="1500" b="1" dirty="0" err="1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Formados</a:t>
            </a:r>
            <a:r>
              <a:rPr lang="en-US" sz="15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 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03281" y="3451414"/>
            <a:ext cx="2073338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DE3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 Cidade de Maputo formados no novo pacote integrado de VBG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92500" y="1857908"/>
            <a:ext cx="2482850" cy="269041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727450" y="2092858"/>
            <a:ext cx="207333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150+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3727450" y="2804058"/>
            <a:ext cx="2073338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Membros da comunidade e das escolas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727450" y="3620033"/>
            <a:ext cx="2073338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formados em gestão de casos de VBG em Ka Mubukwana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1250" y="1857908"/>
            <a:ext cx="2482850" cy="269041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26200" y="2092858"/>
            <a:ext cx="207333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20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6426200" y="2804058"/>
            <a:ext cx="207333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Paralegais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26200" y="3143783"/>
            <a:ext cx="2073338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formados em VBG e legislação, ligando o GAI à comunidade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890000" y="1857908"/>
            <a:ext cx="2482850" cy="269041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24950" y="2092858"/>
            <a:ext cx="207333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9124950" y="2804058"/>
            <a:ext cx="2073338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Técnicos da Hixikanwe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24950" y="3381908"/>
            <a:ext cx="2073338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duas mulheres e um homem, formados em VBG e legislação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2800" y="4808674"/>
            <a:ext cx="10566400" cy="853414"/>
          </a:xfrm>
          <a:prstGeom prst="roundRect">
            <a:avLst>
              <a:gd name="adj" fmla="val 14881"/>
            </a:avLst>
          </a:prstGeom>
          <a:solidFill>
            <a:srgbClr val="F1E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Too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6800" y="5057577"/>
            <a:ext cx="355600" cy="355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25600" y="4986474"/>
            <a:ext cx="978458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Ferramentas criadas para o serviço:</a:t>
            </a:r>
            <a:r>
              <a:rPr lang="en-US" sz="14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sistema de informação, protocolos de atendimento humanizado e procedimentos de actuação centrados nos direitos humanos.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23A"/>
              </a:gs>
              <a:gs pos="100000">
                <a:srgbClr val="3B1E5E"/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Logótipo do Gabinete de Atendimento Integral: acolher, proteger, orientar, integra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7700" y="1968500"/>
            <a:ext cx="4381500" cy="2921000"/>
          </a:xfrm>
          <a:prstGeom prst="roundRect">
            <a:avLst>
              <a:gd name="adj" fmla="val 6087"/>
            </a:avLst>
          </a:prstGeom>
          <a:effectLst>
            <a:outerShdw blurRad="508000" dist="1905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812800" y="2133668"/>
            <a:ext cx="56248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BOA PRÁTICA EM DESTAQUE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2550189"/>
            <a:ext cx="56248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EE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 Gabinete de Atendimento Integral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12800" y="3870989"/>
            <a:ext cx="536321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Um modelo inovador, criado no âmbito do projecto, que dá à resposta coordenada uma porta de entrada única para a sobrevivente.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BOA PRÁTICA · GAI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Uma porta de entrada integral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2358"/>
            <a:ext cx="3810000" cy="2986948"/>
          </a:xfrm>
          <a:prstGeom prst="roundRect">
            <a:avLst>
              <a:gd name="adj" fmla="val 5953"/>
            </a:avLst>
          </a:prstGeom>
          <a:solidFill>
            <a:srgbClr val="241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7600" y="2207158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DESDE OUTUBRO DE 2025 ATÉ AO MOMENTO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522079"/>
            <a:ext cx="329641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E07B2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1.554</a:t>
            </a:r>
            <a:endParaRPr lang="en-US" sz="7500" dirty="0"/>
          </a:p>
        </p:txBody>
      </p:sp>
      <p:sp>
        <p:nvSpPr>
          <p:cNvPr id="7" name="Text 5"/>
          <p:cNvSpPr/>
          <p:nvPr/>
        </p:nvSpPr>
        <p:spPr>
          <a:xfrm>
            <a:off x="1117600" y="3576179"/>
            <a:ext cx="3296412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sobreviventes de VBG atendidas no GAI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27600" y="1902358"/>
            <a:ext cx="6645148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Um </a:t>
            </a:r>
            <a:r>
              <a:rPr lang="en-US" sz="1500" b="1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modelo comunitário</a:t>
            </a: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que reforça o mecanismo de resposta à VBG: ponto de entrada e de encaminhamento que garante o acesso a serviços essenciais.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3950" y="2915183"/>
            <a:ext cx="3149600" cy="622300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18100" y="3073933"/>
            <a:ext cx="304800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49900" y="3115208"/>
            <a:ext cx="18236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Apoio psicossocial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3250" y="2915183"/>
            <a:ext cx="3149600" cy="622300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07400" y="3073933"/>
            <a:ext cx="304800" cy="304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839200" y="3115208"/>
            <a:ext cx="17404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Assistência social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933950" y="3677183"/>
            <a:ext cx="3149600" cy="622300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18100" y="3835933"/>
            <a:ext cx="304800" cy="304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49900" y="3877208"/>
            <a:ext cx="24865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Assistencia</a:t>
            </a: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 </a:t>
            </a:r>
            <a:r>
              <a:rPr lang="en-US" sz="1400" b="1" dirty="0" err="1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jurídica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223250" y="3677183"/>
            <a:ext cx="3149600" cy="622300"/>
          </a:xfrm>
          <a:prstGeom prst="roundRect">
            <a:avLst>
              <a:gd name="adj" fmla="val 17347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Activit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07400" y="3835933"/>
            <a:ext cx="304800" cy="304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39200" y="3877208"/>
            <a:ext cx="23896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Encaminhamento clínico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927600" y="4483633"/>
            <a:ext cx="664514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6B3FA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Serviço-modelo para a Cidade de Maputo, criado no âmbito do projecto.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BOA PRÁTICA · GAI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Uma equipa ao lado de cada mulher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2358"/>
            <a:ext cx="1991320" cy="2372188"/>
          </a:xfrm>
          <a:prstGeom prst="roundRect">
            <a:avLst>
              <a:gd name="adj" fmla="val 7653"/>
            </a:avLst>
          </a:prstGeom>
          <a:solidFill>
            <a:srgbClr val="FFFFFF"/>
          </a:solidFill>
          <a:ln/>
          <a:effectLst>
            <a:outerShdw blurRad="254000" dist="76200" dir="5400000" algn="bl" rotWithShape="0">
              <a:srgbClr val="24123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000" y="2130958"/>
            <a:ext cx="16357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16000" y="2829458"/>
            <a:ext cx="163572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Psicóloga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162170"/>
            <a:ext cx="16357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Apoio psicológico e acompanhamento emocional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6520" y="1902358"/>
            <a:ext cx="1991387" cy="2372188"/>
          </a:xfrm>
          <a:prstGeom prst="roundRect">
            <a:avLst>
              <a:gd name="adj" fmla="val 7653"/>
            </a:avLst>
          </a:prstGeom>
          <a:solidFill>
            <a:srgbClr val="FFFFFF"/>
          </a:solidFill>
          <a:ln/>
          <a:effectLst>
            <a:outerShdw blurRad="254000" dist="76200" dir="5400000" algn="bl" rotWithShape="0">
              <a:srgbClr val="24123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9720" y="2130958"/>
            <a:ext cx="163578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159720" y="2829458"/>
            <a:ext cx="1635786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Assistente social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59720" y="3405981"/>
            <a:ext cx="163578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Avaliação social, protecção e encaminhamento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0307" y="1902358"/>
            <a:ext cx="1991320" cy="2372188"/>
          </a:xfrm>
          <a:prstGeom prst="roundRect">
            <a:avLst>
              <a:gd name="adj" fmla="val 7653"/>
            </a:avLst>
          </a:prstGeom>
          <a:solidFill>
            <a:srgbClr val="FFFFFF"/>
          </a:solidFill>
          <a:ln/>
          <a:effectLst>
            <a:outerShdw blurRad="254000" dist="76200" dir="5400000" algn="bl" rotWithShape="0">
              <a:srgbClr val="24123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07" y="2130958"/>
            <a:ext cx="16357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303507" y="2829458"/>
            <a:ext cx="163572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Conselheira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07" y="3162170"/>
            <a:ext cx="16357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Acolhimento, escuta e orientação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44028" y="1902358"/>
            <a:ext cx="1991387" cy="2372188"/>
          </a:xfrm>
          <a:prstGeom prst="roundRect">
            <a:avLst>
              <a:gd name="adj" fmla="val 7653"/>
            </a:avLst>
          </a:prstGeom>
          <a:solidFill>
            <a:srgbClr val="6B3FA0"/>
          </a:solidFill>
          <a:ln/>
          <a:effectLst>
            <a:outerShdw blurRad="254000" dist="76200" dir="5400000" algn="bl" rotWithShape="0">
              <a:srgbClr val="2412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47228" y="2130958"/>
            <a:ext cx="163578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6B97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7447228" y="2829458"/>
            <a:ext cx="163578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Paralegais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47228" y="3162170"/>
            <a:ext cx="163578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DE3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Presença na comunidade, orientação e acompanhamento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87814" y="1902358"/>
            <a:ext cx="1991387" cy="2372188"/>
          </a:xfrm>
          <a:prstGeom prst="roundRect">
            <a:avLst>
              <a:gd name="adj" fmla="val 7653"/>
            </a:avLst>
          </a:prstGeom>
          <a:solidFill>
            <a:srgbClr val="24123A"/>
          </a:solidFill>
          <a:ln/>
          <a:effectLst>
            <a:outerShdw blurRad="254000" dist="76200" dir="5400000" algn="bl" rotWithShape="0">
              <a:srgbClr val="2412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0" descr="Verifi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91014" y="2130958"/>
            <a:ext cx="609600" cy="609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591014" y="2829458"/>
            <a:ext cx="1635786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Escritório de advogados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591014" y="3405981"/>
            <a:ext cx="163578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Contratado para a assistência jurídica às sobreviventes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8200" y="4579342"/>
            <a:ext cx="0" cy="368300"/>
          </a:xfrm>
          <a:prstGeom prst="line">
            <a:avLst/>
          </a:prstGeom>
          <a:noFill/>
          <a:ln w="50800">
            <a:solidFill>
              <a:srgbClr val="E07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66800" y="4630142"/>
            <a:ext cx="94258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Cada caso é visto na sua </a:t>
            </a:r>
            <a:r>
              <a:rPr lang="en-US" sz="15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dimensão psicológica, social e jurídica</a:t>
            </a:r>
            <a:r>
              <a:rPr lang="en-US" sz="15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por uma equipa que trabalha em conjunto.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BOA PRÁTICA · GAI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rota de saída da sobrevivente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53158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07B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550058"/>
            <a:ext cx="16425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Identificação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52279"/>
            <a:ext cx="164253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Comités, núcleos escolares, paralegais ou procura directa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7733" y="1953158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07B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7733" y="2550058"/>
            <a:ext cx="16425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Acolhimento no GAI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07733" y="3065599"/>
            <a:ext cx="164253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Escuta, avaliação do caso e plano de atendimento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02667" y="1953158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02667" y="2550058"/>
            <a:ext cx="16425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Protecção imediata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02667" y="3065599"/>
            <a:ext cx="164253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Quarto de trânsito quando há risco para a mulher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7600" y="1953158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97600" y="2550058"/>
            <a:ext cx="16425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Acolhimento temporário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97600" y="3065599"/>
            <a:ext cx="16425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Transferência para o Centro Nhamai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92534" y="1953158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07B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92534" y="2550058"/>
            <a:ext cx="16425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Justiça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92534" y="2852279"/>
            <a:ext cx="164253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Assistência jurídica e acompanhamento do processo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7467" y="1953158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2412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B97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87467" y="2550058"/>
            <a:ext cx="16425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Autonomia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87467" y="2852279"/>
            <a:ext cx="164253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Formação, emprego e financiamento de negócios</a:t>
            </a:r>
            <a:endParaRPr lang="en-US" sz="1200" dirty="0"/>
          </a:p>
        </p:txBody>
      </p:sp>
      <p:pic>
        <p:nvPicPr>
          <p:cNvPr id="22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2156358"/>
            <a:ext cx="1187450" cy="101600"/>
          </a:xfrm>
          <a:prstGeom prst="rect">
            <a:avLst/>
          </a:prstGeom>
        </p:spPr>
      </p:pic>
      <p:pic>
        <p:nvPicPr>
          <p:cNvPr id="23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68650" y="2156358"/>
            <a:ext cx="1181100" cy="101600"/>
          </a:xfrm>
          <a:prstGeom prst="rect">
            <a:avLst/>
          </a:prstGeom>
        </p:spPr>
      </p:pic>
      <p:pic>
        <p:nvPicPr>
          <p:cNvPr id="24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9350" y="2156358"/>
            <a:ext cx="1187450" cy="101600"/>
          </a:xfrm>
          <a:prstGeom prst="rect">
            <a:avLst/>
          </a:prstGeom>
        </p:spPr>
      </p:pic>
      <p:pic>
        <p:nvPicPr>
          <p:cNvPr id="25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6400" y="2156358"/>
            <a:ext cx="1187450" cy="101600"/>
          </a:xfrm>
          <a:prstGeom prst="rect">
            <a:avLst/>
          </a:prstGeom>
        </p:spPr>
      </p:pic>
      <p:pic>
        <p:nvPicPr>
          <p:cNvPr id="26" name="Image 4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53450" y="2156358"/>
            <a:ext cx="1181100" cy="1016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12800" y="4061160"/>
            <a:ext cx="10566400" cy="711200"/>
          </a:xfrm>
          <a:prstGeom prst="roundRect">
            <a:avLst>
              <a:gd name="adj" fmla="val 17857"/>
            </a:avLst>
          </a:prstGeom>
          <a:solidFill>
            <a:srgbClr val="F1E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User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6800" y="4238960"/>
            <a:ext cx="355600" cy="355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00200" y="4292271"/>
            <a:ext cx="981075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 todo o percurso:</a:t>
            </a:r>
            <a:r>
              <a:rPr lang="en-US" sz="14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apoio psicossocial, assistência social e articulação com saúde, polícia e justiça.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BOA PRÁTICA · PROTECÇÃO E SEGURANÇA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29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EE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Proteger enquanto a justiça avança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2252532"/>
            <a:ext cx="4648200" cy="2446602"/>
          </a:xfrm>
          <a:prstGeom prst="roundRect">
            <a:avLst>
              <a:gd name="adj" fmla="val 7008"/>
            </a:avLst>
          </a:prstGeom>
          <a:solidFill>
            <a:srgbClr val="3B1E5E"/>
          </a:solidFill>
          <a:ln w="12700">
            <a:solidFill>
              <a:srgbClr val="5A3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Hom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0300" y="2563682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3700" y="2660191"/>
            <a:ext cx="7988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GAI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0300" y="3097082"/>
            <a:ext cx="4146677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Quarto de trânsito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30300" y="3559311"/>
            <a:ext cx="4146677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Espaço preparado para acolher, de forma transitória e segura, a sobrevivente em risco, enquanto se organiza o encaminhamento.</a:t>
            </a:r>
            <a:endParaRPr lang="en-US" sz="1500" dirty="0"/>
          </a:p>
        </p:txBody>
      </p:sp>
      <p:pic>
        <p:nvPicPr>
          <p:cNvPr id="9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27700" y="3272631"/>
            <a:ext cx="762000" cy="406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43700" y="1953158"/>
            <a:ext cx="4635500" cy="3045354"/>
          </a:xfrm>
          <a:prstGeom prst="roundRect">
            <a:avLst>
              <a:gd name="adj" fmla="val 5838"/>
            </a:avLst>
          </a:prstGeom>
          <a:solidFill>
            <a:srgbClr val="F5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48500" y="2257958"/>
            <a:ext cx="406400" cy="406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81900" y="2354461"/>
            <a:ext cx="21080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B3FA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 COORDENAÇÃO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048500" y="2791358"/>
            <a:ext cx="4146677" cy="695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Centro de Acolhimento Nhamai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048500" y="3588810"/>
            <a:ext cx="4146677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mulher é transferida para acolhimento temporário, onde permanece protegida enquanto o seu processo segue os trâmites legais.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12800" y="535411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F6B97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Protecção contínua: da primeira noite segura até à resolução do processo.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98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98B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ulher no seu negócio num mercado, a conversar com um cliente"/>
          <p:cNvPicPr>
            <a:picLocks noChangeAspect="1"/>
          </p:cNvPicPr>
          <p:nvPr/>
        </p:nvPicPr>
        <p:blipFill>
          <a:blip r:embed="rId3"/>
          <a:srcRect l="22520" r="22520"/>
          <a:stretch/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600" y="711200"/>
            <a:ext cx="638352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BOA PRÁTICA · FORTALECIMENTO ECONÓMICO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5181600" y="970229"/>
            <a:ext cx="6383528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Autonomia económica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81600" y="1572158"/>
            <a:ext cx="63835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 rendimento próprio, a saída da violência torna-se sustentável.</a:t>
            </a:r>
            <a:endParaRPr lang="en-US" sz="1500" dirty="0"/>
          </a:p>
        </p:txBody>
      </p:sp>
      <p:pic>
        <p:nvPicPr>
          <p:cNvPr id="6" name="Image 1" descr="GraduationCap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81600" y="2067458"/>
            <a:ext cx="279400" cy="279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88000" y="2091606"/>
            <a:ext cx="390953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Formação profissional</a:t>
            </a:r>
            <a:r>
              <a:rPr lang="en-US" sz="14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em áreas práticas</a:t>
            </a:r>
            <a:endParaRPr lang="en-US" sz="1400" dirty="0"/>
          </a:p>
        </p:txBody>
      </p:sp>
      <p:pic>
        <p:nvPicPr>
          <p:cNvPr id="8" name="Image 2" descr="User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81600" y="2461158"/>
            <a:ext cx="279400" cy="279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88000" y="2485306"/>
            <a:ext cx="310649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Inserção</a:t>
            </a:r>
            <a:r>
              <a:rPr lang="en-US" sz="14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em estágios e emprego</a:t>
            </a:r>
            <a:endParaRPr lang="en-US" sz="1400" dirty="0"/>
          </a:p>
        </p:txBody>
      </p:sp>
      <p:pic>
        <p:nvPicPr>
          <p:cNvPr id="10" name="Image 3" descr="Lightbulb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81600" y="2854858"/>
            <a:ext cx="279400" cy="279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88000" y="2879006"/>
            <a:ext cx="344003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Financiamento</a:t>
            </a:r>
            <a:r>
              <a:rPr lang="en-US" sz="14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para iniciar negócios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5181600" y="3362858"/>
            <a:ext cx="6197600" cy="1804591"/>
          </a:xfrm>
          <a:prstGeom prst="roundRect">
            <a:avLst>
              <a:gd name="adj" fmla="val 8445"/>
            </a:avLst>
          </a:prstGeom>
          <a:solidFill>
            <a:srgbClr val="F1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5435600" y="3591458"/>
            <a:ext cx="279933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6B3FA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25</a:t>
            </a:r>
            <a:endParaRPr lang="en-US" sz="4800" dirty="0"/>
          </a:p>
        </p:txBody>
      </p:sp>
      <p:sp>
        <p:nvSpPr>
          <p:cNvPr id="14" name="Text 8"/>
          <p:cNvSpPr/>
          <p:nvPr/>
        </p:nvSpPr>
        <p:spPr>
          <a:xfrm>
            <a:off x="5435600" y="4239158"/>
            <a:ext cx="279933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mulheres já financiadas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407400" y="3591458"/>
            <a:ext cx="279933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100+</a:t>
            </a:r>
            <a:endParaRPr lang="en-US" sz="4800" dirty="0"/>
          </a:p>
        </p:txBody>
      </p:sp>
      <p:sp>
        <p:nvSpPr>
          <p:cNvPr id="16" name="Text 10"/>
          <p:cNvSpPr/>
          <p:nvPr/>
        </p:nvSpPr>
        <p:spPr>
          <a:xfrm>
            <a:off x="8407400" y="4239158"/>
            <a:ext cx="279933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2412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 financiamento e kits de autoemprego até Dezembro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35600" y="4811849"/>
            <a:ext cx="5689600" cy="127000"/>
          </a:xfrm>
          <a:prstGeom prst="roundRect">
            <a:avLst>
              <a:gd name="adj" fmla="val 50000"/>
            </a:avLst>
          </a:prstGeom>
          <a:solidFill>
            <a:srgbClr val="DDD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5435600" y="4811849"/>
            <a:ext cx="5689600" cy="127000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51816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23A"/>
              </a:gs>
              <a:gs pos="100000">
                <a:srgbClr val="3B1E5E"/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93280" y="2095500"/>
            <a:ext cx="418592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r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E07B2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03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812800" y="22758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EIXO 3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692400"/>
            <a:ext cx="6802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5EE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Trabalhar com a comunidade e as escolas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12800" y="4013200"/>
            <a:ext cx="654050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Prevenir a violência e aproximar as pessoas dos serviços: a resposta coordenada começa no bairro.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EIXO 3 · COMUNIDADE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35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Prevenir juntos: bairros e escolas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2050926"/>
            <a:ext cx="7708900" cy="1028700"/>
          </a:xfrm>
          <a:prstGeom prst="roundRect">
            <a:avLst>
              <a:gd name="adj" fmla="val 14198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4100" y="226047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3800" y="2400176"/>
            <a:ext cx="330200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6900" y="2302408"/>
            <a:ext cx="661898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Diálogos comunitários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66900" y="2597026"/>
            <a:ext cx="66189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Conversas abertas nos bairros sobre VBG, direitos e onde procurar apoio.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9150" y="3244726"/>
            <a:ext cx="7708900" cy="1028700"/>
          </a:xfrm>
          <a:prstGeom prst="roundRect">
            <a:avLst>
              <a:gd name="adj" fmla="val 14198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54100" y="345427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07B2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lay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3800" y="3593976"/>
            <a:ext cx="330200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66900" y="3496208"/>
            <a:ext cx="661898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Cine-fóruns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66900" y="3790826"/>
            <a:ext cx="66189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Filmes como ponto de partida para debater género, violência e masculinidades.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9150" y="4438526"/>
            <a:ext cx="7708900" cy="1028700"/>
          </a:xfrm>
          <a:prstGeom prst="roundRect">
            <a:avLst>
              <a:gd name="adj" fmla="val 14198"/>
            </a:avLst>
          </a:prstGeom>
          <a:solidFill>
            <a:srgbClr val="FFFFFF"/>
          </a:solidFill>
          <a:ln w="12700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054100" y="464807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412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GraduationCap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3800" y="4787776"/>
            <a:ext cx="330200" cy="330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66900" y="4690008"/>
            <a:ext cx="661898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Palestras nas escolas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66900" y="4984626"/>
            <a:ext cx="66189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Sensibilização de estudantes, em articulação com os núcleos escolares de VBG.</a:t>
            </a:r>
            <a:endParaRPr lang="en-US" sz="1300" dirty="0"/>
          </a:p>
        </p:txBody>
      </p:sp>
      <p:pic>
        <p:nvPicPr>
          <p:cNvPr id="19" name="Image 3" descr="Cartaz Novas Masculinidades: autoconhecimento, igualdade de género, paternidade afectiva e combate à violência de género"/>
          <p:cNvPicPr>
            <a:picLocks noChangeAspect="1"/>
          </p:cNvPicPr>
          <p:nvPr/>
        </p:nvPicPr>
        <p:blipFill>
          <a:blip r:embed="rId6"/>
          <a:srcRect t="6667" b="6667"/>
          <a:stretch/>
        </p:blipFill>
        <p:spPr>
          <a:xfrm>
            <a:off x="8839200" y="1851558"/>
            <a:ext cx="2540000" cy="3302000"/>
          </a:xfrm>
          <a:prstGeom prst="roundRect">
            <a:avLst>
              <a:gd name="adj" fmla="val 6000"/>
            </a:avLst>
          </a:prstGeom>
        </p:spPr>
      </p:pic>
      <p:sp>
        <p:nvSpPr>
          <p:cNvPr id="20" name="Text 14"/>
          <p:cNvSpPr/>
          <p:nvPr/>
        </p:nvSpPr>
        <p:spPr>
          <a:xfrm>
            <a:off x="8839200" y="5255158"/>
            <a:ext cx="261620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Novas masculinidades:</a:t>
            </a: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envolver homens e rapazes na mudança.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APRENDIZAGENS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835"/>
            <a:ext cx="10883392" cy="55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 que aprendemos pelo caminho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2358"/>
            <a:ext cx="3420533" cy="1791891"/>
          </a:xfrm>
          <a:prstGeom prst="roundRect">
            <a:avLst>
              <a:gd name="adj" fmla="val 85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1400" y="2130958"/>
            <a:ext cx="30522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400" y="2486558"/>
            <a:ext cx="305223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Coordenar exige uma porta de entrada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3039008"/>
            <a:ext cx="3052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Um serviço como o GAI dá rosto e direcção ao mecanismo multisectorial.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733" y="1902358"/>
            <a:ext cx="3420533" cy="1791891"/>
          </a:xfrm>
          <a:prstGeom prst="roundRect">
            <a:avLst>
              <a:gd name="adj" fmla="val 85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4333" y="2130958"/>
            <a:ext cx="30522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4333" y="2486558"/>
            <a:ext cx="305223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proximidade acelera a resposta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4333" y="3039008"/>
            <a:ext cx="3052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Comités e núcleos escolares identificam e encaminham os casos mais cedo.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67" y="1902358"/>
            <a:ext cx="3420533" cy="1791891"/>
          </a:xfrm>
          <a:prstGeom prst="roundRect">
            <a:avLst>
              <a:gd name="adj" fmla="val 85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7267" y="2130958"/>
            <a:ext cx="30522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87267" y="2486558"/>
            <a:ext cx="305223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Protecção e autonomia andam juntas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7267" y="3039008"/>
            <a:ext cx="3052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Sem abrigo seguro e rendimento próprio, a saída da violência é frágil.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846649"/>
            <a:ext cx="3420533" cy="1791891"/>
          </a:xfrm>
          <a:prstGeom prst="roundRect">
            <a:avLst>
              <a:gd name="adj" fmla="val 85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1400" y="4075249"/>
            <a:ext cx="30522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41400" y="4430849"/>
            <a:ext cx="305223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Capacitar é investir na qualidade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41400" y="4983299"/>
            <a:ext cx="3052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Formação, supervisão e protocolos comuns uniformizam o atendimento humanizado.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5733" y="3846649"/>
            <a:ext cx="3420533" cy="1791891"/>
          </a:xfrm>
          <a:prstGeom prst="roundRect">
            <a:avLst>
              <a:gd name="adj" fmla="val 85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4333" y="4075249"/>
            <a:ext cx="30522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06A1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14333" y="4430849"/>
            <a:ext cx="3191933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escola é espaço de prevenção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4333" y="4745174"/>
            <a:ext cx="3052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F5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Envolver os jovens cedo ajuda a mudar normas e comportamentos.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8667" y="3846649"/>
            <a:ext cx="3420533" cy="1791891"/>
          </a:xfrm>
          <a:prstGeom prst="roundRect">
            <a:avLst>
              <a:gd name="adj" fmla="val 8505"/>
            </a:avLst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87267" y="4075249"/>
            <a:ext cx="30522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6B97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87267" y="4430849"/>
            <a:ext cx="305223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 rede vive de encontros regulares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87267" y="4983299"/>
            <a:ext cx="30522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DE3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planificação conjunta transforma contactos pontuais em compromisso.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kern="0" spc="150" dirty="0">
                <a:solidFill>
                  <a:srgbClr val="B559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OLHAR EM FRENTE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356263" y="2887680"/>
            <a:ext cx="3914475" cy="1152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 err="1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Próximos</a:t>
            </a:r>
            <a:r>
              <a:rPr lang="en-US" sz="3600" b="1" i="0" dirty="0">
                <a:solidFill>
                  <a:srgbClr val="24123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 passos</a:t>
            </a:r>
            <a:endParaRPr lang="en-US" sz="3600" dirty="0"/>
          </a:p>
        </p:txBody>
      </p:sp>
      <p:sp>
        <p:nvSpPr>
          <p:cNvPr id="12" name="Shape 7"/>
          <p:cNvSpPr/>
          <p:nvPr/>
        </p:nvSpPr>
        <p:spPr>
          <a:xfrm>
            <a:off x="6235700" y="1902358"/>
            <a:ext cx="5143500" cy="3515254"/>
          </a:xfrm>
          <a:prstGeom prst="roundRect">
            <a:avLst>
              <a:gd name="adj" fmla="val 4335"/>
            </a:avLst>
          </a:prstGeom>
          <a:solidFill>
            <a:srgbClr val="6B3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540500" y="2207158"/>
            <a:ext cx="46699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Próximos passos</a:t>
            </a:r>
            <a:endParaRPr lang="en-US" sz="2000" dirty="0"/>
          </a:p>
        </p:txBody>
      </p:sp>
      <p:pic>
        <p:nvPicPr>
          <p:cNvPr id="14" name="Image 3" descr="CheckCircle"/>
          <p:cNvPicPr>
            <a:picLocks noChangeAspect="1"/>
          </p:cNvPicPr>
          <p:nvPr/>
        </p:nvPicPr>
        <p:blipFill>
          <a:blip r:embed="rId3"/>
          <a:srcRect l="-195" r="-195"/>
          <a:stretch/>
        </p:blipFill>
        <p:spPr>
          <a:xfrm>
            <a:off x="6540500" y="2664358"/>
            <a:ext cx="152995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07795" y="2664358"/>
            <a:ext cx="439460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Financiar e entregar kits de autoemprego a mais de 100 mulheres até Dezembro</a:t>
            </a:r>
            <a:endParaRPr lang="en-US" sz="1400" dirty="0"/>
          </a:p>
        </p:txBody>
      </p:sp>
      <p:pic>
        <p:nvPicPr>
          <p:cNvPr id="16" name="Image 4" descr="CheckCircle"/>
          <p:cNvPicPr>
            <a:picLocks noChangeAspect="1"/>
          </p:cNvPicPr>
          <p:nvPr/>
        </p:nvPicPr>
        <p:blipFill>
          <a:blip r:embed="rId4"/>
          <a:srcRect t="-254" b="-254"/>
          <a:stretch/>
        </p:blipFill>
        <p:spPr>
          <a:xfrm>
            <a:off x="6540500" y="3314576"/>
            <a:ext cx="221126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75926" y="3314576"/>
            <a:ext cx="4324429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Alargar os núcleos de VBG a mais escolas secundárias</a:t>
            </a:r>
            <a:endParaRPr lang="en-US" sz="1400" dirty="0"/>
          </a:p>
        </p:txBody>
      </p:sp>
      <p:pic>
        <p:nvPicPr>
          <p:cNvPr id="18" name="Image 5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40500" y="3964781"/>
            <a:ext cx="17145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26250" y="3964781"/>
            <a:ext cx="4375595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Consolidar o GAI como serviço-modelo replicável na Cidade de Maputo</a:t>
            </a:r>
            <a:endParaRPr lang="en-US" sz="1400" dirty="0"/>
          </a:p>
        </p:txBody>
      </p:sp>
      <p:pic>
        <p:nvPicPr>
          <p:cNvPr id="20" name="Image 6" descr="CheckCircle"/>
          <p:cNvPicPr>
            <a:picLocks noChangeAspect="1"/>
          </p:cNvPicPr>
          <p:nvPr/>
        </p:nvPicPr>
        <p:blipFill>
          <a:blip r:embed="rId6"/>
          <a:srcRect t="-187" b="-187"/>
          <a:stretch/>
        </p:blipFill>
        <p:spPr>
          <a:xfrm>
            <a:off x="6540500" y="4614999"/>
            <a:ext cx="177139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31939" y="4614999"/>
            <a:ext cx="4369735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EE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Advocacia por maior compromisso orçamental com a resposta à VBG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Medicus Mundi · Da Actuação Isolada à Resposta Coordenada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2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23A"/>
              </a:gs>
              <a:gs pos="100000">
                <a:srgbClr val="3B1E5E"/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7400" y="8128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1517650" y="1524000"/>
            <a:ext cx="91567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000" b="1" i="1" dirty="0">
                <a:solidFill>
                  <a:srgbClr val="F5EE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Nenhuma sobrevivente deve percorrer o caminho sozinha.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244578" y="2946400"/>
            <a:ext cx="370284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07B2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Obrigado pela atenção!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023678" y="3591520"/>
            <a:ext cx="414464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DBCE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“A saúde é um direito humano universal”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2860" y="5257800"/>
            <a:ext cx="11300604" cy="787400"/>
          </a:xfrm>
          <a:prstGeom prst="roundRect">
            <a:avLst>
              <a:gd name="adj" fmla="val 19355"/>
            </a:avLst>
          </a:prstGeom>
          <a:solidFill>
            <a:srgbClr val="FAF6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Medicus Mundi"/>
          <p:cNvPicPr>
            <a:picLocks noChangeAspect="1"/>
          </p:cNvPicPr>
          <p:nvPr/>
        </p:nvPicPr>
        <p:blipFill>
          <a:blip r:embed="rId4"/>
          <a:srcRect t="-364" b="-364"/>
          <a:stretch/>
        </p:blipFill>
        <p:spPr>
          <a:xfrm>
            <a:off x="1077224" y="5384800"/>
            <a:ext cx="1397000" cy="533400"/>
          </a:xfrm>
          <a:prstGeom prst="rect">
            <a:avLst/>
          </a:prstGeom>
        </p:spPr>
      </p:pic>
      <p:pic>
        <p:nvPicPr>
          <p:cNvPr id="9" name="Image 2" descr="Associação Hixikanwe"/>
          <p:cNvPicPr>
            <a:picLocks noChangeAspect="1"/>
          </p:cNvPicPr>
          <p:nvPr/>
        </p:nvPicPr>
        <p:blipFill>
          <a:blip r:embed="rId5"/>
          <a:srcRect t="-4270" b="-4270"/>
          <a:stretch/>
        </p:blipFill>
        <p:spPr>
          <a:xfrm>
            <a:off x="3752387" y="5361588"/>
            <a:ext cx="759293" cy="579824"/>
          </a:xfrm>
          <a:prstGeom prst="rect">
            <a:avLst/>
          </a:prstGeom>
        </p:spPr>
      </p:pic>
      <p:pic>
        <p:nvPicPr>
          <p:cNvPr id="11" name="Image 4" descr="HOPEM, Rede Homens pela Mudança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4797190" y="5369520"/>
            <a:ext cx="774700" cy="533400"/>
          </a:xfrm>
          <a:prstGeom prst="rect">
            <a:avLst/>
          </a:prstGeom>
        </p:spPr>
      </p:pic>
      <p:pic>
        <p:nvPicPr>
          <p:cNvPr id="12" name="Image 5" descr="Generalitat de Catalunya e Agència Catalana de Cooperació al Desenvolupament"/>
          <p:cNvPicPr>
            <a:picLocks noChangeAspect="1"/>
          </p:cNvPicPr>
          <p:nvPr/>
        </p:nvPicPr>
        <p:blipFill>
          <a:blip r:embed="rId7"/>
          <a:srcRect t="-547" b="-547"/>
          <a:stretch/>
        </p:blipFill>
        <p:spPr>
          <a:xfrm>
            <a:off x="5978333" y="5441004"/>
            <a:ext cx="3302000" cy="431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21E34B-0B20-B1CC-059E-897DF2A26F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6882" y="5320373"/>
            <a:ext cx="574295" cy="6210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645D65-D89E-23ED-3988-CC0C964F71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6763" y="5374975"/>
            <a:ext cx="1498013" cy="497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 Actuação Isolada à Resposta Coordenada">
  <a:themeElements>
    <a:clrScheme name="Da Actuação Isolada à Resposta Coordenada">
      <a:dk1>
        <a:srgbClr val="24123A"/>
      </a:dk1>
      <a:lt1>
        <a:srgbClr val="FAF6F0"/>
      </a:lt1>
      <a:dk2>
        <a:srgbClr val="5A4B68"/>
      </a:dk2>
      <a:lt2>
        <a:srgbClr val="E5DFDE"/>
      </a:lt2>
      <a:accent1>
        <a:srgbClr val="6B3FA0"/>
      </a:accent1>
      <a:accent2>
        <a:srgbClr val="E07B24"/>
      </a:accent2>
      <a:accent3>
        <a:srgbClr val="B5591A"/>
      </a:accent3>
      <a:accent4>
        <a:srgbClr val="D06A16"/>
      </a:accent4>
      <a:accent5>
        <a:srgbClr val="3B1E5E"/>
      </a:accent5>
      <a:accent6>
        <a:srgbClr val="F6B97A"/>
      </a:accent6>
      <a:hlink>
        <a:srgbClr val="0563C1"/>
      </a:hlink>
      <a:folHlink>
        <a:srgbClr val="954F72"/>
      </a:folHlink>
    </a:clrScheme>
    <a:fontScheme name="Da Actuação Isolada à Resposta Coordenada">
      <a:majorFont>
        <a:latin typeface="Dom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2672</Words>
  <Application>Microsoft Office PowerPoint</Application>
  <PresentationFormat>Widescreen</PresentationFormat>
  <Paragraphs>276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Domine</vt:lpstr>
      <vt:lpstr>Nunito Sans</vt:lpstr>
      <vt:lpstr>Da Actuação Isolada à Resposta Coordenada</vt:lpstr>
      <vt:lpstr>Da Actuação Isolada à Resposta Coordenada</vt:lpstr>
      <vt:lpstr>Duas formas de responder à VBG</vt:lpstr>
      <vt:lpstr>Desde 2018, a construir a resposta</vt:lpstr>
      <vt:lpstr>Três eixos, uma resposta</vt:lpstr>
      <vt:lpstr>Fortalecer a coordenação do Mecanismo Multisectorial</vt:lpstr>
      <vt:lpstr>Vários sectores, uma só resposta</vt:lpstr>
      <vt:lpstr>Mais perto do bairro e da escola</vt:lpstr>
      <vt:lpstr>Fortalecer as capacidades de quem responde</vt:lpstr>
      <vt:lpstr>Capacidades para responder melhor</vt:lpstr>
      <vt:lpstr>O Gabinete de Atendimento Integral</vt:lpstr>
      <vt:lpstr>Uma porta de entrada integral</vt:lpstr>
      <vt:lpstr>Uma equipa ao lado de cada mulher</vt:lpstr>
      <vt:lpstr>A rota de saída da sobrevivente</vt:lpstr>
      <vt:lpstr>Proteger enquanto a justiça avança</vt:lpstr>
      <vt:lpstr>Autonomia económica</vt:lpstr>
      <vt:lpstr>Trabalhar com a comunidade e as escolas</vt:lpstr>
      <vt:lpstr>Prevenir juntos: bairros e escolas</vt:lpstr>
      <vt:lpstr>O que aprendemos pelo caminho</vt:lpstr>
      <vt:lpstr>Próximos passos</vt:lpstr>
      <vt:lpstr>Nenhuma sobrevivente deve percorrer o caminho sozinha.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Actuação Isolada à Resposta Coordenada</dc:title>
  <dc:subject/>
  <dc:creator>MM_MZ_HL</dc:creator>
  <cp:lastModifiedBy>Hermínio Simão Luís</cp:lastModifiedBy>
  <cp:revision>3</cp:revision>
  <dcterms:created xsi:type="dcterms:W3CDTF">2026-10-13T05:00:49Z</dcterms:created>
  <dcterms:modified xsi:type="dcterms:W3CDTF">2026-10-13T05:53:05Z</dcterms:modified>
</cp:coreProperties>
</file>