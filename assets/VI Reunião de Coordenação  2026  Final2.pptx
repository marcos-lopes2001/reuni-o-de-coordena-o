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409" r:id="rId4"/>
    <p:sldId id="392" r:id="rId5"/>
    <p:sldId id="416" r:id="rId6"/>
    <p:sldId id="395" r:id="rId7"/>
    <p:sldId id="397" r:id="rId8"/>
    <p:sldId id="413" r:id="rId9"/>
    <p:sldId id="399" r:id="rId10"/>
    <p:sldId id="418" r:id="rId11"/>
    <p:sldId id="417" r:id="rId12"/>
    <p:sldId id="401" r:id="rId13"/>
    <p:sldId id="402" r:id="rId14"/>
    <p:sldId id="403" r:id="rId15"/>
    <p:sldId id="400" r:id="rId16"/>
    <p:sldId id="406" r:id="rId17"/>
    <p:sldId id="420" r:id="rId18"/>
    <p:sldId id="415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M" lastIdx="0" clrIdx="0"/>
  <p:cmAuthor id="2" name="Maria da Luz Velho VAZ" initials="MdLV" lastIdx="0" clrIdx="1"/>
  <p:cmAuthor id="3" name="Nelita Nassone" initials="NN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CA2D7-CF57-4914-8B33-C1BC6076B29A}" v="603" dt="2025-10-08T12:56:50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4740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jp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pn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5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Tendência</a:t>
            </a:r>
            <a:r>
              <a:rPr lang="en-US" baseline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 Dotações</a:t>
            </a:r>
            <a:endParaRPr lang="en-US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'[DemonstrativoConsolidadoOrcamentoFuncionamentoPorUGBFuncionalProgramaFRCED_REP_L_Maputo_Cidade_20260630_20260702-2026-07-06_13-47-38.770.xls]SSCM'!$C$72</c:f>
              <c:strCache>
                <c:ptCount val="1"/>
                <c:pt idx="0">
                  <c:v>Dotação Actualizada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0555555555555568E-2"/>
                  <c:y val="5.0925925925925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4C9-4551-8F72-74E5B1FBDB33}"/>
                </c:ext>
              </c:extLst>
            </c:dLbl>
            <c:dLbl>
              <c:idx val="1"/>
              <c:layout>
                <c:manualLayout>
                  <c:x val="-6.1111111111111088E-2"/>
                  <c:y val="-5.09259259259260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C9-4551-8F72-74E5B1FBDB33}"/>
                </c:ext>
              </c:extLst>
            </c:dLbl>
            <c:dLbl>
              <c:idx val="2"/>
              <c:layout>
                <c:manualLayout>
                  <c:x val="-0.10000000000000005"/>
                  <c:y val="8.7962962962962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4C9-4551-8F72-74E5B1FBDB33}"/>
                </c:ext>
              </c:extLst>
            </c:dLbl>
            <c:dLbl>
              <c:idx val="3"/>
              <c:layout>
                <c:manualLayout>
                  <c:x val="-7.7777777777777876E-2"/>
                  <c:y val="6.4814814814814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C9-4551-8F72-74E5B1FBDB33}"/>
                </c:ext>
              </c:extLst>
            </c:dLbl>
            <c:dLbl>
              <c:idx val="4"/>
              <c:layout>
                <c:manualLayout>
                  <c:x val="-4.7222222222222221E-2"/>
                  <c:y val="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4C9-4551-8F72-74E5B1FBDB33}"/>
                </c:ext>
              </c:extLst>
            </c:dLbl>
            <c:dLbl>
              <c:idx val="5"/>
              <c:layout>
                <c:manualLayout>
                  <c:x val="-2.5000000000000001E-2"/>
                  <c:y val="-3.703703703703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4C9-4551-8F72-74E5B1FBDB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'[DemonstrativoConsolidadoOrcamentoFuncionamentoPorUGBFuncionalProgramaFRCED_REP_L_Maputo_Cidade_20260630_20260702-2026-07-06_13-47-38.770.xls]SSCM'!$C$73:$C$78</c:f>
              <c:numCache>
                <c:formatCode>_(* #,##0.00_);_(* \(#,##0.00\);_(* "-"??_);_(@_)</c:formatCode>
                <c:ptCount val="6"/>
                <c:pt idx="0">
                  <c:v>205928333.83000001</c:v>
                </c:pt>
                <c:pt idx="1">
                  <c:v>239344339.19999999</c:v>
                </c:pt>
                <c:pt idx="2">
                  <c:v>237127222.84999999</c:v>
                </c:pt>
                <c:pt idx="3">
                  <c:v>164207773.59999999</c:v>
                </c:pt>
                <c:pt idx="4">
                  <c:v>135411120</c:v>
                </c:pt>
                <c:pt idx="5">
                  <c:v>142005891.36000001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4C9-4551-8F72-74E5B1FBDB33}"/>
            </c:ext>
          </c:extLst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'[DemonstrativoConsolidadoOrcamentoFuncionamentoPorUGBFuncionalProgramaFRCED_REP_L_Maputo_Cidade_20260630_20260702-2026-07-06_13-47-38.770.xls]SSCM'!$D$72</c:f>
              <c:strCache>
                <c:ptCount val="1"/>
                <c:pt idx="0">
                  <c:v>Dotação Cabimentada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2.31481481481481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4C9-4551-8F72-74E5B1FBDB33}"/>
                </c:ext>
              </c:extLst>
            </c:dLbl>
            <c:dLbl>
              <c:idx val="1"/>
              <c:layout>
                <c:manualLayout>
                  <c:x val="0"/>
                  <c:y val="-3.2407407407407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4C9-4551-8F72-74E5B1FBDB33}"/>
                </c:ext>
              </c:extLst>
            </c:dLbl>
            <c:dLbl>
              <c:idx val="4"/>
              <c:layout>
                <c:manualLayout>
                  <c:x val="-6.1111111111111109E-2"/>
                  <c:y val="-6.944444444444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C9-4551-8F72-74E5B1FBDB33}"/>
                </c:ext>
              </c:extLst>
            </c:dLbl>
            <c:dLbl>
              <c:idx val="5"/>
              <c:layout>
                <c:manualLayout>
                  <c:x val="0"/>
                  <c:y val="-5.09259259259259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4C9-4551-8F72-74E5B1FBDB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'[DemonstrativoConsolidadoOrcamentoFuncionamentoPorUGBFuncionalProgramaFRCED_REP_L_Maputo_Cidade_20260630_20260702-2026-07-06_13-47-38.770.xls]SSCM'!$D$73:$D$78</c:f>
              <c:numCache>
                <c:formatCode>_(* #,##0.00_);_(* \(#,##0.00\);_(* "-"??_);_(@_)</c:formatCode>
                <c:ptCount val="6"/>
                <c:pt idx="0">
                  <c:v>205928333.83000001</c:v>
                </c:pt>
                <c:pt idx="1">
                  <c:v>237484312.94</c:v>
                </c:pt>
                <c:pt idx="2">
                  <c:v>215900740.94</c:v>
                </c:pt>
                <c:pt idx="3">
                  <c:v>138024266.75</c:v>
                </c:pt>
                <c:pt idx="4">
                  <c:v>35672436.020000003</c:v>
                </c:pt>
                <c:pt idx="5">
                  <c:v>91039651.469999999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4C9-4551-8F72-74E5B1FBDB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9375664"/>
        <c:axId val="289379192"/>
      </c:lineChart>
      <c:catAx>
        <c:axId val="28937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tx2">
              <a:lumMod val="50000"/>
            </a:schemeClr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89379192"/>
        <c:crosses val="autoZero"/>
        <c:auto val="1"/>
        <c:lblAlgn val="ctr"/>
        <c:lblOffset val="100"/>
        <c:noMultiLvlLbl val="0"/>
      </c:catAx>
      <c:valAx>
        <c:axId val="289379192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89375664"/>
        <c:crosses val="autoZero"/>
        <c:crossBetween val="between"/>
      </c:valAx>
      <c:spPr>
        <a:solidFill>
          <a:schemeClr val="accent1">
            <a:lumMod val="20000"/>
            <a:lumOff val="80000"/>
            <a:alpha val="87000"/>
          </a:schemeClr>
        </a:solidFill>
        <a:ln>
          <a:noFill/>
        </a:ln>
        <a:effectLst/>
      </c:spPr>
    </c:plotArea>
    <c:legend>
      <c:legendPos val="b"/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zero"/>
    <c:showDLblsOverMax val="0"/>
  </c:chart>
  <c:spPr>
    <a:blipFill dpi="0" rotWithShape="1">
      <a:blip xmlns:r="http://schemas.openxmlformats.org/officeDocument/2006/relationships" r:embed="rId4">
        <a:alphaModFix amt="62000"/>
      </a:blip>
      <a:srcRect/>
      <a:stretch>
        <a:fillRect/>
      </a:stretch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Disponibilizado e Gasto</a:t>
            </a:r>
            <a:endParaRPr lang="en-US" sz="1400">
              <a:solidFill>
                <a:schemeClr val="accent1">
                  <a:lumMod val="40000"/>
                  <a:lumOff val="60000"/>
                </a:schemeClr>
              </a:solidFill>
              <a:effectLst/>
            </a:endParaRPr>
          </a:p>
        </c:rich>
      </c:tx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333333333333333E-2"/>
          <c:y val="0.14393518518518519"/>
          <c:w val="0.93888888888888888"/>
          <c:h val="0.63813247302420539"/>
        </c:manualLayout>
      </c:layout>
      <c:lineChart>
        <c:grouping val="stacke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'[DemonstrativoConsolidadoOrcamentoFuncionamentoPorUGBFuncionalProgramaFRCED_REP_L_Maputo_Cidade_20260630_20260702-2026-07-06_13-47-38.770.xls]SSCM'!$E$72</c:f>
              <c:strCache>
                <c:ptCount val="1"/>
                <c:pt idx="0">
                  <c:v> Disp/QFL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3333333333333347E-2"/>
                  <c:y val="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C87-49DE-831D-4E958F4BD139}"/>
                </c:ext>
              </c:extLst>
            </c:dLbl>
            <c:dLbl>
              <c:idx val="1"/>
              <c:layout>
                <c:manualLayout>
                  <c:x val="-3.888888888888889E-2"/>
                  <c:y val="-6.4814814814814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87-49DE-831D-4E958F4BD139}"/>
                </c:ext>
              </c:extLst>
            </c:dLbl>
            <c:dLbl>
              <c:idx val="2"/>
              <c:layout>
                <c:manualLayout>
                  <c:x val="-0.11944444444444445"/>
                  <c:y val="7.8703703703703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C87-49DE-831D-4E958F4BD139}"/>
                </c:ext>
              </c:extLst>
            </c:dLbl>
            <c:dLbl>
              <c:idx val="3"/>
              <c:layout>
                <c:manualLayout>
                  <c:x val="-0.14166666666666666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87-49DE-831D-4E958F4BD139}"/>
                </c:ext>
              </c:extLst>
            </c:dLbl>
            <c:dLbl>
              <c:idx val="4"/>
              <c:layout>
                <c:manualLayout>
                  <c:x val="-0.15555555555555556"/>
                  <c:y val="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C87-49DE-831D-4E958F4BD139}"/>
                </c:ext>
              </c:extLst>
            </c:dLbl>
            <c:dLbl>
              <c:idx val="5"/>
              <c:layout>
                <c:manualLayout>
                  <c:x val="-1.3888888888888888E-2"/>
                  <c:y val="4.16666666666665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C87-49DE-831D-4E958F4BD1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'[DemonstrativoConsolidadoOrcamentoFuncionamentoPorUGBFuncionalProgramaFRCED_REP_L_Maputo_Cidade_20260630_20260702-2026-07-06_13-47-38.770.xls]SSCM'!$E$73:$E$78</c:f>
              <c:numCache>
                <c:formatCode>_(* #,##0.00_);_(* \(#,##0.00\);_(* "-"??_);_(@_)</c:formatCode>
                <c:ptCount val="6"/>
                <c:pt idx="0">
                  <c:v>217685192.08000001</c:v>
                </c:pt>
                <c:pt idx="1">
                  <c:v>226455320.94</c:v>
                </c:pt>
                <c:pt idx="2">
                  <c:v>216506475.13</c:v>
                </c:pt>
                <c:pt idx="3">
                  <c:v>117809993.11</c:v>
                </c:pt>
                <c:pt idx="4">
                  <c:v>14883436.02</c:v>
                </c:pt>
                <c:pt idx="5">
                  <c:v>55985849.420000009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C87-49DE-831D-4E958F4BD139}"/>
            </c:ext>
          </c:extLst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'[DemonstrativoConsolidadoOrcamentoFuncionamentoPorUGBFuncionalProgramaFRCED_REP_L_Maputo_Cidade_20260630_20260702-2026-07-06_13-47-38.770.xls]SSCM'!$F$72</c:f>
              <c:strCache>
                <c:ptCount val="1"/>
                <c:pt idx="0">
                  <c:v>Despesa Paga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7777777777777523E-3"/>
                  <c:y val="4.1666666666666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C87-49DE-831D-4E958F4BD139}"/>
                </c:ext>
              </c:extLst>
            </c:dLbl>
            <c:dLbl>
              <c:idx val="1"/>
              <c:layout>
                <c:manualLayout>
                  <c:x val="5.5555555555555558E-3"/>
                  <c:y val="-3.24074074074074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C87-49DE-831D-4E958F4BD139}"/>
                </c:ext>
              </c:extLst>
            </c:dLbl>
            <c:dLbl>
              <c:idx val="2"/>
              <c:layout>
                <c:manualLayout>
                  <c:x val="5.5555555555555552E-2"/>
                  <c:y val="4.62962962962962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C87-49DE-831D-4E958F4BD139}"/>
                </c:ext>
              </c:extLst>
            </c:dLbl>
            <c:dLbl>
              <c:idx val="4"/>
              <c:layout>
                <c:manualLayout>
                  <c:x val="-7.2222222222222215E-2"/>
                  <c:y val="-0.129629629629629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C87-49DE-831D-4E958F4BD139}"/>
                </c:ext>
              </c:extLst>
            </c:dLbl>
            <c:dLbl>
              <c:idx val="5"/>
              <c:layout>
                <c:manualLayout>
                  <c:x val="0"/>
                  <c:y val="-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C87-49DE-831D-4E958F4BD1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'[DemonstrativoConsolidadoOrcamentoFuncionamentoPorUGBFuncionalProgramaFRCED_REP_L_Maputo_Cidade_20260630_20260702-2026-07-06_13-47-38.770.xls]SSCM'!$F$73:$F$78</c:f>
              <c:numCache>
                <c:formatCode>_(* #,##0.00_);_(* \(#,##0.00\);_(* "-"??_);_(@_)</c:formatCode>
                <c:ptCount val="6"/>
                <c:pt idx="0">
                  <c:v>205869563.83000001</c:v>
                </c:pt>
                <c:pt idx="1">
                  <c:v>223510889.25999999</c:v>
                </c:pt>
                <c:pt idx="2">
                  <c:v>202275200.66999999</c:v>
                </c:pt>
                <c:pt idx="3">
                  <c:v>117107268.16</c:v>
                </c:pt>
                <c:pt idx="4">
                  <c:v>13966342.9</c:v>
                </c:pt>
                <c:pt idx="5">
                  <c:v>53837214.040000007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EC87-49DE-831D-4E958F4BD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9381152"/>
        <c:axId val="289376056"/>
      </c:lineChart>
      <c:catAx>
        <c:axId val="289381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tx2">
              <a:lumMod val="50000"/>
            </a:schemeClr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89376056"/>
        <c:crosses val="autoZero"/>
        <c:auto val="1"/>
        <c:lblAlgn val="ctr"/>
        <c:lblOffset val="100"/>
        <c:noMultiLvlLbl val="0"/>
      </c:catAx>
      <c:valAx>
        <c:axId val="289376056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89381152"/>
        <c:crosses val="autoZero"/>
        <c:crossBetween val="between"/>
      </c:valAx>
      <c:spPr>
        <a:solidFill>
          <a:schemeClr val="accent6">
            <a:lumMod val="20000"/>
            <a:lumOff val="80000"/>
            <a:alpha val="73000"/>
          </a:schemeClr>
        </a:solidFill>
        <a:ln>
          <a:noFill/>
        </a:ln>
        <a:effectLst/>
      </c:spPr>
    </c:plotArea>
    <c:legend>
      <c:legendPos val="b"/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zero"/>
    <c:showDLblsOverMax val="0"/>
  </c:chart>
  <c:spPr>
    <a:blipFill dpi="0" rotWithShape="1">
      <a:blip xmlns:r="http://schemas.openxmlformats.org/officeDocument/2006/relationships" r:embed="rId4">
        <a:alphaModFix amt="37000"/>
      </a:blip>
      <a:srcRect/>
      <a:stretch>
        <a:fillRect/>
      </a:stretch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Grafico das Dotações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6111111111111108E-2"/>
          <c:y val="0.1902314814814815"/>
          <c:w val="0.93888888888888888"/>
          <c:h val="0.61498432487605714"/>
        </c:manualLayout>
      </c:layout>
      <c:lineChart>
        <c:grouping val="standar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'[DemonstrativoConsolidadoOrcamentoFuncionamentoPorUGBFuncionalProgramaFRCED_REP_L_Maputo_Cidade_20260630_20260702-2026-07-06_13-47-38.770.xls]SSCM'!$A$31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'[DemonstrativoConsolidadoOrcamentoFuncionamentoPorUGBFuncionalProgramaFRCED_REP_L_Maputo_Cidade_20260630_20260702-2026-07-06_13-47-38.770.xls]SSCM'!$B$30:$C$30</c:f>
              <c:strCache>
                <c:ptCount val="2"/>
                <c:pt idx="0">
                  <c:v>Dotação Actualizada</c:v>
                </c:pt>
                <c:pt idx="1">
                  <c:v>Dotação Cabimentada</c:v>
                </c:pt>
              </c:strCache>
            </c:strRef>
          </c:cat>
          <c:val>
            <c:numRef>
              <c:f>'[DemonstrativoConsolidadoOrcamentoFuncionamentoPorUGBFuncionalProgramaFRCED_REP_L_Maputo_Cidade_20260630_20260702-2026-07-06_13-47-38.770.xls]SSCM'!$B$31:$C$31</c:f>
              <c:numCache>
                <c:formatCode>_(* #,##0.00_);_(* \(#,##0.00\);_(* "-"??_);_(@_)</c:formatCode>
                <c:ptCount val="2"/>
                <c:pt idx="0">
                  <c:v>254852500.87</c:v>
                </c:pt>
                <c:pt idx="1">
                  <c:v>53349818.089999996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7A-4DC9-8708-C16B528BAF11}"/>
            </c:ext>
          </c:extLst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'[DemonstrativoConsolidadoOrcamentoFuncionamentoPorUGBFuncionalProgramaFRCED_REP_L_Maputo_Cidade_20260630_20260702-2026-07-06_13-47-38.770.xls]SSCM'!$A$32</c:f>
              <c:strCache>
                <c:ptCount val="1"/>
                <c:pt idx="0">
                  <c:v>2026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9444444444444445E-2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7A-4DC9-8708-C16B528BAF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'[DemonstrativoConsolidadoOrcamentoFuncionamentoPorUGBFuncionalProgramaFRCED_REP_L_Maputo_Cidade_20260630_20260702-2026-07-06_13-47-38.770.xls]SSCM'!$B$30:$C$30</c:f>
              <c:strCache>
                <c:ptCount val="2"/>
                <c:pt idx="0">
                  <c:v>Dotação Actualizada</c:v>
                </c:pt>
                <c:pt idx="1">
                  <c:v>Dotação Cabimentada</c:v>
                </c:pt>
              </c:strCache>
            </c:strRef>
          </c:cat>
          <c:val>
            <c:numRef>
              <c:f>'[DemonstrativoConsolidadoOrcamentoFuncionamentoPorUGBFuncionalProgramaFRCED_REP_L_Maputo_Cidade_20260630_20260702-2026-07-06_13-47-38.770.xls]SSCM'!$B$32:$C$32</c:f>
              <c:numCache>
                <c:formatCode>_(* #,##0.00_);_(* \(#,##0.00\);_(* "-"??_);_(@_)</c:formatCode>
                <c:ptCount val="2"/>
                <c:pt idx="0">
                  <c:v>142005891.36000001</c:v>
                </c:pt>
                <c:pt idx="1">
                  <c:v>91039651.469999999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7A-4DC9-8708-C16B528BA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3929416"/>
        <c:axId val="293931768"/>
      </c:lineChart>
      <c:catAx>
        <c:axId val="293929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93931768"/>
        <c:crosses val="autoZero"/>
        <c:auto val="1"/>
        <c:lblAlgn val="ctr"/>
        <c:lblOffset val="100"/>
        <c:noMultiLvlLbl val="0"/>
      </c:catAx>
      <c:valAx>
        <c:axId val="293931768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93929416"/>
        <c:crosses val="autoZero"/>
        <c:crossBetween val="between"/>
      </c:valAx>
      <c:spPr>
        <a:solidFill>
          <a:schemeClr val="accent4">
            <a:lumMod val="20000"/>
            <a:lumOff val="80000"/>
            <a:alpha val="47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gradFill>
      <a:gsLst>
        <a:gs pos="6000">
          <a:schemeClr val="accent1">
            <a:lumMod val="5000"/>
            <a:lumOff val="95000"/>
          </a:schemeClr>
        </a:gs>
        <a:gs pos="20000">
          <a:schemeClr val="accent2">
            <a:lumMod val="20000"/>
            <a:lumOff val="80000"/>
          </a:schemeClr>
        </a:gs>
        <a:gs pos="44000">
          <a:schemeClr val="bg2">
            <a:lumMod val="90000"/>
          </a:schemeClr>
        </a:gs>
        <a:gs pos="60000">
          <a:schemeClr val="accent4">
            <a:lumMod val="20000"/>
            <a:lumOff val="80000"/>
          </a:schemeClr>
        </a:gs>
        <a:gs pos="75000">
          <a:schemeClr val="accent5">
            <a:lumMod val="20000"/>
            <a:lumOff val="80000"/>
          </a:schemeClr>
        </a:gs>
        <a:gs pos="93000">
          <a:schemeClr val="accent6">
            <a:lumMod val="40000"/>
            <a:lumOff val="6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207DB-BE02-4709-8EFD-924FD65357E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BEE9-CA43-474A-A7EB-3C589B4B80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8CA9D-DD5A-43AB-8151-0F1378B4959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CB122-D5E8-4AC5-A36E-8A3F504BF3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73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90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51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9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FCB122-D5E8-4AC5-A36E-8A3F504BF3C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12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58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48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1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653691" y="4293521"/>
            <a:ext cx="8884618" cy="861774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7" name="TextBox 11"/>
          <p:cNvSpPr txBox="1"/>
          <p:nvPr userDrawn="1"/>
        </p:nvSpPr>
        <p:spPr>
          <a:xfrm>
            <a:off x="4369248" y="6416554"/>
            <a:ext cx="3453504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2025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351868" y="1473198"/>
            <a:ext cx="3184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411744" y="1794928"/>
            <a:ext cx="2648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pic>
        <p:nvPicPr>
          <p:cNvPr id="12" name="Picture 11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35361"/>
            <a:ext cx="1266825" cy="79057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123629" y="1593209"/>
            <a:ext cx="79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 DA CIDADE</a:t>
            </a:r>
            <a:endParaRPr lang="pt-PT" alt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7" y="5539444"/>
            <a:ext cx="1249638" cy="12800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7" descr="C:\Users\DACUNHA\Pictures\image_preview.png">
            <a:extLst>
              <a:ext uri="{FF2B5EF4-FFF2-40B4-BE49-F238E27FC236}">
                <a16:creationId xmlns:a16="http://schemas.microsoft.com/office/drawing/2014/main" id="{7966F097-C494-9405-7026-9A44F68DBA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26" y="522190"/>
            <a:ext cx="1283948" cy="101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62BC6-A733-39D4-0B7D-1F1A97803A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16000"/>
              </a:schemeClr>
            </a:gs>
            <a:gs pos="97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0740269" y="4067175"/>
            <a:ext cx="1296987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chart" Target="../charts/chart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chart" Target="../charts/chart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/>
        </p:nvSpPr>
        <p:spPr>
          <a:xfrm>
            <a:off x="276225" y="3140425"/>
            <a:ext cx="11639550" cy="79362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Reuni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Saúde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077763" y="5701878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1204119" y="5995030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85294" y="1255844"/>
            <a:ext cx="70214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46" y="285750"/>
            <a:ext cx="1233109" cy="97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204119" y="2885412"/>
            <a:ext cx="9845039" cy="167725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PT" sz="4800" b="1" dirty="0">
                <a:solidFill>
                  <a:schemeClr val="bg1"/>
                </a:solidFill>
                <a:latin typeface="Bodoni MT" panose="02070603080606020203" pitchFamily="18" charset="0"/>
              </a:rPr>
              <a:t>Desempenho Orçamental</a:t>
            </a:r>
            <a:endParaRPr lang="en-ZA" sz="48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491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380789" y="124994"/>
            <a:ext cx="9472930" cy="72039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1. OE -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Funcionamento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2020 </a:t>
            </a:r>
            <a:r>
              <a:rPr lang="en-US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à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2025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247941"/>
              </p:ext>
            </p:extLst>
          </p:nvPr>
        </p:nvGraphicFramePr>
        <p:xfrm>
          <a:off x="459276" y="934861"/>
          <a:ext cx="11315957" cy="2909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Planilha" r:id="rId4" imgW="8062031" imgH="2049725" progId="Excel.Sheet.8">
                  <p:embed/>
                </p:oleObj>
              </mc:Choice>
              <mc:Fallback>
                <p:oleObj name="Planilha" r:id="rId4" imgW="8062031" imgH="2049725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9276" y="934861"/>
                        <a:ext cx="11315957" cy="2909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391203"/>
              </p:ext>
            </p:extLst>
          </p:nvPr>
        </p:nvGraphicFramePr>
        <p:xfrm>
          <a:off x="281355" y="3844213"/>
          <a:ext cx="5814644" cy="2892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1682102"/>
              </p:ext>
            </p:extLst>
          </p:nvPr>
        </p:nvGraphicFramePr>
        <p:xfrm>
          <a:off x="6084277" y="3844212"/>
          <a:ext cx="5690956" cy="2931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905834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67203" y="1385806"/>
            <a:ext cx="10324786" cy="490077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pt-BR" alt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397554" y="74645"/>
            <a:ext cx="9472930" cy="878878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1.1. OE -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Funcionamento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1º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Semestre</a:t>
            </a:r>
            <a:endParaRPr lang="en-ZA" sz="32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23751"/>
              </p:ext>
            </p:extLst>
          </p:nvPr>
        </p:nvGraphicFramePr>
        <p:xfrm>
          <a:off x="283725" y="975989"/>
          <a:ext cx="6135735" cy="2636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Planilha" r:id="rId4" imgW="5943600" imgH="876261" progId="Excel.Sheet.8">
                  <p:embed/>
                </p:oleObj>
              </mc:Choice>
              <mc:Fallback>
                <p:oleObj name="Planilha" r:id="rId4" imgW="5943600" imgH="876261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3725" y="975989"/>
                        <a:ext cx="6135735" cy="2636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645458"/>
              </p:ext>
            </p:extLst>
          </p:nvPr>
        </p:nvGraphicFramePr>
        <p:xfrm>
          <a:off x="6419459" y="953523"/>
          <a:ext cx="532778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724" y="3713372"/>
            <a:ext cx="5918667" cy="298302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283" y="3710809"/>
            <a:ext cx="5463939" cy="29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 bwMode="auto">
          <a:xfrm>
            <a:off x="1323529" y="103937"/>
            <a:ext cx="9513808" cy="50255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1.2 REPARTIÇÃO DE ADMINISTRAÇÃO E FINANÇAS – </a:t>
            </a:r>
            <a:r>
              <a:rPr lang="en-ZA" dirty="0">
                <a:solidFill>
                  <a:prstClr val="white"/>
                </a:solidFill>
              </a:rPr>
              <a:t>PRESTAÇÃO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 DE CONTAS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 bwMode="auto">
          <a:xfrm>
            <a:off x="1838131" y="672871"/>
            <a:ext cx="8276252" cy="41880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Orçamento de Funcionamento (</a:t>
            </a:r>
            <a:r>
              <a:rPr lang="en-ZA" sz="2000" dirty="0" err="1">
                <a:solidFill>
                  <a:prstClr val="white"/>
                </a:solidFill>
                <a:latin typeface="Gill Sans MT" pitchFamily="34" charset="0"/>
              </a:rPr>
              <a:t>Receitas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 </a:t>
            </a:r>
            <a:r>
              <a:rPr lang="en-ZA" sz="2000" dirty="0" err="1">
                <a:solidFill>
                  <a:prstClr val="white"/>
                </a:solidFill>
                <a:latin typeface="Gill Sans MT" pitchFamily="34" charset="0"/>
              </a:rPr>
              <a:t>Próprias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)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194311"/>
              </p:ext>
            </p:extLst>
          </p:nvPr>
        </p:nvGraphicFramePr>
        <p:xfrm>
          <a:off x="6515577" y="3603970"/>
          <a:ext cx="5253486" cy="305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Planilha" r:id="rId4" imgW="4793157" imgH="906962" progId="Excel.Sheet.8">
                  <p:embed/>
                </p:oleObj>
              </mc:Choice>
              <mc:Fallback>
                <p:oleObj name="Planilha" r:id="rId4" imgW="4793157" imgH="906962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15577" y="3603970"/>
                        <a:ext cx="5253486" cy="305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13" y="3831443"/>
            <a:ext cx="6125864" cy="2824379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598" y="1091679"/>
            <a:ext cx="4244341" cy="2474482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712" y="1129489"/>
            <a:ext cx="6963587" cy="270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7238" y="204833"/>
            <a:ext cx="9461241" cy="57416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1,3 REPARTIÇÃO DE ADMINISTRAÇÃO E FINANÇAS – PRESTAÇÃO DE CONTAS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2608125" y="778994"/>
            <a:ext cx="6339932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 de </a:t>
            </a:r>
            <a:r>
              <a:rPr lang="en-ZA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Investimento</a:t>
            </a: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 (ICSM e SSCM)</a:t>
            </a:r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579964"/>
              </p:ext>
            </p:extLst>
          </p:nvPr>
        </p:nvGraphicFramePr>
        <p:xfrm>
          <a:off x="229211" y="1353156"/>
          <a:ext cx="11611097" cy="251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Planilha" r:id="rId4" imgW="7185483" imgH="2979286" progId="Excel.Sheet.8">
                  <p:embed/>
                </p:oleObj>
              </mc:Choice>
              <mc:Fallback>
                <p:oleObj name="Planilha" r:id="rId4" imgW="7185483" imgH="2979286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211" y="1353156"/>
                        <a:ext cx="11611097" cy="2515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376267"/>
              </p:ext>
            </p:extLst>
          </p:nvPr>
        </p:nvGraphicFramePr>
        <p:xfrm>
          <a:off x="229211" y="3959591"/>
          <a:ext cx="7423446" cy="2794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7" name="Planilha" r:id="rId6" imgW="4160733" imgH="1287741" progId="Excel.Sheet.8">
                  <p:embed/>
                </p:oleObj>
              </mc:Choice>
              <mc:Fallback>
                <p:oleObj name="Planilha" r:id="rId6" imgW="4160733" imgH="1287741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9211" y="3959591"/>
                        <a:ext cx="7423446" cy="27941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756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34278" y="111967"/>
            <a:ext cx="9457824" cy="475862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1,4 REPARTIÇÃO DE ADMINISTRAÇÃO E FINANÇAS – PRESTAÇÃO DE CONTAS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2177208" y="659656"/>
            <a:ext cx="7454721" cy="432025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Fundos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que n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ão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Transitam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pela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CUT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54" y="1359256"/>
            <a:ext cx="11250465" cy="447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3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 bwMode="auto">
          <a:xfrm>
            <a:off x="1334278" y="111967"/>
            <a:ext cx="9457824" cy="475862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</a:rPr>
              <a:t>1.6 REPARTIÇÃO DE ADMINISTRAÇÃO E FINANÇAS – PRESTAÇÃO DE CONTAS</a:t>
            </a:r>
          </a:p>
        </p:txBody>
      </p:sp>
      <p:sp>
        <p:nvSpPr>
          <p:cNvPr id="7" name="Title 1"/>
          <p:cNvSpPr>
            <a:spLocks noGrp="1"/>
          </p:cNvSpPr>
          <p:nvPr/>
        </p:nvSpPr>
        <p:spPr bwMode="auto">
          <a:xfrm>
            <a:off x="2062284" y="692313"/>
            <a:ext cx="7454721" cy="432025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Dívidas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 com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fornecedores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  <a:ea typeface="+mn-ea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63" y="1133657"/>
            <a:ext cx="11284674" cy="45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1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61915" y="10937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–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1"/>
          </p:nvPr>
        </p:nvSpPr>
        <p:spPr>
          <a:xfrm>
            <a:off x="487680" y="906780"/>
            <a:ext cx="10888980" cy="56921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Unidade de Prestação de Contas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tem como atividades assegurar a transparência, a responsabilidade e a eficiência na gestão dos recursos públicos. Essa unidade atua como um pilar fundamental no controle interno da administração pública, garantindo que os recursos sejam aplicados conforme os princípios legais e os objetivos institucionais.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principais: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Comprovar a execução orçamental e financeira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demonstrando que os recursos foram aplicados conforme o planejado;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Promover a responsabilização dos gestores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por meio da documentação e justificação das despesas realizadas;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Subsidiar auditorias e fiscalizações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fornecendo relatórios e evidências documentais;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Apoiar a tomada de decisões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com base em dados financeiros, fornecendo uma visão clara, fiel e estruturada da situação econômica, financeira e patrimonial de uma entidade.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4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31435" y="17033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–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1"/>
          </p:nvPr>
        </p:nvSpPr>
        <p:spPr>
          <a:xfrm>
            <a:off x="487680" y="906780"/>
            <a:ext cx="10888980" cy="56921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Estrutura típica da Unidade:</a:t>
            </a:r>
            <a:endParaRPr lang="en-US" b="1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Supervisor- Técnico Superior de Gestão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responsável pela supervisão geral e articulação com outras áreas;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Técnico de contabilidade/Administração Pública/Administração Hospitalar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analisa a conformidade documental dentro das normas estabelecidas.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Técnico de contabilidade/Administração Pública/Administração Hospitalar -Arquivo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Recolhe e organiza os documentos comprovativos (facturas, guias de remessa, recibos, contratos, guias de deslocamento em missão de serviço, relatórios de atividades);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Organiza e conserva os comprovativos e relatórios;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Contabilista-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faz a contabilização dos processos pagos, e</a:t>
            </a: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elabora os documentos de prestação de contas e os encaminha aos órgãos competentes.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555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61915" y="10937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–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643124" y="790079"/>
            <a:ext cx="9010790" cy="546488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Processos lançados na base e arquivados -2025/2026 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58" y="1652972"/>
            <a:ext cx="9654365" cy="448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98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80931" y="182755"/>
            <a:ext cx="9414586" cy="587830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2,1 RAF–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Conformidade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Processual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e Legal- UCPL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429594" y="811763"/>
            <a:ext cx="11317261" cy="550506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Principais atividades e Constatações- 2025/2026</a:t>
            </a:r>
            <a:endParaRPr lang="en-ZA" sz="20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9"/>
          <p:cNvSpPr/>
          <p:nvPr/>
        </p:nvSpPr>
        <p:spPr>
          <a:xfrm>
            <a:off x="388938" y="1444625"/>
            <a:ext cx="11112500" cy="58785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Verificar a legalidade dos processos de despesas dos Centros de Custo e proceder o lançamento na base de dados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se os processos de despesa analisados e enviados ao Departamento de Administração e Finanças (DAF) para o pagamento foram tramitados conforme rege a legislação financeira;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 conformidade processual dos processos para pagamento;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Elaborar e enviar o relatório </a:t>
            </a:r>
            <a:r>
              <a:rPr lang="pt-PT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menais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MISAU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PT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Constatações: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de processos sem facturas originais, facturas sem Carimbos;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Divergência de valores entre a informação proposta e facturas;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Informação proposta  e requisições sem números.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8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pt-PT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85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24947" y="130628"/>
            <a:ext cx="9442580" cy="75329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2.2. 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RAF–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Controlo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Processual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e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Legalidade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Continuação</a:t>
            </a:r>
            <a:endParaRPr lang="en-ZA" sz="20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045029" y="943393"/>
            <a:ext cx="10278917" cy="580607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Situação dos Processos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2025/2026</a:t>
            </a:r>
            <a:endParaRPr lang="pt-PT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47" y="1795382"/>
            <a:ext cx="9442580" cy="39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6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15616" y="129411"/>
            <a:ext cx="9489233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3.1 UNIDADE DE APOIO E CONTROLO - UAC            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Continuação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720244" y="924580"/>
            <a:ext cx="8679976" cy="533377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Principais atividades e Constatações- 2025/2026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510540" y="1806860"/>
            <a:ext cx="111175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Fazer o acompanhamento das recomendações das auditorias/</a:t>
            </a:r>
            <a:r>
              <a:rPr lang="pt-PT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inspecções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supervisões e avaliações, mediante a monitoria do grau de implementação das mesmas pelos sectores auditados;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Fazer a verificação da conformidade dos processos de prestação de contas, em coordenação com sector da Contabilidade e Prestação de Contas s e Unidades de Conformidade Processual e Legal;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Fornecer a planilha para a verificação da conformidade dos processos;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Apoiar as Unidades sanitárias na disponibilização de dados e informações da mesma no decurso das auditorias ou inspeções e no exercício do contraditório.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pt-PT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Contatações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Ausência de suportes  documentais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Falta de Assinaturas dos constituintes das comissões de </a:t>
            </a:r>
            <a:r>
              <a:rPr lang="pt-PT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recepção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Atraso no envio dos justificativos dos processos de despesas;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B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classificação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 despesas. </a:t>
            </a:r>
          </a:p>
        </p:txBody>
      </p:sp>
    </p:spTree>
    <p:extLst>
      <p:ext uri="{BB962C8B-B14F-4D97-AF65-F5344CB8AC3E}">
        <p14:creationId xmlns:p14="http://schemas.microsoft.com/office/powerpoint/2010/main" val="3676402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 bwMode="auto">
          <a:xfrm>
            <a:off x="1309395" y="161003"/>
            <a:ext cx="9573209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3. UNIDADE DE APOIO E CONTROLO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94" y="1405437"/>
            <a:ext cx="9573209" cy="440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95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2941" y="93306"/>
            <a:ext cx="9498562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4. REPARTIÇÃO DE PATRIMÓNIO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2374861" y="886014"/>
            <a:ext cx="7454721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Bens Adquiridos e Doados </a:t>
            </a:r>
          </a:p>
        </p:txBody>
      </p:sp>
      <p:sp>
        <p:nvSpPr>
          <p:cNvPr id="8" name="Retângulo 7"/>
          <p:cNvSpPr/>
          <p:nvPr/>
        </p:nvSpPr>
        <p:spPr>
          <a:xfrm>
            <a:off x="533349" y="1816531"/>
            <a:ext cx="11168742" cy="4916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i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 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Bens adquiridos pelos fundos externos, inclui, equipamentos informáticos e mobiliário de escritório;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bens doados pelos parceiros inclui viaturas e mobiliário de escritório;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principais doadores são, JHPIEGO e ICAP;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Dos 109 e 89 bens recebidos e adquiridos em 2025 e 2026 respectivamente apenas 7 em 2025 e 17 em 2026 foram alocados no edifício sede o remanescente foi alocado nas diversas Unidades Sanitárias.</a:t>
            </a:r>
            <a:endParaRPr lang="pt-PT" sz="12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8" y="1603551"/>
            <a:ext cx="10896651" cy="295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58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2941" y="93306"/>
            <a:ext cx="9498562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4. REPARTIÇÃO DE PATRIMÓNIO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2374861" y="886014"/>
            <a:ext cx="7454721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Bens Adquiridos e Doados </a:t>
            </a:r>
          </a:p>
        </p:txBody>
      </p:sp>
      <p:sp>
        <p:nvSpPr>
          <p:cNvPr id="8" name="Retângulo 7"/>
          <p:cNvSpPr/>
          <p:nvPr/>
        </p:nvSpPr>
        <p:spPr>
          <a:xfrm>
            <a:off x="533349" y="1816531"/>
            <a:ext cx="11168742" cy="3023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056268"/>
              </p:ext>
            </p:extLst>
          </p:nvPr>
        </p:nvGraphicFramePr>
        <p:xfrm>
          <a:off x="684213" y="1725807"/>
          <a:ext cx="10556006" cy="45110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18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4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Unidade Sanitâria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Ponto de situação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Observação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Hospital Geral José Macamo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Aguarda autorização para venda.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 a ser reenviado a Direcção Nacional do Património do Estado.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Hospital Geral de Polana Caniço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Aguarda autorização para venda.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 a ser reenviado a  Direcção Nacional do Património do Estado.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Serviço de Saúde da Cidade de Maputo – Edifício Sede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Avaliação de Incapacidade dos bens.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Actividade</a:t>
                      </a: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 curso.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364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09" y="956357"/>
            <a:ext cx="10180434" cy="50237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6046887"/>
            <a:ext cx="10180432" cy="604884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4800" b="1" dirty="0"/>
              <a:t>   Hi </a:t>
            </a:r>
            <a:r>
              <a:rPr lang="en-US" sz="4800" b="1" dirty="0" err="1"/>
              <a:t>Mbonguile</a:t>
            </a:r>
            <a:endParaRPr lang="en-US" sz="4800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20" y="956357"/>
            <a:ext cx="10885273" cy="509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16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5938</TotalTime>
  <Words>852</Words>
  <Application>Microsoft Office PowerPoint</Application>
  <PresentationFormat>Ecrã Panorâmico</PresentationFormat>
  <Paragraphs>110</Paragraphs>
  <Slides>18</Slides>
  <Notes>7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12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32" baseType="lpstr">
      <vt:lpstr>Aptos</vt:lpstr>
      <vt:lpstr>Arial</vt:lpstr>
      <vt:lpstr>Bodoni MT</vt:lpstr>
      <vt:lpstr>Calibri</vt:lpstr>
      <vt:lpstr>Century Gothic</vt:lpstr>
      <vt:lpstr>Garet Bold</vt:lpstr>
      <vt:lpstr>Garet Bold Italics</vt:lpstr>
      <vt:lpstr>Gill Sans MT</vt:lpstr>
      <vt:lpstr>Symbol</vt:lpstr>
      <vt:lpstr>Times New Roman</vt:lpstr>
      <vt:lpstr>Wingdings</vt:lpstr>
      <vt:lpstr>Wingdings 3</vt:lpstr>
      <vt:lpstr>Slice</vt:lpstr>
      <vt:lpstr>Planilha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Marcos Lopes</cp:lastModifiedBy>
  <cp:revision>245</cp:revision>
  <dcterms:created xsi:type="dcterms:W3CDTF">2025-07-14T08:03:00Z</dcterms:created>
  <dcterms:modified xsi:type="dcterms:W3CDTF">2026-10-12T07:53:33Z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