
<file path=[Content_Types].xml><?xml version="1.0" encoding="utf-8"?>
<Types xmlns="http://schemas.openxmlformats.org/package/2006/content-types">
  <Default Extension="png" ContentType="image/png"/>
  <Default Extension="bin" ContentType="image/unknown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8" r:id="rId3"/>
    <p:sldId id="333" r:id="rId4"/>
    <p:sldId id="345" r:id="rId5"/>
    <p:sldId id="347" r:id="rId6"/>
    <p:sldId id="346" r:id="rId7"/>
    <p:sldId id="356" r:id="rId8"/>
    <p:sldId id="348" r:id="rId9"/>
    <p:sldId id="355" r:id="rId10"/>
    <p:sldId id="349" r:id="rId11"/>
    <p:sldId id="350" r:id="rId12"/>
    <p:sldId id="352" r:id="rId13"/>
    <p:sldId id="353" r:id="rId14"/>
    <p:sldId id="354" r:id="rId15"/>
    <p:sldId id="343" r:id="rId16"/>
  </p:sldIdLst>
  <p:sldSz cx="12192000" cy="6858000"/>
  <p:notesSz cx="6858000" cy="9144000"/>
  <p:custDataLst>
    <p:tags r:id="rId19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10/12/2026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906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xmlns="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xmlns="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xmlns="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362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xmlns="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xmlns="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xmlns="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xmlns="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xmlns="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xmlns="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xmlns="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xmlns="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bin"/><Relationship Id="rId2" Type="http://schemas.openxmlformats.org/officeDocument/2006/relationships/image" Target="../media/image19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bin"/><Relationship Id="rId4" Type="http://schemas.openxmlformats.org/officeDocument/2006/relationships/image" Target="../media/image2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xmlns="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650" y="5678419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xmlns="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xmlns="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xmlns="" id="{DF74C49A-5555-F6DF-2344-48955F797FD8}"/>
              </a:ext>
            </a:extLst>
          </p:cNvPr>
          <p:cNvSpPr txBox="1"/>
          <p:nvPr/>
        </p:nvSpPr>
        <p:spPr>
          <a:xfrm>
            <a:off x="698642" y="3179298"/>
            <a:ext cx="10752460" cy="188199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ea typeface="MS PGothic" panose="020B0600070205080204" pitchFamily="34" charset="-128"/>
              </a:rPr>
              <a:t>Do registo ao uso de informação: desafios </a:t>
            </a:r>
            <a:r>
              <a:rPr lang="pt-BR" altLang="en-US" sz="3200" b="1">
                <a:ea typeface="MS PGothic" panose="020B0600070205080204" pitchFamily="34" charset="-128"/>
              </a:rPr>
              <a:t>e oportunidades </a:t>
            </a:r>
            <a:r>
              <a:rPr lang="pt-BR" altLang="en-US" sz="3200" b="1" dirty="0">
                <a:ea typeface="MS PGothic" panose="020B0600070205080204" pitchFamily="34" charset="-128"/>
              </a:rPr>
              <a:t>na utilização dos Sisemas Digitais de Saúde (SIS-RME) </a:t>
            </a:r>
            <a:r>
              <a:rPr lang="en-US" altLang="en-US" sz="3200" b="1" dirty="0">
                <a:ea typeface="MS PGothic" panose="020B0600070205080204" pitchFamily="34" charset="-128"/>
              </a:rPr>
              <a:t> </a:t>
            </a:r>
            <a:endParaRPr lang="pt-BR" sz="3200" b="1" dirty="0">
              <a:solidFill>
                <a:srgbClr val="DBEFF9">
                  <a:lumMod val="25000"/>
                </a:srgb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5678C29-B991-E318-C6A6-550E6CF7E735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Conteúdos</a:t>
            </a:r>
            <a:endParaRPr lang="pt-BR" sz="2800" b="1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>
                <a:solidFill>
                  <a:schemeClr val="bg2"/>
                </a:solidFill>
              </a:rPr>
              <a:pPr>
                <a:defRPr/>
              </a:pPr>
              <a:t>3</a:t>
            </a:fld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022763E7-6CCD-40DD-95C1-F64F5D052F7B}"/>
              </a:ext>
            </a:extLst>
          </p:cNvPr>
          <p:cNvSpPr/>
          <p:nvPr/>
        </p:nvSpPr>
        <p:spPr>
          <a:xfrm>
            <a:off x="548640" y="1406770"/>
            <a:ext cx="717452" cy="7737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D8D64116-3303-49BD-A78B-22DE7B038ABF}"/>
              </a:ext>
            </a:extLst>
          </p:cNvPr>
          <p:cNvSpPr/>
          <p:nvPr/>
        </p:nvSpPr>
        <p:spPr>
          <a:xfrm>
            <a:off x="548640" y="2651760"/>
            <a:ext cx="717452" cy="7737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A276B234-ECC5-4814-BA02-8CE8A13C4E58}"/>
              </a:ext>
            </a:extLst>
          </p:cNvPr>
          <p:cNvSpPr/>
          <p:nvPr/>
        </p:nvSpPr>
        <p:spPr>
          <a:xfrm>
            <a:off x="548640" y="3819378"/>
            <a:ext cx="717452" cy="7737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430D8E9C-5C4B-440C-9858-F725B1D2C114}"/>
              </a:ext>
            </a:extLst>
          </p:cNvPr>
          <p:cNvSpPr/>
          <p:nvPr/>
        </p:nvSpPr>
        <p:spPr>
          <a:xfrm>
            <a:off x="548640" y="4926761"/>
            <a:ext cx="717452" cy="7737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D58F7121-42C4-4E55-9555-591A96A0AEDB}"/>
              </a:ext>
            </a:extLst>
          </p:cNvPr>
          <p:cNvSpPr/>
          <p:nvPr/>
        </p:nvSpPr>
        <p:spPr>
          <a:xfrm>
            <a:off x="1420835" y="1517953"/>
            <a:ext cx="3024555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Contextualização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DEDD54E7-5232-429D-9542-02DC98D53225}"/>
              </a:ext>
            </a:extLst>
          </p:cNvPr>
          <p:cNvSpPr/>
          <p:nvPr/>
        </p:nvSpPr>
        <p:spPr>
          <a:xfrm>
            <a:off x="1491171" y="3944629"/>
            <a:ext cx="3643535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Funcionalidade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 do SIS-RME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76CF718F-733D-4096-A06D-4241CE553DC2}"/>
              </a:ext>
            </a:extLst>
          </p:cNvPr>
          <p:cNvSpPr/>
          <p:nvPr/>
        </p:nvSpPr>
        <p:spPr>
          <a:xfrm>
            <a:off x="1491170" y="5157967"/>
            <a:ext cx="3643535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Utilizadores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ED4F824F-0E6D-45A2-B407-6FDE6E441F11}"/>
              </a:ext>
            </a:extLst>
          </p:cNvPr>
          <p:cNvSpPr/>
          <p:nvPr/>
        </p:nvSpPr>
        <p:spPr>
          <a:xfrm>
            <a:off x="7241767" y="1443367"/>
            <a:ext cx="3643535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Fluxo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 do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paciente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6D8F8868-A52A-47C4-A562-0C35E0069F76}"/>
              </a:ext>
            </a:extLst>
          </p:cNvPr>
          <p:cNvSpPr/>
          <p:nvPr/>
        </p:nvSpPr>
        <p:spPr>
          <a:xfrm>
            <a:off x="6274466" y="1405883"/>
            <a:ext cx="717452" cy="7737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F822A1A7-8F31-4464-999F-6E4B2260D530}"/>
              </a:ext>
            </a:extLst>
          </p:cNvPr>
          <p:cNvSpPr/>
          <p:nvPr/>
        </p:nvSpPr>
        <p:spPr>
          <a:xfrm>
            <a:off x="7241767" y="2662342"/>
            <a:ext cx="3024555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NUIS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A638053B-A54A-465C-891D-BE6C18F04D7C}"/>
              </a:ext>
            </a:extLst>
          </p:cNvPr>
          <p:cNvSpPr/>
          <p:nvPr/>
        </p:nvSpPr>
        <p:spPr>
          <a:xfrm>
            <a:off x="6274466" y="2651760"/>
            <a:ext cx="717452" cy="7737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xmlns="" id="{ABCF2220-B188-4190-890F-661CC39FFA48}"/>
              </a:ext>
            </a:extLst>
          </p:cNvPr>
          <p:cNvSpPr/>
          <p:nvPr/>
        </p:nvSpPr>
        <p:spPr>
          <a:xfrm>
            <a:off x="7241768" y="3910226"/>
            <a:ext cx="3024555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Desafios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538629E6-CD2B-4D34-B75C-62D3C1B504CA}"/>
              </a:ext>
            </a:extLst>
          </p:cNvPr>
          <p:cNvSpPr/>
          <p:nvPr/>
        </p:nvSpPr>
        <p:spPr>
          <a:xfrm>
            <a:off x="6274466" y="3835951"/>
            <a:ext cx="717452" cy="7737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xmlns="" id="{1D437B77-791F-456F-89E4-D03A4F664C26}"/>
              </a:ext>
            </a:extLst>
          </p:cNvPr>
          <p:cNvSpPr/>
          <p:nvPr/>
        </p:nvSpPr>
        <p:spPr>
          <a:xfrm>
            <a:off x="7241771" y="5158110"/>
            <a:ext cx="3024555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Oportunidades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D8D64116-3303-49BD-A78B-22DE7B038ABF}"/>
              </a:ext>
            </a:extLst>
          </p:cNvPr>
          <p:cNvSpPr/>
          <p:nvPr/>
        </p:nvSpPr>
        <p:spPr>
          <a:xfrm>
            <a:off x="6315557" y="4926761"/>
            <a:ext cx="717452" cy="7737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tângulo 17">
            <a:extLst>
              <a:ext uri="{FF2B5EF4-FFF2-40B4-BE49-F238E27FC236}">
                <a16:creationId xmlns:a16="http://schemas.microsoft.com/office/drawing/2014/main" xmlns="" id="{76CF718F-733D-4096-A06D-4241CE553DC2}"/>
              </a:ext>
            </a:extLst>
          </p:cNvPr>
          <p:cNvSpPr/>
          <p:nvPr/>
        </p:nvSpPr>
        <p:spPr>
          <a:xfrm>
            <a:off x="1420835" y="2731291"/>
            <a:ext cx="4558072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sz="2400" b="1" dirty="0" err="1">
                <a:solidFill>
                  <a:schemeClr val="bg2"/>
                </a:solidFill>
              </a:rPr>
              <a:t>Infraestrutura</a:t>
            </a:r>
            <a:r>
              <a:rPr lang="en-US" sz="2000" b="1" dirty="0">
                <a:solidFill>
                  <a:schemeClr val="bg2"/>
                </a:solidFill>
              </a:rPr>
              <a:t> </a:t>
            </a:r>
            <a:r>
              <a:rPr lang="en-US" sz="2400" b="1" dirty="0" err="1">
                <a:solidFill>
                  <a:schemeClr val="bg2"/>
                </a:solidFill>
              </a:rPr>
              <a:t>Tecnológica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 err="1">
                <a:solidFill>
                  <a:schemeClr val="bg2"/>
                </a:solidFill>
              </a:rPr>
              <a:t>Necessária</a:t>
            </a:r>
            <a:endParaRPr lang="pt-BR" sz="24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79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06D8B86-B83D-4C8D-3792-B16F375CBE53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2"/>
                </a:solidFill>
                <a:latin typeface="+mj-lt"/>
              </a:rPr>
              <a:t>SIS-RME</a:t>
            </a:r>
            <a:endParaRPr lang="pt-BR" sz="2800" b="1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xmlns="" id="{5DFB2ACA-E8B5-48AB-A3D7-0BEF6A88A9AF}"/>
              </a:ext>
            </a:extLst>
          </p:cNvPr>
          <p:cNvSpPr txBox="1">
            <a:spLocks/>
          </p:cNvSpPr>
          <p:nvPr/>
        </p:nvSpPr>
        <p:spPr>
          <a:xfrm>
            <a:off x="838200" y="1473933"/>
            <a:ext cx="10515600" cy="4351338"/>
          </a:xfrm>
          <a:prstGeom prst="rect">
            <a:avLst/>
          </a:prstGeom>
        </p:spPr>
        <p:txBody>
          <a:bodyPr/>
          <a:lstStyle>
            <a:lvl1pPr marL="2857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PT" sz="2800" dirty="0"/>
              <a:t>É um sistema de registo clínico no local de atendimento, permitindo registar dados do paciente acompanhando o seu fluxo de atendimento entre os diferentes serviços da Unidade Sanitária. </a:t>
            </a:r>
          </a:p>
          <a:p>
            <a:pPr eaLnBrk="1" hangingPunct="1"/>
            <a:r>
              <a:rPr lang="pt-PT" sz="2800" dirty="0"/>
              <a:t>O SIS-RME </a:t>
            </a:r>
            <a:r>
              <a:rPr lang="pt-PT" sz="2800" dirty="0" smtClean="0"/>
              <a:t>está</a:t>
            </a:r>
            <a:r>
              <a:rPr lang="pt-PT" sz="2800" dirty="0" smtClean="0"/>
              <a:t> </a:t>
            </a:r>
            <a:r>
              <a:rPr lang="pt-PT" sz="2800" dirty="0"/>
              <a:t>implementado através da digitalização dos processos </a:t>
            </a:r>
            <a:r>
              <a:rPr lang="pt-PT" sz="2800" dirty="0" smtClean="0"/>
              <a:t>na unidade sanitária </a:t>
            </a:r>
            <a:r>
              <a:rPr lang="pt-PT" sz="2800" dirty="0"/>
              <a:t>representando um passo decisivo para a modernização das unidades sanitárias, promovendo a integração dos serviços, a continuidade do cuidado e a eliminação gradual do registo em papel.</a:t>
            </a:r>
          </a:p>
          <a:p>
            <a:pPr eaLnBrk="1" hangingPunct="1"/>
            <a:endParaRPr lang="pt-PT" dirty="0"/>
          </a:p>
          <a:p>
            <a:pPr eaLnBrk="1" hangingPunct="1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09F61-7516-D6FF-0B58-876EAC067054}"/>
              </a:ext>
            </a:extLst>
          </p:cNvPr>
          <p:cNvSpPr txBox="1"/>
          <p:nvPr/>
        </p:nvSpPr>
        <p:spPr>
          <a:xfrm>
            <a:off x="1764768" y="266875"/>
            <a:ext cx="7447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b="1" dirty="0" err="1">
                <a:solidFill>
                  <a:schemeClr val="bg2"/>
                </a:solidFill>
              </a:rPr>
              <a:t>Infraestrutura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en-US" sz="2800" b="1" dirty="0" err="1">
                <a:solidFill>
                  <a:schemeClr val="bg2"/>
                </a:solidFill>
              </a:rPr>
              <a:t>Tecnológica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en-US" sz="2800" b="1" dirty="0" err="1">
                <a:solidFill>
                  <a:schemeClr val="bg2"/>
                </a:solidFill>
              </a:rPr>
              <a:t>Necessária</a:t>
            </a:r>
            <a:endParaRPr lang="pt-BR" sz="2800" b="1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888A5FF-5147-442E-8754-753A40094E2D}"/>
              </a:ext>
            </a:extLst>
          </p:cNvPr>
          <p:cNvSpPr txBox="1">
            <a:spLocks/>
          </p:cNvSpPr>
          <p:nvPr/>
        </p:nvSpPr>
        <p:spPr>
          <a:xfrm>
            <a:off x="838199" y="1355398"/>
            <a:ext cx="6023645" cy="547918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/>
              <a:t>Equipamentos de Utilizador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Computadores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Laptops 17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Tablets 5</a:t>
            </a:r>
          </a:p>
          <a:p>
            <a:r>
              <a:rPr lang="en-US" sz="2000" b="1" dirty="0" err="1"/>
              <a:t>Infraestrutura</a:t>
            </a:r>
            <a:r>
              <a:rPr lang="en-US" sz="2000" b="1" dirty="0"/>
              <a:t> de Rede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Access Points 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Switches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Rack de </a:t>
            </a:r>
            <a:r>
              <a:rPr lang="en-US" sz="2000" dirty="0" err="1"/>
              <a:t>Servidor</a:t>
            </a:r>
            <a:r>
              <a:rPr lang="en-US" sz="2000" dirty="0"/>
              <a:t> 2</a:t>
            </a:r>
          </a:p>
          <a:p>
            <a:r>
              <a:rPr lang="en-US" sz="2000" b="1" dirty="0" err="1"/>
              <a:t>Infraestrutura</a:t>
            </a:r>
            <a:r>
              <a:rPr lang="en-US" sz="2000" b="1" dirty="0"/>
              <a:t> de </a:t>
            </a:r>
            <a:r>
              <a:rPr lang="en-US" sz="2000" b="1" dirty="0" err="1"/>
              <a:t>Servidores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Servidor</a:t>
            </a:r>
            <a:r>
              <a:rPr lang="en-US" sz="2000" dirty="0"/>
              <a:t>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2"/>
                </a:solidFill>
              </a:rPr>
              <a:t>Insfraestrutua</a:t>
            </a:r>
            <a:r>
              <a:rPr lang="en-US" b="1" dirty="0">
                <a:solidFill>
                  <a:schemeClr val="bg2"/>
                </a:solidFill>
              </a:rPr>
              <a:t> de </a:t>
            </a:r>
            <a:r>
              <a:rPr lang="en-US" b="1" dirty="0" err="1">
                <a:solidFill>
                  <a:schemeClr val="bg2"/>
                </a:solidFill>
              </a:rPr>
              <a:t>Seguranca</a:t>
            </a:r>
            <a:endParaRPr lang="en-US" b="1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Caixa forte</a:t>
            </a:r>
            <a:endParaRPr lang="en-US" sz="2000" dirty="0">
              <a:solidFill>
                <a:schemeClr val="bg2"/>
              </a:solidFill>
            </a:endParaRPr>
          </a:p>
          <a:p>
            <a:pPr marL="0" indent="0" eaLnBrk="1" hangingPunct="1">
              <a:spcBef>
                <a:spcPts val="0"/>
              </a:spcBef>
              <a:buClr>
                <a:srgbClr val="000000"/>
              </a:buClr>
              <a:buSzPts val="2400"/>
              <a:buFont typeface="Wingdings 3" panose="05040102010807070707" pitchFamily="18" charset="2"/>
              <a:buNone/>
            </a:pPr>
            <a:endParaRPr lang="pt-PT" sz="2400" kern="0" dirty="0">
              <a:solidFill>
                <a:srgbClr val="000000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62;p8">
            <a:extLst>
              <a:ext uri="{FF2B5EF4-FFF2-40B4-BE49-F238E27FC236}">
                <a16:creationId xmlns:a16="http://schemas.microsoft.com/office/drawing/2014/main" xmlns="" id="{19AC4144-DBCC-4B49-BFB3-DD583F8617B9}"/>
              </a:ext>
            </a:extLst>
          </p:cNvPr>
          <p:cNvSpPr txBox="1"/>
          <p:nvPr/>
        </p:nvSpPr>
        <p:spPr>
          <a:xfrm>
            <a:off x="5987380" y="2985249"/>
            <a:ext cx="110945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dirty="0">
                <a:solidFill>
                  <a:schemeClr val="dk1"/>
                </a:solidFill>
                <a:latin typeface="+mn-lt"/>
                <a:cs typeface="Calibri"/>
                <a:sym typeface="Calibri"/>
              </a:rPr>
              <a:t>Laptop</a:t>
            </a:r>
            <a:endParaRPr lang="pt-PT" dirty="0">
              <a:latin typeface="+mn-lt"/>
            </a:endParaRPr>
          </a:p>
        </p:txBody>
      </p:sp>
      <p:sp>
        <p:nvSpPr>
          <p:cNvPr id="8" name="Google Shape;364;p8">
            <a:extLst>
              <a:ext uri="{FF2B5EF4-FFF2-40B4-BE49-F238E27FC236}">
                <a16:creationId xmlns:a16="http://schemas.microsoft.com/office/drawing/2014/main" xmlns="" id="{7E8BF6C5-214A-419E-98C0-D4C32D1585C6}"/>
              </a:ext>
            </a:extLst>
          </p:cNvPr>
          <p:cNvSpPr txBox="1"/>
          <p:nvPr/>
        </p:nvSpPr>
        <p:spPr>
          <a:xfrm>
            <a:off x="8146634" y="3011560"/>
            <a:ext cx="182890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sz="1800" b="0" i="0" u="none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Acess</a:t>
            </a:r>
            <a:r>
              <a:rPr lang="pt-PT" sz="1800" b="0" i="0" u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pt-PT" sz="1800" b="0" i="0" u="none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Points</a:t>
            </a:r>
            <a:endParaRPr dirty="0">
              <a:latin typeface="+mn-lt"/>
            </a:endParaRPr>
          </a:p>
        </p:txBody>
      </p:sp>
      <p:sp>
        <p:nvSpPr>
          <p:cNvPr id="9" name="Google Shape;365;p8">
            <a:extLst>
              <a:ext uri="{FF2B5EF4-FFF2-40B4-BE49-F238E27FC236}">
                <a16:creationId xmlns:a16="http://schemas.microsoft.com/office/drawing/2014/main" xmlns="" id="{150DD509-899E-4C44-93C0-D4BA248D8466}"/>
              </a:ext>
            </a:extLst>
          </p:cNvPr>
          <p:cNvSpPr txBox="1"/>
          <p:nvPr/>
        </p:nvSpPr>
        <p:spPr>
          <a:xfrm>
            <a:off x="10224185" y="5351913"/>
            <a:ext cx="19086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dirty="0">
                <a:solidFill>
                  <a:schemeClr val="dk1"/>
                </a:solidFill>
                <a:latin typeface="+mn-lt"/>
                <a:cs typeface="Calibri"/>
                <a:sym typeface="Calibri"/>
              </a:rPr>
              <a:t>Tablet</a:t>
            </a:r>
            <a:endParaRPr dirty="0">
              <a:latin typeface="+mn-lt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xmlns="" id="{1EDB3E59-8792-42AF-B4E2-1F56FAEA09DD}"/>
              </a:ext>
            </a:extLst>
          </p:cNvPr>
          <p:cNvSpPr/>
          <p:nvPr/>
        </p:nvSpPr>
        <p:spPr>
          <a:xfrm>
            <a:off x="10266994" y="2804856"/>
            <a:ext cx="1353948" cy="455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en-US" kern="0" dirty="0">
                <a:solidFill>
                  <a:srgbClr val="000000"/>
                </a:solidFill>
                <a:latin typeface="+mn-lt"/>
                <a:cs typeface="Calibri"/>
                <a:sym typeface="Calibri"/>
              </a:rPr>
              <a:t>Rack </a:t>
            </a:r>
          </a:p>
        </p:txBody>
      </p:sp>
      <p:sp>
        <p:nvSpPr>
          <p:cNvPr id="18" name="Google Shape;365;p8">
            <a:extLst>
              <a:ext uri="{FF2B5EF4-FFF2-40B4-BE49-F238E27FC236}">
                <a16:creationId xmlns:a16="http://schemas.microsoft.com/office/drawing/2014/main" xmlns="" id="{B43C23B4-0E14-48D3-9483-38EFD2E12A2A}"/>
              </a:ext>
            </a:extLst>
          </p:cNvPr>
          <p:cNvSpPr txBox="1"/>
          <p:nvPr/>
        </p:nvSpPr>
        <p:spPr>
          <a:xfrm>
            <a:off x="8324199" y="5352153"/>
            <a:ext cx="17467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kern="0" dirty="0" err="1">
                <a:solidFill>
                  <a:srgbClr val="000000"/>
                </a:solidFill>
                <a:latin typeface="+mn-lt"/>
                <a:cs typeface="Calibri"/>
                <a:sym typeface="Calibri"/>
              </a:rPr>
              <a:t>computador</a:t>
            </a:r>
            <a:endParaRPr lang="en-US" kern="0" dirty="0">
              <a:solidFill>
                <a:srgbClr val="000000"/>
              </a:solidFill>
              <a:latin typeface="+mn-lt"/>
              <a:cs typeface="Calibri"/>
              <a:sym typeface="Calibri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xmlns="" id="{A6DAA568-2A33-4F3A-B966-11EED80DC7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76" t="10060" r="32896" b="47148"/>
          <a:stretch/>
        </p:blipFill>
        <p:spPr>
          <a:xfrm>
            <a:off x="8213448" y="1461148"/>
            <a:ext cx="1664990" cy="1421477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xmlns="" id="{C0EB88D7-42F9-4F5B-97C0-FFD95F897DA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88" t="14003" r="29329" b="52069"/>
          <a:stretch/>
        </p:blipFill>
        <p:spPr>
          <a:xfrm>
            <a:off x="10186523" y="1461148"/>
            <a:ext cx="1353948" cy="1448488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xmlns="" id="{AC9E6DE9-5129-485C-AEBD-BB47E52DC09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65" r="1296" b="3891"/>
          <a:stretch/>
        </p:blipFill>
        <p:spPr>
          <a:xfrm>
            <a:off x="5927097" y="3765303"/>
            <a:ext cx="2219537" cy="1566382"/>
          </a:xfrm>
          <a:prstGeom prst="rect">
            <a:avLst/>
          </a:prstGeom>
        </p:spPr>
      </p:pic>
      <p:sp>
        <p:nvSpPr>
          <p:cNvPr id="27" name="Google Shape;365;p8">
            <a:extLst>
              <a:ext uri="{FF2B5EF4-FFF2-40B4-BE49-F238E27FC236}">
                <a16:creationId xmlns:a16="http://schemas.microsoft.com/office/drawing/2014/main" xmlns="" id="{C220FE12-6DA6-4607-A5D7-AB4449CA7092}"/>
              </a:ext>
            </a:extLst>
          </p:cNvPr>
          <p:cNvSpPr txBox="1"/>
          <p:nvPr/>
        </p:nvSpPr>
        <p:spPr>
          <a:xfrm>
            <a:off x="6096000" y="5439903"/>
            <a:ext cx="17467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kern="0" dirty="0">
                <a:solidFill>
                  <a:srgbClr val="000000"/>
                </a:solidFill>
                <a:latin typeface="+mn-lt"/>
                <a:cs typeface="Calibri"/>
                <a:sym typeface="Calibri"/>
              </a:rPr>
              <a:t>Caixa forte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xmlns="" id="{98F6AE0C-D6E0-4AA9-B85D-D03493165E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4" t="26507" r="5753" b="15779"/>
          <a:stretch/>
        </p:blipFill>
        <p:spPr>
          <a:xfrm>
            <a:off x="8298945" y="3765303"/>
            <a:ext cx="1524286" cy="1566382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xmlns="" id="{D21A7EA0-085B-460D-A182-5888EEDC541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02" t="5604" r="10398" b="11885"/>
          <a:stretch/>
        </p:blipFill>
        <p:spPr>
          <a:xfrm>
            <a:off x="10186523" y="3774509"/>
            <a:ext cx="1060152" cy="1557176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xmlns="" id="{C6FCE282-BB4A-4FB1-BA00-4E3F74B6A1E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8" r="29120" b="10532"/>
          <a:stretch/>
        </p:blipFill>
        <p:spPr>
          <a:xfrm>
            <a:off x="5998349" y="1439542"/>
            <a:ext cx="1664990" cy="152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>
                <a:solidFill>
                  <a:schemeClr val="bg2"/>
                </a:solidFill>
              </a:rPr>
              <a:pPr>
                <a:defRPr/>
              </a:pPr>
              <a:t>6</a:t>
            </a:fld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xmlns="" id="{8857B027-CC23-4E26-B673-D3BD9FAA8A03}"/>
              </a:ext>
            </a:extLst>
          </p:cNvPr>
          <p:cNvSpPr txBox="1"/>
          <p:nvPr/>
        </p:nvSpPr>
        <p:spPr>
          <a:xfrm>
            <a:off x="2683412" y="241463"/>
            <a:ext cx="53671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2800" b="1" dirty="0" err="1">
                <a:solidFill>
                  <a:schemeClr val="bg2"/>
                </a:solidFill>
                <a:latin typeface="+mn-lt"/>
              </a:rPr>
              <a:t>Estrutura</a:t>
            </a:r>
            <a:r>
              <a:rPr sz="2800" b="1" dirty="0">
                <a:solidFill>
                  <a:schemeClr val="bg2"/>
                </a:solidFill>
                <a:latin typeface="+mn-lt"/>
              </a:rPr>
              <a:t> </a:t>
            </a:r>
            <a:r>
              <a:rPr sz="2800" b="1" dirty="0" err="1">
                <a:solidFill>
                  <a:schemeClr val="bg2"/>
                </a:solidFill>
                <a:latin typeface="+mn-lt"/>
              </a:rPr>
              <a:t>funcional</a:t>
            </a:r>
            <a:r>
              <a:rPr sz="2800" b="1" dirty="0">
                <a:solidFill>
                  <a:schemeClr val="bg2"/>
                </a:solidFill>
                <a:latin typeface="+mn-lt"/>
              </a:rPr>
              <a:t> do SIS-RME</a:t>
            </a:r>
          </a:p>
        </p:txBody>
      </p:sp>
      <p:sp>
        <p:nvSpPr>
          <p:cNvPr id="39" name="TextBox 3">
            <a:extLst>
              <a:ext uri="{FF2B5EF4-FFF2-40B4-BE49-F238E27FC236}">
                <a16:creationId xmlns:a16="http://schemas.microsoft.com/office/drawing/2014/main" xmlns="" id="{434BC085-9C35-426E-97E0-826A1D633791}"/>
              </a:ext>
            </a:extLst>
          </p:cNvPr>
          <p:cNvSpPr txBox="1"/>
          <p:nvPr/>
        </p:nvSpPr>
        <p:spPr>
          <a:xfrm>
            <a:off x="562655" y="875719"/>
            <a:ext cx="600677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/>
            <a:r>
              <a:rPr sz="1250" dirty="0" err="1">
                <a:solidFill>
                  <a:schemeClr val="bg2"/>
                </a:solidFill>
                <a:latin typeface="+mn-lt"/>
              </a:rPr>
              <a:t>Serviços</a:t>
            </a:r>
            <a:r>
              <a:rPr sz="1250" dirty="0">
                <a:solidFill>
                  <a:schemeClr val="bg2"/>
                </a:solidFill>
                <a:latin typeface="+mn-lt"/>
              </a:rPr>
              <a:t> </a:t>
            </a:r>
            <a:r>
              <a:rPr sz="1250" dirty="0" err="1">
                <a:solidFill>
                  <a:schemeClr val="bg2"/>
                </a:solidFill>
                <a:latin typeface="+mn-lt"/>
              </a:rPr>
              <a:t>administrativos</a:t>
            </a:r>
            <a:r>
              <a:rPr sz="1250" dirty="0">
                <a:solidFill>
                  <a:schemeClr val="bg2"/>
                </a:solidFill>
                <a:latin typeface="+mn-lt"/>
              </a:rPr>
              <a:t> e </a:t>
            </a:r>
            <a:r>
              <a:rPr sz="1250" dirty="0" err="1">
                <a:solidFill>
                  <a:schemeClr val="bg2"/>
                </a:solidFill>
                <a:latin typeface="+mn-lt"/>
              </a:rPr>
              <a:t>clínicos</a:t>
            </a:r>
            <a:r>
              <a:rPr sz="1250" dirty="0">
                <a:solidFill>
                  <a:schemeClr val="bg2"/>
                </a:solidFill>
                <a:latin typeface="+mn-lt"/>
              </a:rPr>
              <a:t> → </a:t>
            </a:r>
            <a:r>
              <a:rPr sz="1250" dirty="0" err="1">
                <a:solidFill>
                  <a:schemeClr val="bg2"/>
                </a:solidFill>
                <a:latin typeface="+mn-lt"/>
              </a:rPr>
              <a:t>Paragens</a:t>
            </a:r>
            <a:r>
              <a:rPr sz="1250" dirty="0">
                <a:solidFill>
                  <a:schemeClr val="bg2"/>
                </a:solidFill>
                <a:latin typeface="+mn-lt"/>
              </a:rPr>
              <a:t> </a:t>
            </a:r>
            <a:r>
              <a:rPr sz="1250" dirty="0" err="1">
                <a:solidFill>
                  <a:schemeClr val="bg2"/>
                </a:solidFill>
                <a:latin typeface="+mn-lt"/>
              </a:rPr>
              <a:t>Únicas</a:t>
            </a:r>
            <a:r>
              <a:rPr sz="1250" dirty="0">
                <a:solidFill>
                  <a:schemeClr val="bg2"/>
                </a:solidFill>
                <a:latin typeface="+mn-lt"/>
              </a:rPr>
              <a:t> → </a:t>
            </a:r>
            <a:r>
              <a:rPr sz="1250" dirty="0" err="1">
                <a:solidFill>
                  <a:schemeClr val="bg2"/>
                </a:solidFill>
                <a:latin typeface="+mn-lt"/>
              </a:rPr>
              <a:t>Interoperabilidade</a:t>
            </a:r>
            <a:endParaRPr sz="125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0" name="Rounded Rectangle 4">
            <a:extLst>
              <a:ext uri="{FF2B5EF4-FFF2-40B4-BE49-F238E27FC236}">
                <a16:creationId xmlns:a16="http://schemas.microsoft.com/office/drawing/2014/main" xmlns="" id="{02A02FBA-9D27-46E4-BE72-A555D52D626C}"/>
              </a:ext>
            </a:extLst>
          </p:cNvPr>
          <p:cNvSpPr/>
          <p:nvPr/>
        </p:nvSpPr>
        <p:spPr>
          <a:xfrm>
            <a:off x="594360" y="1325880"/>
            <a:ext cx="5303520" cy="3154680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>
              <a:solidFill>
                <a:schemeClr val="bg2"/>
              </a:solidFill>
            </a:endParaRPr>
          </a:p>
        </p:txBody>
      </p:sp>
      <p:sp>
        <p:nvSpPr>
          <p:cNvPr id="41" name="Rounded Rectangle 5">
            <a:extLst>
              <a:ext uri="{FF2B5EF4-FFF2-40B4-BE49-F238E27FC236}">
                <a16:creationId xmlns:a16="http://schemas.microsoft.com/office/drawing/2014/main" xmlns="" id="{E9AFC923-E2EA-4DE0-9284-7D76C91CC9BF}"/>
              </a:ext>
            </a:extLst>
          </p:cNvPr>
          <p:cNvSpPr/>
          <p:nvPr/>
        </p:nvSpPr>
        <p:spPr>
          <a:xfrm>
            <a:off x="594360" y="1325880"/>
            <a:ext cx="5303520" cy="530352"/>
          </a:xfrm>
          <a:prstGeom prst="roundRect">
            <a:avLst/>
          </a:prstGeom>
          <a:solidFill>
            <a:srgbClr val="253169"/>
          </a:solidFill>
          <a:ln w="12700">
            <a:solidFill>
              <a:srgbClr val="253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500" b="1" dirty="0">
                <a:solidFill>
                  <a:schemeClr val="tx1"/>
                </a:solidFill>
              </a:rPr>
              <a:t>SECRETARIA / ADMINISTRATIVA</a:t>
            </a:r>
          </a:p>
        </p:txBody>
      </p:sp>
      <p:sp>
        <p:nvSpPr>
          <p:cNvPr id="42" name="Rounded Rectangle 6">
            <a:extLst>
              <a:ext uri="{FF2B5EF4-FFF2-40B4-BE49-F238E27FC236}">
                <a16:creationId xmlns:a16="http://schemas.microsoft.com/office/drawing/2014/main" xmlns="" id="{E45335DC-7885-4F8E-A390-CAE484F687CE}"/>
              </a:ext>
            </a:extLst>
          </p:cNvPr>
          <p:cNvSpPr/>
          <p:nvPr/>
        </p:nvSpPr>
        <p:spPr>
          <a:xfrm>
            <a:off x="1963231" y="2180844"/>
            <a:ext cx="1100009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Médicos</a:t>
            </a:r>
          </a:p>
        </p:txBody>
      </p:sp>
      <p:sp>
        <p:nvSpPr>
          <p:cNvPr id="43" name="Rounded Rectangle 7">
            <a:extLst>
              <a:ext uri="{FF2B5EF4-FFF2-40B4-BE49-F238E27FC236}">
                <a16:creationId xmlns:a16="http://schemas.microsoft.com/office/drawing/2014/main" xmlns="" id="{E306DC65-0FB1-4C7C-AC58-93E4AC502863}"/>
              </a:ext>
            </a:extLst>
          </p:cNvPr>
          <p:cNvSpPr/>
          <p:nvPr/>
        </p:nvSpPr>
        <p:spPr>
          <a:xfrm>
            <a:off x="822960" y="3026664"/>
            <a:ext cx="1465769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TMG</a:t>
            </a:r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xmlns="" id="{68EEB2B8-1D4F-4AE8-B149-77E3CE906633}"/>
              </a:ext>
            </a:extLst>
          </p:cNvPr>
          <p:cNvSpPr/>
          <p:nvPr/>
        </p:nvSpPr>
        <p:spPr>
          <a:xfrm>
            <a:off x="3474720" y="2187531"/>
            <a:ext cx="15312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Psicólogos</a:t>
            </a:r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xmlns="" id="{5CEF737D-FF00-4CFC-B7D2-27770E42DB09}"/>
              </a:ext>
            </a:extLst>
          </p:cNvPr>
          <p:cNvSpPr/>
          <p:nvPr/>
        </p:nvSpPr>
        <p:spPr>
          <a:xfrm>
            <a:off x="4031414" y="3016906"/>
            <a:ext cx="156416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Psiquiatra</a:t>
            </a:r>
          </a:p>
        </p:txBody>
      </p:sp>
      <p:sp>
        <p:nvSpPr>
          <p:cNvPr id="46" name="Rounded Rectangle 10">
            <a:extLst>
              <a:ext uri="{FF2B5EF4-FFF2-40B4-BE49-F238E27FC236}">
                <a16:creationId xmlns:a16="http://schemas.microsoft.com/office/drawing/2014/main" xmlns="" id="{22615425-DBB8-4D78-AB46-6D01AA05DE60}"/>
              </a:ext>
            </a:extLst>
          </p:cNvPr>
          <p:cNvSpPr/>
          <p:nvPr/>
        </p:nvSpPr>
        <p:spPr>
          <a:xfrm>
            <a:off x="1487606" y="3831336"/>
            <a:ext cx="3679266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Farmácia</a:t>
            </a:r>
          </a:p>
        </p:txBody>
      </p:sp>
      <p:sp>
        <p:nvSpPr>
          <p:cNvPr id="47" name="Rounded Rectangle 11">
            <a:extLst>
              <a:ext uri="{FF2B5EF4-FFF2-40B4-BE49-F238E27FC236}">
                <a16:creationId xmlns:a16="http://schemas.microsoft.com/office/drawing/2014/main" xmlns="" id="{4FE81218-FD39-45F5-899D-8DB9A1CA9BEA}"/>
              </a:ext>
            </a:extLst>
          </p:cNvPr>
          <p:cNvSpPr/>
          <p:nvPr/>
        </p:nvSpPr>
        <p:spPr>
          <a:xfrm>
            <a:off x="6263640" y="1325880"/>
            <a:ext cx="5303520" cy="3154680"/>
          </a:xfrm>
          <a:prstGeom prst="roundRect">
            <a:avLst/>
          </a:prstGeom>
          <a:solidFill>
            <a:srgbClr val="EEF7F1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chemeClr val="bg2"/>
              </a:solidFill>
            </a:endParaRP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xmlns="" id="{F6B3B499-0CCF-4269-AC9D-17D541982CB5}"/>
              </a:ext>
            </a:extLst>
          </p:cNvPr>
          <p:cNvSpPr/>
          <p:nvPr/>
        </p:nvSpPr>
        <p:spPr>
          <a:xfrm>
            <a:off x="6263640" y="1325880"/>
            <a:ext cx="5303520" cy="530352"/>
          </a:xfrm>
          <a:prstGeom prst="roundRect">
            <a:avLst/>
          </a:prstGeom>
          <a:solidFill>
            <a:srgbClr val="3B805B"/>
          </a:solidFill>
          <a:ln w="12700">
            <a:solidFill>
              <a:srgbClr val="3B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500" b="1" dirty="0">
                <a:solidFill>
                  <a:schemeClr val="tx1"/>
                </a:solidFill>
              </a:rPr>
              <a:t>PARAGENS ÚNICAS</a:t>
            </a:r>
          </a:p>
        </p:txBody>
      </p:sp>
      <p:sp>
        <p:nvSpPr>
          <p:cNvPr id="49" name="Rounded Rectangle 13">
            <a:extLst>
              <a:ext uri="{FF2B5EF4-FFF2-40B4-BE49-F238E27FC236}">
                <a16:creationId xmlns:a16="http://schemas.microsoft.com/office/drawing/2014/main" xmlns="" id="{09C371D0-FF55-4AAC-B7ED-C2F68B4E3733}"/>
              </a:ext>
            </a:extLst>
          </p:cNvPr>
          <p:cNvSpPr/>
          <p:nvPr/>
        </p:nvSpPr>
        <p:spPr>
          <a:xfrm>
            <a:off x="6583680" y="2130552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CPN</a:t>
            </a:r>
          </a:p>
        </p:txBody>
      </p:sp>
      <p:sp>
        <p:nvSpPr>
          <p:cNvPr id="50" name="Rounded Rectangle 14">
            <a:extLst>
              <a:ext uri="{FF2B5EF4-FFF2-40B4-BE49-F238E27FC236}">
                <a16:creationId xmlns:a16="http://schemas.microsoft.com/office/drawing/2014/main" xmlns="" id="{D53DB4C0-6948-4A7F-857E-1787A4F9BD75}"/>
              </a:ext>
            </a:extLst>
          </p:cNvPr>
          <p:cNvSpPr/>
          <p:nvPr/>
        </p:nvSpPr>
        <p:spPr>
          <a:xfrm>
            <a:off x="8165592" y="2130552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PÓS-PARTO</a:t>
            </a:r>
          </a:p>
        </p:txBody>
      </p:sp>
      <p:sp>
        <p:nvSpPr>
          <p:cNvPr id="51" name="Rounded Rectangle 15">
            <a:extLst>
              <a:ext uri="{FF2B5EF4-FFF2-40B4-BE49-F238E27FC236}">
                <a16:creationId xmlns:a16="http://schemas.microsoft.com/office/drawing/2014/main" xmlns="" id="{DF89E031-8B67-428F-9F95-D1C0271F2E22}"/>
              </a:ext>
            </a:extLst>
          </p:cNvPr>
          <p:cNvSpPr/>
          <p:nvPr/>
        </p:nvSpPr>
        <p:spPr>
          <a:xfrm>
            <a:off x="9747504" y="2130552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CCR</a:t>
            </a:r>
          </a:p>
        </p:txBody>
      </p:sp>
      <p:sp>
        <p:nvSpPr>
          <p:cNvPr id="52" name="Rounded Rectangle 16">
            <a:extLst>
              <a:ext uri="{FF2B5EF4-FFF2-40B4-BE49-F238E27FC236}">
                <a16:creationId xmlns:a16="http://schemas.microsoft.com/office/drawing/2014/main" xmlns="" id="{379B7FB2-0C95-4240-82DB-F9C40AB85885}"/>
              </a:ext>
            </a:extLst>
          </p:cNvPr>
          <p:cNvSpPr/>
          <p:nvPr/>
        </p:nvSpPr>
        <p:spPr>
          <a:xfrm>
            <a:off x="6583680" y="2798064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CCD</a:t>
            </a:r>
          </a:p>
        </p:txBody>
      </p:sp>
      <p:sp>
        <p:nvSpPr>
          <p:cNvPr id="53" name="Rounded Rectangle 17">
            <a:extLst>
              <a:ext uri="{FF2B5EF4-FFF2-40B4-BE49-F238E27FC236}">
                <a16:creationId xmlns:a16="http://schemas.microsoft.com/office/drawing/2014/main" xmlns="" id="{27717B68-7CD3-4618-B430-94EC64DDFC67}"/>
              </a:ext>
            </a:extLst>
          </p:cNvPr>
          <p:cNvSpPr/>
          <p:nvPr/>
        </p:nvSpPr>
        <p:spPr>
          <a:xfrm>
            <a:off x="8165592" y="2798064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CCS</a:t>
            </a:r>
          </a:p>
        </p:txBody>
      </p:sp>
      <p:sp>
        <p:nvSpPr>
          <p:cNvPr id="54" name="Rounded Rectangle 18">
            <a:extLst>
              <a:ext uri="{FF2B5EF4-FFF2-40B4-BE49-F238E27FC236}">
                <a16:creationId xmlns:a16="http://schemas.microsoft.com/office/drawing/2014/main" xmlns="" id="{5FC28463-9470-427E-93B5-EF35F9167B3D}"/>
              </a:ext>
            </a:extLst>
          </p:cNvPr>
          <p:cNvSpPr/>
          <p:nvPr/>
        </p:nvSpPr>
        <p:spPr>
          <a:xfrm>
            <a:off x="9747504" y="2798064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PAV</a:t>
            </a:r>
          </a:p>
        </p:txBody>
      </p:sp>
      <p:sp>
        <p:nvSpPr>
          <p:cNvPr id="55" name="Rounded Rectangle 19">
            <a:extLst>
              <a:ext uri="{FF2B5EF4-FFF2-40B4-BE49-F238E27FC236}">
                <a16:creationId xmlns:a16="http://schemas.microsoft.com/office/drawing/2014/main" xmlns="" id="{8FC7AE80-4DF2-4F39-9C13-7CEDB8095DB9}"/>
              </a:ext>
            </a:extLst>
          </p:cNvPr>
          <p:cNvSpPr/>
          <p:nvPr/>
        </p:nvSpPr>
        <p:spPr>
          <a:xfrm>
            <a:off x="6583680" y="3465576"/>
            <a:ext cx="1417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150" b="1">
                <a:solidFill>
                  <a:schemeClr val="bg2"/>
                </a:solidFill>
              </a:rPr>
              <a:t>PNCT</a:t>
            </a:r>
          </a:p>
        </p:txBody>
      </p:sp>
      <p:sp>
        <p:nvSpPr>
          <p:cNvPr id="57" name="Down Arrow 21">
            <a:extLst>
              <a:ext uri="{FF2B5EF4-FFF2-40B4-BE49-F238E27FC236}">
                <a16:creationId xmlns:a16="http://schemas.microsoft.com/office/drawing/2014/main" xmlns="" id="{279C61CE-9FC4-42E6-B37D-CA6D8800C82B}"/>
              </a:ext>
            </a:extLst>
          </p:cNvPr>
          <p:cNvSpPr/>
          <p:nvPr/>
        </p:nvSpPr>
        <p:spPr>
          <a:xfrm>
            <a:off x="3063240" y="4434840"/>
            <a:ext cx="411480" cy="411480"/>
          </a:xfrm>
          <a:prstGeom prst="downArrow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chemeClr val="bg2"/>
              </a:solidFill>
            </a:endParaRPr>
          </a:p>
        </p:txBody>
      </p:sp>
      <p:sp>
        <p:nvSpPr>
          <p:cNvPr id="58" name="Down Arrow 22">
            <a:extLst>
              <a:ext uri="{FF2B5EF4-FFF2-40B4-BE49-F238E27FC236}">
                <a16:creationId xmlns:a16="http://schemas.microsoft.com/office/drawing/2014/main" xmlns="" id="{56843BD6-A2D9-4DDD-BF49-71837F8B7CEE}"/>
              </a:ext>
            </a:extLst>
          </p:cNvPr>
          <p:cNvSpPr/>
          <p:nvPr/>
        </p:nvSpPr>
        <p:spPr>
          <a:xfrm>
            <a:off x="8823960" y="4434840"/>
            <a:ext cx="411480" cy="411480"/>
          </a:xfrm>
          <a:prstGeom prst="downArrow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chemeClr val="bg2"/>
              </a:solidFill>
            </a:endParaRPr>
          </a:p>
        </p:txBody>
      </p:sp>
      <p:sp>
        <p:nvSpPr>
          <p:cNvPr id="59" name="Rounded Rectangle 23">
            <a:extLst>
              <a:ext uri="{FF2B5EF4-FFF2-40B4-BE49-F238E27FC236}">
                <a16:creationId xmlns:a16="http://schemas.microsoft.com/office/drawing/2014/main" xmlns="" id="{F0450FA6-0157-45C8-9718-C60825F6EC7C}"/>
              </a:ext>
            </a:extLst>
          </p:cNvPr>
          <p:cNvSpPr/>
          <p:nvPr/>
        </p:nvSpPr>
        <p:spPr>
          <a:xfrm>
            <a:off x="594360" y="4892040"/>
            <a:ext cx="10972800" cy="713232"/>
          </a:xfrm>
          <a:prstGeom prst="roundRect">
            <a:avLst/>
          </a:prstGeom>
          <a:solidFill>
            <a:srgbClr val="FFF9E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600" b="1" dirty="0">
                <a:solidFill>
                  <a:schemeClr val="bg2"/>
                </a:solidFill>
              </a:rPr>
              <a:t>INTEROPERABILIDADE</a:t>
            </a:r>
            <a:r>
              <a:rPr lang="pt-BR" sz="1600" b="1" dirty="0">
                <a:solidFill>
                  <a:schemeClr val="bg2"/>
                </a:solidFill>
              </a:rPr>
              <a:t>  + RESUMO</a:t>
            </a:r>
            <a:endParaRPr sz="1600" b="1" dirty="0">
              <a:solidFill>
                <a:schemeClr val="bg2"/>
              </a:solidFill>
            </a:endParaRPr>
          </a:p>
        </p:txBody>
      </p:sp>
      <p:sp>
        <p:nvSpPr>
          <p:cNvPr id="60" name="TextBox 24">
            <a:extLst>
              <a:ext uri="{FF2B5EF4-FFF2-40B4-BE49-F238E27FC236}">
                <a16:creationId xmlns:a16="http://schemas.microsoft.com/office/drawing/2014/main" xmlns="" id="{FC15705D-0CF7-41CD-8F0B-0E47657FCE1F}"/>
              </a:ext>
            </a:extLst>
          </p:cNvPr>
          <p:cNvSpPr txBox="1"/>
          <p:nvPr/>
        </p:nvSpPr>
        <p:spPr>
          <a:xfrm>
            <a:off x="3576709" y="5596128"/>
            <a:ext cx="500810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100">
                <a:solidFill>
                  <a:schemeClr val="bg2"/>
                </a:solidFill>
                <a:latin typeface="+mn-lt"/>
              </a:rPr>
              <a:t>Integração de dados  •  MPI  •  NUIS / NIDs  •  Sincronização com SESP</a:t>
            </a:r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xmlns="" id="{86AD5863-B023-4247-AEA6-72C9B7F68729}"/>
              </a:ext>
            </a:extLst>
          </p:cNvPr>
          <p:cNvSpPr/>
          <p:nvPr/>
        </p:nvSpPr>
        <p:spPr>
          <a:xfrm>
            <a:off x="594360" y="5925312"/>
            <a:ext cx="10972800" cy="566928"/>
          </a:xfrm>
          <a:prstGeom prst="roundRect">
            <a:avLst/>
          </a:prstGeom>
          <a:solidFill>
            <a:srgbClr val="253169"/>
          </a:solidFill>
          <a:ln w="12700">
            <a:solidFill>
              <a:srgbClr val="253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sz="1300" b="1" dirty="0">
                <a:solidFill>
                  <a:schemeClr val="tx1"/>
                </a:solidFill>
              </a:rPr>
              <a:t>RESUMO  |  </a:t>
            </a:r>
            <a:r>
              <a:rPr sz="1300" b="1" dirty="0" err="1">
                <a:solidFill>
                  <a:schemeClr val="tx1"/>
                </a:solidFill>
              </a:rPr>
              <a:t>Secretaria</a:t>
            </a:r>
            <a:r>
              <a:rPr sz="1300" b="1" dirty="0">
                <a:solidFill>
                  <a:schemeClr val="tx1"/>
                </a:solidFill>
              </a:rPr>
              <a:t> / </a:t>
            </a:r>
            <a:r>
              <a:rPr sz="1300" b="1" dirty="0" err="1">
                <a:solidFill>
                  <a:schemeClr val="tx1"/>
                </a:solidFill>
              </a:rPr>
              <a:t>Administrativa</a:t>
            </a:r>
            <a:r>
              <a:rPr sz="1300" b="1" dirty="0">
                <a:solidFill>
                  <a:schemeClr val="tx1"/>
                </a:solidFill>
              </a:rPr>
              <a:t> + </a:t>
            </a:r>
            <a:r>
              <a:rPr sz="1300" b="1" dirty="0" err="1">
                <a:solidFill>
                  <a:schemeClr val="tx1"/>
                </a:solidFill>
              </a:rPr>
              <a:t>Paragens</a:t>
            </a:r>
            <a:r>
              <a:rPr sz="1300" b="1" dirty="0">
                <a:solidFill>
                  <a:schemeClr val="tx1"/>
                </a:solidFill>
              </a:rPr>
              <a:t> </a:t>
            </a:r>
            <a:r>
              <a:rPr sz="1300" b="1" dirty="0" err="1">
                <a:solidFill>
                  <a:schemeClr val="tx1"/>
                </a:solidFill>
              </a:rPr>
              <a:t>Únicas</a:t>
            </a:r>
            <a:r>
              <a:rPr sz="1300" b="1" dirty="0">
                <a:solidFill>
                  <a:schemeClr val="tx1"/>
                </a:solidFill>
              </a:rPr>
              <a:t> → </a:t>
            </a:r>
            <a:r>
              <a:rPr sz="1300" b="1" dirty="0" err="1">
                <a:solidFill>
                  <a:schemeClr val="tx1"/>
                </a:solidFill>
              </a:rPr>
              <a:t>Interoperabilidade</a:t>
            </a:r>
            <a:endParaRPr sz="1300" b="1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27">
            <a:extLst>
              <a:ext uri="{FF2B5EF4-FFF2-40B4-BE49-F238E27FC236}">
                <a16:creationId xmlns:a16="http://schemas.microsoft.com/office/drawing/2014/main" xmlns="" id="{71CCF19F-E916-4306-AA18-C45C32435D62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1555844" y="1865376"/>
            <a:ext cx="1" cy="1161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28">
            <a:extLst>
              <a:ext uri="{FF2B5EF4-FFF2-40B4-BE49-F238E27FC236}">
                <a16:creationId xmlns:a16="http://schemas.microsoft.com/office/drawing/2014/main" xmlns="" id="{50123418-A88A-4EE8-8790-2B8274EC1220}"/>
              </a:ext>
            </a:extLst>
          </p:cNvPr>
          <p:cNvCxnSpPr/>
          <p:nvPr/>
        </p:nvCxnSpPr>
        <p:spPr>
          <a:xfrm>
            <a:off x="5088295" y="1872951"/>
            <a:ext cx="1" cy="1161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29">
            <a:extLst>
              <a:ext uri="{FF2B5EF4-FFF2-40B4-BE49-F238E27FC236}">
                <a16:creationId xmlns:a16="http://schemas.microsoft.com/office/drawing/2014/main" xmlns="" id="{FB741A9B-A856-48B9-A834-4254E6154AFB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2509414" y="1854936"/>
            <a:ext cx="3822" cy="325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34">
            <a:extLst>
              <a:ext uri="{FF2B5EF4-FFF2-40B4-BE49-F238E27FC236}">
                <a16:creationId xmlns:a16="http://schemas.microsoft.com/office/drawing/2014/main" xmlns="" id="{C98B758F-86C3-4224-9C8C-2D15950BCD7C}"/>
              </a:ext>
            </a:extLst>
          </p:cNvPr>
          <p:cNvCxnSpPr/>
          <p:nvPr/>
        </p:nvCxnSpPr>
        <p:spPr>
          <a:xfrm>
            <a:off x="4240360" y="1872951"/>
            <a:ext cx="3822" cy="325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35">
            <a:extLst>
              <a:ext uri="{FF2B5EF4-FFF2-40B4-BE49-F238E27FC236}">
                <a16:creationId xmlns:a16="http://schemas.microsoft.com/office/drawing/2014/main" xmlns="" id="{D1DD82A4-BC69-4CD9-9411-D18195C13ABA}"/>
              </a:ext>
            </a:extLst>
          </p:cNvPr>
          <p:cNvCxnSpPr>
            <a:cxnSpLocks/>
          </p:cNvCxnSpPr>
          <p:nvPr/>
        </p:nvCxnSpPr>
        <p:spPr>
          <a:xfrm flipH="1">
            <a:off x="1954702" y="3391810"/>
            <a:ext cx="8529" cy="432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39">
            <a:extLst>
              <a:ext uri="{FF2B5EF4-FFF2-40B4-BE49-F238E27FC236}">
                <a16:creationId xmlns:a16="http://schemas.microsoft.com/office/drawing/2014/main" xmlns="" id="{BC27D4AE-5B05-46A2-A348-71CD1CFB2086}"/>
              </a:ext>
            </a:extLst>
          </p:cNvPr>
          <p:cNvCxnSpPr/>
          <p:nvPr/>
        </p:nvCxnSpPr>
        <p:spPr>
          <a:xfrm flipH="1">
            <a:off x="2601265" y="2548242"/>
            <a:ext cx="17059" cy="1286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41">
            <a:extLst>
              <a:ext uri="{FF2B5EF4-FFF2-40B4-BE49-F238E27FC236}">
                <a16:creationId xmlns:a16="http://schemas.microsoft.com/office/drawing/2014/main" xmlns="" id="{A9F90F00-385F-475D-9371-9B9C8B7FFAB4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4813498" y="3364378"/>
            <a:ext cx="0" cy="469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43">
            <a:extLst>
              <a:ext uri="{FF2B5EF4-FFF2-40B4-BE49-F238E27FC236}">
                <a16:creationId xmlns:a16="http://schemas.microsoft.com/office/drawing/2014/main" xmlns="" id="{97364821-C4EC-4223-B91D-409ED8203893}"/>
              </a:ext>
            </a:extLst>
          </p:cNvPr>
          <p:cNvCxnSpPr/>
          <p:nvPr/>
        </p:nvCxnSpPr>
        <p:spPr>
          <a:xfrm>
            <a:off x="3810454" y="2548242"/>
            <a:ext cx="0" cy="1310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6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09F61-7516-D6FF-0B58-876EAC067054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kumimoji="0" lang="pt-PT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Calibri"/>
              </a:rPr>
              <a:t>Perfis dos utilizadores</a:t>
            </a:r>
            <a:endParaRPr lang="pt-BR" sz="2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888A5FF-5147-442E-8754-753A40094E2D}"/>
              </a:ext>
            </a:extLst>
          </p:cNvPr>
          <p:cNvSpPr txBox="1">
            <a:spLocks/>
          </p:cNvSpPr>
          <p:nvPr/>
        </p:nvSpPr>
        <p:spPr>
          <a:xfrm>
            <a:off x="838199" y="1355398"/>
            <a:ext cx="6023645" cy="5479186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857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0"/>
              </a:spcBef>
              <a:buClr>
                <a:srgbClr val="000000"/>
              </a:buClr>
              <a:buSzPts val="2400"/>
              <a:buFont typeface="Wingdings 3" panose="05040102010807070707" pitchFamily="18" charset="2"/>
              <a:buNone/>
            </a:pPr>
            <a:r>
              <a:rPr lang="pt-PT" sz="7200" kern="0" dirty="0">
                <a:solidFill>
                  <a:schemeClr val="bg2"/>
                </a:solidFill>
                <a:ea typeface="Calibri"/>
                <a:cs typeface="Calibri"/>
                <a:sym typeface="Calibri"/>
              </a:rPr>
              <a:t>Diferentes profissionais podem ter diferentes níveis de acesso, dependendo das suas funções. </a:t>
            </a:r>
          </a:p>
          <a:p>
            <a:pPr marL="0" indent="0" eaLnBrk="1" hangingPunct="1">
              <a:spcBef>
                <a:spcPts val="0"/>
              </a:spcBef>
              <a:buClr>
                <a:srgbClr val="000000"/>
              </a:buClr>
              <a:buSzPts val="2400"/>
              <a:buFont typeface="Wingdings 3" panose="05040102010807070707" pitchFamily="18" charset="2"/>
              <a:buNone/>
            </a:pPr>
            <a:endParaRPr lang="pt-PT" sz="11200" kern="0" dirty="0">
              <a:solidFill>
                <a:schemeClr val="bg2"/>
              </a:solidFill>
              <a:ea typeface="Calibri"/>
              <a:cs typeface="Calibri"/>
              <a:sym typeface="Calibri"/>
            </a:endParaRPr>
          </a:p>
          <a:p>
            <a:pPr marL="0" indent="0" eaLnBrk="1" hangingPunct="1">
              <a:spcBef>
                <a:spcPts val="0"/>
              </a:spcBef>
              <a:buClr>
                <a:srgbClr val="000000"/>
              </a:buClr>
              <a:buSzPts val="2400"/>
              <a:buFont typeface="Wingdings 3" panose="05040102010807070707" pitchFamily="18" charset="2"/>
              <a:buNone/>
            </a:pPr>
            <a:r>
              <a:rPr lang="pt-PT" sz="7200" kern="0" dirty="0">
                <a:solidFill>
                  <a:schemeClr val="bg2"/>
                </a:solidFill>
                <a:ea typeface="Calibri"/>
                <a:cs typeface="Calibri"/>
                <a:sym typeface="Calibri"/>
              </a:rPr>
              <a:t>Os perfis são atribuídos de acordo com a função:</a:t>
            </a:r>
            <a:endParaRPr lang="pt-PT" sz="7200" kern="0" dirty="0">
              <a:solidFill>
                <a:schemeClr val="bg2"/>
              </a:solidFill>
              <a:cs typeface="Arial"/>
              <a:sym typeface="Arial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r>
              <a:rPr lang="pt-PT" sz="7200" kern="0" dirty="0">
                <a:solidFill>
                  <a:schemeClr val="bg2"/>
                </a:solidFill>
                <a:ea typeface="Calibri"/>
                <a:cs typeface="Calibri"/>
                <a:sym typeface="Calibri"/>
              </a:rPr>
              <a:t>     Administrativo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r>
              <a:rPr lang="pt-PT" sz="7200" kern="0" dirty="0">
                <a:solidFill>
                  <a:schemeClr val="bg2"/>
                </a:solidFill>
                <a:ea typeface="Calibri"/>
                <a:cs typeface="Calibri"/>
                <a:sym typeface="Calibri"/>
              </a:rPr>
              <a:t>     Médico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r>
              <a:rPr lang="en-US" sz="7200" kern="0" dirty="0">
                <a:solidFill>
                  <a:schemeClr val="bg2"/>
                </a:solidFill>
                <a:cs typeface="Calibri"/>
                <a:sym typeface="Calibri"/>
              </a:rPr>
              <a:t>     TMG</a:t>
            </a:r>
            <a:endParaRPr lang="pt-PT" sz="7200" kern="0" dirty="0">
              <a:solidFill>
                <a:schemeClr val="bg2"/>
              </a:solidFill>
              <a:cs typeface="Arial"/>
              <a:sym typeface="Arial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r>
              <a:rPr lang="pt-PT" sz="7200" kern="0" dirty="0">
                <a:solidFill>
                  <a:schemeClr val="bg2"/>
                </a:solidFill>
                <a:ea typeface="Calibri"/>
                <a:cs typeface="Calibri"/>
                <a:sym typeface="Calibri"/>
              </a:rPr>
              <a:t>     Enfermeiro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r>
              <a:rPr lang="en-US" sz="7200" kern="0" dirty="0">
                <a:solidFill>
                  <a:schemeClr val="bg2"/>
                </a:solidFill>
                <a:cs typeface="Calibri"/>
                <a:sym typeface="Calibri"/>
              </a:rPr>
              <a:t>     </a:t>
            </a:r>
            <a:r>
              <a:rPr lang="en-US" sz="7200" kern="0" dirty="0" err="1">
                <a:solidFill>
                  <a:schemeClr val="bg2"/>
                </a:solidFill>
                <a:cs typeface="Calibri"/>
                <a:sym typeface="Calibri"/>
              </a:rPr>
              <a:t>Psicólogos</a:t>
            </a:r>
            <a:endParaRPr lang="en-US" sz="7200" kern="0" dirty="0">
              <a:solidFill>
                <a:schemeClr val="bg2"/>
              </a:solidFill>
              <a:cs typeface="Calibri"/>
              <a:sym typeface="Calibri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r>
              <a:rPr lang="en-US" sz="7200" kern="0" dirty="0">
                <a:solidFill>
                  <a:schemeClr val="bg2"/>
                </a:solidFill>
                <a:cs typeface="Calibri"/>
                <a:sym typeface="Calibri"/>
              </a:rPr>
              <a:t>     </a:t>
            </a:r>
            <a:r>
              <a:rPr lang="en-US" sz="7200" kern="0" dirty="0" err="1">
                <a:solidFill>
                  <a:schemeClr val="bg2"/>
                </a:solidFill>
                <a:cs typeface="Calibri"/>
                <a:sym typeface="Calibri"/>
              </a:rPr>
              <a:t>Nutricionistas</a:t>
            </a:r>
            <a:endParaRPr lang="en-US" sz="7200" kern="0" dirty="0">
              <a:solidFill>
                <a:schemeClr val="bg2"/>
              </a:solidFill>
              <a:cs typeface="Calibri"/>
              <a:sym typeface="Calibri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r>
              <a:rPr lang="en-US" sz="7200" kern="0" dirty="0">
                <a:solidFill>
                  <a:schemeClr val="bg2"/>
                </a:solidFill>
                <a:cs typeface="Calibri"/>
                <a:sym typeface="Calibri"/>
              </a:rPr>
              <a:t>     </a:t>
            </a:r>
            <a:r>
              <a:rPr lang="en-US" sz="7200" kern="0" dirty="0" err="1">
                <a:solidFill>
                  <a:schemeClr val="bg2"/>
                </a:solidFill>
                <a:cs typeface="Calibri"/>
                <a:sym typeface="Calibri"/>
              </a:rPr>
              <a:t>Técnicos</a:t>
            </a:r>
            <a:r>
              <a:rPr lang="en-US" sz="7200" kern="0" dirty="0">
                <a:solidFill>
                  <a:schemeClr val="bg2"/>
                </a:solidFill>
                <a:cs typeface="Calibri"/>
                <a:sym typeface="Calibri"/>
              </a:rPr>
              <a:t> de </a:t>
            </a:r>
            <a:r>
              <a:rPr lang="en-US" sz="7200" kern="0" dirty="0" err="1">
                <a:solidFill>
                  <a:schemeClr val="bg2"/>
                </a:solidFill>
                <a:cs typeface="Calibri"/>
                <a:sym typeface="Calibri"/>
              </a:rPr>
              <a:t>medicina</a:t>
            </a:r>
            <a:r>
              <a:rPr lang="en-US" sz="7200" kern="0" dirty="0">
                <a:solidFill>
                  <a:schemeClr val="bg2"/>
                </a:solidFill>
                <a:cs typeface="Calibri"/>
                <a:sym typeface="Calibri"/>
              </a:rPr>
              <a:t> </a:t>
            </a:r>
            <a:r>
              <a:rPr lang="en-US" sz="7200" kern="0" dirty="0" err="1">
                <a:solidFill>
                  <a:schemeClr val="bg2"/>
                </a:solidFill>
                <a:cs typeface="Calibri"/>
                <a:sym typeface="Calibri"/>
              </a:rPr>
              <a:t>preventiva</a:t>
            </a:r>
            <a:endParaRPr lang="en-US" sz="7200" kern="0" dirty="0">
              <a:solidFill>
                <a:schemeClr val="bg2"/>
              </a:solidFill>
              <a:cs typeface="Calibri"/>
              <a:sym typeface="Calibri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r>
              <a:rPr lang="en-US" sz="7200" kern="0" dirty="0">
                <a:solidFill>
                  <a:schemeClr val="bg2"/>
                </a:solidFill>
                <a:cs typeface="Calibri"/>
                <a:sym typeface="Calibri"/>
              </a:rPr>
              <a:t>     ESMI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r>
              <a:rPr lang="en-US" sz="7200" kern="0" dirty="0">
                <a:solidFill>
                  <a:schemeClr val="bg2"/>
                </a:solidFill>
                <a:cs typeface="Calibri"/>
                <a:sym typeface="Calibri"/>
              </a:rPr>
              <a:t>     </a:t>
            </a:r>
            <a:r>
              <a:rPr lang="en-US" sz="7200" kern="0" dirty="0" err="1">
                <a:solidFill>
                  <a:schemeClr val="bg2"/>
                </a:solidFill>
                <a:cs typeface="Calibri"/>
                <a:sym typeface="Calibri"/>
              </a:rPr>
              <a:t>Farmácia</a:t>
            </a:r>
            <a:endParaRPr lang="pt-PT" sz="7200" kern="0" dirty="0">
              <a:solidFill>
                <a:schemeClr val="bg2"/>
              </a:solidFill>
              <a:cs typeface="Arial"/>
              <a:sym typeface="Arial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Noto Sans Symbols"/>
              <a:buChar char="❖"/>
            </a:pPr>
            <a:endParaRPr lang="pt-PT" sz="1800" kern="0" dirty="0">
              <a:solidFill>
                <a:schemeClr val="bg2"/>
              </a:solidFill>
              <a:latin typeface="Arial"/>
              <a:cs typeface="Arial"/>
              <a:sym typeface="Arial"/>
            </a:endParaRPr>
          </a:p>
          <a:p>
            <a:pPr marL="0" indent="0" eaLnBrk="1" hangingPunct="1">
              <a:spcBef>
                <a:spcPts val="0"/>
              </a:spcBef>
              <a:buClr>
                <a:srgbClr val="000000"/>
              </a:buClr>
              <a:buSzPts val="2400"/>
              <a:buFont typeface="Wingdings 3" panose="05040102010807070707" pitchFamily="18" charset="2"/>
              <a:buNone/>
            </a:pPr>
            <a:endParaRPr lang="pt-PT" sz="2400" kern="0" dirty="0">
              <a:solidFill>
                <a:srgbClr val="000000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62;p8">
            <a:extLst>
              <a:ext uri="{FF2B5EF4-FFF2-40B4-BE49-F238E27FC236}">
                <a16:creationId xmlns:a16="http://schemas.microsoft.com/office/drawing/2014/main" xmlns="" id="{19AC4144-DBCC-4B49-BFB3-DD583F8617B9}"/>
              </a:ext>
            </a:extLst>
          </p:cNvPr>
          <p:cNvSpPr txBox="1"/>
          <p:nvPr/>
        </p:nvSpPr>
        <p:spPr>
          <a:xfrm>
            <a:off x="6876379" y="2997725"/>
            <a:ext cx="110945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sz="1800" b="0" i="0" u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Médico</a:t>
            </a:r>
            <a:endParaRPr dirty="0">
              <a:latin typeface="+mn-lt"/>
            </a:endParaRPr>
          </a:p>
        </p:txBody>
      </p:sp>
      <p:sp>
        <p:nvSpPr>
          <p:cNvPr id="8" name="Google Shape;364;p8">
            <a:extLst>
              <a:ext uri="{FF2B5EF4-FFF2-40B4-BE49-F238E27FC236}">
                <a16:creationId xmlns:a16="http://schemas.microsoft.com/office/drawing/2014/main" xmlns="" id="{7E8BF6C5-214A-419E-98C0-D4C32D1585C6}"/>
              </a:ext>
            </a:extLst>
          </p:cNvPr>
          <p:cNvSpPr txBox="1"/>
          <p:nvPr/>
        </p:nvSpPr>
        <p:spPr>
          <a:xfrm>
            <a:off x="8146634" y="3011560"/>
            <a:ext cx="182890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sz="1800" b="0" i="0" u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Administrativo</a:t>
            </a:r>
            <a:endParaRPr dirty="0">
              <a:latin typeface="+mn-lt"/>
            </a:endParaRPr>
          </a:p>
        </p:txBody>
      </p:sp>
      <p:sp>
        <p:nvSpPr>
          <p:cNvPr id="9" name="Google Shape;365;p8">
            <a:extLst>
              <a:ext uri="{FF2B5EF4-FFF2-40B4-BE49-F238E27FC236}">
                <a16:creationId xmlns:a16="http://schemas.microsoft.com/office/drawing/2014/main" xmlns="" id="{150DD509-899E-4C44-93C0-D4BA248D8466}"/>
              </a:ext>
            </a:extLst>
          </p:cNvPr>
          <p:cNvSpPr txBox="1"/>
          <p:nvPr/>
        </p:nvSpPr>
        <p:spPr>
          <a:xfrm>
            <a:off x="10224185" y="5351913"/>
            <a:ext cx="19086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Farmácia</a:t>
            </a:r>
            <a:endParaRPr dirty="0">
              <a:latin typeface="+mn-lt"/>
            </a:endParaRPr>
          </a:p>
        </p:txBody>
      </p:sp>
      <p:sp>
        <p:nvSpPr>
          <p:cNvPr id="10" name="Google Shape;365;p8">
            <a:extLst>
              <a:ext uri="{FF2B5EF4-FFF2-40B4-BE49-F238E27FC236}">
                <a16:creationId xmlns:a16="http://schemas.microsoft.com/office/drawing/2014/main" xmlns="" id="{A4314D2A-A3A3-4210-9AB8-4535783E8041}"/>
              </a:ext>
            </a:extLst>
          </p:cNvPr>
          <p:cNvSpPr txBox="1"/>
          <p:nvPr/>
        </p:nvSpPr>
        <p:spPr>
          <a:xfrm>
            <a:off x="6876379" y="5395553"/>
            <a:ext cx="19086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PT" sz="1800" b="0" i="0" u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Enfermeiro</a:t>
            </a:r>
            <a:endParaRPr dirty="0">
              <a:latin typeface="+mn-lt"/>
            </a:endParaRPr>
          </a:p>
        </p:txBody>
      </p:sp>
      <p:pic>
        <p:nvPicPr>
          <p:cNvPr id="11" name="Picture 16">
            <a:extLst>
              <a:ext uri="{FF2B5EF4-FFF2-40B4-BE49-F238E27FC236}">
                <a16:creationId xmlns:a16="http://schemas.microsoft.com/office/drawing/2014/main" xmlns="" id="{8092EDE0-7D77-4608-B8B5-7C67A4037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384" y="3522534"/>
            <a:ext cx="1558550" cy="1566382"/>
          </a:xfrm>
          <a:prstGeom prst="rect">
            <a:avLst/>
          </a:prstGeom>
        </p:spPr>
      </p:pic>
      <p:pic>
        <p:nvPicPr>
          <p:cNvPr id="12" name="Content Placeholder 19">
            <a:extLst>
              <a:ext uri="{FF2B5EF4-FFF2-40B4-BE49-F238E27FC236}">
                <a16:creationId xmlns:a16="http://schemas.microsoft.com/office/drawing/2014/main" xmlns="" id="{21DB0E12-8D82-488C-8BD2-876D51690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475" y="1514136"/>
            <a:ext cx="1463308" cy="1463308"/>
          </a:xfrm>
          <a:prstGeom prst="rect">
            <a:avLst/>
          </a:prstGeom>
        </p:spPr>
      </p:pic>
      <p:pic>
        <p:nvPicPr>
          <p:cNvPr id="13" name="Picture 20">
            <a:extLst>
              <a:ext uri="{FF2B5EF4-FFF2-40B4-BE49-F238E27FC236}">
                <a16:creationId xmlns:a16="http://schemas.microsoft.com/office/drawing/2014/main" xmlns="" id="{89FAD3C3-04F5-4A8D-8BF1-880F54B439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551" y="1565402"/>
            <a:ext cx="1141273" cy="1360776"/>
          </a:xfrm>
          <a:prstGeom prst="rect">
            <a:avLst/>
          </a:prstGeom>
        </p:spPr>
      </p:pic>
      <p:pic>
        <p:nvPicPr>
          <p:cNvPr id="14" name="Picture 21">
            <a:extLst>
              <a:ext uri="{FF2B5EF4-FFF2-40B4-BE49-F238E27FC236}">
                <a16:creationId xmlns:a16="http://schemas.microsoft.com/office/drawing/2014/main" xmlns="" id="{494BE20D-A37D-46B2-A14C-F17178E95F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157" y="3692466"/>
            <a:ext cx="1421477" cy="1421477"/>
          </a:xfrm>
          <a:prstGeom prst="rect">
            <a:avLst/>
          </a:prstGeom>
        </p:spPr>
      </p:pic>
      <p:pic>
        <p:nvPicPr>
          <p:cNvPr id="15" name="Picture 22">
            <a:extLst>
              <a:ext uri="{FF2B5EF4-FFF2-40B4-BE49-F238E27FC236}">
                <a16:creationId xmlns:a16="http://schemas.microsoft.com/office/drawing/2014/main" xmlns="" id="{3C2BA3C3-0C7E-4173-AC0D-F23B628E92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901" y="1355398"/>
            <a:ext cx="1579507" cy="1570780"/>
          </a:xfrm>
          <a:prstGeom prst="rect">
            <a:avLst/>
          </a:prstGeom>
        </p:spPr>
      </p:pic>
      <p:sp>
        <p:nvSpPr>
          <p:cNvPr id="16" name="Rectangle 23">
            <a:extLst>
              <a:ext uri="{FF2B5EF4-FFF2-40B4-BE49-F238E27FC236}">
                <a16:creationId xmlns:a16="http://schemas.microsoft.com/office/drawing/2014/main" xmlns="" id="{1EDB3E59-8792-42AF-B4E2-1F56FAEA09DD}"/>
              </a:ext>
            </a:extLst>
          </p:cNvPr>
          <p:cNvSpPr/>
          <p:nvPr/>
        </p:nvSpPr>
        <p:spPr>
          <a:xfrm>
            <a:off x="10266994" y="2804856"/>
            <a:ext cx="1353948" cy="455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en-US" kern="0" dirty="0" err="1">
                <a:solidFill>
                  <a:srgbClr val="000000"/>
                </a:solidFill>
                <a:latin typeface="+mn-lt"/>
                <a:cs typeface="Calibri"/>
                <a:sym typeface="Calibri"/>
              </a:rPr>
              <a:t>Psicólogo</a:t>
            </a:r>
            <a:endParaRPr lang="en-US" kern="0" dirty="0">
              <a:solidFill>
                <a:srgbClr val="000000"/>
              </a:solidFill>
              <a:latin typeface="+mn-lt"/>
              <a:cs typeface="Calibri"/>
              <a:sym typeface="Calibri"/>
            </a:endParaRPr>
          </a:p>
        </p:txBody>
      </p:sp>
      <p:pic>
        <p:nvPicPr>
          <p:cNvPr id="17" name="Picture 24">
            <a:extLst>
              <a:ext uri="{FF2B5EF4-FFF2-40B4-BE49-F238E27FC236}">
                <a16:creationId xmlns:a16="http://schemas.microsoft.com/office/drawing/2014/main" xmlns="" id="{ACE94058-F6E9-412A-94D7-3B6379EF37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476" y="3279751"/>
            <a:ext cx="2135473" cy="2135473"/>
          </a:xfrm>
          <a:prstGeom prst="rect">
            <a:avLst/>
          </a:prstGeom>
        </p:spPr>
      </p:pic>
      <p:sp>
        <p:nvSpPr>
          <p:cNvPr id="18" name="Google Shape;365;p8">
            <a:extLst>
              <a:ext uri="{FF2B5EF4-FFF2-40B4-BE49-F238E27FC236}">
                <a16:creationId xmlns:a16="http://schemas.microsoft.com/office/drawing/2014/main" xmlns="" id="{B43C23B4-0E14-48D3-9483-38EFD2E12A2A}"/>
              </a:ext>
            </a:extLst>
          </p:cNvPr>
          <p:cNvSpPr txBox="1"/>
          <p:nvPr/>
        </p:nvSpPr>
        <p:spPr>
          <a:xfrm>
            <a:off x="8324199" y="5352153"/>
            <a:ext cx="17467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kern="0" dirty="0" err="1">
                <a:solidFill>
                  <a:srgbClr val="000000"/>
                </a:solidFill>
                <a:latin typeface="+mn-lt"/>
                <a:cs typeface="Calibri"/>
                <a:sym typeface="Calibri"/>
              </a:rPr>
              <a:t>Nutricionista</a:t>
            </a:r>
            <a:endParaRPr lang="en-US" kern="0" dirty="0">
              <a:solidFill>
                <a:srgbClr val="000000"/>
              </a:solidFill>
              <a:latin typeface="+mn-lt"/>
              <a:cs typeface="Calibri"/>
              <a:sym typeface="Calibri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xmlns="" id="{CCBEE761-2460-4425-A3E8-FB8F7C901314}"/>
              </a:ext>
            </a:extLst>
          </p:cNvPr>
          <p:cNvSpPr/>
          <p:nvPr/>
        </p:nvSpPr>
        <p:spPr>
          <a:xfrm>
            <a:off x="823664" y="2663858"/>
            <a:ext cx="356480" cy="3338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1B9400B0-1C9E-4B24-AAEB-A6B470824F8B}"/>
              </a:ext>
            </a:extLst>
          </p:cNvPr>
          <p:cNvSpPr/>
          <p:nvPr/>
        </p:nvSpPr>
        <p:spPr>
          <a:xfrm>
            <a:off x="823664" y="3086451"/>
            <a:ext cx="356480" cy="3338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E5C1170D-5AE9-4B31-BDE0-51520B3BBC28}"/>
              </a:ext>
            </a:extLst>
          </p:cNvPr>
          <p:cNvSpPr/>
          <p:nvPr/>
        </p:nvSpPr>
        <p:spPr>
          <a:xfrm>
            <a:off x="823664" y="3540349"/>
            <a:ext cx="356480" cy="3338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EA923FEA-AFC7-4128-9608-4DD450D2A7FB}"/>
              </a:ext>
            </a:extLst>
          </p:cNvPr>
          <p:cNvSpPr/>
          <p:nvPr/>
        </p:nvSpPr>
        <p:spPr>
          <a:xfrm>
            <a:off x="823664" y="3994247"/>
            <a:ext cx="356480" cy="3338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5C35F7D9-3DFD-4ED9-87AA-998235E03C06}"/>
              </a:ext>
            </a:extLst>
          </p:cNvPr>
          <p:cNvSpPr/>
          <p:nvPr/>
        </p:nvSpPr>
        <p:spPr>
          <a:xfrm>
            <a:off x="823664" y="4428482"/>
            <a:ext cx="356480" cy="3338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9AB738A4-EEA9-4DE8-8B88-D9D3553DCF37}"/>
              </a:ext>
            </a:extLst>
          </p:cNvPr>
          <p:cNvSpPr/>
          <p:nvPr/>
        </p:nvSpPr>
        <p:spPr>
          <a:xfrm>
            <a:off x="823664" y="4857997"/>
            <a:ext cx="356480" cy="3338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29D95283-8527-42F8-8CA3-D7ADF18DD650}"/>
              </a:ext>
            </a:extLst>
          </p:cNvPr>
          <p:cNvSpPr/>
          <p:nvPr/>
        </p:nvSpPr>
        <p:spPr>
          <a:xfrm>
            <a:off x="838199" y="5287512"/>
            <a:ext cx="356480" cy="3338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EA60C6C5-9B98-4E12-94A5-FED00C716222}"/>
              </a:ext>
            </a:extLst>
          </p:cNvPr>
          <p:cNvSpPr/>
          <p:nvPr/>
        </p:nvSpPr>
        <p:spPr>
          <a:xfrm>
            <a:off x="838199" y="5710105"/>
            <a:ext cx="356480" cy="3338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36A68525-1276-4F49-9A57-D6C55613D018}"/>
              </a:ext>
            </a:extLst>
          </p:cNvPr>
          <p:cNvSpPr/>
          <p:nvPr/>
        </p:nvSpPr>
        <p:spPr>
          <a:xfrm>
            <a:off x="838199" y="6105410"/>
            <a:ext cx="356480" cy="3338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87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A3E60D-CA30-7621-A324-FE080EC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BB1DAB2-44BE-44E1-05E5-0CDD90CB9EBB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Acesso ao sistema</a:t>
            </a:r>
            <a:endParaRPr lang="pt-BR" sz="2800" b="1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F28538C-1797-43F2-72AC-B4FE2FF7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>
                <a:solidFill>
                  <a:schemeClr val="bg2"/>
                </a:solidFill>
              </a:rPr>
              <a:pPr>
                <a:defRPr/>
              </a:pPr>
              <a:t>8</a:t>
            </a:fld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5" name="Google Shape;375;p9">
            <a:extLst>
              <a:ext uri="{FF2B5EF4-FFF2-40B4-BE49-F238E27FC236}">
                <a16:creationId xmlns:a16="http://schemas.microsoft.com/office/drawing/2014/main" xmlns="" id="{E2914597-A843-4D70-9594-06D65B04FD21}"/>
              </a:ext>
            </a:extLst>
          </p:cNvPr>
          <p:cNvSpPr txBox="1">
            <a:spLocks/>
          </p:cNvSpPr>
          <p:nvPr/>
        </p:nvSpPr>
        <p:spPr>
          <a:xfrm>
            <a:off x="914400" y="1555750"/>
            <a:ext cx="10972800" cy="454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857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endParaRPr lang="en-US" sz="240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1" indent="-215891" eaLnBrk="1" hangingPunct="1">
              <a:spcBef>
                <a:spcPts val="400"/>
              </a:spcBef>
              <a:spcAft>
                <a:spcPts val="0"/>
              </a:spcAft>
              <a:buSzPts val="2000"/>
              <a:buFont typeface="Calibri"/>
              <a:buNone/>
            </a:pPr>
            <a:endParaRPr lang="en-US">
              <a:solidFill>
                <a:schemeClr val="bg2"/>
              </a:solidFill>
            </a:endParaRPr>
          </a:p>
        </p:txBody>
      </p:sp>
      <p:sp>
        <p:nvSpPr>
          <p:cNvPr id="7" name="Google Shape;376;p9">
            <a:extLst>
              <a:ext uri="{FF2B5EF4-FFF2-40B4-BE49-F238E27FC236}">
                <a16:creationId xmlns:a16="http://schemas.microsoft.com/office/drawing/2014/main" xmlns="" id="{5873A3A7-7B31-488A-86E8-1B8F772ACF9C}"/>
              </a:ext>
            </a:extLst>
          </p:cNvPr>
          <p:cNvSpPr txBox="1"/>
          <p:nvPr/>
        </p:nvSpPr>
        <p:spPr>
          <a:xfrm>
            <a:off x="367495" y="980857"/>
            <a:ext cx="5775826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pt-PT" sz="2400" b="0" i="0" u="none" dirty="0">
                <a:solidFill>
                  <a:schemeClr val="bg2"/>
                </a:solidFill>
                <a:latin typeface="+mn-lt"/>
                <a:ea typeface="Calibri"/>
                <a:cs typeface="Calibri"/>
                <a:sym typeface="Calibri"/>
              </a:rPr>
              <a:t>Cada profissional de saúde recebe um login e senha exclusivos, garantindo que apenas pessoal autorizado possa aceder aos dados do paciente a que está a atender.</a:t>
            </a:r>
            <a:endParaRPr sz="2400" dirty="0">
              <a:solidFill>
                <a:schemeClr val="bg2"/>
              </a:solidFill>
              <a:latin typeface="+mn-lt"/>
            </a:endParaRPr>
          </a:p>
          <a:p>
            <a:pPr marL="285750" marR="0" lvl="0" indent="-133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dirty="0">
              <a:solidFill>
                <a:schemeClr val="bg2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pt-PT" sz="2400" b="0" i="0" u="none" dirty="0">
                <a:solidFill>
                  <a:schemeClr val="bg2"/>
                </a:solidFill>
                <a:latin typeface="+mn-lt"/>
                <a:ea typeface="Calibri"/>
                <a:cs typeface="Calibri"/>
                <a:sym typeface="Calibri"/>
              </a:rPr>
              <a:t>Acesso permitido apenas dentro das instalações da unidade de saúde.</a:t>
            </a:r>
            <a:endParaRPr sz="2400" dirty="0">
              <a:solidFill>
                <a:schemeClr val="bg2"/>
              </a:solidFill>
              <a:latin typeface="+mn-lt"/>
            </a:endParaRPr>
          </a:p>
          <a:p>
            <a:pPr marL="285750" marR="0" lvl="0" indent="-133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dirty="0">
              <a:solidFill>
                <a:schemeClr val="bg2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pt-PT" sz="2400" b="0" i="0" u="none" dirty="0">
                <a:solidFill>
                  <a:schemeClr val="bg2"/>
                </a:solidFill>
                <a:latin typeface="+mn-lt"/>
                <a:ea typeface="Calibri"/>
                <a:cs typeface="Calibri"/>
                <a:sym typeface="Calibri"/>
              </a:rPr>
              <a:t>O sistema regista cada acesso ao processo clínico, incluindo quem acedeu, quando e quais informações foram visualizadas ou alteradas. Isso garante o rastreio e a responsabilidade.</a:t>
            </a:r>
            <a:endParaRPr sz="2400" b="0" i="0" u="none" dirty="0">
              <a:solidFill>
                <a:schemeClr val="bg2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77;p9">
            <a:extLst>
              <a:ext uri="{FF2B5EF4-FFF2-40B4-BE49-F238E27FC236}">
                <a16:creationId xmlns:a16="http://schemas.microsoft.com/office/drawing/2014/main" xmlns="" id="{E368C2F0-F9F6-4987-B652-DC531A606D09}"/>
              </a:ext>
            </a:extLst>
          </p:cNvPr>
          <p:cNvSpPr/>
          <p:nvPr/>
        </p:nvSpPr>
        <p:spPr>
          <a:xfrm>
            <a:off x="10836021" y="2558554"/>
            <a:ext cx="1168400" cy="2360918"/>
          </a:xfrm>
          <a:custGeom>
            <a:avLst/>
            <a:gdLst/>
            <a:ahLst/>
            <a:cxnLst/>
            <a:rect l="l" t="t" r="r" b="b"/>
            <a:pathLst>
              <a:path w="1168400" h="2360918" extrusionOk="0">
                <a:moveTo>
                  <a:pt x="1168400" y="0"/>
                </a:moveTo>
                <a:lnTo>
                  <a:pt x="1168400" y="2360918"/>
                </a:lnTo>
                <a:lnTo>
                  <a:pt x="1060340" y="2355461"/>
                </a:lnTo>
                <a:cubicBezTo>
                  <a:pt x="464762" y="2294977"/>
                  <a:pt x="0" y="1791994"/>
                  <a:pt x="0" y="1180459"/>
                </a:cubicBezTo>
                <a:cubicBezTo>
                  <a:pt x="0" y="568924"/>
                  <a:pt x="464762" y="65941"/>
                  <a:pt x="1060340" y="5457"/>
                </a:cubicBezTo>
                <a:close/>
              </a:path>
            </a:pathLst>
          </a:custGeom>
          <a:solidFill>
            <a:srgbClr val="2129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378;p9">
            <a:extLst>
              <a:ext uri="{FF2B5EF4-FFF2-40B4-BE49-F238E27FC236}">
                <a16:creationId xmlns:a16="http://schemas.microsoft.com/office/drawing/2014/main" xmlns="" id="{E95B3676-0451-4CCA-A709-FA42FD5F0E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10942420" y="3468586"/>
            <a:ext cx="530600" cy="5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379;p9">
            <a:extLst>
              <a:ext uri="{FF2B5EF4-FFF2-40B4-BE49-F238E27FC236}">
                <a16:creationId xmlns:a16="http://schemas.microsoft.com/office/drawing/2014/main" xmlns="" id="{A67759B0-3938-42E5-B67D-2A1212DA4203}"/>
              </a:ext>
            </a:extLst>
          </p:cNvPr>
          <p:cNvSpPr txBox="1"/>
          <p:nvPr/>
        </p:nvSpPr>
        <p:spPr>
          <a:xfrm rot="-5400000">
            <a:off x="10593006" y="3508076"/>
            <a:ext cx="217650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3F7"/>
              </a:buClr>
              <a:buSzPts val="3600"/>
              <a:buFont typeface="Calibri"/>
              <a:buNone/>
            </a:pPr>
            <a:r>
              <a:rPr lang="pt-PT" sz="3600" b="1" i="0" u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2800" b="1" i="0" u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Visão Geral</a:t>
            </a:r>
            <a:endParaRPr sz="2800" b="1" i="0" u="none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380;p9">
            <a:extLst>
              <a:ext uri="{FF2B5EF4-FFF2-40B4-BE49-F238E27FC236}">
                <a16:creationId xmlns:a16="http://schemas.microsoft.com/office/drawing/2014/main" xmlns="" id="{7E668F7B-DC7B-4D46-8D90-822E47256F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8612" y="1070099"/>
            <a:ext cx="4064209" cy="5321573"/>
          </a:xfrm>
          <a:prstGeom prst="roundRect">
            <a:avLst>
              <a:gd name="adj" fmla="val 3543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854959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09F61-7516-D6FF-0B58-876EAC067054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kumimoji="0" lang="pt-PT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Calibri"/>
              </a:rPr>
              <a:t>Departamentos</a:t>
            </a:r>
            <a:endParaRPr lang="pt-BR" sz="2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xmlns="" id="{A803A7AF-C496-4973-A5E6-95B1AF8B02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6" t="19760" r="29573" b="9981"/>
          <a:stretch/>
        </p:blipFill>
        <p:spPr>
          <a:xfrm>
            <a:off x="3573193" y="1575582"/>
            <a:ext cx="5013431" cy="481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633111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AF187D9-43B4-BCEC-1672-FD9EE13C5993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rgbClr val="002060"/>
                </a:solidFill>
                <a:latin typeface="+mj-lt"/>
                <a:cs typeface="Arial" panose="020B0604020202020204" pitchFamily="34" charset="0"/>
              </a:rPr>
              <a:t>Fluxo do paciente</a:t>
            </a:r>
            <a:endParaRPr lang="pt-BR" sz="2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5" name="Rounded Rectangle 39">
            <a:extLst>
              <a:ext uri="{FF2B5EF4-FFF2-40B4-BE49-F238E27FC236}">
                <a16:creationId xmlns:a16="http://schemas.microsoft.com/office/drawing/2014/main" xmlns="" id="{6E70D007-E586-4300-9B77-FF391FDE578B}"/>
              </a:ext>
            </a:extLst>
          </p:cNvPr>
          <p:cNvSpPr/>
          <p:nvPr/>
        </p:nvSpPr>
        <p:spPr>
          <a:xfrm>
            <a:off x="641308" y="1397164"/>
            <a:ext cx="2212848" cy="1444752"/>
          </a:xfrm>
          <a:prstGeom prst="roundRect">
            <a:avLst/>
          </a:prstGeom>
          <a:solidFill>
            <a:srgbClr val="EBF5F8"/>
          </a:solidFill>
          <a:ln w="15240"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36576" rtlCol="0" anchor="ctr"/>
          <a:lstStyle/>
          <a:p>
            <a:pPr algn="ctr"/>
            <a:endParaRPr sz="3100" b="1" dirty="0">
              <a:solidFill>
                <a:srgbClr val="0A0F14"/>
              </a:solidFill>
            </a:endParaRPr>
          </a:p>
          <a:p>
            <a:pPr algn="ctr">
              <a:spcBef>
                <a:spcPts val="0"/>
              </a:spcBef>
            </a:pPr>
            <a:endParaRPr lang="en-US" sz="1400" dirty="0">
              <a:solidFill>
                <a:srgbClr val="1F2D6E"/>
              </a:solidFill>
            </a:endParaRPr>
          </a:p>
          <a:p>
            <a:pPr algn="ctr">
              <a:spcBef>
                <a:spcPts val="0"/>
              </a:spcBef>
            </a:pPr>
            <a:endParaRPr lang="en-US" sz="1400" dirty="0">
              <a:solidFill>
                <a:srgbClr val="1F2D6E"/>
              </a:solidFill>
            </a:endParaRPr>
          </a:p>
          <a:p>
            <a:pPr algn="ctr">
              <a:spcBef>
                <a:spcPts val="0"/>
              </a:spcBef>
            </a:pPr>
            <a:r>
              <a:rPr sz="1400" dirty="0" err="1">
                <a:solidFill>
                  <a:srgbClr val="1F2D6E"/>
                </a:solidFill>
              </a:rPr>
              <a:t>Aceitação</a:t>
            </a:r>
            <a:endParaRPr sz="1400" dirty="0">
              <a:solidFill>
                <a:srgbClr val="1F2D6E"/>
              </a:solidFill>
            </a:endParaRPr>
          </a:p>
        </p:txBody>
      </p:sp>
      <p:sp>
        <p:nvSpPr>
          <p:cNvPr id="7" name="Rounded Rectangle 40">
            <a:extLst>
              <a:ext uri="{FF2B5EF4-FFF2-40B4-BE49-F238E27FC236}">
                <a16:creationId xmlns:a16="http://schemas.microsoft.com/office/drawing/2014/main" xmlns="" id="{768BB7F8-6EDC-49EC-8B72-85841DAF91E3}"/>
              </a:ext>
            </a:extLst>
          </p:cNvPr>
          <p:cNvSpPr/>
          <p:nvPr/>
        </p:nvSpPr>
        <p:spPr>
          <a:xfrm>
            <a:off x="4224527" y="1359468"/>
            <a:ext cx="2212848" cy="1444752"/>
          </a:xfrm>
          <a:prstGeom prst="roundRect">
            <a:avLst/>
          </a:prstGeom>
          <a:solidFill>
            <a:srgbClr val="EBF5F8"/>
          </a:solidFill>
          <a:ln w="15240"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36576" rtlCol="0" anchor="ctr"/>
          <a:lstStyle/>
          <a:p>
            <a:pPr algn="ctr"/>
            <a:endParaRPr sz="3100" b="1" dirty="0">
              <a:solidFill>
                <a:srgbClr val="0A0F14"/>
              </a:solidFill>
              <a:latin typeface="Segoe UI Symbol"/>
            </a:endParaRPr>
          </a:p>
          <a:p>
            <a:pPr algn="ctr">
              <a:spcBef>
                <a:spcPts val="0"/>
              </a:spcBef>
            </a:pPr>
            <a:endParaRPr lang="en-US" sz="1400" dirty="0">
              <a:solidFill>
                <a:srgbClr val="1F2D6E"/>
              </a:solidFill>
              <a:latin typeface="Arial"/>
            </a:endParaRPr>
          </a:p>
          <a:p>
            <a:pPr algn="ctr">
              <a:spcBef>
                <a:spcPts val="0"/>
              </a:spcBef>
            </a:pPr>
            <a:endParaRPr lang="en-US" sz="1400" dirty="0">
              <a:solidFill>
                <a:srgbClr val="1F2D6E"/>
              </a:solidFill>
              <a:latin typeface="Arial"/>
            </a:endParaRPr>
          </a:p>
          <a:p>
            <a:pPr algn="ctr">
              <a:spcBef>
                <a:spcPts val="0"/>
              </a:spcBef>
            </a:pPr>
            <a:r>
              <a:rPr sz="1400" dirty="0" err="1">
                <a:solidFill>
                  <a:srgbClr val="1F2D6E"/>
                </a:solidFill>
              </a:rPr>
              <a:t>Triagem</a:t>
            </a:r>
            <a:r>
              <a:rPr sz="1400" dirty="0">
                <a:solidFill>
                  <a:srgbClr val="1F2D6E"/>
                </a:solidFill>
              </a:rPr>
              <a:t>/</a:t>
            </a:r>
            <a:r>
              <a:rPr sz="1400" dirty="0" err="1">
                <a:solidFill>
                  <a:srgbClr val="1F2D6E"/>
                </a:solidFill>
              </a:rPr>
              <a:t>Consulta</a:t>
            </a:r>
            <a:endParaRPr sz="1400" dirty="0">
              <a:solidFill>
                <a:srgbClr val="1F2D6E"/>
              </a:solidFill>
            </a:endParaRPr>
          </a:p>
        </p:txBody>
      </p:sp>
      <p:sp>
        <p:nvSpPr>
          <p:cNvPr id="8" name="Rounded Rectangle 41">
            <a:extLst>
              <a:ext uri="{FF2B5EF4-FFF2-40B4-BE49-F238E27FC236}">
                <a16:creationId xmlns:a16="http://schemas.microsoft.com/office/drawing/2014/main" xmlns="" id="{2AD47D62-AC69-4C14-BB8F-F8B77B71A8D3}"/>
              </a:ext>
            </a:extLst>
          </p:cNvPr>
          <p:cNvSpPr/>
          <p:nvPr/>
        </p:nvSpPr>
        <p:spPr>
          <a:xfrm>
            <a:off x="8079611" y="1327582"/>
            <a:ext cx="2212848" cy="1444752"/>
          </a:xfrm>
          <a:prstGeom prst="roundRect">
            <a:avLst/>
          </a:prstGeom>
          <a:solidFill>
            <a:srgbClr val="EBF5F8"/>
          </a:solidFill>
          <a:ln w="15240"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36576" rtlCol="0" anchor="ctr"/>
          <a:lstStyle/>
          <a:p>
            <a:pPr algn="ctr">
              <a:spcBef>
                <a:spcPts val="0"/>
              </a:spcBef>
            </a:pPr>
            <a:endParaRPr lang="en-US" sz="3000" b="1" dirty="0">
              <a:solidFill>
                <a:srgbClr val="0A0F14"/>
              </a:solidFill>
              <a:latin typeface="Segoe UI Symbol"/>
            </a:endParaRPr>
          </a:p>
          <a:p>
            <a:pPr algn="ctr">
              <a:spcBef>
                <a:spcPts val="0"/>
              </a:spcBef>
            </a:pPr>
            <a:endParaRPr lang="en-US" sz="3000" b="1" dirty="0">
              <a:solidFill>
                <a:srgbClr val="0A0F14"/>
              </a:solidFill>
              <a:latin typeface="Segoe UI Symbol"/>
            </a:endParaRPr>
          </a:p>
          <a:p>
            <a:pPr algn="ctr">
              <a:spcBef>
                <a:spcPts val="0"/>
              </a:spcBef>
            </a:pPr>
            <a:r>
              <a:rPr sz="1400" dirty="0" err="1">
                <a:solidFill>
                  <a:srgbClr val="1F2D6E"/>
                </a:solidFill>
                <a:latin typeface="+mj-lt"/>
              </a:rPr>
              <a:t>Sala</a:t>
            </a:r>
            <a:r>
              <a:rPr sz="1400" dirty="0">
                <a:solidFill>
                  <a:srgbClr val="1F2D6E"/>
                </a:solidFill>
                <a:latin typeface="+mj-lt"/>
              </a:rPr>
              <a:t> de </a:t>
            </a:r>
            <a:r>
              <a:rPr sz="1400" dirty="0" err="1">
                <a:solidFill>
                  <a:srgbClr val="1F2D6E"/>
                </a:solidFill>
                <a:latin typeface="+mj-lt"/>
              </a:rPr>
              <a:t>Observação</a:t>
            </a:r>
            <a:endParaRPr sz="1400" dirty="0">
              <a:solidFill>
                <a:srgbClr val="1F2D6E"/>
              </a:solidFill>
              <a:latin typeface="+mj-lt"/>
            </a:endParaRPr>
          </a:p>
        </p:txBody>
      </p:sp>
      <p:sp>
        <p:nvSpPr>
          <p:cNvPr id="9" name="Rounded Rectangle 43">
            <a:extLst>
              <a:ext uri="{FF2B5EF4-FFF2-40B4-BE49-F238E27FC236}">
                <a16:creationId xmlns:a16="http://schemas.microsoft.com/office/drawing/2014/main" xmlns="" id="{7B950AC4-89F0-408B-A08E-96357BDA6B02}"/>
              </a:ext>
            </a:extLst>
          </p:cNvPr>
          <p:cNvSpPr/>
          <p:nvPr/>
        </p:nvSpPr>
        <p:spPr>
          <a:xfrm>
            <a:off x="2522582" y="4877390"/>
            <a:ext cx="2212848" cy="1444752"/>
          </a:xfrm>
          <a:prstGeom prst="roundRect">
            <a:avLst/>
          </a:prstGeom>
          <a:solidFill>
            <a:srgbClr val="EBF5F8"/>
          </a:solidFill>
          <a:ln w="15240"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36576" rtlCol="0" anchor="ctr"/>
          <a:lstStyle/>
          <a:p>
            <a:pPr algn="ctr"/>
            <a:endParaRPr sz="3100" b="1" dirty="0">
              <a:solidFill>
                <a:srgbClr val="0A0F14"/>
              </a:solidFill>
              <a:latin typeface="Segoe UI Symbol"/>
            </a:endParaRPr>
          </a:p>
          <a:p>
            <a:pPr algn="ctr">
              <a:spcBef>
                <a:spcPts val="0"/>
              </a:spcBef>
            </a:pPr>
            <a:endParaRPr lang="en-US" sz="1400" dirty="0">
              <a:solidFill>
                <a:srgbClr val="1F2D6E"/>
              </a:solidFill>
              <a:latin typeface="Arial"/>
            </a:endParaRPr>
          </a:p>
          <a:p>
            <a:pPr algn="ctr">
              <a:spcBef>
                <a:spcPts val="0"/>
              </a:spcBef>
            </a:pPr>
            <a:endParaRPr lang="en-US" sz="1400" dirty="0">
              <a:solidFill>
                <a:srgbClr val="1F2D6E"/>
              </a:solidFill>
              <a:latin typeface="Arial"/>
            </a:endParaRPr>
          </a:p>
          <a:p>
            <a:pPr algn="ctr">
              <a:spcBef>
                <a:spcPts val="0"/>
              </a:spcBef>
            </a:pPr>
            <a:r>
              <a:rPr sz="1400" dirty="0" err="1">
                <a:solidFill>
                  <a:srgbClr val="1F2D6E"/>
                </a:solidFill>
                <a:latin typeface="+mj-lt"/>
              </a:rPr>
              <a:t>Farmácia</a:t>
            </a:r>
            <a:endParaRPr sz="1400" dirty="0">
              <a:solidFill>
                <a:srgbClr val="1F2D6E"/>
              </a:solidFill>
              <a:latin typeface="+mj-lt"/>
            </a:endParaRPr>
          </a:p>
        </p:txBody>
      </p:sp>
      <p:sp>
        <p:nvSpPr>
          <p:cNvPr id="10" name="Rounded Rectangle 44">
            <a:extLst>
              <a:ext uri="{FF2B5EF4-FFF2-40B4-BE49-F238E27FC236}">
                <a16:creationId xmlns:a16="http://schemas.microsoft.com/office/drawing/2014/main" xmlns="" id="{FE2CA4FE-B8A8-44D8-8ABC-9608A344F2D4}"/>
              </a:ext>
            </a:extLst>
          </p:cNvPr>
          <p:cNvSpPr/>
          <p:nvPr/>
        </p:nvSpPr>
        <p:spPr>
          <a:xfrm>
            <a:off x="6080760" y="4818888"/>
            <a:ext cx="2212848" cy="1444752"/>
          </a:xfrm>
          <a:prstGeom prst="roundRect">
            <a:avLst/>
          </a:prstGeom>
          <a:solidFill>
            <a:srgbClr val="EBF5F8"/>
          </a:solidFill>
          <a:ln w="15240"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Ins="73152" bIns="36576" rtlCol="0" anchor="ctr"/>
          <a:lstStyle/>
          <a:p>
            <a:pPr algn="ctr"/>
            <a:endParaRPr sz="3000" b="1" dirty="0">
              <a:solidFill>
                <a:srgbClr val="0A0F14"/>
              </a:solidFill>
              <a:latin typeface="Segoe UI Symbol"/>
            </a:endParaRPr>
          </a:p>
          <a:p>
            <a:pPr algn="ctr">
              <a:spcBef>
                <a:spcPts val="0"/>
              </a:spcBef>
            </a:pPr>
            <a:endParaRPr lang="en-US" sz="1400" dirty="0">
              <a:solidFill>
                <a:srgbClr val="1F2D6E"/>
              </a:solidFill>
              <a:latin typeface="Arial"/>
            </a:endParaRPr>
          </a:p>
          <a:p>
            <a:pPr algn="ctr">
              <a:spcBef>
                <a:spcPts val="0"/>
              </a:spcBef>
            </a:pPr>
            <a:endParaRPr lang="en-US" sz="1400" dirty="0">
              <a:solidFill>
                <a:srgbClr val="1F2D6E"/>
              </a:solidFill>
              <a:latin typeface="Arial"/>
            </a:endParaRPr>
          </a:p>
          <a:p>
            <a:pPr algn="ctr">
              <a:spcBef>
                <a:spcPts val="0"/>
              </a:spcBef>
            </a:pPr>
            <a:endParaRPr lang="en-US" sz="1400" dirty="0">
              <a:solidFill>
                <a:srgbClr val="1F2D6E"/>
              </a:solidFill>
              <a:latin typeface="Arial"/>
            </a:endParaRPr>
          </a:p>
          <a:p>
            <a:pPr algn="ctr">
              <a:spcBef>
                <a:spcPts val="0"/>
              </a:spcBef>
            </a:pPr>
            <a:r>
              <a:rPr sz="1400" dirty="0" err="1">
                <a:solidFill>
                  <a:srgbClr val="1F2D6E"/>
                </a:solidFill>
              </a:rPr>
              <a:t>Laboratório</a:t>
            </a:r>
            <a:endParaRPr sz="1400" dirty="0">
              <a:solidFill>
                <a:srgbClr val="1F2D6E"/>
              </a:solidFill>
            </a:endParaRPr>
          </a:p>
        </p:txBody>
      </p:sp>
      <p:cxnSp>
        <p:nvCxnSpPr>
          <p:cNvPr id="11" name="Connector 8">
            <a:extLst>
              <a:ext uri="{FF2B5EF4-FFF2-40B4-BE49-F238E27FC236}">
                <a16:creationId xmlns:a16="http://schemas.microsoft.com/office/drawing/2014/main" xmlns="" id="{6137B465-664E-40AB-9423-CABDA0DAA0BA}"/>
              </a:ext>
            </a:extLst>
          </p:cNvPr>
          <p:cNvCxnSpPr/>
          <p:nvPr/>
        </p:nvCxnSpPr>
        <p:spPr>
          <a:xfrm>
            <a:off x="2866030" y="2201951"/>
            <a:ext cx="1257367" cy="0"/>
          </a:xfrm>
          <a:prstGeom prst="line">
            <a:avLst/>
          </a:prstGeom>
          <a:ln w="27940">
            <a:solidFill>
              <a:srgbClr val="384C6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9">
            <a:extLst>
              <a:ext uri="{FF2B5EF4-FFF2-40B4-BE49-F238E27FC236}">
                <a16:creationId xmlns:a16="http://schemas.microsoft.com/office/drawing/2014/main" xmlns="" id="{2B3DB409-1635-4FC6-9521-25A4B62ED114}"/>
              </a:ext>
            </a:extLst>
          </p:cNvPr>
          <p:cNvCxnSpPr>
            <a:stCxn id="19" idx="3"/>
          </p:cNvCxnSpPr>
          <p:nvPr/>
        </p:nvCxnSpPr>
        <p:spPr>
          <a:xfrm>
            <a:off x="6570851" y="2192692"/>
            <a:ext cx="1375284" cy="4044"/>
          </a:xfrm>
          <a:prstGeom prst="line">
            <a:avLst/>
          </a:prstGeom>
          <a:ln w="27940">
            <a:solidFill>
              <a:srgbClr val="384C6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1">
            <a:extLst>
              <a:ext uri="{FF2B5EF4-FFF2-40B4-BE49-F238E27FC236}">
                <a16:creationId xmlns:a16="http://schemas.microsoft.com/office/drawing/2014/main" xmlns="" id="{F7E44DF1-6C99-4632-A658-7BABD50E546B}"/>
              </a:ext>
            </a:extLst>
          </p:cNvPr>
          <p:cNvCxnSpPr/>
          <p:nvPr/>
        </p:nvCxnSpPr>
        <p:spPr>
          <a:xfrm>
            <a:off x="91440" y="4048924"/>
            <a:ext cx="11978640" cy="0"/>
          </a:xfrm>
          <a:prstGeom prst="line">
            <a:avLst/>
          </a:prstGeom>
          <a:ln w="31750">
            <a:solidFill>
              <a:srgbClr val="384C6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2">
            <a:extLst>
              <a:ext uri="{FF2B5EF4-FFF2-40B4-BE49-F238E27FC236}">
                <a16:creationId xmlns:a16="http://schemas.microsoft.com/office/drawing/2014/main" xmlns="" id="{ADECB36E-9F73-4585-9C1B-096247E7677D}"/>
              </a:ext>
            </a:extLst>
          </p:cNvPr>
          <p:cNvCxnSpPr/>
          <p:nvPr/>
        </p:nvCxnSpPr>
        <p:spPr>
          <a:xfrm>
            <a:off x="5237804" y="2859084"/>
            <a:ext cx="0" cy="1207008"/>
          </a:xfrm>
          <a:prstGeom prst="line">
            <a:avLst/>
          </a:prstGeom>
          <a:ln w="27940">
            <a:solidFill>
              <a:srgbClr val="384C6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xmlns="" id="{A2DD6242-754F-4D16-90F2-631AF7354A67}"/>
              </a:ext>
            </a:extLst>
          </p:cNvPr>
          <p:cNvCxnSpPr/>
          <p:nvPr/>
        </p:nvCxnSpPr>
        <p:spPr>
          <a:xfrm>
            <a:off x="9375738" y="2882628"/>
            <a:ext cx="0" cy="1197864"/>
          </a:xfrm>
          <a:prstGeom prst="line">
            <a:avLst/>
          </a:prstGeom>
          <a:ln w="27940">
            <a:solidFill>
              <a:srgbClr val="384C6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xmlns="" id="{8ED9BDB0-3C33-40AA-9259-B343A4607FAB}"/>
              </a:ext>
            </a:extLst>
          </p:cNvPr>
          <p:cNvCxnSpPr/>
          <p:nvPr/>
        </p:nvCxnSpPr>
        <p:spPr>
          <a:xfrm>
            <a:off x="3574141" y="4140364"/>
            <a:ext cx="0" cy="704088"/>
          </a:xfrm>
          <a:prstGeom prst="line">
            <a:avLst/>
          </a:prstGeom>
          <a:ln w="27940">
            <a:solidFill>
              <a:srgbClr val="384C6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xmlns="" id="{A6EA399F-1D8F-4D0A-B585-343B871919D3}"/>
              </a:ext>
            </a:extLst>
          </p:cNvPr>
          <p:cNvCxnSpPr/>
          <p:nvPr/>
        </p:nvCxnSpPr>
        <p:spPr>
          <a:xfrm>
            <a:off x="7271458" y="4021492"/>
            <a:ext cx="0" cy="731520"/>
          </a:xfrm>
          <a:prstGeom prst="line">
            <a:avLst/>
          </a:prstGeom>
          <a:ln w="27940">
            <a:solidFill>
              <a:srgbClr val="384C6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56">
            <a:extLst>
              <a:ext uri="{FF2B5EF4-FFF2-40B4-BE49-F238E27FC236}">
                <a16:creationId xmlns:a16="http://schemas.microsoft.com/office/drawing/2014/main" xmlns="" id="{89845B08-2AB4-42EC-A239-BB6A57C974A1}"/>
              </a:ext>
            </a:extLst>
          </p:cNvPr>
          <p:cNvSpPr/>
          <p:nvPr/>
        </p:nvSpPr>
        <p:spPr>
          <a:xfrm rot="5400000">
            <a:off x="4119759" y="2159984"/>
            <a:ext cx="91210" cy="83934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57">
            <a:extLst>
              <a:ext uri="{FF2B5EF4-FFF2-40B4-BE49-F238E27FC236}">
                <a16:creationId xmlns:a16="http://schemas.microsoft.com/office/drawing/2014/main" xmlns="" id="{22EEA7C2-9D81-4DE6-8248-84DCDBCCD354}"/>
              </a:ext>
            </a:extLst>
          </p:cNvPr>
          <p:cNvSpPr/>
          <p:nvPr/>
        </p:nvSpPr>
        <p:spPr>
          <a:xfrm rot="16200000">
            <a:off x="6461123" y="2137828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sosceles Triangle 58">
            <a:extLst>
              <a:ext uri="{FF2B5EF4-FFF2-40B4-BE49-F238E27FC236}">
                <a16:creationId xmlns:a16="http://schemas.microsoft.com/office/drawing/2014/main" xmlns="" id="{18B97E11-B855-4628-BFF0-33FF7D5E71C5}"/>
              </a:ext>
            </a:extLst>
          </p:cNvPr>
          <p:cNvSpPr/>
          <p:nvPr/>
        </p:nvSpPr>
        <p:spPr>
          <a:xfrm rot="5400000">
            <a:off x="7969883" y="2137828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sosceles Triangle 62">
            <a:extLst>
              <a:ext uri="{FF2B5EF4-FFF2-40B4-BE49-F238E27FC236}">
                <a16:creationId xmlns:a16="http://schemas.microsoft.com/office/drawing/2014/main" xmlns="" id="{4291B7C7-C1B1-4414-8E92-BC270E56F65C}"/>
              </a:ext>
            </a:extLst>
          </p:cNvPr>
          <p:cNvSpPr/>
          <p:nvPr/>
        </p:nvSpPr>
        <p:spPr>
          <a:xfrm>
            <a:off x="5189220" y="2813363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63">
            <a:extLst>
              <a:ext uri="{FF2B5EF4-FFF2-40B4-BE49-F238E27FC236}">
                <a16:creationId xmlns:a16="http://schemas.microsoft.com/office/drawing/2014/main" xmlns="" id="{762B0FCF-06B8-4D84-B832-F0219306A07E}"/>
              </a:ext>
            </a:extLst>
          </p:cNvPr>
          <p:cNvSpPr/>
          <p:nvPr/>
        </p:nvSpPr>
        <p:spPr>
          <a:xfrm rot="10800000">
            <a:off x="5182941" y="3888905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66">
            <a:extLst>
              <a:ext uri="{FF2B5EF4-FFF2-40B4-BE49-F238E27FC236}">
                <a16:creationId xmlns:a16="http://schemas.microsoft.com/office/drawing/2014/main" xmlns="" id="{14D8D54D-268F-4BC9-9458-F291C0449881}"/>
              </a:ext>
            </a:extLst>
          </p:cNvPr>
          <p:cNvSpPr/>
          <p:nvPr/>
        </p:nvSpPr>
        <p:spPr>
          <a:xfrm>
            <a:off x="9328108" y="2804220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67">
            <a:extLst>
              <a:ext uri="{FF2B5EF4-FFF2-40B4-BE49-F238E27FC236}">
                <a16:creationId xmlns:a16="http://schemas.microsoft.com/office/drawing/2014/main" xmlns="" id="{DFAFE062-6FB9-44D6-927A-539A1AD78007}"/>
              </a:ext>
            </a:extLst>
          </p:cNvPr>
          <p:cNvSpPr/>
          <p:nvPr/>
        </p:nvSpPr>
        <p:spPr>
          <a:xfrm rot="10800000">
            <a:off x="9328108" y="3970764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68">
            <a:extLst>
              <a:ext uri="{FF2B5EF4-FFF2-40B4-BE49-F238E27FC236}">
                <a16:creationId xmlns:a16="http://schemas.microsoft.com/office/drawing/2014/main" xmlns="" id="{5BECF801-83C3-4FFD-8F41-E1CFCA3ACAE5}"/>
              </a:ext>
            </a:extLst>
          </p:cNvPr>
          <p:cNvSpPr/>
          <p:nvPr/>
        </p:nvSpPr>
        <p:spPr>
          <a:xfrm>
            <a:off x="3519278" y="4767662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69">
            <a:extLst>
              <a:ext uri="{FF2B5EF4-FFF2-40B4-BE49-F238E27FC236}">
                <a16:creationId xmlns:a16="http://schemas.microsoft.com/office/drawing/2014/main" xmlns="" id="{DE78C4D9-B129-4809-966F-3B04F1E7F3A5}"/>
              </a:ext>
            </a:extLst>
          </p:cNvPr>
          <p:cNvSpPr/>
          <p:nvPr/>
        </p:nvSpPr>
        <p:spPr>
          <a:xfrm rot="10800000">
            <a:off x="3519278" y="4072033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sosceles Triangle 70">
            <a:extLst>
              <a:ext uri="{FF2B5EF4-FFF2-40B4-BE49-F238E27FC236}">
                <a16:creationId xmlns:a16="http://schemas.microsoft.com/office/drawing/2014/main" xmlns="" id="{8934C44F-981C-4B54-8DDB-5D0E6BBC3078}"/>
              </a:ext>
            </a:extLst>
          </p:cNvPr>
          <p:cNvSpPr/>
          <p:nvPr/>
        </p:nvSpPr>
        <p:spPr>
          <a:xfrm>
            <a:off x="7203629" y="4670716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sosceles Triangle 71">
            <a:extLst>
              <a:ext uri="{FF2B5EF4-FFF2-40B4-BE49-F238E27FC236}">
                <a16:creationId xmlns:a16="http://schemas.microsoft.com/office/drawing/2014/main" xmlns="" id="{4335FAE3-D8EC-4F5D-BFC8-FD24132BB751}"/>
              </a:ext>
            </a:extLst>
          </p:cNvPr>
          <p:cNvSpPr/>
          <p:nvPr/>
        </p:nvSpPr>
        <p:spPr>
          <a:xfrm rot="10800000">
            <a:off x="7216594" y="4058069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12">
            <a:extLst>
              <a:ext uri="{FF2B5EF4-FFF2-40B4-BE49-F238E27FC236}">
                <a16:creationId xmlns:a16="http://schemas.microsoft.com/office/drawing/2014/main" xmlns="" id="{A14DEBDF-9895-4E53-941D-C380AA397B30}"/>
              </a:ext>
            </a:extLst>
          </p:cNvPr>
          <p:cNvCxnSpPr/>
          <p:nvPr/>
        </p:nvCxnSpPr>
        <p:spPr>
          <a:xfrm>
            <a:off x="1747732" y="2851061"/>
            <a:ext cx="0" cy="1207008"/>
          </a:xfrm>
          <a:prstGeom prst="line">
            <a:avLst/>
          </a:prstGeom>
          <a:ln w="27940">
            <a:solidFill>
              <a:srgbClr val="384C6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77">
            <a:extLst>
              <a:ext uri="{FF2B5EF4-FFF2-40B4-BE49-F238E27FC236}">
                <a16:creationId xmlns:a16="http://schemas.microsoft.com/office/drawing/2014/main" xmlns="" id="{A57EA3F2-9362-477C-8C05-4762EE0A1AB0}"/>
              </a:ext>
            </a:extLst>
          </p:cNvPr>
          <p:cNvSpPr/>
          <p:nvPr/>
        </p:nvSpPr>
        <p:spPr>
          <a:xfrm>
            <a:off x="1692868" y="2868227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sosceles Triangle 78">
            <a:extLst>
              <a:ext uri="{FF2B5EF4-FFF2-40B4-BE49-F238E27FC236}">
                <a16:creationId xmlns:a16="http://schemas.microsoft.com/office/drawing/2014/main" xmlns="" id="{64F99EE6-08C7-4B68-A2A4-5BB9D535F2D7}"/>
              </a:ext>
            </a:extLst>
          </p:cNvPr>
          <p:cNvSpPr/>
          <p:nvPr/>
        </p:nvSpPr>
        <p:spPr>
          <a:xfrm rot="10800000">
            <a:off x="1690887" y="3917842"/>
            <a:ext cx="109728" cy="109728"/>
          </a:xfrm>
          <a:prstGeom prst="triangle">
            <a:avLst/>
          </a:prstGeom>
          <a:solidFill>
            <a:srgbClr val="384C65"/>
          </a:solidFill>
          <a:ln>
            <a:solidFill>
              <a:srgbClr val="38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74">
            <a:extLst>
              <a:ext uri="{FF2B5EF4-FFF2-40B4-BE49-F238E27FC236}">
                <a16:creationId xmlns:a16="http://schemas.microsoft.com/office/drawing/2014/main" xmlns="" id="{4CB27800-AB2B-4624-9F10-ED36314C0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721" y="4930889"/>
            <a:ext cx="923661" cy="919404"/>
          </a:xfrm>
          <a:prstGeom prst="rect">
            <a:avLst/>
          </a:prstGeom>
        </p:spPr>
      </p:pic>
      <p:pic>
        <p:nvPicPr>
          <p:cNvPr id="33" name="Picture 75">
            <a:extLst>
              <a:ext uri="{FF2B5EF4-FFF2-40B4-BE49-F238E27FC236}">
                <a16:creationId xmlns:a16="http://schemas.microsoft.com/office/drawing/2014/main" xmlns="" id="{F74F2501-64F9-474E-8C98-D6AF76EF8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475" y="1487376"/>
            <a:ext cx="1144092" cy="899232"/>
          </a:xfrm>
          <a:prstGeom prst="rect">
            <a:avLst/>
          </a:prstGeom>
        </p:spPr>
      </p:pic>
      <p:pic>
        <p:nvPicPr>
          <p:cNvPr id="34" name="Picture 79">
            <a:extLst>
              <a:ext uri="{FF2B5EF4-FFF2-40B4-BE49-F238E27FC236}">
                <a16:creationId xmlns:a16="http://schemas.microsoft.com/office/drawing/2014/main" xmlns="" id="{9AEBA72E-456E-4BA7-8B92-DE3BBC6443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612" y="1421685"/>
            <a:ext cx="1368388" cy="962148"/>
          </a:xfrm>
          <a:prstGeom prst="rect">
            <a:avLst/>
          </a:prstGeom>
        </p:spPr>
      </p:pic>
      <p:pic>
        <p:nvPicPr>
          <p:cNvPr id="35" name="Picture 80">
            <a:extLst>
              <a:ext uri="{FF2B5EF4-FFF2-40B4-BE49-F238E27FC236}">
                <a16:creationId xmlns:a16="http://schemas.microsoft.com/office/drawing/2014/main" xmlns="" id="{0B988CC1-C049-493A-82D4-F990A73675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482" y="4901327"/>
            <a:ext cx="1138293" cy="1001816"/>
          </a:xfrm>
          <a:prstGeom prst="rect">
            <a:avLst/>
          </a:prstGeom>
        </p:spPr>
      </p:pic>
      <p:pic>
        <p:nvPicPr>
          <p:cNvPr id="36" name="Picture 83">
            <a:extLst>
              <a:ext uri="{FF2B5EF4-FFF2-40B4-BE49-F238E27FC236}">
                <a16:creationId xmlns:a16="http://schemas.microsoft.com/office/drawing/2014/main" xmlns="" id="{F6CA5E52-D5DE-48F5-B19E-8DFB9FBEF4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382" y="1458167"/>
            <a:ext cx="944700" cy="94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2134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93114C0-E92A-2665-4919-33C14DF9AAFA}"/>
              </a:ext>
            </a:extLst>
          </p:cNvPr>
          <p:cNvSpPr txBox="1"/>
          <p:nvPr/>
        </p:nvSpPr>
        <p:spPr>
          <a:xfrm>
            <a:off x="1572932" y="234056"/>
            <a:ext cx="9160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BR" sz="2800" b="1" dirty="0">
                <a:solidFill>
                  <a:srgbClr val="21295C"/>
                </a:solidFill>
                <a:latin typeface="+mj-lt"/>
                <a:cs typeface="Arial" panose="020B0604020202020204" pitchFamily="34" charset="0"/>
              </a:rPr>
              <a:t>NUIS - Número Único de Identificação em Saúde</a:t>
            </a:r>
            <a:endParaRPr lang="pt-BR" sz="2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sp>
        <p:nvSpPr>
          <p:cNvPr id="4" name="Google Shape;435;p11">
            <a:extLst>
              <a:ext uri="{FF2B5EF4-FFF2-40B4-BE49-F238E27FC236}">
                <a16:creationId xmlns:a16="http://schemas.microsoft.com/office/drawing/2014/main" xmlns="" id="{1ABB3AE0-7D3F-473D-8540-C0C0208E6104}"/>
              </a:ext>
            </a:extLst>
          </p:cNvPr>
          <p:cNvSpPr txBox="1">
            <a:spLocks/>
          </p:cNvSpPr>
          <p:nvPr/>
        </p:nvSpPr>
        <p:spPr>
          <a:xfrm>
            <a:off x="9232900" y="6613527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14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pt-PT" smtClean="0"/>
              <a:pPr>
                <a:buClr>
                  <a:srgbClr val="FFFFFF"/>
                </a:buClr>
                <a:buSzPts val="1000"/>
                <a:buFont typeface="Calibri"/>
                <a:buNone/>
              </a:pPr>
              <a:t>11</a:t>
            </a:fld>
            <a:endParaRPr lang="pt-PT"/>
          </a:p>
        </p:txBody>
      </p:sp>
      <p:sp>
        <p:nvSpPr>
          <p:cNvPr id="5" name="Google Shape;436;p11">
            <a:extLst>
              <a:ext uri="{FF2B5EF4-FFF2-40B4-BE49-F238E27FC236}">
                <a16:creationId xmlns:a16="http://schemas.microsoft.com/office/drawing/2014/main" xmlns="" id="{0997FAD0-4336-43A2-B73B-0252A6A269E8}"/>
              </a:ext>
            </a:extLst>
          </p:cNvPr>
          <p:cNvSpPr txBox="1">
            <a:spLocks/>
          </p:cNvSpPr>
          <p:nvPr/>
        </p:nvSpPr>
        <p:spPr>
          <a:xfrm>
            <a:off x="411223" y="1327355"/>
            <a:ext cx="6859307" cy="471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857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891" indent="-228591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pt-BR" b="1" dirty="0">
                <a:solidFill>
                  <a:srgbClr val="000000"/>
                </a:solidFill>
                <a:latin typeface="+mj-lt"/>
                <a:ea typeface="Quattrocento Sans"/>
                <a:cs typeface="Quattrocento Sans"/>
                <a:sym typeface="Quattrocento Sans"/>
              </a:rPr>
              <a:t> </a:t>
            </a:r>
          </a:p>
          <a:p>
            <a:pPr marL="342891" indent="-342891" algn="just" eaLnBrk="1" hangingPunct="1">
              <a:spcBef>
                <a:spcPts val="96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pt-BR" sz="1800" dirty="0">
                <a:latin typeface="+mj-lt"/>
              </a:rPr>
              <a:t>O Número Único de Identificação de Saúde (NUIS) é um identificador individual e único, gerado pelo sistema,  e atribuído a cada utente do sistema de saúde no ato do registo. O mesmo, servirá para toda a sua existência. E em todo o território nacional (em breve).</a:t>
            </a:r>
          </a:p>
          <a:p>
            <a:pPr marL="342891" indent="-342891" algn="just" eaLnBrk="1" hangingPunct="1">
              <a:spcBef>
                <a:spcPts val="960"/>
              </a:spcBef>
              <a:spcAft>
                <a:spcPts val="0"/>
              </a:spcAft>
              <a:buSzPts val="1800"/>
              <a:buFont typeface="Calibri"/>
              <a:buChar char="•"/>
            </a:pPr>
            <a:endParaRPr lang="pt-BR" sz="1800" dirty="0">
              <a:latin typeface="+mj-lt"/>
            </a:endParaRPr>
          </a:p>
          <a:p>
            <a:pPr marL="342891" indent="-342891" algn="just" eaLnBrk="1" hangingPunct="1">
              <a:spcBef>
                <a:spcPts val="96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pt-BR" sz="1800" b="1" dirty="0">
                <a:latin typeface="+mj-lt"/>
              </a:rPr>
              <a:t>Resultados</a:t>
            </a:r>
          </a:p>
          <a:p>
            <a:pPr marL="342891" indent="-342891" algn="just" eaLnBrk="1" hangingPunct="1">
              <a:spcBef>
                <a:spcPts val="96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pt-BR" sz="1800" dirty="0">
                <a:solidFill>
                  <a:schemeClr val="bg2"/>
                </a:solidFill>
                <a:latin typeface="+mj-lt"/>
                <a:ea typeface="Quattrocento Sans"/>
                <a:cs typeface="Quattrocento Sans"/>
                <a:sym typeface="Quattrocento Sans"/>
              </a:rPr>
              <a:t>Assegurada a correta identificação do utente e a vinculação unívoca dos seus registos clínicos e administrativos ao longo do contínuo de cuidados</a:t>
            </a:r>
          </a:p>
          <a:p>
            <a:pPr marL="0" indent="0" eaLnBrk="1" hangingPunct="1">
              <a:spcBef>
                <a:spcPts val="1160"/>
              </a:spcBef>
              <a:spcAft>
                <a:spcPts val="0"/>
              </a:spcAft>
              <a:buSzPts val="2800"/>
              <a:buFont typeface="Calibri"/>
              <a:buNone/>
            </a:pPr>
            <a:endParaRPr lang="pt-BR" dirty="0">
              <a:latin typeface="+mj-lt"/>
            </a:endParaRPr>
          </a:p>
        </p:txBody>
      </p:sp>
      <p:pic>
        <p:nvPicPr>
          <p:cNvPr id="7" name="Google Shape;437;p11" descr="ensure-enterprise-master-patient-index-efficiency-with-RightPatient">
            <a:extLst>
              <a:ext uri="{FF2B5EF4-FFF2-40B4-BE49-F238E27FC236}">
                <a16:creationId xmlns:a16="http://schemas.microsoft.com/office/drawing/2014/main" xmlns="" id="{32EC4F9D-1EB8-45E2-B744-64EFA412C24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86446" y="1449117"/>
            <a:ext cx="4594331" cy="45943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345450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354D0C-5457-C632-DE00-A712CE83E86E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x-none" sz="2800" b="1" dirty="0">
                <a:solidFill>
                  <a:schemeClr val="bg2"/>
                </a:solidFill>
                <a:latin typeface="+mj-lt"/>
                <a:cs typeface="Arial" panose="020B0604020202020204" pitchFamily="34" charset="0"/>
              </a:rPr>
              <a:t>Desafios</a:t>
            </a:r>
            <a:endParaRPr lang="pt-BR" sz="2800" b="1" dirty="0">
              <a:solidFill>
                <a:schemeClr val="bg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>
                <a:solidFill>
                  <a:schemeClr val="bg2"/>
                </a:solidFill>
              </a:rPr>
              <a:pPr>
                <a:defRPr/>
              </a:pPr>
              <a:t>12</a:t>
            </a:fld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F2B9F8BD-A86E-420A-8340-5931C8264B1A}"/>
              </a:ext>
            </a:extLst>
          </p:cNvPr>
          <p:cNvSpPr txBox="1"/>
          <p:nvPr/>
        </p:nvSpPr>
        <p:spPr>
          <a:xfrm>
            <a:off x="1514790" y="1128549"/>
            <a:ext cx="10006649" cy="511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Literacia digital dos profissionais de saúde;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Ausência de recursos humanos capacitados;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Falha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lentidão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 Sistema;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Ausência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alguns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diagnósticos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pt-PT" sz="24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Duplicação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códigos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fármacos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obrigando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criação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prescrições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Ausência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registro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da consulta anterior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alguns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sectores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criando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discrepância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entre o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livro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o SIS-RME;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Ainda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stock de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vacinas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local para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registro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administração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da VAT, HPV;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 local para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registro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acividades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saúde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escolar;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notificação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doenças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notificação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obrigatória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8E252560-7A1E-4C92-95FB-E92382865A20}"/>
              </a:ext>
            </a:extLst>
          </p:cNvPr>
          <p:cNvSpPr/>
          <p:nvPr/>
        </p:nvSpPr>
        <p:spPr>
          <a:xfrm>
            <a:off x="1031715" y="1128549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BB56AB03-A980-45D0-8A9A-043E8BBF15AC}"/>
              </a:ext>
            </a:extLst>
          </p:cNvPr>
          <p:cNvSpPr/>
          <p:nvPr/>
        </p:nvSpPr>
        <p:spPr>
          <a:xfrm>
            <a:off x="1031713" y="1574815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49AD6867-A452-44A8-A033-D883FD668012}"/>
              </a:ext>
            </a:extLst>
          </p:cNvPr>
          <p:cNvSpPr/>
          <p:nvPr/>
        </p:nvSpPr>
        <p:spPr>
          <a:xfrm>
            <a:off x="1031713" y="2021081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9AEA2C29-43E7-4374-AEAC-99C7ED40B369}"/>
              </a:ext>
            </a:extLst>
          </p:cNvPr>
          <p:cNvSpPr/>
          <p:nvPr/>
        </p:nvSpPr>
        <p:spPr>
          <a:xfrm>
            <a:off x="1031713" y="2467347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0EDAA099-FADD-44F1-9667-5F57EF689B84}"/>
              </a:ext>
            </a:extLst>
          </p:cNvPr>
          <p:cNvSpPr/>
          <p:nvPr/>
        </p:nvSpPr>
        <p:spPr>
          <a:xfrm>
            <a:off x="1031712" y="2913613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ABC1EF6F-E4BF-4EDA-A901-F5D12EFC6D25}"/>
              </a:ext>
            </a:extLst>
          </p:cNvPr>
          <p:cNvSpPr/>
          <p:nvPr/>
        </p:nvSpPr>
        <p:spPr>
          <a:xfrm>
            <a:off x="1031711" y="3718571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C164C65-8FE1-4494-8CDF-ED3D07950967}"/>
              </a:ext>
            </a:extLst>
          </p:cNvPr>
          <p:cNvSpPr/>
          <p:nvPr/>
        </p:nvSpPr>
        <p:spPr>
          <a:xfrm>
            <a:off x="1043646" y="4523530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A22643AA-827D-477B-9849-0E5BAA66B12F}"/>
              </a:ext>
            </a:extLst>
          </p:cNvPr>
          <p:cNvSpPr/>
          <p:nvPr/>
        </p:nvSpPr>
        <p:spPr>
          <a:xfrm>
            <a:off x="1031710" y="5313721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496F163D-8700-469B-95D7-AA13B659E6A5}"/>
              </a:ext>
            </a:extLst>
          </p:cNvPr>
          <p:cNvSpPr/>
          <p:nvPr/>
        </p:nvSpPr>
        <p:spPr>
          <a:xfrm>
            <a:off x="1031710" y="5841192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CDCB32-7B67-C829-2FFC-548D4B30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AE5259F-4583-3753-18AE-3ED376E2130C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b="1" dirty="0" err="1">
                <a:solidFill>
                  <a:srgbClr val="21295C"/>
                </a:solidFill>
                <a:latin typeface="+mj-lt"/>
                <a:cs typeface="Arial" panose="020B0604020202020204" pitchFamily="34" charset="0"/>
              </a:rPr>
              <a:t>Oportunidades</a:t>
            </a:r>
            <a:endParaRPr lang="pt-BR" sz="2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409460-626D-3C44-B40F-F7CB580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D8CCCFF9-01F6-4982-9938-A6F380210953}"/>
              </a:ext>
            </a:extLst>
          </p:cNvPr>
          <p:cNvSpPr txBox="1"/>
          <p:nvPr/>
        </p:nvSpPr>
        <p:spPr>
          <a:xfrm>
            <a:off x="1334085" y="1177794"/>
            <a:ext cx="9214338" cy="491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Literacia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digital dos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profissionais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saúde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Flexibilização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eficiência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atendimento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Sem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perda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informação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todos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níveis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atendimento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Redução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custos 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desperdício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Mais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responsabilidade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por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dos provedores;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Controle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 stock de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consumíveis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Finalmente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colocar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Moçambique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mundo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Pois o SIS-RME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representa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início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uma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nova era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saúde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8E911BDF-D0C3-4B91-9D50-E8640E96C946}"/>
              </a:ext>
            </a:extLst>
          </p:cNvPr>
          <p:cNvSpPr/>
          <p:nvPr/>
        </p:nvSpPr>
        <p:spPr>
          <a:xfrm>
            <a:off x="926122" y="1293461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1ED62BCF-B5C4-4CDA-967D-F453B7777072}"/>
              </a:ext>
            </a:extLst>
          </p:cNvPr>
          <p:cNvSpPr/>
          <p:nvPr/>
        </p:nvSpPr>
        <p:spPr>
          <a:xfrm>
            <a:off x="926122" y="1788956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7C092182-1D84-437A-9AA1-856428C03B2E}"/>
              </a:ext>
            </a:extLst>
          </p:cNvPr>
          <p:cNvSpPr/>
          <p:nvPr/>
        </p:nvSpPr>
        <p:spPr>
          <a:xfrm>
            <a:off x="926121" y="2284451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A3A0CC05-6E48-4DB5-B6A9-EB060C031FAD}"/>
              </a:ext>
            </a:extLst>
          </p:cNvPr>
          <p:cNvSpPr/>
          <p:nvPr/>
        </p:nvSpPr>
        <p:spPr>
          <a:xfrm>
            <a:off x="926120" y="3239086"/>
            <a:ext cx="407963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42E7C0C2-1249-41E0-B813-E2FE0FF7A78A}"/>
              </a:ext>
            </a:extLst>
          </p:cNvPr>
          <p:cNvSpPr/>
          <p:nvPr/>
        </p:nvSpPr>
        <p:spPr>
          <a:xfrm>
            <a:off x="926117" y="3781558"/>
            <a:ext cx="407968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8AD8EA79-1716-44F3-9AD1-B1ACF0E6D1CF}"/>
              </a:ext>
            </a:extLst>
          </p:cNvPr>
          <p:cNvSpPr/>
          <p:nvPr/>
        </p:nvSpPr>
        <p:spPr>
          <a:xfrm>
            <a:off x="926115" y="4309388"/>
            <a:ext cx="407968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6D54B536-A918-4DBF-9FFD-FAE09C0935C3}"/>
              </a:ext>
            </a:extLst>
          </p:cNvPr>
          <p:cNvSpPr/>
          <p:nvPr/>
        </p:nvSpPr>
        <p:spPr>
          <a:xfrm>
            <a:off x="926115" y="4784284"/>
            <a:ext cx="407968" cy="3798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05214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CDCB32-7B67-C829-2FFC-548D4B30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409460-626D-3C44-B40F-F7CB580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D9715F93-7CBC-44AC-85B8-5817C25E1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2869"/>
            <a:ext cx="12192000" cy="695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2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:a16="http://schemas.microsoft.com/office/drawing/2014/main" xmlns="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:a16="http://schemas.microsoft.com/office/drawing/2014/main" xmlns="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!”</a:t>
            </a:r>
            <a:endParaRPr lang="en-US" sz="4400" b="1" dirty="0">
              <a:solidFill>
                <a:schemeClr val="bg1"/>
              </a:solidFill>
            </a:endParaRPr>
          </a:p>
        </p:txBody>
      </p:sp>
      <p:pic>
        <p:nvPicPr>
          <p:cNvPr id="5" name="Obrigado Lettering Gratitude Portuguese Language Online Artistic Animation In The Form Of A Single Continuous Line In Minimalism Continuous Contour Movement Video Drawing Of Lines In 4k Format 4K Stock Video - Download V">
            <a:hlinkClick r:id="" action="ppaction://media"/>
            <a:extLst>
              <a:ext uri="{FF2B5EF4-FFF2-40B4-BE49-F238E27FC236}">
                <a16:creationId xmlns:a16="http://schemas.microsoft.com/office/drawing/2014/main" xmlns="" id="{840BEBED-EC44-43D0-B058-7239D2E6D18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  <p:transition spd="med" advTm="12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9739</TotalTime>
  <Words>673</Words>
  <Application>Microsoft Office PowerPoint</Application>
  <PresentationFormat>Widescreen</PresentationFormat>
  <Paragraphs>177</Paragraphs>
  <Slides>15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31" baseType="lpstr">
      <vt:lpstr>Arial Unicode MS</vt:lpstr>
      <vt:lpstr>MS PGothic</vt:lpstr>
      <vt:lpstr>Aptos</vt:lpstr>
      <vt:lpstr>Arial</vt:lpstr>
      <vt:lpstr>Arial Narrow</vt:lpstr>
      <vt:lpstr>Calibri</vt:lpstr>
      <vt:lpstr>Century Gothic</vt:lpstr>
      <vt:lpstr>Comic Sans MS</vt:lpstr>
      <vt:lpstr>Garet Bold</vt:lpstr>
      <vt:lpstr>Garet Bold Italics</vt:lpstr>
      <vt:lpstr>Noto Sans Symbols</vt:lpstr>
      <vt:lpstr>Quattrocento Sans</vt:lpstr>
      <vt:lpstr>Segoe UI Symbol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Lara Ferreirra</cp:lastModifiedBy>
  <cp:revision>160</cp:revision>
  <dcterms:created xsi:type="dcterms:W3CDTF">2025-07-14T08:03:00Z</dcterms:created>
  <dcterms:modified xsi:type="dcterms:W3CDTF">2026-10-12T14:59:24Z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